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91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80297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title and framing: this is a feasibility pilot with an honest, measurable headline finding. Candidate, program, department, BASR, July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Roadmap. Six blocks map to the four proposal chapters plus a work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Set up the domain: staged pass manager; a single pass change causes one of three regression kinds. Cite [1] that transpiler components are a known defect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two problems. Budget: huge test space, ~1000 workloads [2], full rerun infeasible, no prior cost-aware RTS for the transpiler. Oracle: output equivalence only sees the output 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key finding. 38% of 26 mined fixes are invisible to output oracles; Wilson CI [22,57]; kappa 0.68. Name the three invisible channels. This motivates everything.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Three research questions: pipeline realisable/auditable (RQ1); selector vs baselines at pilot scale (RQ2); which channels are observable (RQ3).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Four objectives, one per RQ area: measure escape rate; design leakage-safe methodology; build &amp; pilot cart; evaluate selector honestly incl. a documented null.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 explicit about boundaries: this is what makes it credible rather than over-claimed. 8-qubit cap means no cost pressure yet; no comparative/temporal claims until &gt;=3 forward events.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Five literature threads we build on and depart from. Emphasise that simple heuristics stay strong when labels are scarce.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Synthesis: a measurement gap and a methodological gap. We address both.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cart pipeline: five stages over a shared reproducibility substrate. Instrumentation observes real pass stages; write-once labels; six validity gates.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Detail: three cohorts (forward_regression is the real CI question) and oracles matched to fault channels. Two channels are invisible to output-only oracles.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transparent selector: interpretable, hand-set weights, no learning, pre-execution info only. Five baselines share the budget. Anti-leakage controls and strict claim-scope.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Feasibility evidence: 6/6 gates, 64 tests, FP 0.068, 288 labels on 32 units. Validation even caught two real defects, including a 512 GB oracle blow-up now guarded.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H4: a verified forward regression. Median slowdown 1.9x -&gt; 97x -&gt; 342x with width; Cliff's delta = 1.0. Validates the Primary-CI eligibility rule on a real event.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H1: the observability gap, from source. Output oracle says EQUIVALENT on the buggy build; the property/isolated-pass oracle detects it (FP rate 0). Direct evidence for the headline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Work plan. Phase 1 done; scale-up to &gt;=3 forward events, then the powered comparative study, validation, and write-up. Schedule is indicative.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on the three contributions and the one-line thesis: output equivalence is necessary but incomplete; we measure the gap and build the methodology to close it.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058400" y="-1097280"/>
            <a:ext cx="3291840" cy="3291840"/>
          </a:xfrm>
          <a:prstGeom prst="ellipse">
            <a:avLst/>
          </a:prstGeom>
          <a:solidFill>
            <a:srgbClr val="16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064240" y="4937760"/>
            <a:ext cx="2377440" cy="2377440"/>
          </a:xfrm>
          <a:prstGeom prst="ellipse">
            <a:avLst/>
          </a:prstGeom>
          <a:solidFill>
            <a:srgbClr val="16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051560"/>
            <a:ext cx="502920" cy="100584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1042416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300" b="1" i="0">
                <a:solidFill>
                  <a:srgbClr val="14B8A6"/>
                </a:solidFill>
                <a:latin typeface="Calibri"/>
              </a:rPr>
              <a:t>PhD RESEARCH PROPOSAL  ·  SYNOPSIS DEFENCE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515600" cy="1554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3800" b="1" i="0">
                <a:solidFill>
                  <a:srgbClr val="FFFFFF"/>
                </a:solidFill>
                <a:latin typeface="Cambria"/>
              </a:rPr>
              <a:t>Oracle Observability of Quantum Transpiler Regressions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10241280" cy="8229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700" b="0" i="1">
                <a:solidFill>
                  <a:srgbClr val="D5E3F7"/>
                </a:solidFill>
                <a:latin typeface="Calibri"/>
              </a:rPr>
              <a:t>What Output-Equivalence Oracles Miss in Qiskit, and a Leakage-Safe, Cost-Aware Regression-Testing Pilot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343400"/>
            <a:ext cx="4297680" cy="18288"/>
          </a:xfrm>
          <a:prstGeom prst="rect">
            <a:avLst/>
          </a:prstGeom>
          <a:solidFill>
            <a:srgbClr val="2C4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4526280"/>
            <a:ext cx="10424160" cy="1554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Calibri"/>
              </a:rPr>
              <a:t>Furqan Nasir</a:t>
            </a:r>
          </a:p>
          <a:p>
            <a:pPr>
              <a:spcBef>
                <a:spcPts val="300"/>
              </a:spcBef>
            </a:pPr>
            <a:r>
              <a:rPr sz="1350" b="0" i="0">
                <a:solidFill>
                  <a:srgbClr val="D5E3F7"/>
                </a:solidFill>
                <a:latin typeface="Calibri"/>
              </a:rPr>
              <a:t>PhD in Computer Science</a:t>
            </a:r>
          </a:p>
          <a:p>
            <a:pPr>
              <a:spcBef>
                <a:spcPts val="200"/>
              </a:spcBef>
            </a:pPr>
            <a:r>
              <a:rPr sz="1250" b="0" i="0">
                <a:solidFill>
                  <a:srgbClr val="9FB2D6"/>
                </a:solidFill>
                <a:latin typeface="Calibri"/>
              </a:rPr>
              <a:t>Department of Computer Science, City University of Science &amp; Information Technology, Peshawar</a:t>
            </a:r>
          </a:p>
          <a:p>
            <a:pPr>
              <a:spcBef>
                <a:spcPts val="200"/>
              </a:spcBef>
            </a:pPr>
            <a:r>
              <a:rPr sz="1250" b="1" i="0">
                <a:solidFill>
                  <a:srgbClr val="14B8A6"/>
                </a:solidFill>
                <a:latin typeface="Calibri"/>
              </a:rPr>
              <a:t>Board of Advanced Studies &amp; Research (BASR)   ·  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250" b="1" i="0">
                <a:solidFill>
                  <a:srgbClr val="14B8A6"/>
                </a:solidFill>
                <a:latin typeface="Calibr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9144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2900" b="1" i="0">
                <a:solidFill>
                  <a:srgbClr val="1E2A44"/>
                </a:solidFill>
                <a:latin typeface="Cambria"/>
              </a:rPr>
              <a:t>Agenda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0020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F2F6FB"/>
          </a:solidFill>
          <a:ln>
            <a:noFill/>
          </a:ln>
          <a:effectLst>
            <a:outerShdw blurRad="90000" dist="28000" dir="5400000" rotWithShape="0">
              <a:srgbClr val="1623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856232"/>
            <a:ext cx="658368" cy="658368"/>
          </a:xfrm>
          <a:prstGeom prst="roundRect">
            <a:avLst>
              <a:gd name="adj" fmla="val 2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7" y="1819656"/>
            <a:ext cx="4114800" cy="10058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550" b="1" i="0">
                <a:solidFill>
                  <a:srgbClr val="1E2A44"/>
                </a:solidFill>
                <a:latin typeface="Calibri"/>
              </a:rPr>
              <a:t>Motivation &amp; Problem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60708C"/>
                </a:solidFill>
                <a:latin typeface="Calibri"/>
              </a:rPr>
              <a:t>Transpiler regressions and the oracle blind-spot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0020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F2F6FB"/>
          </a:solidFill>
          <a:ln>
            <a:noFill/>
          </a:ln>
          <a:effectLst>
            <a:outerShdw blurRad="90000" dist="28000" dir="5400000" rotWithShape="0">
              <a:srgbClr val="1623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65392" y="1856232"/>
            <a:ext cx="658368" cy="658368"/>
          </a:xfrm>
          <a:prstGeom prst="roundRect">
            <a:avLst>
              <a:gd name="adj" fmla="val 2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1819656"/>
            <a:ext cx="4114800" cy="10058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550" b="1" i="0">
                <a:solidFill>
                  <a:srgbClr val="1E2A44"/>
                </a:solidFill>
                <a:latin typeface="Calibri"/>
              </a:rPr>
              <a:t>Research Questions &amp; Objectives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60708C"/>
                </a:solidFill>
                <a:latin typeface="Calibri"/>
              </a:rPr>
              <a:t>Three RQs, four objectives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27832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F2F6FB"/>
          </a:solidFill>
          <a:ln>
            <a:noFill/>
          </a:ln>
          <a:effectLst>
            <a:outerShdw blurRad="90000" dist="28000" dir="5400000" rotWithShape="0">
              <a:srgbClr val="1623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22960" y="3483864"/>
            <a:ext cx="658368" cy="658368"/>
          </a:xfrm>
          <a:prstGeom prst="roundRect">
            <a:avLst>
              <a:gd name="adj" fmla="val 2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7" y="3447288"/>
            <a:ext cx="4114800" cy="10058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550" b="1" i="0">
                <a:solidFill>
                  <a:srgbClr val="1E2A44"/>
                </a:solidFill>
                <a:latin typeface="Calibri"/>
              </a:rPr>
              <a:t>Literature &amp; Research Gap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60708C"/>
                </a:solidFill>
                <a:latin typeface="Calibri"/>
              </a:rPr>
              <a:t>What prior work does — and does not — cover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227832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F2F6FB"/>
          </a:solidFill>
          <a:ln>
            <a:noFill/>
          </a:ln>
          <a:effectLst>
            <a:outerShdw blurRad="90000" dist="28000" dir="5400000" rotWithShape="0">
              <a:srgbClr val="1623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565392" y="3483864"/>
            <a:ext cx="658368" cy="658368"/>
          </a:xfrm>
          <a:prstGeom prst="roundRect">
            <a:avLst>
              <a:gd name="adj" fmla="val 2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3447288"/>
            <a:ext cx="4114800" cy="10058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550" b="1" i="0">
                <a:solidFill>
                  <a:srgbClr val="1E2A44"/>
                </a:solidFill>
                <a:latin typeface="Calibri"/>
              </a:rPr>
              <a:t>Proposed Methodology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60708C"/>
                </a:solidFill>
                <a:latin typeface="Calibri"/>
              </a:rPr>
              <a:t>The cart pipeline, oracles, selector, controls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855464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F2F6FB"/>
          </a:solidFill>
          <a:ln>
            <a:noFill/>
          </a:ln>
          <a:effectLst>
            <a:outerShdw blurRad="90000" dist="28000" dir="5400000" rotWithShape="0">
              <a:srgbClr val="1623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22960" y="5111496"/>
            <a:ext cx="658368" cy="658368"/>
          </a:xfrm>
          <a:prstGeom prst="roundRect">
            <a:avLst>
              <a:gd name="adj" fmla="val 2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7" y="5074920"/>
            <a:ext cx="4114800" cy="10058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550" b="1" i="0">
                <a:solidFill>
                  <a:srgbClr val="1E2A44"/>
                </a:solidFill>
                <a:latin typeface="Calibri"/>
              </a:rPr>
              <a:t>Initial Results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60708C"/>
                </a:solidFill>
                <a:latin typeface="Calibri"/>
              </a:rPr>
              <a:t>Feasibility, and two real historical events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4855464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F2F6FB"/>
          </a:solidFill>
          <a:ln>
            <a:noFill/>
          </a:ln>
          <a:effectLst>
            <a:outerShdw blurRad="90000" dist="28000" dir="5400000" rotWithShape="0">
              <a:srgbClr val="1623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565392" y="5111496"/>
            <a:ext cx="658368" cy="658368"/>
          </a:xfrm>
          <a:prstGeom prst="roundRect">
            <a:avLst>
              <a:gd name="adj" fmla="val 2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5074920"/>
            <a:ext cx="4114800" cy="10058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550" b="1" i="0">
                <a:solidFill>
                  <a:srgbClr val="1E2A44"/>
                </a:solidFill>
                <a:latin typeface="Calibri"/>
              </a:rPr>
              <a:t>Work Plan &amp; Contributions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60708C"/>
                </a:solidFill>
                <a:latin typeface="Calibri"/>
              </a:rPr>
              <a:t>Remaining PhD schedule and outcomes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73952"/>
            <a:ext cx="91440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850" b="0" i="0">
                <a:solidFill>
                  <a:srgbClr val="60708C"/>
                </a:solidFill>
                <a:latin typeface="Calibri"/>
              </a:rPr>
              <a:t>BASR Synopsis  ·  Oracle Observability of Quantum Transpiler Regressions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50" b="1" i="0">
                <a:solidFill>
                  <a:srgbClr val="60708C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250" b="1" i="0">
                <a:solidFill>
                  <a:srgbClr val="14B8A6"/>
                </a:solidFill>
                <a:latin typeface="Calibri"/>
              </a:rPr>
              <a:t>BACKGROUND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9144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2900" b="1" i="0">
                <a:solidFill>
                  <a:srgbClr val="1E2A44"/>
                </a:solidFill>
                <a:latin typeface="Cambria"/>
              </a:rPr>
              <a:t>The Transpiler and Its Regressions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81328"/>
            <a:ext cx="11064240" cy="6400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350" b="0" i="0">
                <a:solidFill>
                  <a:srgbClr val="1E2A44"/>
                </a:solidFill>
                <a:latin typeface="Calibri"/>
              </a:rPr>
              <a:t>Qiskit compiles an abstract circuit to a target backend through a staged pass manager. A single change in any layout, routing, translation, optimisation, or scheduling pass can introduce a regression of one of three kinds: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77440"/>
            <a:ext cx="3429000" cy="2331720"/>
          </a:xfrm>
          <a:prstGeom prst="roundRect">
            <a:avLst>
              <a:gd name="adj" fmla="val 6000"/>
            </a:avLst>
          </a:prstGeom>
          <a:solidFill>
            <a:srgbClr val="F2F6FB"/>
          </a:solidFill>
          <a:ln>
            <a:noFill/>
          </a:ln>
          <a:effectLst>
            <a:outerShdw blurRad="90000" dist="28000" dir="5400000" rotWithShape="0">
              <a:srgbClr val="1623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6384" y="2523744"/>
            <a:ext cx="3008376" cy="20574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600" b="1" i="0">
                <a:solidFill>
                  <a:srgbClr val="0E6E6D"/>
                </a:solidFill>
                <a:latin typeface="Calibri"/>
              </a:rPr>
              <a:t>Correctness</a:t>
            </a:r>
          </a:p>
          <a:p>
            <a:pPr>
              <a:spcBef>
                <a:spcPts val="400"/>
              </a:spcBef>
            </a:pPr>
            <a:r>
              <a:rPr sz="120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1E2A44"/>
                </a:solidFill>
                <a:latin typeface="Calibri"/>
              </a:rPr>
              <a:t>Program crashes, or the compiled circuit computes a different unitary</a:t>
            </a:r>
          </a:p>
          <a:p>
            <a:pPr>
              <a:spcBef>
                <a:spcPts val="400"/>
              </a:spcBef>
            </a:pPr>
            <a:r>
              <a:rPr sz="120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1E2A44"/>
                </a:solidFill>
                <a:latin typeface="Calibri"/>
              </a:rPr>
              <a:t>The most severe class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2377440"/>
            <a:ext cx="3429000" cy="2331720"/>
          </a:xfrm>
          <a:prstGeom prst="roundRect">
            <a:avLst>
              <a:gd name="adj" fmla="val 6000"/>
            </a:avLst>
          </a:prstGeom>
          <a:solidFill>
            <a:srgbClr val="F2F6FB"/>
          </a:solidFill>
          <a:ln>
            <a:noFill/>
          </a:ln>
          <a:effectLst>
            <a:outerShdw blurRad="90000" dist="28000" dir="5400000" rotWithShape="0">
              <a:srgbClr val="1623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99432" y="2523744"/>
            <a:ext cx="3008376" cy="20574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600" b="1" i="0">
                <a:solidFill>
                  <a:srgbClr val="0E6E6D"/>
                </a:solidFill>
                <a:latin typeface="Calibri"/>
              </a:rPr>
              <a:t>Circuit quality</a:t>
            </a:r>
          </a:p>
          <a:p>
            <a:pPr>
              <a:spcBef>
                <a:spcPts val="400"/>
              </a:spcBef>
            </a:pPr>
            <a:r>
              <a:rPr sz="120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1E2A44"/>
                </a:solidFill>
                <a:latin typeface="Calibri"/>
              </a:rPr>
              <a:t>More two-qubit gates or greater depth</a:t>
            </a:r>
          </a:p>
          <a:p>
            <a:pPr>
              <a:spcBef>
                <a:spcPts val="400"/>
              </a:spcBef>
            </a:pPr>
            <a:r>
              <a:rPr sz="120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1E2A44"/>
                </a:solidFill>
                <a:latin typeface="Calibri"/>
              </a:rPr>
              <a:t>Loses fidelity on noisy hardware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93024" y="2377440"/>
            <a:ext cx="3429000" cy="2331720"/>
          </a:xfrm>
          <a:prstGeom prst="roundRect">
            <a:avLst>
              <a:gd name="adj" fmla="val 6000"/>
            </a:avLst>
          </a:prstGeom>
          <a:solidFill>
            <a:srgbClr val="F2F6FB"/>
          </a:solidFill>
          <a:ln>
            <a:noFill/>
          </a:ln>
          <a:effectLst>
            <a:outerShdw blurRad="90000" dist="28000" dir="5400000" rotWithShape="0">
              <a:srgbClr val="1623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0" y="2523744"/>
            <a:ext cx="3008376" cy="20574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600" b="1" i="0">
                <a:solidFill>
                  <a:srgbClr val="0E6E6D"/>
                </a:solidFill>
                <a:latin typeface="Calibri"/>
              </a:rPr>
              <a:t>Compilation performance</a:t>
            </a:r>
          </a:p>
          <a:p>
            <a:pPr>
              <a:spcBef>
                <a:spcPts val="400"/>
              </a:spcBef>
            </a:pPr>
            <a:r>
              <a:rPr sz="120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1E2A44"/>
                </a:solidFill>
                <a:latin typeface="Calibri"/>
              </a:rPr>
              <a:t>Transpilation becomes slower</a:t>
            </a:r>
          </a:p>
          <a:p>
            <a:pPr>
              <a:spcBef>
                <a:spcPts val="400"/>
              </a:spcBef>
            </a:pPr>
            <a:r>
              <a:rPr sz="120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1E2A44"/>
                </a:solidFill>
                <a:latin typeface="Calibri"/>
              </a:rPr>
              <a:t>Or more memory-hungry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029200"/>
            <a:ext cx="11064240" cy="5486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200" b="0" i="1">
                <a:solidFill>
                  <a:srgbClr val="60708C"/>
                </a:solidFill>
                <a:latin typeface="Calibri"/>
              </a:rPr>
              <a:t>Empirical studies confirm that compiler and transpiler components are an important source of defects in quantum platforms [1].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73952"/>
            <a:ext cx="91440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850" b="0" i="0">
                <a:solidFill>
                  <a:srgbClr val="60708C"/>
                </a:solidFill>
                <a:latin typeface="Calibri"/>
              </a:rPr>
              <a:t>BASR Synopsis  ·  Oracle Observability of Quantum Transpiler Regressions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50" b="1" i="0">
                <a:solidFill>
                  <a:srgbClr val="60708C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250" b="1" i="0">
                <a:solidFill>
                  <a:srgbClr val="14B8A6"/>
                </a:solidFill>
                <a:latin typeface="Calibri"/>
              </a:rPr>
              <a:t>TWO PROBLEMS, ONE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9144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2900" b="1" i="0">
                <a:solidFill>
                  <a:srgbClr val="1E2A44"/>
                </a:solidFill>
                <a:latin typeface="Cambria"/>
              </a:rPr>
              <a:t>Problem Statement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54480"/>
            <a:ext cx="5349240" cy="3794760"/>
          </a:xfrm>
          <a:prstGeom prst="roundRect">
            <a:avLst>
              <a:gd name="adj" fmla="val 6000"/>
            </a:avLst>
          </a:prstGeom>
          <a:solidFill>
            <a:srgbClr val="F2F6FB"/>
          </a:solidFill>
          <a:ln>
            <a:noFill/>
          </a:ln>
          <a:effectLst>
            <a:outerShdw blurRad="90000" dist="28000" dir="5400000" rotWithShape="0">
              <a:srgbClr val="1623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6384" y="1700784"/>
            <a:ext cx="4928616" cy="35204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700" b="1" i="0">
                <a:solidFill>
                  <a:srgbClr val="0E6E6D"/>
                </a:solidFill>
                <a:latin typeface="Calibri"/>
              </a:rPr>
              <a:t>1.  The budget problem</a:t>
            </a:r>
          </a:p>
          <a:p>
            <a:pPr>
              <a:spcBef>
                <a:spcPts val="400"/>
              </a:spcBef>
            </a:pPr>
            <a:r>
              <a:rPr sz="125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1E2A44"/>
                </a:solidFill>
                <a:latin typeface="Calibri"/>
              </a:rPr>
              <a:t>The test space is huge: (circuit, backend, config, oracle) over many families and topologies</a:t>
            </a:r>
          </a:p>
          <a:p>
            <a:pPr>
              <a:spcBef>
                <a:spcPts val="400"/>
              </a:spcBef>
            </a:pPr>
            <a:r>
              <a:rPr sz="125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1E2A44"/>
                </a:solidFill>
                <a:latin typeface="Calibri"/>
              </a:rPr>
              <a:t>Benchmark suites already enumerate ~1,000 compilation workloads for a single SDK [2]</a:t>
            </a:r>
          </a:p>
          <a:p>
            <a:pPr>
              <a:spcBef>
                <a:spcPts val="400"/>
              </a:spcBef>
            </a:pPr>
            <a:r>
              <a:rPr sz="125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1E2A44"/>
                </a:solidFill>
                <a:latin typeface="Calibri"/>
              </a:rPr>
              <a:t>Re-running the full suite with its oracles on every change exhausts any CI budget</a:t>
            </a:r>
          </a:p>
          <a:p>
            <a:pPr>
              <a:spcBef>
                <a:spcPts val="400"/>
              </a:spcBef>
            </a:pPr>
            <a:r>
              <a:rPr sz="125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1E2A44"/>
                </a:solidFill>
                <a:latin typeface="Calibri"/>
              </a:rPr>
              <a:t>No prior work formalises cost-aware regression test selection for the quantum transpiler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91072" y="1554480"/>
            <a:ext cx="5349240" cy="3794760"/>
          </a:xfrm>
          <a:prstGeom prst="roundRect">
            <a:avLst>
              <a:gd name="adj" fmla="val 6000"/>
            </a:avLst>
          </a:prstGeom>
          <a:solidFill>
            <a:srgbClr val="E7F6F4"/>
          </a:solidFill>
          <a:ln>
            <a:noFill/>
          </a:ln>
          <a:effectLst>
            <a:outerShdw blurRad="90000" dist="28000" dir="5400000" rotWithShape="0">
              <a:srgbClr val="1623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10528" y="1700784"/>
            <a:ext cx="4928616" cy="35204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700" b="1" i="0">
                <a:solidFill>
                  <a:srgbClr val="0E6E6D"/>
                </a:solidFill>
                <a:latin typeface="Calibri"/>
              </a:rPr>
              <a:t>2.  The oracle problem</a:t>
            </a:r>
          </a:p>
          <a:p>
            <a:pPr>
              <a:spcBef>
                <a:spcPts val="400"/>
              </a:spcBef>
            </a:pPr>
            <a:r>
              <a:rPr sz="125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1E2A44"/>
                </a:solidFill>
                <a:latin typeface="Calibri"/>
              </a:rPr>
              <a:t>The usual oracle is black-box output equivalence — it checks only the output map</a:t>
            </a:r>
          </a:p>
          <a:p>
            <a:pPr>
              <a:spcBef>
                <a:spcPts val="400"/>
              </a:spcBef>
            </a:pPr>
            <a:r>
              <a:rPr sz="125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1E2A44"/>
                </a:solidFill>
                <a:latin typeface="Calibri"/>
              </a:rPr>
              <a:t>A fault that corrupts internal contract / metadata while leaving the unitary intact is invisible</a:t>
            </a:r>
          </a:p>
          <a:p>
            <a:pPr>
              <a:spcBef>
                <a:spcPts val="400"/>
              </a:spcBef>
            </a:pPr>
            <a:r>
              <a:rPr sz="125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1E2A44"/>
                </a:solidFill>
                <a:latin typeface="Calibri"/>
              </a:rPr>
              <a:t>So are certain non-deterministic and dropped-global-phase faults</a:t>
            </a:r>
          </a:p>
          <a:p>
            <a:pPr>
              <a:spcBef>
                <a:spcPts val="400"/>
              </a:spcBef>
            </a:pPr>
            <a:r>
              <a:rPr sz="125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1E2A44"/>
                </a:solidFill>
                <a:latin typeface="Calibri"/>
              </a:rPr>
              <a:t>Output equivalence is a necessary but incomplete correctness criterion for the transpiler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91440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850" b="0" i="0">
                <a:solidFill>
                  <a:srgbClr val="60708C"/>
                </a:solidFill>
                <a:latin typeface="Calibri"/>
              </a:rPr>
              <a:t>BASR Synopsis  ·  Oracle Observability of Quantum Transpiler Regressions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50" b="1" i="0">
                <a:solidFill>
                  <a:srgbClr val="60708C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300" b="1" i="0">
                <a:solidFill>
                  <a:srgbClr val="14B8A6"/>
                </a:solidFill>
                <a:latin typeface="Calibri"/>
              </a:rPr>
              <a:t>THE KEY FINDING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424160" cy="6400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An Observability Gap We Can Measure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4572000" cy="20116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9600" b="1" i="0">
                <a:solidFill>
                  <a:srgbClr val="14B8A6"/>
                </a:solidFill>
                <a:latin typeface="Cambria"/>
              </a:rPr>
              <a:t>~38%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423160"/>
            <a:ext cx="5943600" cy="21031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Calibri"/>
              </a:rPr>
              <a:t>of recent Qiskit transpiler bug-fixes are invisible to black-box output-equivalence oracles</a:t>
            </a:r>
          </a:p>
          <a:p>
            <a:pPr>
              <a:spcBef>
                <a:spcPts val="1000"/>
              </a:spcBef>
            </a:pPr>
            <a:r>
              <a:rPr sz="1300" b="0" i="0">
                <a:solidFill>
                  <a:srgbClr val="D5E3F7"/>
                </a:solidFill>
                <a:latin typeface="Calibri"/>
              </a:rPr>
              <a:t>26 merged transpiler fixes mined   ·   Wilson 95% CI [22%, 57%]   ·   dual-rater agreement κ = 0.68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709160"/>
            <a:ext cx="10515600" cy="1051560"/>
          </a:xfrm>
          <a:prstGeom prst="roundRect">
            <a:avLst>
              <a:gd name="adj" fmla="val 6000"/>
            </a:avLst>
          </a:prstGeom>
          <a:solidFill>
            <a:srgbClr val="1A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4846320"/>
            <a:ext cx="10058400" cy="8229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350" b="1" i="0">
                <a:solidFill>
                  <a:srgbClr val="14B8A6"/>
                </a:solidFill>
                <a:latin typeface="Calibri"/>
              </a:rPr>
              <a:t>Invisible channels:  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corrupted layout / permutation metadata      non-determinism      dropped global phase</a:t>
            </a:r>
          </a:p>
          <a:p>
            <a:pPr>
              <a:spcBef>
                <a:spcPts val="400"/>
              </a:spcBef>
            </a:pPr>
            <a:r>
              <a:rPr sz="1150" b="0" i="1">
                <a:solidFill>
                  <a:srgbClr val="D5E3F7"/>
                </a:solidFill>
                <a:latin typeface="Calibri"/>
              </a:rPr>
              <a:t>The gap is materially common, not an isolated curiosity — and no prior work addresses it in budgeted regression testing.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91440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850" b="0" i="0">
                <a:solidFill>
                  <a:srgbClr val="8A99B5"/>
                </a:solidFill>
                <a:latin typeface="Calibri"/>
              </a:rPr>
              <a:t>BASR Synopsis  ·  Oracle Observability of Quantum Transpiler Regressions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50" b="1" i="0">
                <a:solidFill>
                  <a:srgbClr val="8A99B5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250" b="1" i="0">
                <a:solidFill>
                  <a:srgbClr val="14B8A6"/>
                </a:solidFill>
                <a:latin typeface="Calibri"/>
              </a:rPr>
              <a:t>SCOPED AS FEASIBILITY EVIDENCE AT PILOT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9144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2900" b="1" i="0">
                <a:solidFill>
                  <a:srgbClr val="1E2A44"/>
                </a:solidFill>
                <a:latin typeface="Cambria"/>
              </a:rPr>
              <a:t>Research Questions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00200"/>
            <a:ext cx="11073384" cy="1371600"/>
          </a:xfrm>
          <a:prstGeom prst="roundRect">
            <a:avLst>
              <a:gd name="adj" fmla="val 6000"/>
            </a:avLst>
          </a:prstGeom>
          <a:solidFill>
            <a:srgbClr val="F2F6FB"/>
          </a:solidFill>
          <a:ln>
            <a:noFill/>
          </a:ln>
          <a:effectLst>
            <a:outerShdw blurRad="90000" dist="28000" dir="5400000" rotWithShape="0">
              <a:srgbClr val="1623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856232"/>
            <a:ext cx="822960" cy="822960"/>
          </a:xfrm>
          <a:prstGeom prst="roundRect">
            <a:avLst>
              <a:gd name="adj" fmla="val 2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RQ1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1783080"/>
            <a:ext cx="9509760" cy="1051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450" b="0" i="0">
                <a:solidFill>
                  <a:srgbClr val="1E2A44"/>
                </a:solidFill>
                <a:latin typeface="Calibri"/>
              </a:rPr>
              <a:t>Can a leakage-safe, cost-aware regression-testing pipeline for the Qiskit transpiler be realised so that it is operationally sound under an executable validity-gate audit?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227832"/>
            <a:ext cx="11073384" cy="1371600"/>
          </a:xfrm>
          <a:prstGeom prst="roundRect">
            <a:avLst>
              <a:gd name="adj" fmla="val 6000"/>
            </a:avLst>
          </a:prstGeom>
          <a:solidFill>
            <a:srgbClr val="F2F6FB"/>
          </a:solidFill>
          <a:ln>
            <a:noFill/>
          </a:ln>
          <a:effectLst>
            <a:outerShdw blurRad="90000" dist="28000" dir="5400000" rotWithShape="0">
              <a:srgbClr val="1623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22960" y="3483864"/>
            <a:ext cx="822960" cy="822960"/>
          </a:xfrm>
          <a:prstGeom prst="roundRect">
            <a:avLst>
              <a:gd name="adj" fmla="val 2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RQ2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410712"/>
            <a:ext cx="9509760" cy="1051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450" b="0" i="0">
                <a:solidFill>
                  <a:srgbClr val="1E2A44"/>
                </a:solidFill>
                <a:latin typeface="Calibri"/>
              </a:rPr>
              <a:t>How does a transparent, cost-aware selector compare with established baselines, including random ordering, and what can be concluded at feasibility scale?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855464"/>
            <a:ext cx="11073384" cy="1371600"/>
          </a:xfrm>
          <a:prstGeom prst="roundRect">
            <a:avLst>
              <a:gd name="adj" fmla="val 6000"/>
            </a:avLst>
          </a:prstGeom>
          <a:solidFill>
            <a:srgbClr val="F2F6FB"/>
          </a:solidFill>
          <a:ln>
            <a:noFill/>
          </a:ln>
          <a:effectLst>
            <a:outerShdw blurRad="90000" dist="28000" dir="5400000" rotWithShape="0">
              <a:srgbClr val="1623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22960" y="5111496"/>
            <a:ext cx="822960" cy="822960"/>
          </a:xfrm>
          <a:prstGeom prst="roundRect">
            <a:avLst>
              <a:gd name="adj" fmla="val 2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RQ3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5038344"/>
            <a:ext cx="9509760" cy="1051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450" b="0" i="0">
                <a:solidFill>
                  <a:srgbClr val="1E2A44"/>
                </a:solidFill>
                <a:latin typeface="Calibri"/>
              </a:rPr>
              <a:t>Which real historical transpiler regressions are observable through black-box output-equivalence oracles on commodity hardware — and which manifestation channels are not?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91440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850" b="0" i="0">
                <a:solidFill>
                  <a:srgbClr val="60708C"/>
                </a:solidFill>
                <a:latin typeface="Calibri"/>
              </a:rPr>
              <a:t>BASR Synopsis  ·  Oracle Observability of Quantum Transpiler Regressions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50" b="1" i="0">
                <a:solidFill>
                  <a:srgbClr val="60708C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250" b="1" i="0">
                <a:solidFill>
                  <a:srgbClr val="14B8A6"/>
                </a:solidFill>
                <a:latin typeface="Calibri"/>
              </a:rPr>
              <a:t>HOW WE ANSWER THE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9144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2900" b="1" i="0">
                <a:solidFill>
                  <a:srgbClr val="1E2A44"/>
                </a:solidFill>
                <a:latin typeface="Cambria"/>
              </a:rPr>
              <a:t>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00200"/>
            <a:ext cx="5349240" cy="1874519"/>
          </a:xfrm>
          <a:prstGeom prst="roundRect">
            <a:avLst>
              <a:gd name="adj" fmla="val 6000"/>
            </a:avLst>
          </a:prstGeom>
          <a:solidFill>
            <a:srgbClr val="F2F6FB"/>
          </a:solidFill>
          <a:ln>
            <a:noFill/>
          </a:ln>
          <a:effectLst>
            <a:outerShdw blurRad="90000" dist="28000" dir="5400000" rotWithShape="0">
              <a:srgbClr val="1623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658368" cy="658368"/>
          </a:xfrm>
          <a:prstGeom prst="roundRect">
            <a:avLst>
              <a:gd name="adj" fmla="val 2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O1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7" y="1837943"/>
            <a:ext cx="4069080" cy="146303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550" b="1" i="0">
                <a:solidFill>
                  <a:srgbClr val="0E6E6D"/>
                </a:solidFill>
                <a:latin typeface="Calibri"/>
              </a:rPr>
              <a:t>Measure the escape rate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1E2A44"/>
                </a:solidFill>
                <a:latin typeface="Calibri"/>
              </a:rPr>
              <a:t>Mine merged transpiler bug-fixes, classify each by manifestation channel, and demonstrate at least one escape from source.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00200"/>
            <a:ext cx="5349240" cy="1874519"/>
          </a:xfrm>
          <a:prstGeom prst="roundRect">
            <a:avLst>
              <a:gd name="adj" fmla="val 6000"/>
            </a:avLst>
          </a:prstGeom>
          <a:solidFill>
            <a:srgbClr val="F2F6FB"/>
          </a:solidFill>
          <a:ln>
            <a:noFill/>
          </a:ln>
          <a:effectLst>
            <a:outerShdw blurRad="90000" dist="28000" dir="5400000" rotWithShape="0">
              <a:srgbClr val="1623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65392" y="1874519"/>
            <a:ext cx="658368" cy="658368"/>
          </a:xfrm>
          <a:prstGeom prst="roundRect">
            <a:avLst>
              <a:gd name="adj" fmla="val 2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O2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1837943"/>
            <a:ext cx="4069080" cy="146303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550" b="1" i="0">
                <a:solidFill>
                  <a:srgbClr val="0E6E6D"/>
                </a:solidFill>
                <a:latin typeface="Calibri"/>
              </a:rPr>
              <a:t>Design a leakage-safe methodology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1E2A44"/>
                </a:solidFill>
                <a:latin typeface="Calibri"/>
              </a:rPr>
              <a:t>Cohort-separated events, layout-aware oracles with an empirical FP rate, provenance control, CPU-time cost, validity gates, claim-scope.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749039"/>
            <a:ext cx="5349240" cy="1874519"/>
          </a:xfrm>
          <a:prstGeom prst="roundRect">
            <a:avLst>
              <a:gd name="adj" fmla="val 6000"/>
            </a:avLst>
          </a:prstGeom>
          <a:solidFill>
            <a:srgbClr val="F2F6FB"/>
          </a:solidFill>
          <a:ln>
            <a:noFill/>
          </a:ln>
          <a:effectLst>
            <a:outerShdw blurRad="90000" dist="28000" dir="5400000" rotWithShape="0">
              <a:srgbClr val="1623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22960" y="4023359"/>
            <a:ext cx="658368" cy="658368"/>
          </a:xfrm>
          <a:prstGeom prst="roundRect">
            <a:avLst>
              <a:gd name="adj" fmla="val 2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O3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7" y="3986783"/>
            <a:ext cx="4069080" cy="146303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550" b="1" i="0">
                <a:solidFill>
                  <a:srgbClr val="0E6E6D"/>
                </a:solidFill>
                <a:latin typeface="Calibri"/>
              </a:rPr>
              <a:t>Build &amp; pilot an open prototype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1E2A44"/>
                </a:solidFill>
                <a:latin typeface="Calibri"/>
              </a:rPr>
              <a:t>Realise the methodology as cart and pilot it on Qiskit 2.x, verifying at least one real forward-regression from source.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749039"/>
            <a:ext cx="5349240" cy="1874519"/>
          </a:xfrm>
          <a:prstGeom prst="roundRect">
            <a:avLst>
              <a:gd name="adj" fmla="val 6000"/>
            </a:avLst>
          </a:prstGeom>
          <a:solidFill>
            <a:srgbClr val="F2F6FB"/>
          </a:solidFill>
          <a:ln>
            <a:noFill/>
          </a:ln>
          <a:effectLst>
            <a:outerShdw blurRad="90000" dist="28000" dir="5400000" rotWithShape="0">
              <a:srgbClr val="1623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565392" y="4023359"/>
            <a:ext cx="658368" cy="658368"/>
          </a:xfrm>
          <a:prstGeom prst="roundRect">
            <a:avLst>
              <a:gd name="adj" fmla="val 2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O4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3986783"/>
            <a:ext cx="4069080" cy="146303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550" b="1" i="0">
                <a:solidFill>
                  <a:srgbClr val="0E6E6D"/>
                </a:solidFill>
                <a:latin typeface="Calibri"/>
              </a:rPr>
              <a:t>Evaluate the selector honestly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1E2A44"/>
                </a:solidFill>
                <a:latin typeface="Calibri"/>
              </a:rPr>
              <a:t>Compare a transparent, cost-aware selector against baselines under identical anti-leakage rules — including a documented null.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73952"/>
            <a:ext cx="91440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850" b="0" i="0">
                <a:solidFill>
                  <a:srgbClr val="60708C"/>
                </a:solidFill>
                <a:latin typeface="Calibri"/>
              </a:rPr>
              <a:t>BASR Synopsis  ·  Oracle Observability of Quantum Transpiler Regressions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50" b="1" i="0">
                <a:solidFill>
                  <a:srgbClr val="60708C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250" b="1" i="0">
                <a:solidFill>
                  <a:srgbClr val="14B8A6"/>
                </a:solidFill>
                <a:latin typeface="Calibri"/>
              </a:rPr>
              <a:t>A CREDIBLE PILOT WITH STATED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9144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2900" b="1" i="0">
                <a:solidFill>
                  <a:srgbClr val="1E2A44"/>
                </a:solidFill>
                <a:latin typeface="Cambria"/>
              </a:rPr>
              <a:t>Scope &amp; Delimitations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00200"/>
            <a:ext cx="5349240" cy="3657600"/>
          </a:xfrm>
          <a:prstGeom prst="roundRect">
            <a:avLst>
              <a:gd name="adj" fmla="val 6000"/>
            </a:avLst>
          </a:prstGeom>
          <a:solidFill>
            <a:srgbClr val="E7F6F4"/>
          </a:solidFill>
          <a:ln>
            <a:noFill/>
          </a:ln>
          <a:effectLst>
            <a:outerShdw blurRad="90000" dist="28000" dir="5400000" rotWithShape="0">
              <a:srgbClr val="1623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6384" y="1746504"/>
            <a:ext cx="4928616" cy="33832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700" b="1" i="0">
                <a:solidFill>
                  <a:srgbClr val="0E6E6D"/>
                </a:solidFill>
                <a:latin typeface="Calibri"/>
              </a:rPr>
              <a:t>In scope</a:t>
            </a:r>
          </a:p>
          <a:p>
            <a:pPr>
              <a:spcBef>
                <a:spcPts val="400"/>
              </a:spcBef>
            </a:pPr>
            <a:r>
              <a:rPr sz="125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1E2A44"/>
                </a:solidFill>
                <a:latin typeface="Calibri"/>
              </a:rPr>
              <a:t>Qiskit 2.x transpiler, treated as a reproducible feasibility investigation</a:t>
            </a:r>
          </a:p>
          <a:p>
            <a:pPr>
              <a:spcBef>
                <a:spcPts val="400"/>
              </a:spcBef>
            </a:pPr>
            <a:r>
              <a:rPr sz="125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1E2A44"/>
                </a:solidFill>
                <a:latin typeface="Calibri"/>
              </a:rPr>
              <a:t>Empirical measurement of the oracle-observability gap</a:t>
            </a:r>
          </a:p>
          <a:p>
            <a:pPr>
              <a:spcBef>
                <a:spcPts val="400"/>
              </a:spcBef>
            </a:pPr>
            <a:r>
              <a:rPr sz="125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1E2A44"/>
                </a:solidFill>
                <a:latin typeface="Calibri"/>
              </a:rPr>
              <a:t>Exact-unitary and quality-oracle tiers</a:t>
            </a:r>
          </a:p>
          <a:p>
            <a:pPr>
              <a:spcBef>
                <a:spcPts val="400"/>
              </a:spcBef>
            </a:pPr>
            <a:r>
              <a:rPr sz="125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1E2A44"/>
                </a:solidFill>
                <a:latin typeface="Calibri"/>
              </a:rPr>
              <a:t>Leakage-safe methodology with an open, released harness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91072" y="1600200"/>
            <a:ext cx="5349240" cy="3657600"/>
          </a:xfrm>
          <a:prstGeom prst="roundRect">
            <a:avLst>
              <a:gd name="adj" fmla="val 6000"/>
            </a:avLst>
          </a:prstGeom>
          <a:solidFill>
            <a:srgbClr val="F7F0EA"/>
          </a:solidFill>
          <a:ln>
            <a:noFill/>
          </a:ln>
          <a:effectLst>
            <a:outerShdw blurRad="90000" dist="28000" dir="5400000" rotWithShape="0">
              <a:srgbClr val="1623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10528" y="1746504"/>
            <a:ext cx="4928616" cy="33832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700" b="1" i="0">
                <a:solidFill>
                  <a:srgbClr val="9A532E"/>
                </a:solidFill>
                <a:latin typeface="Calibri"/>
              </a:rPr>
              <a:t>Out of scope / delimited</a:t>
            </a:r>
          </a:p>
          <a:p>
            <a:pPr>
              <a:spcBef>
                <a:spcPts val="400"/>
              </a:spcBef>
            </a:pPr>
            <a:r>
              <a:rPr sz="125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1E2A44"/>
                </a:solidFill>
                <a:latin typeface="Calibri"/>
              </a:rPr>
              <a:t>Single 16 GB laptop; corpus width-capped at 8 qubits (no cost pressure yet)</a:t>
            </a:r>
          </a:p>
          <a:p>
            <a:pPr>
              <a:spcBef>
                <a:spcPts val="400"/>
              </a:spcBef>
            </a:pPr>
            <a:r>
              <a:rPr sz="125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1E2A44"/>
                </a:solidFill>
                <a:latin typeface="Calibri"/>
              </a:rPr>
              <a:t>Sampled-statevector and noisy-target determinism tiers specified but not primary</a:t>
            </a:r>
          </a:p>
          <a:p>
            <a:pPr>
              <a:spcBef>
                <a:spcPts val="400"/>
              </a:spcBef>
            </a:pPr>
            <a:r>
              <a:rPr sz="125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1E2A44"/>
                </a:solidFill>
                <a:latin typeface="Calibri"/>
              </a:rPr>
              <a:t>No comparative-effectiveness or temporal-generalisation claim until ≥3 forward events</a:t>
            </a:r>
          </a:p>
          <a:p>
            <a:pPr>
              <a:spcBef>
                <a:spcPts val="400"/>
              </a:spcBef>
            </a:pPr>
            <a:r>
              <a:rPr sz="125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1E2A44"/>
                </a:solidFill>
                <a:latin typeface="Calibri"/>
              </a:rPr>
              <a:t>No learned selector evaluated at this stage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91440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850" b="0" i="0">
                <a:solidFill>
                  <a:srgbClr val="60708C"/>
                </a:solidFill>
                <a:latin typeface="Calibri"/>
              </a:rPr>
              <a:t>BASR Synopsis  ·  Oracle Observability of Quantum Transpiler Regressions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50" b="1" i="0">
                <a:solidFill>
                  <a:srgbClr val="60708C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250" b="1" i="0">
                <a:solidFill>
                  <a:srgbClr val="14B8A6"/>
                </a:solidFill>
                <a:latin typeface="Calibri"/>
              </a:rPr>
              <a:t>SITUATING THE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9144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2900" b="1" i="0">
                <a:solidFill>
                  <a:srgbClr val="1E2A44"/>
                </a:solidFill>
                <a:latin typeface="Cambria"/>
              </a:rPr>
              <a:t>Literature Review: Threads We Build 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54480"/>
            <a:ext cx="11073384" cy="859536"/>
          </a:xfrm>
          <a:prstGeom prst="roundRect">
            <a:avLst>
              <a:gd name="adj" fmla="val 6000"/>
            </a:avLst>
          </a:prstGeom>
          <a:solidFill>
            <a:srgbClr val="F2F6FB"/>
          </a:solidFill>
          <a:ln>
            <a:noFill/>
          </a:ln>
          <a:effectLst>
            <a:outerShdw blurRad="90000" dist="28000" dir="5400000" rotWithShape="0">
              <a:srgbClr val="1623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86384" y="1783080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664207"/>
            <a:ext cx="10058400" cy="6766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400" b="1" i="0">
                <a:solidFill>
                  <a:srgbClr val="1E2A44"/>
                </a:solidFill>
                <a:latin typeface="Calibri"/>
              </a:rPr>
              <a:t>Transpiler &amp; the oracle problem   </a:t>
            </a:r>
            <a:r>
              <a:rPr sz="1200" b="0" i="0">
                <a:solidFill>
                  <a:srgbClr val="60708C"/>
                </a:solidFill>
                <a:latin typeface="Calibri"/>
              </a:rPr>
              <a:t>Staged pass manager; equivalence modulo layout; the quantum oracle problem [5], [8], [9]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542032"/>
            <a:ext cx="11073384" cy="859536"/>
          </a:xfrm>
          <a:prstGeom prst="roundRect">
            <a:avLst>
              <a:gd name="adj" fmla="val 6000"/>
            </a:avLst>
          </a:prstGeom>
          <a:solidFill>
            <a:srgbClr val="F2F6FB"/>
          </a:solidFill>
          <a:ln>
            <a:noFill/>
          </a:ln>
          <a:effectLst>
            <a:outerShdw blurRad="90000" dist="28000" dir="5400000" rotWithShape="0">
              <a:srgbClr val="1623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86384" y="2770632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651760"/>
            <a:ext cx="10058400" cy="6766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400" b="1" i="0">
                <a:solidFill>
                  <a:srgbClr val="1E2A44"/>
                </a:solidFill>
                <a:latin typeface="Calibri"/>
              </a:rPr>
              <a:t>Classical RTS &amp; prioritisation   </a:t>
            </a:r>
            <a:r>
              <a:rPr sz="1200" b="0" i="0">
                <a:solidFill>
                  <a:srgbClr val="60708C"/>
                </a:solidFill>
                <a:latin typeface="Calibri"/>
              </a:rPr>
              <a:t>APFD / APFDc; change-, history-, cost-aware heuristics stay strong baselines [3], [10]–[12]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529584"/>
            <a:ext cx="11073384" cy="859536"/>
          </a:xfrm>
          <a:prstGeom prst="roundRect">
            <a:avLst>
              <a:gd name="adj" fmla="val 6000"/>
            </a:avLst>
          </a:prstGeom>
          <a:solidFill>
            <a:srgbClr val="F2F6FB"/>
          </a:solidFill>
          <a:ln>
            <a:noFill/>
          </a:ln>
          <a:effectLst>
            <a:outerShdw blurRad="90000" dist="28000" dir="5400000" rotWithShape="0">
              <a:srgbClr val="1623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86384" y="3758184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639312"/>
            <a:ext cx="10058400" cy="6766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400" b="1" i="0">
                <a:solidFill>
                  <a:srgbClr val="1E2A44"/>
                </a:solidFill>
                <a:latin typeface="Calibri"/>
              </a:rPr>
              <a:t>CI heuristics vs learned selection   </a:t>
            </a:r>
            <a:r>
              <a:rPr sz="1200" b="0" i="0">
                <a:solidFill>
                  <a:srgbClr val="60708C"/>
                </a:solidFill>
                <a:latin typeface="Calibri"/>
              </a:rPr>
              <a:t>Simple heuristics often beat learned models when labels are scarce [4], [13]–[18]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517136"/>
            <a:ext cx="11073384" cy="859536"/>
          </a:xfrm>
          <a:prstGeom prst="roundRect">
            <a:avLst>
              <a:gd name="adj" fmla="val 6000"/>
            </a:avLst>
          </a:prstGeom>
          <a:solidFill>
            <a:srgbClr val="F2F6FB"/>
          </a:solidFill>
          <a:ln>
            <a:noFill/>
          </a:ln>
          <a:effectLst>
            <a:outerShdw blurRad="90000" dist="28000" dir="5400000" rotWithShape="0">
              <a:srgbClr val="1623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86384" y="4745736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626864"/>
            <a:ext cx="10058400" cy="6766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400" b="1" i="0">
                <a:solidFill>
                  <a:srgbClr val="1E2A44"/>
                </a:solidFill>
                <a:latin typeface="Calibri"/>
              </a:rPr>
              <a:t>Quantum software &amp; compiler testing   </a:t>
            </a:r>
            <a:r>
              <a:rPr sz="1200" b="0" i="0">
                <a:solidFill>
                  <a:srgbClr val="60708C"/>
                </a:solidFill>
                <a:latin typeface="Calibri"/>
              </a:rPr>
              <a:t>MorphQ, QuCheck, QEMI, QDiff, QSPE, concolic testing [7], [19], [22]–[26]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504688"/>
            <a:ext cx="11073384" cy="859536"/>
          </a:xfrm>
          <a:prstGeom prst="roundRect">
            <a:avLst>
              <a:gd name="adj" fmla="val 6000"/>
            </a:avLst>
          </a:prstGeom>
          <a:solidFill>
            <a:srgbClr val="F2F6FB"/>
          </a:solidFill>
          <a:ln>
            <a:noFill/>
          </a:ln>
          <a:effectLst>
            <a:outerShdw blurRad="90000" dist="28000" dir="5400000" rotWithShape="0">
              <a:srgbClr val="1623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86384" y="5733288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5614416"/>
            <a:ext cx="10058400" cy="6766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400" b="1" i="0">
                <a:solidFill>
                  <a:srgbClr val="1E2A44"/>
                </a:solidFill>
                <a:latin typeface="Calibri"/>
              </a:rPr>
              <a:t>Verification, static analysis, mutation   </a:t>
            </a:r>
            <a:r>
              <a:rPr sz="1200" b="0" i="0">
                <a:solidFill>
                  <a:srgbClr val="60708C"/>
                </a:solidFill>
                <a:latin typeface="Calibri"/>
              </a:rPr>
              <a:t>Giallar, LintQ, Bugs4Q, Muskit, QMutPy; a roadmap naming transpilation [27]–[32]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73952"/>
            <a:ext cx="91440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850" b="0" i="0">
                <a:solidFill>
                  <a:srgbClr val="60708C"/>
                </a:solidFill>
                <a:latin typeface="Calibri"/>
              </a:rPr>
              <a:t>BASR Synopsis  ·  Oracle Observability of Quantum Transpiler Regressions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50" b="1" i="0">
                <a:solidFill>
                  <a:srgbClr val="60708C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05840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300" b="1" i="0">
                <a:solidFill>
                  <a:srgbClr val="14B8A6"/>
                </a:solidFill>
                <a:latin typeface="Calibri"/>
              </a:rPr>
              <a:t>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41832"/>
            <a:ext cx="10424160" cy="6400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Two Gaps in the Literature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5257800" cy="3246120"/>
          </a:xfrm>
          <a:prstGeom prst="roundRect">
            <a:avLst>
              <a:gd name="adj" fmla="val 6000"/>
            </a:avLst>
          </a:prstGeom>
          <a:solidFill>
            <a:srgbClr val="1A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965960"/>
            <a:ext cx="4754880" cy="29260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800" b="1" i="0">
                <a:solidFill>
                  <a:srgbClr val="14B8A6"/>
                </a:solidFill>
                <a:latin typeface="Calibri"/>
              </a:rPr>
              <a:t>A measurement gap</a:t>
            </a:r>
          </a:p>
          <a:p>
            <a:pPr>
              <a:spcBef>
                <a:spcPts val="700"/>
              </a:spcBef>
            </a:pPr>
            <a:r>
              <a:rPr sz="1300" b="0" i="0">
                <a:solidFill>
                  <a:srgbClr val="14B8A6"/>
                </a:solidFill>
                <a:latin typeface="Calibri"/>
              </a:rPr>
              <a:t>▪  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The equivalence-checking literature reasons only about the output map [6]</a:t>
            </a:r>
          </a:p>
          <a:p>
            <a:pPr>
              <a:spcBef>
                <a:spcPts val="700"/>
              </a:spcBef>
            </a:pPr>
            <a:r>
              <a:rPr sz="1300" b="0" i="0">
                <a:solidFill>
                  <a:srgbClr val="14B8A6"/>
                </a:solidFill>
                <a:latin typeface="Calibri"/>
              </a:rPr>
              <a:t>▪  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No study quantifies how often real transpiler regressions escape a black-box output oracle</a:t>
            </a:r>
          </a:p>
          <a:p>
            <a:pPr>
              <a:spcBef>
                <a:spcPts val="700"/>
              </a:spcBef>
            </a:pPr>
            <a:r>
              <a:rPr sz="1300" b="0" i="0">
                <a:solidFill>
                  <a:srgbClr val="14B8A6"/>
                </a:solidFill>
                <a:latin typeface="Calibri"/>
              </a:rPr>
              <a:t>▪  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Nor demonstrates such an escape from source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783080"/>
            <a:ext cx="5257800" cy="3246120"/>
          </a:xfrm>
          <a:prstGeom prst="roundRect">
            <a:avLst>
              <a:gd name="adj" fmla="val 6000"/>
            </a:avLst>
          </a:prstGeom>
          <a:solidFill>
            <a:srgbClr val="1A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1965960"/>
            <a:ext cx="4754880" cy="29260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800" b="1" i="0">
                <a:solidFill>
                  <a:srgbClr val="14B8A6"/>
                </a:solidFill>
                <a:latin typeface="Calibri"/>
              </a:rPr>
              <a:t>A methodological gap</a:t>
            </a:r>
          </a:p>
          <a:p>
            <a:pPr>
              <a:spcBef>
                <a:spcPts val="700"/>
              </a:spcBef>
            </a:pPr>
            <a:r>
              <a:rPr sz="1300" b="0" i="0">
                <a:solidFill>
                  <a:srgbClr val="14B8A6"/>
                </a:solidFill>
                <a:latin typeface="Calibri"/>
              </a:rPr>
              <a:t>▪  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Transparent, cost-aware heuristics are strong baselines [3], [14] — but never carried to the transpiler</a:t>
            </a:r>
          </a:p>
          <a:p>
            <a:pPr>
              <a:spcBef>
                <a:spcPts val="700"/>
              </a:spcBef>
            </a:pPr>
            <a:r>
              <a:rPr sz="1300" b="0" i="0">
                <a:solidFill>
                  <a:srgbClr val="14B8A6"/>
                </a:solidFill>
                <a:latin typeface="Calibri"/>
              </a:rPr>
              <a:t>▪  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Where the fault is a compiler regression and the oracle must reason up to a layout permutation</a:t>
            </a:r>
          </a:p>
          <a:p>
            <a:pPr>
              <a:spcBef>
                <a:spcPts val="700"/>
              </a:spcBef>
            </a:pPr>
            <a:r>
              <a:rPr sz="1300" b="0" i="0">
                <a:solidFill>
                  <a:srgbClr val="14B8A6"/>
                </a:solidFill>
                <a:latin typeface="Calibri"/>
              </a:rPr>
              <a:t>▪  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And leakage-safe, cohort-separated evaluation is needed to keep any comparison honest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257800"/>
            <a:ext cx="10515600" cy="5486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400" b="1" i="1">
                <a:solidFill>
                  <a:srgbClr val="D5E3F7"/>
                </a:solidFill>
                <a:latin typeface="Calibri"/>
              </a:rPr>
              <a:t>This research addresses both — it measures the gap on real fixes, then builds the methodology to close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91440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850" b="0" i="0">
                <a:solidFill>
                  <a:srgbClr val="8A99B5"/>
                </a:solidFill>
                <a:latin typeface="Calibri"/>
              </a:rPr>
              <a:t>BASR Synopsis  ·  Oracle Observability of Quantum Transpiler Regressions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50" b="1" i="0">
                <a:solidFill>
                  <a:srgbClr val="8A99B5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250" b="1" i="0">
                <a:solidFill>
                  <a:srgbClr val="14B8A6"/>
                </a:solidFill>
                <a:latin typeface="Calibri"/>
              </a:rPr>
              <a:t>COST-AWARE REGRESSION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9144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2900" b="1" i="0">
                <a:solidFill>
                  <a:srgbClr val="1E2A44"/>
                </a:solidFill>
                <a:latin typeface="Cambria"/>
              </a:rPr>
              <a:t>Proposed Methodology: the cart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91640"/>
            <a:ext cx="2103120" cy="2286000"/>
          </a:xfrm>
          <a:prstGeom prst="roundRect">
            <a:avLst>
              <a:gd name="adj" fmla="val 6000"/>
            </a:avLst>
          </a:prstGeom>
          <a:solidFill>
            <a:srgbClr val="F2F6FB"/>
          </a:solidFill>
          <a:ln>
            <a:noFill/>
          </a:ln>
          <a:effectLst>
            <a:outerShdw blurRad="90000" dist="28000" dir="5400000" rotWithShape="0">
              <a:srgbClr val="1623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362456" y="1947672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2606040"/>
            <a:ext cx="1847087" cy="12801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350" b="1" i="0">
                <a:solidFill>
                  <a:srgbClr val="1E2A44"/>
                </a:solidFill>
                <a:latin typeface="Calibri"/>
              </a:rPr>
              <a:t>Manifest &amp; instrument</a:t>
            </a:r>
          </a:p>
          <a:p>
            <a:pPr algn="ctr">
              <a:spcBef>
                <a:spcPts val="400"/>
              </a:spcBef>
            </a:pPr>
            <a:r>
              <a:rPr sz="1050" b="0" i="0">
                <a:solidFill>
                  <a:srgbClr val="60708C"/>
                </a:solidFill>
                <a:latin typeface="Calibri"/>
              </a:rPr>
              <a:t>observe pass stages at run time, not from filenames</a:t>
            </a:r>
          </a:p>
        </p:txBody>
      </p:sp>
      <p:sp>
        <p:nvSpPr>
          <p:cNvPr id="8" name="Chevron 7"/>
          <p:cNvSpPr/>
          <p:nvPr/>
        </p:nvSpPr>
        <p:spPr>
          <a:xfrm>
            <a:off x="2651760" y="2624328"/>
            <a:ext cx="201168" cy="402336"/>
          </a:xfrm>
          <a:prstGeom prst="chevron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834640" y="1691640"/>
            <a:ext cx="2103120" cy="2286000"/>
          </a:xfrm>
          <a:prstGeom prst="roundRect">
            <a:avLst>
              <a:gd name="adj" fmla="val 6000"/>
            </a:avLst>
          </a:prstGeom>
          <a:solidFill>
            <a:srgbClr val="F2F6FB"/>
          </a:solidFill>
          <a:ln>
            <a:noFill/>
          </a:ln>
          <a:effectLst>
            <a:outerShdw blurRad="90000" dist="28000" dir="5400000" rotWithShape="0">
              <a:srgbClr val="1623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630168" y="1947672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62656" y="2606040"/>
            <a:ext cx="1847087" cy="12801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350" b="1" i="0">
                <a:solidFill>
                  <a:srgbClr val="1E2A44"/>
                </a:solidFill>
                <a:latin typeface="Calibri"/>
              </a:rPr>
              <a:t>Events &amp; cohorts</a:t>
            </a:r>
          </a:p>
          <a:p>
            <a:pPr algn="ctr">
              <a:spcBef>
                <a:spcPts val="400"/>
              </a:spcBef>
            </a:pPr>
            <a:r>
              <a:rPr sz="1050" b="0" i="0">
                <a:solidFill>
                  <a:srgbClr val="60708C"/>
                </a:solidFill>
                <a:latin typeface="Calibri"/>
              </a:rPr>
              <a:t>construct change events + a mutation engine</a:t>
            </a:r>
          </a:p>
        </p:txBody>
      </p:sp>
      <p:sp>
        <p:nvSpPr>
          <p:cNvPr id="12" name="Chevron 11"/>
          <p:cNvSpPr/>
          <p:nvPr/>
        </p:nvSpPr>
        <p:spPr>
          <a:xfrm>
            <a:off x="4919472" y="2624328"/>
            <a:ext cx="201168" cy="402336"/>
          </a:xfrm>
          <a:prstGeom prst="chevron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102352" y="1691640"/>
            <a:ext cx="2103120" cy="2286000"/>
          </a:xfrm>
          <a:prstGeom prst="roundRect">
            <a:avLst>
              <a:gd name="adj" fmla="val 6000"/>
            </a:avLst>
          </a:prstGeom>
          <a:solidFill>
            <a:srgbClr val="F2F6FB"/>
          </a:solidFill>
          <a:ln>
            <a:noFill/>
          </a:ln>
          <a:effectLst>
            <a:outerShdw blurRad="90000" dist="28000" dir="5400000" rotWithShape="0">
              <a:srgbClr val="1623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897880" y="1947672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0368" y="2606040"/>
            <a:ext cx="1847087" cy="12801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350" b="1" i="0">
                <a:solidFill>
                  <a:srgbClr val="1E2A44"/>
                </a:solidFill>
                <a:latin typeface="Calibri"/>
              </a:rPr>
              <a:t>Tiered oracles</a:t>
            </a:r>
          </a:p>
          <a:p>
            <a:pPr algn="ctr">
              <a:spcBef>
                <a:spcPts val="400"/>
              </a:spcBef>
            </a:pPr>
            <a:r>
              <a:rPr sz="1050" b="0" i="0">
                <a:solidFill>
                  <a:srgbClr val="60708C"/>
                </a:solidFill>
                <a:latin typeface="Calibri"/>
              </a:rPr>
              <a:t>write-once ground-truth labels</a:t>
            </a:r>
          </a:p>
        </p:txBody>
      </p:sp>
      <p:sp>
        <p:nvSpPr>
          <p:cNvPr id="16" name="Chevron 15"/>
          <p:cNvSpPr/>
          <p:nvPr/>
        </p:nvSpPr>
        <p:spPr>
          <a:xfrm>
            <a:off x="7187184" y="2624328"/>
            <a:ext cx="201168" cy="402336"/>
          </a:xfrm>
          <a:prstGeom prst="chevron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370064" y="1691640"/>
            <a:ext cx="2103120" cy="2286000"/>
          </a:xfrm>
          <a:prstGeom prst="roundRect">
            <a:avLst>
              <a:gd name="adj" fmla="val 6000"/>
            </a:avLst>
          </a:prstGeom>
          <a:solidFill>
            <a:srgbClr val="F2F6FB"/>
          </a:solidFill>
          <a:ln>
            <a:noFill/>
          </a:ln>
          <a:effectLst>
            <a:outerShdw blurRad="90000" dist="28000" dir="5400000" rotWithShape="0">
              <a:srgbClr val="1623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165592" y="1947672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0" y="2606040"/>
            <a:ext cx="1847087" cy="12801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350" b="1" i="0">
                <a:solidFill>
                  <a:srgbClr val="1E2A44"/>
                </a:solidFill>
                <a:latin typeface="Calibri"/>
              </a:rPr>
              <a:t>Select under budget</a:t>
            </a:r>
          </a:p>
          <a:p>
            <a:pPr algn="ctr">
              <a:spcBef>
                <a:spcPts val="400"/>
              </a:spcBef>
            </a:pPr>
            <a:r>
              <a:rPr sz="1050" b="0" i="0">
                <a:solidFill>
                  <a:srgbClr val="60708C"/>
                </a:solidFill>
                <a:latin typeface="Calibri"/>
              </a:rPr>
              <a:t>risk_score vs 5 baselines</a:t>
            </a:r>
          </a:p>
        </p:txBody>
      </p:sp>
      <p:sp>
        <p:nvSpPr>
          <p:cNvPr id="20" name="Chevron 19"/>
          <p:cNvSpPr/>
          <p:nvPr/>
        </p:nvSpPr>
        <p:spPr>
          <a:xfrm>
            <a:off x="9454896" y="2624328"/>
            <a:ext cx="201168" cy="402336"/>
          </a:xfrm>
          <a:prstGeom prst="chevron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637776" y="1691640"/>
            <a:ext cx="2103120" cy="2286000"/>
          </a:xfrm>
          <a:prstGeom prst="roundRect">
            <a:avLst>
              <a:gd name="adj" fmla="val 6000"/>
            </a:avLst>
          </a:prstGeom>
          <a:solidFill>
            <a:srgbClr val="F2F6FB"/>
          </a:solidFill>
          <a:ln>
            <a:noFill/>
          </a:ln>
          <a:effectLst>
            <a:outerShdw blurRad="90000" dist="28000" dir="5400000" rotWithShape="0">
              <a:srgbClr val="1623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433304" y="1947672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65792" y="2606040"/>
            <a:ext cx="1847087" cy="12801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350" b="1" i="0">
                <a:solidFill>
                  <a:srgbClr val="1E2A44"/>
                </a:solidFill>
                <a:latin typeface="Calibri"/>
              </a:rPr>
              <a:t>Metrics &amp; gates</a:t>
            </a:r>
          </a:p>
          <a:p>
            <a:pPr algn="ctr">
              <a:spcBef>
                <a:spcPts val="400"/>
              </a:spcBef>
            </a:pPr>
            <a:r>
              <a:rPr sz="1050" b="0" i="0">
                <a:solidFill>
                  <a:srgbClr val="60708C"/>
                </a:solidFill>
                <a:latin typeface="Calibri"/>
              </a:rPr>
              <a:t>6 validity gates before any result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43400"/>
            <a:ext cx="11073384" cy="1051560"/>
          </a:xfrm>
          <a:prstGeom prst="roundRect">
            <a:avLst>
              <a:gd name="adj" fmla="val 6000"/>
            </a:avLst>
          </a:prstGeom>
          <a:solidFill>
            <a:srgbClr val="E7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4480560"/>
            <a:ext cx="10607040" cy="8229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300" b="1" i="0">
                <a:solidFill>
                  <a:srgbClr val="0E6E6D"/>
                </a:solidFill>
                <a:latin typeface="Calibri"/>
              </a:rPr>
              <a:t>Shared reproducibility substrate:  </a:t>
            </a:r>
            <a:r>
              <a:rPr sz="1250" b="0" i="0">
                <a:solidFill>
                  <a:srgbClr val="1E2A44"/>
                </a:solidFill>
                <a:latin typeface="Calibri"/>
              </a:rPr>
              <a:t>two-layer execution environment   ·   write-once artifacts   ·   CPU-time cost calibration   ·   frozen change–stage map   ·   group-level temporal split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473952"/>
            <a:ext cx="91440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850" b="0" i="0">
                <a:solidFill>
                  <a:srgbClr val="60708C"/>
                </a:solidFill>
                <a:latin typeface="Calibri"/>
              </a:rPr>
              <a:t>BASR Synopsis  ·  Oracle Observability of Quantum Transpiler Regressions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50" b="1" i="0">
                <a:solidFill>
                  <a:srgbClr val="60708C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250" b="1" i="0">
                <a:solidFill>
                  <a:srgbClr val="14B8A6"/>
                </a:solidFill>
                <a:latin typeface="Calibri"/>
              </a:rPr>
              <a:t>METHODOLOGY (DETAIL)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9144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2900" b="1" i="0">
                <a:solidFill>
                  <a:srgbClr val="1E2A44"/>
                </a:solidFill>
                <a:latin typeface="Cambria"/>
              </a:rPr>
              <a:t>Change Events, Cohorts &amp; Layout-Aware Oracles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72768"/>
            <a:ext cx="5349240" cy="3703320"/>
          </a:xfrm>
          <a:prstGeom prst="roundRect">
            <a:avLst>
              <a:gd name="adj" fmla="val 6000"/>
            </a:avLst>
          </a:prstGeom>
          <a:solidFill>
            <a:srgbClr val="F2F6FB"/>
          </a:solidFill>
          <a:ln>
            <a:noFill/>
          </a:ln>
          <a:effectLst>
            <a:outerShdw blurRad="90000" dist="28000" dir="5400000" rotWithShape="0">
              <a:srgbClr val="1623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6384" y="1719072"/>
            <a:ext cx="4928616" cy="34290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600" b="1" i="0">
                <a:solidFill>
                  <a:srgbClr val="0E6E6D"/>
                </a:solidFill>
                <a:latin typeface="Calibri"/>
              </a:rPr>
              <a:t>Cohorts (never pooled)</a:t>
            </a:r>
          </a:p>
          <a:p>
            <a:pPr>
              <a:spcBef>
                <a:spcPts val="400"/>
              </a:spcBef>
            </a:pPr>
            <a:r>
              <a:rPr sz="125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1E2A44"/>
                </a:solidFill>
                <a:latin typeface="Calibri"/>
              </a:rPr>
              <a:t>forward_regression — the real CI question: change just made, regression not yet known</a:t>
            </a:r>
          </a:p>
          <a:p>
            <a:pPr>
              <a:spcBef>
                <a:spcPts val="400"/>
              </a:spcBef>
            </a:pPr>
            <a:r>
              <a:rPr sz="125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1E2A44"/>
                </a:solidFill>
                <a:latin typeface="Calibri"/>
              </a:rPr>
              <a:t>fix_boundary_differential — reverse orientation when the introducing commit is untraced</a:t>
            </a:r>
          </a:p>
          <a:p>
            <a:pPr>
              <a:spcBef>
                <a:spcPts val="400"/>
              </a:spcBef>
            </a:pPr>
            <a:r>
              <a:rPr sz="125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1E2A44"/>
                </a:solidFill>
                <a:latin typeface="Calibri"/>
              </a:rPr>
              <a:t>mutation — controlled, semantics-preserving faults; a reliable labelling backbone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91072" y="1572768"/>
            <a:ext cx="5349240" cy="3703320"/>
          </a:xfrm>
          <a:prstGeom prst="roundRect">
            <a:avLst>
              <a:gd name="adj" fmla="val 6000"/>
            </a:avLst>
          </a:prstGeom>
          <a:solidFill>
            <a:srgbClr val="E7F6F4"/>
          </a:solidFill>
          <a:ln>
            <a:noFill/>
          </a:ln>
          <a:effectLst>
            <a:outerShdw blurRad="90000" dist="28000" dir="5400000" rotWithShape="0">
              <a:srgbClr val="1623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10528" y="1719072"/>
            <a:ext cx="4928616" cy="34290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600" b="1" i="0">
                <a:solidFill>
                  <a:srgbClr val="0E6E6D"/>
                </a:solidFill>
                <a:latin typeface="Calibri"/>
              </a:rPr>
              <a:t>Oracles, matched to the fault channel</a:t>
            </a:r>
          </a:p>
          <a:p>
            <a:pPr>
              <a:spcBef>
                <a:spcPts val="400"/>
              </a:spcBef>
            </a:pPr>
            <a:r>
              <a:rPr sz="120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1E2A44"/>
                </a:solidFill>
                <a:latin typeface="Calibri"/>
              </a:rPr>
              <a:t>semantic — exact-unitary (≤12q) or structural validity</a:t>
            </a:r>
          </a:p>
          <a:p>
            <a:pPr>
              <a:spcBef>
                <a:spcPts val="400"/>
              </a:spcBef>
            </a:pPr>
            <a:r>
              <a:rPr sz="120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1E2A44"/>
                </a:solidFill>
                <a:latin typeface="Calibri"/>
              </a:rPr>
              <a:t>quality — Pareto rule over 2q-count and depth</a:t>
            </a:r>
          </a:p>
          <a:p>
            <a:pPr>
              <a:spcBef>
                <a:spcPts val="400"/>
              </a:spcBef>
            </a:pPr>
            <a:r>
              <a:rPr sz="120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1E2A44"/>
                </a:solidFill>
                <a:latin typeface="Calibri"/>
              </a:rPr>
              <a:t>performance — two-stage screen + Cliff's δ (exploratory)</a:t>
            </a:r>
          </a:p>
          <a:p>
            <a:pPr>
              <a:spcBef>
                <a:spcPts val="400"/>
              </a:spcBef>
            </a:pPr>
            <a:r>
              <a:rPr sz="120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1E2A44"/>
                </a:solidFill>
                <a:latin typeface="Calibri"/>
              </a:rPr>
              <a:t>contract / metadata — property &amp; isolated-pass check (output-invisible)</a:t>
            </a:r>
          </a:p>
          <a:p>
            <a:pPr>
              <a:spcBef>
                <a:spcPts val="400"/>
              </a:spcBef>
            </a:pPr>
            <a:r>
              <a:rPr sz="120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1E2A44"/>
                </a:solidFill>
                <a:latin typeface="Calibri"/>
              </a:rPr>
              <a:t>determinism — reproducibility check (output-invisible)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440680"/>
            <a:ext cx="1106424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150" b="0" i="1">
                <a:solidFill>
                  <a:srgbClr val="60708C"/>
                </a:solidFill>
                <a:latin typeface="Calibri"/>
              </a:rPr>
              <a:t>Two channels — contract/metadata and determinism — are invisible to output-only oracles, and motivate the fault-class-matched checks.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91440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850" b="0" i="0">
                <a:solidFill>
                  <a:srgbClr val="60708C"/>
                </a:solidFill>
                <a:latin typeface="Calibri"/>
              </a:rPr>
              <a:t>BASR Synopsis  ·  Oracle Observability of Quantum Transpiler Regressions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50" b="1" i="0">
                <a:solidFill>
                  <a:srgbClr val="60708C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250" b="1" i="0">
                <a:solidFill>
                  <a:srgbClr val="14B8A6"/>
                </a:solidFill>
                <a:latin typeface="Calibri"/>
              </a:rPr>
              <a:t>NO MACHINE LEARNING — AN INTERPRETABLE HEURISTIC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9144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2900" b="1" i="0">
                <a:solidFill>
                  <a:srgbClr val="1E2A44"/>
                </a:solidFill>
                <a:latin typeface="Cambria"/>
              </a:rPr>
              <a:t>Transparent Selector, Baselines &amp; Anti-Leakage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54480"/>
            <a:ext cx="11073384" cy="868680"/>
          </a:xfrm>
          <a:prstGeom prst="roundRect">
            <a:avLst>
              <a:gd name="adj" fmla="val 6000"/>
            </a:avLst>
          </a:prstGeom>
          <a:solidFill>
            <a:srgbClr val="0F1C3F"/>
          </a:solidFill>
          <a:ln>
            <a:noFill/>
          </a:ln>
          <a:effectLst>
            <a:outerShdw blurRad="90000" dist="28000" dir="5400000" rotWithShape="0">
              <a:srgbClr val="1623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10607040" cy="6858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450" b="1" i="0">
                <a:solidFill>
                  <a:srgbClr val="D5E3F7"/>
                </a:solidFill>
                <a:latin typeface="Consolas"/>
              </a:rPr>
              <a:t>risk_score = (ε + change_stage_match) × circuit_backend_sensitivity × impact_prior × oracle_confidence ÷ expected_cost × novelty_multiplier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606040"/>
            <a:ext cx="5349240" cy="2697480"/>
          </a:xfrm>
          <a:prstGeom prst="roundRect">
            <a:avLst>
              <a:gd name="adj" fmla="val 6000"/>
            </a:avLst>
          </a:prstGeom>
          <a:solidFill>
            <a:srgbClr val="F2F6FB"/>
          </a:solidFill>
          <a:ln>
            <a:noFill/>
          </a:ln>
          <a:effectLst>
            <a:outerShdw blurRad="90000" dist="28000" dir="5400000" rotWithShape="0">
              <a:srgbClr val="1623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" y="2752344"/>
            <a:ext cx="4928616" cy="24231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550" b="1" i="0">
                <a:solidFill>
                  <a:srgbClr val="0E6E6D"/>
                </a:solidFill>
                <a:latin typeface="Calibri"/>
              </a:rPr>
              <a:t>Selector &amp; baselines</a:t>
            </a:r>
          </a:p>
          <a:p>
            <a:pPr>
              <a:spcBef>
                <a:spcPts val="400"/>
              </a:spcBef>
            </a:pPr>
            <a:r>
              <a:rPr sz="120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1E2A44"/>
                </a:solidFill>
                <a:latin typeface="Calibri"/>
              </a:rPr>
              <a:t>Hand-set, pre-declared weights — no learning, no tuning on any event</a:t>
            </a:r>
          </a:p>
          <a:p>
            <a:pPr>
              <a:spcBef>
                <a:spcPts val="400"/>
              </a:spcBef>
            </a:pPr>
            <a:r>
              <a:rPr sz="120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1E2A44"/>
                </a:solidFill>
                <a:latin typeface="Calibri"/>
              </a:rPr>
              <a:t>Sees only pre-execution information; assessed by ablation</a:t>
            </a:r>
          </a:p>
          <a:p>
            <a:pPr>
              <a:spcBef>
                <a:spcPts val="400"/>
              </a:spcBef>
            </a:pPr>
            <a:r>
              <a:rPr sz="120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1E2A44"/>
                </a:solidFill>
                <a:latin typeface="Calibri"/>
              </a:rPr>
              <a:t>5 baselines: random, cheapest-first, diversity-only, history-only, change-stage</a:t>
            </a:r>
          </a:p>
          <a:p>
            <a:pPr>
              <a:spcBef>
                <a:spcPts val="400"/>
              </a:spcBef>
            </a:pPr>
            <a:r>
              <a:rPr sz="120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1E2A44"/>
                </a:solidFill>
                <a:latin typeface="Calibri"/>
              </a:rPr>
              <a:t>All share the same per-event budget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91072" y="2606040"/>
            <a:ext cx="5349240" cy="2697480"/>
          </a:xfrm>
          <a:prstGeom prst="roundRect">
            <a:avLst>
              <a:gd name="adj" fmla="val 6000"/>
            </a:avLst>
          </a:prstGeom>
          <a:solidFill>
            <a:srgbClr val="E7F6F4"/>
          </a:solidFill>
          <a:ln>
            <a:noFill/>
          </a:ln>
          <a:effectLst>
            <a:outerShdw blurRad="90000" dist="28000" dir="5400000" rotWithShape="0">
              <a:srgbClr val="1623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10528" y="2752344"/>
            <a:ext cx="4928616" cy="24231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550" b="1" i="0">
                <a:solidFill>
                  <a:srgbClr val="0E6E6D"/>
                </a:solidFill>
                <a:latin typeface="Calibri"/>
              </a:rPr>
              <a:t>Anti-leakage &amp; rigour</a:t>
            </a:r>
          </a:p>
          <a:p>
            <a:pPr>
              <a:spcBef>
                <a:spcPts val="400"/>
              </a:spcBef>
            </a:pPr>
            <a:r>
              <a:rPr sz="120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1E2A44"/>
                </a:solidFill>
                <a:latin typeface="Calibri"/>
              </a:rPr>
              <a:t>Group-level temporal split; provenance rule (Primary vs Secondary track)</a:t>
            </a:r>
          </a:p>
          <a:p>
            <a:pPr>
              <a:spcBef>
                <a:spcPts val="400"/>
              </a:spcBef>
            </a:pPr>
            <a:r>
              <a:rPr sz="120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1E2A44"/>
                </a:solidFill>
                <a:latin typeface="Calibri"/>
              </a:rPr>
              <a:t>Frozen change–stage map; CPU-time cost calibration</a:t>
            </a:r>
          </a:p>
          <a:p>
            <a:pPr>
              <a:spcBef>
                <a:spcPts val="400"/>
              </a:spcBef>
            </a:pPr>
            <a:r>
              <a:rPr sz="120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1E2A44"/>
                </a:solidFill>
                <a:latin typeface="Calibri"/>
              </a:rPr>
              <a:t>Six implementation-validity gates before any result is reported</a:t>
            </a:r>
          </a:p>
          <a:p>
            <a:pPr>
              <a:spcBef>
                <a:spcPts val="400"/>
              </a:spcBef>
            </a:pPr>
            <a:r>
              <a:rPr sz="120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1E2A44"/>
                </a:solidFill>
                <a:latin typeface="Calibri"/>
              </a:rPr>
              <a:t>Strict claim-scope: &lt;3 forward events → per-event evidence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73952"/>
            <a:ext cx="91440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850" b="0" i="0">
                <a:solidFill>
                  <a:srgbClr val="60708C"/>
                </a:solidFill>
                <a:latin typeface="Calibri"/>
              </a:rPr>
              <a:t>BASR Synopsis  ·  Oracle Observability of Quantum Transpiler Regressions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50" b="1" i="0">
                <a:solidFill>
                  <a:srgbClr val="60708C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250" b="1" i="0">
                <a:solidFill>
                  <a:srgbClr val="14B8A6"/>
                </a:solidFill>
                <a:latin typeface="Calibri"/>
              </a:rPr>
              <a:t>THE METHODOLOGY RUNS END TO END ON REAL EVENTS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9144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2900" b="1" i="0">
                <a:solidFill>
                  <a:srgbClr val="1E2A44"/>
                </a:solidFill>
                <a:latin typeface="Cambria"/>
              </a:rPr>
              <a:t>Initial Results: Pipeline Feasibility &amp; Rigour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45920"/>
            <a:ext cx="2697480" cy="1737360"/>
          </a:xfrm>
          <a:prstGeom prst="roundRect">
            <a:avLst>
              <a:gd name="adj" fmla="val 6000"/>
            </a:avLst>
          </a:prstGeom>
          <a:solidFill>
            <a:srgbClr val="E7F6F4"/>
          </a:solidFill>
          <a:ln>
            <a:noFill/>
          </a:ln>
          <a:effectLst>
            <a:outerShdw blurRad="90000" dist="28000" dir="5400000" rotWithShape="0">
              <a:srgbClr val="1623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810512"/>
            <a:ext cx="2514600" cy="9144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4000" b="1" i="0">
                <a:solidFill>
                  <a:srgbClr val="0E6E6D"/>
                </a:solidFill>
                <a:latin typeface="Cambria"/>
              </a:rPr>
              <a:t>6 /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2761488"/>
            <a:ext cx="2478024" cy="5486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00" b="0" i="0">
                <a:solidFill>
                  <a:srgbClr val="1E2A44"/>
                </a:solidFill>
                <a:latin typeface="Calibri"/>
              </a:rPr>
              <a:t>validity gates passed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645920"/>
            <a:ext cx="2697480" cy="1737360"/>
          </a:xfrm>
          <a:prstGeom prst="roundRect">
            <a:avLst>
              <a:gd name="adj" fmla="val 6000"/>
            </a:avLst>
          </a:prstGeom>
          <a:solidFill>
            <a:srgbClr val="E7F6F4"/>
          </a:solidFill>
          <a:ln>
            <a:noFill/>
          </a:ln>
          <a:effectLst>
            <a:outerShdw blurRad="90000" dist="28000" dir="5400000" rotWithShape="0">
              <a:srgbClr val="1623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47872" y="1810512"/>
            <a:ext cx="2514600" cy="9144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4000" b="1" i="0">
                <a:solidFill>
                  <a:srgbClr val="0E6E6D"/>
                </a:solidFill>
                <a:latin typeface="Cambria"/>
              </a:rPr>
              <a:t>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761488"/>
            <a:ext cx="2478024" cy="5486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00" b="0" i="0">
                <a:solidFill>
                  <a:srgbClr val="1E2A44"/>
                </a:solidFill>
                <a:latin typeface="Calibri"/>
              </a:rPr>
              <a:t>automated tests green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45936" y="1645920"/>
            <a:ext cx="2697480" cy="1737360"/>
          </a:xfrm>
          <a:prstGeom prst="roundRect">
            <a:avLst>
              <a:gd name="adj" fmla="val 6000"/>
            </a:avLst>
          </a:prstGeom>
          <a:solidFill>
            <a:srgbClr val="E7F6F4"/>
          </a:solidFill>
          <a:ln>
            <a:noFill/>
          </a:ln>
          <a:effectLst>
            <a:outerShdw blurRad="90000" dist="28000" dir="5400000" rotWithShape="0">
              <a:srgbClr val="1623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37376" y="1810512"/>
            <a:ext cx="2514600" cy="9144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4000" b="1" i="0">
                <a:solidFill>
                  <a:srgbClr val="0E6E6D"/>
                </a:solidFill>
                <a:latin typeface="Cambria"/>
              </a:rPr>
              <a:t>0.068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761488"/>
            <a:ext cx="2478024" cy="5486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00" b="0" i="0">
                <a:solidFill>
                  <a:srgbClr val="1E2A44"/>
                </a:solidFill>
                <a:latin typeface="Calibri"/>
              </a:rPr>
              <a:t>empirical oracle FP rate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645920"/>
            <a:ext cx="2697480" cy="1737360"/>
          </a:xfrm>
          <a:prstGeom prst="roundRect">
            <a:avLst>
              <a:gd name="adj" fmla="val 6000"/>
            </a:avLst>
          </a:prstGeom>
          <a:solidFill>
            <a:srgbClr val="E7F6F4"/>
          </a:solidFill>
          <a:ln>
            <a:noFill/>
          </a:ln>
          <a:effectLst>
            <a:outerShdw blurRad="90000" dist="28000" dir="5400000" rotWithShape="0">
              <a:srgbClr val="1623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0" y="1810512"/>
            <a:ext cx="2514600" cy="9144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4000" b="1" i="0">
                <a:solidFill>
                  <a:srgbClr val="0E6E6D"/>
                </a:solidFill>
                <a:latin typeface="Cambria"/>
              </a:rPr>
              <a:t>288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45168" y="2761488"/>
            <a:ext cx="2478024" cy="5486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00" b="0" i="0">
                <a:solidFill>
                  <a:srgbClr val="1E2A44"/>
                </a:solidFill>
                <a:latin typeface="Calibri"/>
              </a:rPr>
              <a:t>(event, test) labels · 32 units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703320"/>
            <a:ext cx="11073384" cy="1508760"/>
          </a:xfrm>
          <a:prstGeom prst="roundRect">
            <a:avLst>
              <a:gd name="adj" fmla="val 6000"/>
            </a:avLst>
          </a:prstGeom>
          <a:solidFill>
            <a:srgbClr val="F2F6FB"/>
          </a:solidFill>
          <a:ln>
            <a:noFill/>
          </a:ln>
          <a:effectLst>
            <a:outerShdw blurRad="90000" dist="28000" dir="5400000" rotWithShape="0">
              <a:srgbClr val="1623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6384" y="3849624"/>
            <a:ext cx="10652759" cy="123443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500" b="1" i="0">
                <a:solidFill>
                  <a:srgbClr val="0E6E6D"/>
                </a:solidFill>
                <a:latin typeface="Calibri"/>
              </a:rPr>
              <a:t>Validation surfaced (and fixed) two genuine defects</a:t>
            </a:r>
          </a:p>
          <a:p>
            <a:pPr>
              <a:spcBef>
                <a:spcPts val="400"/>
              </a:spcBef>
            </a:pPr>
            <a:r>
              <a:rPr sz="125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1E2A44"/>
                </a:solidFill>
                <a:latin typeface="Calibri"/>
              </a:rPr>
              <a:t>A command-line flag that silently dropped the targeted-run mode</a:t>
            </a:r>
          </a:p>
          <a:p>
            <a:pPr>
              <a:spcBef>
                <a:spcPts val="400"/>
              </a:spcBef>
            </a:pPr>
            <a:r>
              <a:rPr sz="125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1E2A44"/>
                </a:solidFill>
                <a:latin typeface="Calibri"/>
              </a:rPr>
              <a:t>A semantic oracle that tried to materialise a 2¹⁸ operator (≈512 GB) on an 18-qubit circuit — now capped and guarded by a regression 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73952"/>
            <a:ext cx="91440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850" b="0" i="0">
                <a:solidFill>
                  <a:srgbClr val="60708C"/>
                </a:solidFill>
                <a:latin typeface="Calibri"/>
              </a:rPr>
              <a:t>BASR Synopsis  ·  Oracle Observability of Quantum Transpiler Regressions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50" b="1" i="0">
                <a:solidFill>
                  <a:srgbClr val="60708C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250" b="1" i="0">
                <a:solidFill>
                  <a:srgbClr val="14B8A6"/>
                </a:solidFill>
                <a:latin typeface="Calibri"/>
              </a:rPr>
              <a:t>VF2POSTLAYOUT · PR #14120 · PERFORMANCE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9144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2900" b="1" i="0">
                <a:solidFill>
                  <a:srgbClr val="1E2A44"/>
                </a:solidFill>
                <a:latin typeface="Cambria"/>
              </a:rPr>
              <a:t>Result 1 — H4: A Verified Forward Regression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81328"/>
            <a:ext cx="1106424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250" b="0" i="0">
                <a:solidFill>
                  <a:srgbClr val="1E2A44"/>
                </a:solidFill>
                <a:latin typeface="Calibri"/>
              </a:rPr>
              <a:t>A no-op-overhead regression, re-tested with a multi-run protocol (7 timings/build) over symmetric circuits on a large heavy-hex map at opt-3. Median slowdown grows sharply with width: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286000"/>
            <a:ext cx="3017520" cy="1554480"/>
          </a:xfrm>
          <a:prstGeom prst="roundRect">
            <a:avLst>
              <a:gd name="adj" fmla="val 6000"/>
            </a:avLst>
          </a:prstGeom>
          <a:solidFill>
            <a:srgbClr val="F2F6FB"/>
          </a:solidFill>
          <a:ln>
            <a:noFill/>
          </a:ln>
          <a:effectLst>
            <a:outerShdw blurRad="90000" dist="28000" dir="5400000" rotWithShape="0">
              <a:srgbClr val="1623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2395728"/>
            <a:ext cx="2834639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300" b="1" i="0">
                <a:solidFill>
                  <a:srgbClr val="60708C"/>
                </a:solidFill>
                <a:latin typeface="Calibri"/>
              </a:rPr>
              <a:t>16 qubits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788920"/>
            <a:ext cx="2834639" cy="9144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4600" b="1" i="0">
                <a:solidFill>
                  <a:srgbClr val="0E6E6D"/>
                </a:solidFill>
                <a:latin typeface="Cambria"/>
              </a:rPr>
              <a:t>1.9×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50207" y="2286000"/>
            <a:ext cx="3017520" cy="1554480"/>
          </a:xfrm>
          <a:prstGeom prst="roundRect">
            <a:avLst>
              <a:gd name="adj" fmla="val 6000"/>
            </a:avLst>
          </a:prstGeom>
          <a:solidFill>
            <a:srgbClr val="F2F6FB"/>
          </a:solidFill>
          <a:ln>
            <a:noFill/>
          </a:ln>
          <a:effectLst>
            <a:outerShdw blurRad="90000" dist="28000" dir="5400000" rotWithShape="0">
              <a:srgbClr val="1623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041647" y="2395728"/>
            <a:ext cx="2834639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300" b="1" i="0">
                <a:solidFill>
                  <a:srgbClr val="60708C"/>
                </a:solidFill>
                <a:latin typeface="Calibri"/>
              </a:rPr>
              <a:t>20 qubits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41647" y="2788920"/>
            <a:ext cx="2834639" cy="9144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4600" b="1" i="0">
                <a:solidFill>
                  <a:srgbClr val="0E6E6D"/>
                </a:solidFill>
                <a:latin typeface="Cambria"/>
              </a:rPr>
              <a:t>97×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33488" y="2286000"/>
            <a:ext cx="3017520" cy="1554480"/>
          </a:xfrm>
          <a:prstGeom prst="roundRect">
            <a:avLst>
              <a:gd name="adj" fmla="val 6000"/>
            </a:avLst>
          </a:prstGeom>
          <a:solidFill>
            <a:srgbClr val="F2F6FB"/>
          </a:solidFill>
          <a:ln>
            <a:noFill/>
          </a:ln>
          <a:effectLst>
            <a:outerShdw blurRad="90000" dist="28000" dir="5400000" rotWithShape="0">
              <a:srgbClr val="1623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24927" y="2395728"/>
            <a:ext cx="2834639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300" b="1" i="0">
                <a:solidFill>
                  <a:srgbClr val="60708C"/>
                </a:solidFill>
                <a:latin typeface="Calibri"/>
              </a:rPr>
              <a:t>27 qubits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4927" y="2788920"/>
            <a:ext cx="2834639" cy="9144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4600" b="1" i="0">
                <a:solidFill>
                  <a:srgbClr val="0E6E6D"/>
                </a:solidFill>
                <a:latin typeface="Cambria"/>
              </a:rPr>
              <a:t>342×</a:t>
            </a:r>
          </a:p>
        </p:txBody>
      </p:sp>
      <p:sp>
        <p:nvSpPr>
          <p:cNvPr id="15" name="Chevron 14"/>
          <p:cNvSpPr/>
          <p:nvPr/>
        </p:nvSpPr>
        <p:spPr>
          <a:xfrm>
            <a:off x="3621024" y="2880360"/>
            <a:ext cx="256032" cy="457200"/>
          </a:xfrm>
          <a:prstGeom prst="chevron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Chevron 15"/>
          <p:cNvSpPr/>
          <p:nvPr/>
        </p:nvSpPr>
        <p:spPr>
          <a:xfrm>
            <a:off x="7004304" y="2880360"/>
            <a:ext cx="256032" cy="457200"/>
          </a:xfrm>
          <a:prstGeom prst="chevron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66928" y="4114800"/>
            <a:ext cx="11073384" cy="1234440"/>
          </a:xfrm>
          <a:prstGeom prst="roundRect">
            <a:avLst>
              <a:gd name="adj" fmla="val 6000"/>
            </a:avLst>
          </a:prstGeom>
          <a:solidFill>
            <a:srgbClr val="E7F6F4"/>
          </a:solidFill>
          <a:ln>
            <a:noFill/>
          </a:ln>
          <a:effectLst>
            <a:outerShdw blurRad="90000" dist="28000" dir="5400000" rotWithShape="0">
              <a:srgbClr val="1623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6384" y="4261104"/>
            <a:ext cx="10652759" cy="9601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500" b="1" i="0">
                <a:solidFill>
                  <a:srgbClr val="0E6E6D"/>
                </a:solidFill>
                <a:latin typeface="Calibri"/>
              </a:rPr>
              <a:t>Decisive, reproducible signal</a:t>
            </a:r>
          </a:p>
          <a:p>
            <a:pPr>
              <a:spcBef>
                <a:spcPts val="400"/>
              </a:spcBef>
            </a:pPr>
            <a:r>
              <a:rPr sz="125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1E2A44"/>
                </a:solidFill>
                <a:latin typeface="Calibri"/>
              </a:rPr>
              <a:t>Complete sample separation: Cliff's δ = 1.0, bootstrap interval well above zero</a:t>
            </a:r>
          </a:p>
          <a:p>
            <a:pPr>
              <a:spcBef>
                <a:spcPts val="400"/>
              </a:spcBef>
            </a:pPr>
            <a:r>
              <a:rPr sz="125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1E2A44"/>
                </a:solidFill>
                <a:latin typeface="Calibri"/>
              </a:rPr>
              <a:t>Validates the Primary-CI eligibility rule on a real event — the first verified forward regression in the pilot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73952"/>
            <a:ext cx="91440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850" b="0" i="0">
                <a:solidFill>
                  <a:srgbClr val="60708C"/>
                </a:solidFill>
                <a:latin typeface="Calibri"/>
              </a:rPr>
              <a:t>BASR Synopsis  ·  Oracle Observability of Quantum Transpiler Regressions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50" b="1" i="0">
                <a:solidFill>
                  <a:srgbClr val="60708C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250" b="1" i="0">
                <a:solidFill>
                  <a:srgbClr val="14B8A6"/>
                </a:solidFill>
                <a:latin typeface="Calibri"/>
              </a:rPr>
              <a:t>ELIDEPERMUTATIONS · PR #14603 · CONTRACT/METADATA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9144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2900" b="1" i="0">
                <a:solidFill>
                  <a:srgbClr val="1E2A44"/>
                </a:solidFill>
                <a:latin typeface="Cambria"/>
              </a:rPr>
              <a:t>Result 2 — H1: A Demonstrated Observability Gap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00200"/>
            <a:ext cx="5349240" cy="3246120"/>
          </a:xfrm>
          <a:prstGeom prst="roundRect">
            <a:avLst>
              <a:gd name="adj" fmla="val 6000"/>
            </a:avLst>
          </a:prstGeom>
          <a:solidFill>
            <a:srgbClr val="F7F0EA"/>
          </a:solidFill>
          <a:ln>
            <a:noFill/>
          </a:ln>
          <a:effectLst>
            <a:outerShdw blurRad="90000" dist="28000" dir="5400000" rotWithShape="0">
              <a:srgbClr val="1623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6384" y="1746504"/>
            <a:ext cx="4928616" cy="29718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600" b="1" i="0">
                <a:solidFill>
                  <a:srgbClr val="9A532E"/>
                </a:solidFill>
                <a:latin typeface="Calibri"/>
              </a:rPr>
              <a:t>Black-box output oracle</a:t>
            </a:r>
          </a:p>
          <a:p>
            <a:pPr>
              <a:spcBef>
                <a:spcPts val="400"/>
              </a:spcBef>
            </a:pPr>
            <a:r>
              <a:rPr sz="125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1E2A44"/>
                </a:solidFill>
                <a:latin typeface="Calibri"/>
              </a:rPr>
              <a:t>Reports EQUIVALENT on the buggy build — identical to baseline on both backends</a:t>
            </a:r>
          </a:p>
          <a:p>
            <a:pPr>
              <a:spcBef>
                <a:spcPts val="400"/>
              </a:spcBef>
            </a:pPr>
            <a:r>
              <a:rPr sz="125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1E2A44"/>
                </a:solidFill>
                <a:latin typeface="Calibri"/>
              </a:rPr>
              <a:t>Even through the full preset pass manager at opt-3</a:t>
            </a:r>
          </a:p>
          <a:p>
            <a:pPr>
              <a:spcBef>
                <a:spcPts val="400"/>
              </a:spcBef>
            </a:pPr>
            <a:r>
              <a:rPr sz="125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1E2A44"/>
                </a:solidFill>
                <a:latin typeface="Calibri"/>
              </a:rPr>
              <a:t>The corrupted virtual_permutation_layout leaves the output unitary intact</a:t>
            </a:r>
          </a:p>
          <a:p>
            <a:pPr>
              <a:spcBef>
                <a:spcPts val="400"/>
              </a:spcBef>
            </a:pPr>
            <a:r>
              <a:rPr sz="125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1E2A44"/>
                </a:solidFill>
                <a:latin typeface="Calibri"/>
              </a:rPr>
              <a:t>→ Fault is real but production-unobservable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91072" y="1600200"/>
            <a:ext cx="5349240" cy="3246120"/>
          </a:xfrm>
          <a:prstGeom prst="roundRect">
            <a:avLst>
              <a:gd name="adj" fmla="val 6000"/>
            </a:avLst>
          </a:prstGeom>
          <a:solidFill>
            <a:srgbClr val="E7F6F4"/>
          </a:solidFill>
          <a:ln>
            <a:noFill/>
          </a:ln>
          <a:effectLst>
            <a:outerShdw blurRad="90000" dist="28000" dir="5400000" rotWithShape="0">
              <a:srgbClr val="1623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10528" y="1746504"/>
            <a:ext cx="4928616" cy="29718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600" b="1" i="0">
                <a:solidFill>
                  <a:srgbClr val="0E6E6D"/>
                </a:solidFill>
                <a:latin typeface="Calibri"/>
              </a:rPr>
              <a:t>Property / isolated-pass oracle</a:t>
            </a:r>
          </a:p>
          <a:p>
            <a:pPr>
              <a:spcBef>
                <a:spcPts val="400"/>
              </a:spcBef>
            </a:pPr>
            <a:r>
              <a:rPr sz="125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1E2A44"/>
                </a:solidFill>
                <a:latin typeface="Calibri"/>
              </a:rPr>
              <a:t>Fed the same trigger in isolation, it detects the divergence the pipeline masks</a:t>
            </a:r>
          </a:p>
          <a:p>
            <a:pPr>
              <a:spcBef>
                <a:spcPts val="400"/>
              </a:spcBef>
            </a:pPr>
            <a:r>
              <a:rPr sz="125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1E2A44"/>
                </a:solidFill>
                <a:latin typeface="Calibri"/>
              </a:rPr>
              <a:t>historical-run reports contract_metadata_fail on the buggy build</a:t>
            </a:r>
          </a:p>
          <a:p>
            <a:pPr>
              <a:spcBef>
                <a:spcPts val="400"/>
              </a:spcBef>
            </a:pPr>
            <a:r>
              <a:rPr sz="125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1E2A44"/>
                </a:solidFill>
                <a:latin typeface="Calibri"/>
              </a:rPr>
              <a:t>Passes on the fixed anchor; property-oracle FP rate = 0</a:t>
            </a:r>
          </a:p>
          <a:p>
            <a:pPr>
              <a:spcBef>
                <a:spcPts val="400"/>
              </a:spcBef>
            </a:pPr>
            <a:r>
              <a:rPr sz="125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1E2A44"/>
                </a:solidFill>
                <a:latin typeface="Calibri"/>
              </a:rPr>
              <a:t>→ A fault-class-matched oracle closes the 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029200"/>
            <a:ext cx="11064240" cy="5486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300" b="1" i="1">
                <a:solidFill>
                  <a:srgbClr val="1E2A44"/>
                </a:solidFill>
                <a:latin typeface="Calibri"/>
              </a:rPr>
              <a:t>From source: a black-box output oracle misses a contract/metadata-channel fault — direct evidence for the headline claim.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91440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850" b="0" i="0">
                <a:solidFill>
                  <a:srgbClr val="60708C"/>
                </a:solidFill>
                <a:latin typeface="Calibri"/>
              </a:rPr>
              <a:t>BASR Synopsis  ·  Oracle Observability of Quantum Transpiler Regressions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50" b="1" i="0">
                <a:solidFill>
                  <a:srgbClr val="60708C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250" b="1" i="0">
                <a:solidFill>
                  <a:srgbClr val="14B8A6"/>
                </a:solidFill>
                <a:latin typeface="Calibri"/>
              </a:rPr>
              <a:t>INDICATIVE SCHEDULE FOR THE REMAINING PHD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9144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2900" b="1" i="0">
                <a:solidFill>
                  <a:srgbClr val="1E2A44"/>
                </a:solidFill>
                <a:latin typeface="Cambria"/>
              </a:rPr>
              <a:t>Research Work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72768"/>
            <a:ext cx="11073384" cy="841248"/>
          </a:xfrm>
          <a:prstGeom prst="roundRect">
            <a:avLst>
              <a:gd name="adj" fmla="val 6000"/>
            </a:avLst>
          </a:prstGeom>
          <a:solidFill>
            <a:srgbClr val="F2F6FB"/>
          </a:solidFill>
          <a:ln>
            <a:noFill/>
          </a:ln>
          <a:effectLst>
            <a:outerShdw blurRad="90000" dist="28000" dir="5400000" rotWithShape="0">
              <a:srgbClr val="1623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6384" y="1682495"/>
            <a:ext cx="1371600" cy="6583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350" b="1" i="0">
                <a:solidFill>
                  <a:srgbClr val="1E2A44"/>
                </a:solidFill>
                <a:latin typeface="Calibri"/>
              </a:rP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8840" y="1664208"/>
            <a:ext cx="6583680" cy="6583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300" b="1" i="0">
                <a:solidFill>
                  <a:srgbClr val="0E6E6D"/>
                </a:solidFill>
                <a:latin typeface="Calibri"/>
              </a:rPr>
              <a:t>Feasibility pilot  —  </a:t>
            </a:r>
            <a:r>
              <a:rPr sz="1150" b="0" i="0">
                <a:solidFill>
                  <a:srgbClr val="1E2A44"/>
                </a:solidFill>
                <a:latin typeface="Calibri"/>
              </a:rPr>
              <a:t>Methodology, cart prototype, 2 verified events, observability mining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46920" y="1773936"/>
            <a:ext cx="1737360" cy="438912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Completed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523744"/>
            <a:ext cx="11073384" cy="841248"/>
          </a:xfrm>
          <a:prstGeom prst="roundRect">
            <a:avLst>
              <a:gd name="adj" fmla="val 6000"/>
            </a:avLst>
          </a:prstGeom>
          <a:solidFill>
            <a:srgbClr val="F2F6FB"/>
          </a:solidFill>
          <a:ln>
            <a:noFill/>
          </a:ln>
          <a:effectLst>
            <a:outerShdw blurRad="90000" dist="28000" dir="5400000" rotWithShape="0">
              <a:srgbClr val="1623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2633472"/>
            <a:ext cx="1371600" cy="6583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350" b="1" i="0">
                <a:solidFill>
                  <a:srgbClr val="1E2A44"/>
                </a:solidFill>
                <a:latin typeface="Calibri"/>
              </a:rPr>
              <a:t>Phase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2615184"/>
            <a:ext cx="6583680" cy="6583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300" b="1" i="0">
                <a:solidFill>
                  <a:srgbClr val="0E6E6D"/>
                </a:solidFill>
                <a:latin typeface="Calibri"/>
              </a:rPr>
              <a:t>Scale-up  —  </a:t>
            </a:r>
            <a:r>
              <a:rPr sz="1150" b="0" i="0">
                <a:solidFill>
                  <a:srgbClr val="1E2A44"/>
                </a:solidFill>
                <a:latin typeface="Calibri"/>
              </a:rPr>
              <a:t>≥3 forward-regression events from source; expand mining corpus; property oracle across events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46920" y="2724911"/>
            <a:ext cx="1737360" cy="438912"/>
          </a:xfrm>
          <a:prstGeom prst="roundRect">
            <a:avLst>
              <a:gd name="adj" fmla="val 50000"/>
            </a:avLst>
          </a:prstGeom>
          <a:solidFill>
            <a:srgbClr val="0E6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200" b="1" i="0" dirty="0" smtClean="0">
                <a:solidFill>
                  <a:srgbClr val="FFFFFF"/>
                </a:solidFill>
                <a:latin typeface="Calibri"/>
              </a:rPr>
              <a:t>2026</a:t>
            </a:r>
            <a:endParaRPr sz="1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66928" y="3474720"/>
            <a:ext cx="11073384" cy="841248"/>
          </a:xfrm>
          <a:prstGeom prst="roundRect">
            <a:avLst>
              <a:gd name="adj" fmla="val 6000"/>
            </a:avLst>
          </a:prstGeom>
          <a:solidFill>
            <a:srgbClr val="F2F6FB"/>
          </a:solidFill>
          <a:ln>
            <a:noFill/>
          </a:ln>
          <a:effectLst>
            <a:outerShdw blurRad="90000" dist="28000" dir="5400000" rotWithShape="0">
              <a:srgbClr val="1623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6384" y="3584448"/>
            <a:ext cx="1371600" cy="6583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350" b="1" i="0">
                <a:solidFill>
                  <a:srgbClr val="1E2A44"/>
                </a:solidFill>
                <a:latin typeface="Calibri"/>
              </a:rPr>
              <a:t>Phase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3566160"/>
            <a:ext cx="6583680" cy="6583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300" b="1" i="0">
                <a:solidFill>
                  <a:srgbClr val="0E6E6D"/>
                </a:solidFill>
                <a:latin typeface="Calibri"/>
              </a:rPr>
              <a:t>Comparative study  —  </a:t>
            </a:r>
            <a:r>
              <a:rPr sz="1150" b="0" i="0">
                <a:solidFill>
                  <a:srgbClr val="1E2A44"/>
                </a:solidFill>
                <a:latin typeface="Calibri"/>
              </a:rPr>
              <a:t>Powered risk_score vs 5 baselines under anti-leakage; temporal generalisation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46920" y="3675887"/>
            <a:ext cx="1737360" cy="438912"/>
          </a:xfrm>
          <a:prstGeom prst="roundRect">
            <a:avLst>
              <a:gd name="adj" fmla="val 50000"/>
            </a:avLst>
          </a:prstGeom>
          <a:solidFill>
            <a:srgbClr val="0E6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200" b="1" i="0" dirty="0" smtClean="0">
                <a:solidFill>
                  <a:srgbClr val="FFFFFF"/>
                </a:solidFill>
                <a:latin typeface="Calibri"/>
              </a:rPr>
              <a:t>202</a:t>
            </a:r>
            <a:r>
              <a:rPr lang="en-US" sz="1200" b="1" i="0" dirty="0" smtClean="0">
                <a:solidFill>
                  <a:srgbClr val="FFFFFF"/>
                </a:solidFill>
                <a:latin typeface="Calibri"/>
              </a:rPr>
              <a:t>6</a:t>
            </a:r>
            <a:endParaRPr sz="1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66928" y="4425696"/>
            <a:ext cx="11073384" cy="841248"/>
          </a:xfrm>
          <a:prstGeom prst="roundRect">
            <a:avLst>
              <a:gd name="adj" fmla="val 6000"/>
            </a:avLst>
          </a:prstGeom>
          <a:solidFill>
            <a:srgbClr val="F2F6FB"/>
          </a:solidFill>
          <a:ln>
            <a:noFill/>
          </a:ln>
          <a:effectLst>
            <a:outerShdw blurRad="90000" dist="28000" dir="5400000" rotWithShape="0">
              <a:srgbClr val="1623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6384" y="4535424"/>
            <a:ext cx="1371600" cy="6583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350" b="1" i="0">
                <a:solidFill>
                  <a:srgbClr val="1E2A44"/>
                </a:solidFill>
                <a:latin typeface="Calibri"/>
              </a:rPr>
              <a:t>Phase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4517136"/>
            <a:ext cx="6583680" cy="6583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300" b="1" i="0">
                <a:solidFill>
                  <a:srgbClr val="0E6E6D"/>
                </a:solidFill>
                <a:latin typeface="Calibri"/>
              </a:rPr>
              <a:t>Validation &amp; threats  —  </a:t>
            </a:r>
            <a:r>
              <a:rPr sz="1150" b="0" i="0">
                <a:solidFill>
                  <a:srgbClr val="1E2A44"/>
                </a:solidFill>
                <a:latin typeface="Calibri"/>
              </a:rPr>
              <a:t>External validity, larger widths, determinism / performance tiers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46920" y="4626864"/>
            <a:ext cx="1737360" cy="438912"/>
          </a:xfrm>
          <a:prstGeom prst="roundRect">
            <a:avLst>
              <a:gd name="adj" fmla="val 50000"/>
            </a:avLst>
          </a:prstGeom>
          <a:solidFill>
            <a:srgbClr val="0E6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200" b="1" i="0" dirty="0" smtClean="0">
                <a:solidFill>
                  <a:srgbClr val="FFFFFF"/>
                </a:solidFill>
                <a:latin typeface="Calibri"/>
              </a:rPr>
              <a:t>2027</a:t>
            </a:r>
            <a:endParaRPr sz="1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66928" y="5376672"/>
            <a:ext cx="11073384" cy="841248"/>
          </a:xfrm>
          <a:prstGeom prst="roundRect">
            <a:avLst>
              <a:gd name="adj" fmla="val 6000"/>
            </a:avLst>
          </a:prstGeom>
          <a:solidFill>
            <a:srgbClr val="F2F6FB"/>
          </a:solidFill>
          <a:ln>
            <a:noFill/>
          </a:ln>
          <a:effectLst>
            <a:outerShdw blurRad="90000" dist="28000" dir="5400000" rotWithShape="0">
              <a:srgbClr val="1623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6384" y="5486400"/>
            <a:ext cx="1371600" cy="6583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350" b="1" i="0">
                <a:solidFill>
                  <a:srgbClr val="1E2A44"/>
                </a:solidFill>
                <a:latin typeface="Calibri"/>
              </a:rPr>
              <a:t>Phase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5468112"/>
            <a:ext cx="6583680" cy="6583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300" b="1" i="0">
                <a:solidFill>
                  <a:srgbClr val="0E6E6D"/>
                </a:solidFill>
                <a:latin typeface="Calibri"/>
              </a:rPr>
              <a:t>Write-up &amp; defence  —  </a:t>
            </a:r>
            <a:r>
              <a:rPr sz="1150" b="0" i="0">
                <a:solidFill>
                  <a:srgbClr val="1E2A44"/>
                </a:solidFill>
                <a:latin typeface="Calibri"/>
              </a:rPr>
              <a:t>Thesis, publications, viva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46920" y="5577840"/>
            <a:ext cx="1737360" cy="438912"/>
          </a:xfrm>
          <a:prstGeom prst="roundRect">
            <a:avLst>
              <a:gd name="adj" fmla="val 50000"/>
            </a:avLst>
          </a:prstGeom>
          <a:solidFill>
            <a:srgbClr val="0E6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200" b="1" i="0" smtClean="0">
                <a:solidFill>
                  <a:srgbClr val="FFFFFF"/>
                </a:solidFill>
                <a:latin typeface="Calibri"/>
              </a:rPr>
              <a:t>202</a:t>
            </a:r>
            <a:r>
              <a:rPr lang="en-US" sz="1200" b="1" i="0" smtClean="0">
                <a:solidFill>
                  <a:srgbClr val="FFFFFF"/>
                </a:solidFill>
                <a:latin typeface="Calibri"/>
              </a:rPr>
              <a:t>7</a:t>
            </a:r>
            <a:endParaRPr sz="12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66928" y="6473952"/>
            <a:ext cx="91440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850" b="0" i="0">
                <a:solidFill>
                  <a:srgbClr val="60708C"/>
                </a:solidFill>
                <a:latin typeface="Calibri"/>
              </a:rPr>
              <a:t>BASR Synopsis  ·  Oracle Observability of Quantum Transpiler Regressions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50" b="1" i="0">
                <a:solidFill>
                  <a:srgbClr val="60708C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097280" y="4754880"/>
            <a:ext cx="3108960" cy="3108960"/>
          </a:xfrm>
          <a:prstGeom prst="ellipse">
            <a:avLst/>
          </a:prstGeom>
          <a:solidFill>
            <a:srgbClr val="16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1005840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300" b="1" i="0">
                <a:solidFill>
                  <a:srgbClr val="14B8A6"/>
                </a:solidFill>
                <a:latin typeface="Calibri"/>
              </a:rPr>
              <a:t>CONTRIBUTIONS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424160" cy="6400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What This Work Delivers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3401568" cy="2377440"/>
          </a:xfrm>
          <a:prstGeom prst="roundRect">
            <a:avLst>
              <a:gd name="adj" fmla="val 6000"/>
            </a:avLst>
          </a:prstGeom>
          <a:solidFill>
            <a:srgbClr val="1A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78992" y="2057400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743200"/>
            <a:ext cx="2889504" cy="1371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600" b="1" i="0">
                <a:solidFill>
                  <a:srgbClr val="14B8A6"/>
                </a:solidFill>
                <a:latin typeface="Calibri"/>
              </a:rPr>
              <a:t>Measurement</a:t>
            </a: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The first empirical measurement of the oracle-observability gap on real transpiler fixes (~38%, from source).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35424" y="1828800"/>
            <a:ext cx="3401568" cy="2377440"/>
          </a:xfrm>
          <a:prstGeom prst="roundRect">
            <a:avLst>
              <a:gd name="adj" fmla="val 6000"/>
            </a:avLst>
          </a:prstGeom>
          <a:solidFill>
            <a:srgbClr val="1A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791456" y="2057400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91456" y="2743200"/>
            <a:ext cx="2889504" cy="1371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600" b="1" i="0">
                <a:solidFill>
                  <a:srgbClr val="14B8A6"/>
                </a:solidFill>
                <a:latin typeface="Calibri"/>
              </a:rPr>
              <a:t>Methodology</a:t>
            </a: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A leakage-safe, cost-aware regression-testing methodology and open prototype (cart) for the quantum transpiler.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47888" y="1828800"/>
            <a:ext cx="3401568" cy="2377440"/>
          </a:xfrm>
          <a:prstGeom prst="roundRect">
            <a:avLst>
              <a:gd name="adj" fmla="val 6000"/>
            </a:avLst>
          </a:prstGeom>
          <a:solidFill>
            <a:srgbClr val="1A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503920" y="2057400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743200"/>
            <a:ext cx="2889504" cy="1371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600" b="1" i="0">
                <a:solidFill>
                  <a:srgbClr val="14B8A6"/>
                </a:solidFill>
                <a:latin typeface="Calibri"/>
              </a:rPr>
              <a:t>Honest pilot</a:t>
            </a: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A feasibility pilot with a documented null baseline against which future selectors can be compared.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572000"/>
            <a:ext cx="10515600" cy="10972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700" b="1" i="0">
                <a:solidFill>
                  <a:srgbClr val="D5E3F7"/>
                </a:solidFill>
                <a:latin typeface="Calibri"/>
              </a:rPr>
              <a:t>Output equivalence is necessary but incomplete for the transpiler.</a:t>
            </a:r>
          </a:p>
          <a:p>
            <a:pPr>
              <a:spcBef>
                <a:spcPts val="400"/>
              </a:spcBef>
            </a:pPr>
            <a:r>
              <a:rPr sz="1500" b="0" i="1">
                <a:solidFill>
                  <a:srgbClr val="D5E3F7"/>
                </a:solidFill>
                <a:latin typeface="Calibri"/>
              </a:rPr>
              <a:t>This work measures the gap, and builds the methodology to close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897880"/>
            <a:ext cx="1051560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500" b="1" i="0">
                <a:solidFill>
                  <a:srgbClr val="14B8A6"/>
                </a:solidFill>
                <a:latin typeface="Calibri"/>
              </a:rPr>
              <a:t>Thank you  — 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2510</Words>
  <Application>Microsoft Office PowerPoint</Application>
  <PresentationFormat>Widescreen</PresentationFormat>
  <Paragraphs>279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Furqan Nasir</cp:lastModifiedBy>
  <cp:revision>2</cp:revision>
  <dcterms:created xsi:type="dcterms:W3CDTF">2013-01-27T09:14:16Z</dcterms:created>
  <dcterms:modified xsi:type="dcterms:W3CDTF">2026-07-03T07:51:34Z</dcterms:modified>
  <cp:category/>
</cp:coreProperties>
</file>