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010" autoAdjust="0"/>
  </p:normalViewPr>
  <p:slideViewPr>
    <p:cSldViewPr snapToGrid="0" snapToObjects="1">
      <p:cViewPr varScale="1">
        <p:scale>
          <a:sx n="63" d="100"/>
          <a:sy n="63" d="100"/>
        </p:scale>
        <p:origin x="14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6471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First question, </a:t>
            </a:r>
            <a:r>
              <a:rPr lang="en-US" dirty="0" err="1" smtClean="0"/>
              <a:t>quauntum</a:t>
            </a:r>
            <a:r>
              <a:rPr lang="en-US" dirty="0" smtClean="0"/>
              <a:t> hardware is not available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what</a:t>
            </a:r>
            <a:r>
              <a:rPr lang="en-US" baseline="0" dirty="0" smtClean="0"/>
              <a:t> is meant by quantum compilers? If you make it ready for compiler then how does you know that this is the bug or not.</a:t>
            </a:r>
            <a:br>
              <a:rPr lang="en-US" baseline="0" dirty="0" smtClean="0"/>
            </a:br>
            <a:r>
              <a:rPr lang="en-US" baseline="0" dirty="0" smtClean="0"/>
              <a:t/>
            </a:r>
            <a:br>
              <a:rPr lang="en-US" baseline="0" dirty="0" smtClean="0"/>
            </a:br>
            <a:r>
              <a:rPr lang="en-US" baseline="0" dirty="0" smtClean="0"/>
              <a:t>Forward pass backward pass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talk follows the proposal chapters in order. No findings are shown until the initial-results section.</a:t>
            </a:r>
          </a:p>
          <a:p>
            <a:endParaRPr/>
          </a:p>
          <a:p>
            <a:r>
              <a:t>Key terms:</a:t>
            </a:r>
          </a:p>
          <a:p>
            <a:r>
              <a:t>• Methodology — the planned, step-by-step way of carrying out the research</a:t>
            </a:r>
          </a:p>
          <a:p>
            <a:r>
              <a:t>• Initial results — early findings from a small first-scale (pilot) 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Give reference of last sentence there is no reliable</a:t>
            </a:r>
            <a:r>
              <a:rPr lang="en-US" baseline="0" dirty="0" smtClean="0"/>
              <a:t> and affordable way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Rq2</a:t>
            </a:r>
            <a:r>
              <a:rPr lang="en-US" baseline="0" dirty="0" smtClean="0"/>
              <a:t> and rq3 are almost same.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no one has measured it then it might not be important. Or it might not be possible</a:t>
            </a:r>
            <a:br/>
            <a:r>
              <a:t>and if done in classical testing then what is need here</a:t>
            </a:r>
          </a:p>
          <a:p/>
          <a:p>
            <a:r>
              <a:t>ANSWER: We do not claim to invent internal observability — CertiQ, Giallar and concolic testing already show it is feasible. Our contribution is to operationalise it as fault-class-matched regression oracles under budgeted, change-aware test selection, which no prior work does. The measurement point stands: no study has quantified how often real transpiler regressions escape a black-box output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Change the text and dots to cross </a:t>
            </a:r>
            <a:r>
              <a:rPr lang="en-US" dirty="0" err="1" smtClean="0"/>
              <a:t>etc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Changing naming and over text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manifest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Figure 3.2 — the whole research on one page. One problem splits into two goals: EFFECTIVENESS (observability-aware fault detection; RQ1 prevalence, RQ2 gap real and closable) and COST (budgeted, cost-aware selection; RQ4 selector vs baselines). Both rest on a FOUNDATION of leakage-safe validity (RQ3): cohort separation, provenance, and six validity gates. Every metric is taken from the regression-testing literature (APFD, APFDc, false-positive rate, inter-rater kappa) — none is invented. Honest scope: the pilot demonstrates the effectiveness side; the cost-effectiveness comparison is the scale-up phase.</a:t>
            </a:r>
          </a:p>
          <a:p/>
          <a:p>
            <a:r>
              <a:t>Key terms:</a:t>
            </a:r>
          </a:p>
          <a:p>
            <a:r>
              <a:t>• Effectiveness — does it catch the regressions, including the output-invisible ones.</a:t>
            </a:r>
          </a:p>
          <a:p>
            <a:r>
              <a:t>• Cost — does it catch them within a test budget (APFD/APFDc).</a:t>
            </a:r>
          </a:p>
          <a:p>
            <a:r>
              <a:t>• Leakage-safe validity — the evaluation never uses answer or future information; results are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All these things, why like this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Remove</a:t>
            </a:r>
            <a:r>
              <a:rPr lang="en-US" baseline="0" dirty="0" smtClean="0"/>
              <a:t> first point and also third end-to-end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All is pass but how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How</a:t>
            </a:r>
            <a:r>
              <a:rPr lang="en-US" baseline="0" dirty="0" smtClean="0"/>
              <a:t> many people have worked on this. Find references . White papers, </a:t>
            </a:r>
            <a:r>
              <a:rPr lang="en-US" baseline="0" dirty="0" err="1" smtClean="0"/>
              <a:t>rpc</a:t>
            </a:r>
            <a:r>
              <a:rPr lang="en-US" baseline="0" dirty="0" smtClean="0"/>
              <a:t> etc.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Are</a:t>
            </a:r>
            <a:r>
              <a:rPr lang="en-US" baseline="0" dirty="0" smtClean="0"/>
              <a:t> you running simulation of quantum if yes then how. You said quantum hardware not needed. But simulation sometimes not run on real hardware. Japan quantum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 smtClean="0"/>
              <a:t>Whhat</a:t>
            </a:r>
            <a:r>
              <a:rPr lang="en-US" dirty="0" smtClean="0"/>
              <a:t> this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You</a:t>
            </a:r>
            <a:r>
              <a:rPr lang="en-US" baseline="0" dirty="0" smtClean="0"/>
              <a:t> are working on which one. Circuit quality is already done so why you are working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one-year work plan. Phase 1 is complete; the remaining phases scale up, run the powered comparison, validate and extend to other tools, and finish with write-up and defence.</a:t>
            </a:r>
          </a:p>
          <a:p>
            <a:endParaRPr/>
          </a:p>
          <a:p>
            <a:r>
              <a:t>Key terms:</a:t>
            </a:r>
          </a:p>
          <a:p>
            <a:r>
              <a:t>• Powered comparison — a study with enough samples to draw statistically reliable conclusions</a:t>
            </a:r>
          </a:p>
          <a:p>
            <a:r>
              <a:t>• Cross-SDK generalisation — extending the approach to other quantum toolkits beyond Qiskit</a:t>
            </a:r>
          </a:p>
          <a:p>
            <a:r>
              <a:t>• Mining — collecting real bug-fixes from project history to expand the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149840" y="-1097280"/>
            <a:ext cx="3108960" cy="3108960"/>
          </a:xfrm>
          <a:prstGeom prst="ellipse">
            <a:avLst/>
          </a:prstGeom>
          <a:solidFill>
            <a:srgbClr val="1B2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502920" cy="100584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3327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PhD SYNOPSIS  ·  GRADUATE STUDIES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1033272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0" i="1">
                <a:solidFill>
                  <a:srgbClr val="D5E3F7"/>
                </a:solidFill>
                <a:latin typeface="Calibri"/>
              </a:rPr>
              <a:t>Catching the transpiler bugs that the standard correctness check cannot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424160" cy="1371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Furqan Nasir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D5E3F7"/>
                </a:solidFill>
                <a:latin typeface="Calibri"/>
              </a:rPr>
              <a:t>PhD in Computer Science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9FB2D6"/>
                </a:solidFill>
                <a:latin typeface="Calibri"/>
              </a:rPr>
              <a:t>City University of Science &amp; IT, Peshawar</a:t>
            </a:r>
          </a:p>
          <a:p>
            <a:pPr>
              <a:spcBef>
                <a:spcPts val="200"/>
              </a:spcBef>
            </a:pPr>
            <a:r>
              <a:rPr sz="1250" b="1" i="0">
                <a:solidFill>
                  <a:srgbClr val="14B8A6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FOLLOWING THE PROPOSAL CHAPTERS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202082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39" y="2002536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11112" y="202082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002536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6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3429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3410712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Research questions &amp; 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99816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11112" y="3429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410712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Literature 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07992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6112" y="483717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4818888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Proposed methodology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507992"/>
            <a:ext cx="5193792" cy="1207008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11112" y="4837176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818888"/>
            <a:ext cx="4023360" cy="7498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700" b="1" i="0">
                <a:solidFill>
                  <a:srgbClr val="1E2A44"/>
                </a:solidFill>
                <a:latin typeface="Calibri"/>
              </a:rPr>
              <a:t>Initial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What This Research Is 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1064240" cy="4114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A quantum program must be rewritten to run on real hardware. In Qiskit, the “transpiler” does this rewriting. [8]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The transpiler is updated very often, and any update can accidentally introduce a bug (a regression). [1]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A bug can give a wrong answer, a lower-quality circuit, or slower compilation.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We need a reliable way to catch these bugs early, before they reach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7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892807"/>
            <a:ext cx="49377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50" b="1" i="0">
                <a:solidFill>
                  <a:srgbClr val="9A532E"/>
                </a:solidFill>
                <a:latin typeface="Calibri"/>
              </a:rPr>
              <a:t>1.  We can’t always see the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77440"/>
            <a:ext cx="4937760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The usual automatic check looks only at the final answer. [6]</a:t>
            </a:r>
          </a:p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Some bugs keep the answer correct but corrupt the transpiler’s internal records. [5]</a:t>
            </a:r>
          </a:p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So the usual check simply cannot see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E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11112" y="1892807"/>
            <a:ext cx="49377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650" b="1" i="0">
                <a:solidFill>
                  <a:srgbClr val="0E7C7B"/>
                </a:solidFill>
                <a:latin typeface="Calibri"/>
              </a:rPr>
              <a:t>2.  We can’t test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377440"/>
            <a:ext cx="4937760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There are far too many tests to run them all on every update.</a:t>
            </a:r>
          </a:p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Running everything each time is too slow and too expensive.</a:t>
            </a:r>
          </a:p>
          <a:p>
            <a:pPr>
              <a:spcAft>
                <a:spcPts val="900"/>
              </a:spcAft>
            </a:pPr>
            <a:r>
              <a:rPr sz="14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1E2A44"/>
                </a:solidFill>
                <a:latin typeface="Calibri"/>
              </a:rPr>
              <a:t>We must pick a small, smart set of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10642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1">
                <a:solidFill>
                  <a:srgbClr val="1E2A44"/>
                </a:solidFill>
                <a:latin typeface="Calibri"/>
              </a:rPr>
              <a:t>→  To our knowledge, no method yet combines matched oracles with budget-aware, leak-free test selection for the transpiler [26], [27], [42].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RESEARCH QUESTIONS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Research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27632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6112" y="1929384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737360"/>
            <a:ext cx="9784080" cy="8503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How often do real transpiler regressions fall into fault channels that an output-equivalence oracle cannot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07208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6112" y="310896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16936"/>
            <a:ext cx="9784080" cy="8503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Can a real transpiler regression be shown, from source, to be invisible to an output-equivalence oracle yet detected by a fault-class-matched oracle, demonstrating that the gap is real and closable?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86784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96112" y="4288536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096512"/>
            <a:ext cx="9784080" cy="8503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Can a leakage-safe, cost-aware regression-testing pipeline for the transpiler be built and shown operationally sound under an executable validity-gate audit?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6636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96112" y="5468112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76088"/>
            <a:ext cx="9784080" cy="8503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How does a transparent, cost-aware test selector compare with simple baselines, including random ordering, at feasibility scale, and what can be concluded?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RESEARCH QUESTIONS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193792" cy="1965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911095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4B8A6"/>
                </a:solidFill>
                <a:latin typeface="Calibri"/>
              </a:rPr>
              <a:t>O1 → 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466344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Measure how often real regressions fall into output-invisible fault channels, by mining merged bug-fixes and classifying each channel with inter-rater agreement (κ).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91640"/>
            <a:ext cx="5193792" cy="1965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911095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4B8A6"/>
                </a:solidFill>
                <a:latin typeface="Calibri"/>
              </a:rPr>
              <a:t>O2 → RQ2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350008"/>
            <a:ext cx="466344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Demonstrate, from source, at least one real regression the output oracle misses but a fault-class-matched oracle detects — showing the gap is real and closable.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13631"/>
            <a:ext cx="5193792" cy="1965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4B8A6"/>
                </a:solidFill>
                <a:latin typeface="Calibri"/>
              </a:rPr>
              <a:t>O3 → RQ3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1999"/>
            <a:ext cx="466344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Build the methodology as an open prototype (cart) and show it sound under a six-gate validity audit, verifying one forward regression from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913631"/>
            <a:ext cx="5193792" cy="1965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133087"/>
            <a:ext cx="466344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1" i="0">
                <a:solidFill>
                  <a:srgbClr val="14B8A6"/>
                </a:solidFill>
                <a:latin typeface="Calibri"/>
              </a:rPr>
              <a:t>O4 → RQ4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571999"/>
            <a:ext cx="4663440" cy="11887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50" b="0" i="0">
                <a:solidFill>
                  <a:srgbClr val="1E2A44"/>
                </a:solidFill>
                <a:latin typeface="Calibri"/>
              </a:rPr>
              <a:t>Evaluate the transparent selector against simple baselines under identical anti-leakage rules, and report the outcome honestly, including a documented null.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What Others Have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106424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E7C7B"/>
                </a:solidFill>
                <a:latin typeface="Calibri"/>
              </a:rPr>
              <a:t>Classical testing:  </a:t>
            </a:r>
            <a:r>
              <a:rPr sz="1800" b="0" i="0">
                <a:solidFill>
                  <a:srgbClr val="1E2A44"/>
                </a:solidFill>
                <a:latin typeface="Calibri"/>
              </a:rPr>
              <a:t>how to pick and order tests under a time budget — well studied. [3], [4]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E7C7B"/>
                </a:solidFill>
                <a:latin typeface="Calibri"/>
              </a:rPr>
              <a:t>Quantum testing:  </a:t>
            </a:r>
            <a:r>
              <a:rPr sz="1800" b="0" i="0">
                <a:solidFill>
                  <a:srgbClr val="1E2A44"/>
                </a:solidFill>
                <a:latin typeface="Calibri"/>
              </a:rPr>
              <a:t>finding bugs and generating tests for quantum programs. [7], [23], [24]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E7C7B"/>
                </a:solidFill>
                <a:latin typeface="Calibri"/>
              </a:rPr>
              <a:t>Equivalence checking:  </a:t>
            </a:r>
            <a:r>
              <a:rPr sz="1800" b="0" i="0">
                <a:solidFill>
                  <a:srgbClr val="1E2A44"/>
                </a:solidFill>
                <a:latin typeface="Calibri"/>
              </a:rPr>
              <a:t>the standard “is the answer the same?” check — efficient and trusted. [6]</a:t>
            </a: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0E7C7B"/>
                </a:solidFill>
                <a:latin typeface="Calibri"/>
              </a:rPr>
              <a:t>Internal checks:  </a:t>
            </a:r>
            <a:r>
              <a:rPr sz="1800" b="0" i="0">
                <a:solidFill>
                  <a:srgbClr val="1E2A44"/>
                </a:solidFill>
                <a:latin typeface="Calibri"/>
              </a:rPr>
              <a:t>CertiQ, Giallar, and concolic testing inspect compiler passes and internal state. [26], [27], [42]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B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10515600" cy="10972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00" b="1" i="0">
                <a:solidFill>
                  <a:srgbClr val="14B8A6"/>
                </a:solidFill>
                <a:latin typeface="Calibri"/>
              </a:rPr>
              <a:t>The gap we fill: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Others verify passes and inspect internal state (Giallar, CertiQ, concolic) — so internal observability is feasible. [27], [42], [26]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But, to our knowledge, no study turns that into matched regression oracles with budget-aware, leak-free test selection for the transpiler [3], [14].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How This Work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Compares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889502"/>
              </p:ext>
            </p:extLst>
          </p:nvPr>
        </p:nvGraphicFramePr>
        <p:xfrm>
          <a:off x="603504" y="1162763"/>
          <a:ext cx="11375135" cy="5201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1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5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0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7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28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Primary goal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QA oracle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Cost-aware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Selects / orders existing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Leakage-safe temporal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Cohort sep.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Classical RTP/TCP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prioritise tests of a program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Predictive selection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learned selection at scale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 dirty="0" err="1">
                          <a:solidFill>
                            <a:srgbClr val="1E2A44"/>
                          </a:solidFill>
                          <a:latin typeface="Calibri"/>
                        </a:rPr>
                        <a:t>MorphQ</a:t>
                      </a:r>
                      <a:r>
                        <a:rPr sz="900" dirty="0">
                          <a:solidFill>
                            <a:srgbClr val="1E2A44"/>
                          </a:solidFill>
                          <a:latin typeface="Calibri"/>
                        </a:rPr>
                        <a:t> / </a:t>
                      </a:r>
                      <a:r>
                        <a:rPr sz="900" dirty="0" err="1">
                          <a:solidFill>
                            <a:srgbClr val="1E2A44"/>
                          </a:solidFill>
                          <a:latin typeface="Calibri"/>
                        </a:rPr>
                        <a:t>MorphQ</a:t>
                      </a:r>
                      <a:r>
                        <a:rPr sz="900" dirty="0">
                          <a:solidFill>
                            <a:srgbClr val="1E2A44"/>
                          </a:solidFill>
                          <a:latin typeface="Calibri"/>
                        </a:rPr>
                        <a:t>++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metamorphic bug finding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QuCheck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property-based testing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QEMI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EMI stack bug finding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QDiff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differential stack bug finding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QSPE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skeletal-program differential testing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Giallar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formal Qiskit-pass verification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Benchpress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SDK compilation benchmarking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28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This work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cost-aware test selection for the transpiler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dirty="0">
                          <a:solidFill>
                            <a:srgbClr val="1E2A44"/>
                          </a:solidFill>
                          <a:latin typeface="Calibri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64748C"/>
                </a:solidFill>
                <a:latin typeface="Calibri"/>
              </a:rPr>
              <a:t>Comparison after Table 2.1 of the proposal; sources: [3], [4], [7], [22]–[27], [42].  (Numbering follows the proposal.)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The cart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Pipelin</a:t>
            </a:r>
            <a:r>
              <a:rPr lang="en-US" sz="2800" b="1" dirty="0">
                <a:solidFill>
                  <a:srgbClr val="1E2A44"/>
                </a:solidFill>
                <a:latin typeface="Cambria"/>
              </a:rPr>
              <a:t>e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31" y="1162764"/>
            <a:ext cx="10604326" cy="4998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Research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Framework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493" y="1144645"/>
            <a:ext cx="9532307" cy="53889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757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The Test Selector (risk_score)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607040" cy="8229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500" b="1" i="0">
                <a:solidFill>
                  <a:srgbClr val="D5E3F7"/>
                </a:solidFill>
                <a:latin typeface="Consolas"/>
              </a:rPr>
              <a:t>risk_score = (ε + change_stage_match) × sensitivity × impact_prior × oracle_confidence ÷ expected_cost ×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1064240" cy="2468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700" b="1" i="0" dirty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 dirty="0">
                <a:solidFill>
                  <a:srgbClr val="0E7C7B"/>
                </a:solidFill>
                <a:latin typeface="Calibri"/>
              </a:rPr>
              <a:t>Transparent:  </a:t>
            </a:r>
            <a:r>
              <a:rPr sz="1700" b="0" i="0" dirty="0">
                <a:solidFill>
                  <a:srgbClr val="1E2A44"/>
                </a:solidFill>
                <a:latin typeface="Calibri"/>
              </a:rPr>
              <a:t>hand-set weights, no black-box AI — every choice is explainable.</a:t>
            </a:r>
          </a:p>
          <a:p>
            <a:pPr>
              <a:spcAft>
                <a:spcPts val="1300"/>
              </a:spcAft>
            </a:pPr>
            <a:r>
              <a:rPr sz="1700" b="1" i="0" dirty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 dirty="0">
                <a:solidFill>
                  <a:srgbClr val="0E7C7B"/>
                </a:solidFill>
                <a:latin typeface="Calibri"/>
              </a:rPr>
              <a:t>Fair:  </a:t>
            </a:r>
            <a:r>
              <a:rPr sz="1700" b="0" i="0" dirty="0">
                <a:solidFill>
                  <a:srgbClr val="1E2A44"/>
                </a:solidFill>
                <a:latin typeface="Calibri"/>
              </a:rPr>
              <a:t>it sees only pre-execution information; it never peeks at the answer.</a:t>
            </a:r>
          </a:p>
          <a:p>
            <a:pPr>
              <a:spcAft>
                <a:spcPts val="1300"/>
              </a:spcAft>
            </a:pPr>
            <a:r>
              <a:rPr sz="1700" b="1" i="0" dirty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 dirty="0">
                <a:solidFill>
                  <a:srgbClr val="0E7C7B"/>
                </a:solidFill>
                <a:latin typeface="Calibri"/>
              </a:rPr>
              <a:t>Compared:  </a:t>
            </a:r>
            <a:r>
              <a:rPr sz="1700" b="0" i="0" dirty="0">
                <a:solidFill>
                  <a:srgbClr val="1E2A44"/>
                </a:solidFill>
                <a:latin typeface="Calibri"/>
              </a:rPr>
              <a:t>against five simple baselines, including random ordering. [3], [14]</a:t>
            </a:r>
          </a:p>
          <a:p>
            <a:pPr>
              <a:spcAft>
                <a:spcPts val="1300"/>
              </a:spcAft>
            </a:pPr>
            <a:r>
              <a:rPr sz="1700" b="1" i="0" dirty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 dirty="0">
                <a:solidFill>
                  <a:srgbClr val="0E7C7B"/>
                </a:solidFill>
                <a:latin typeface="Calibri"/>
              </a:rPr>
              <a:t>Frozen:  </a:t>
            </a:r>
            <a:r>
              <a:rPr sz="1700" b="0" i="0" dirty="0">
                <a:solidFill>
                  <a:srgbClr val="1E2A44"/>
                </a:solidFill>
                <a:latin typeface="Calibri"/>
              </a:rPr>
              <a:t>all weights are fixed before evaluation and checked by ablation.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What We Tested (Pilot)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1064240" cy="2926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A small pilot, run on a single ordinary laptop.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A small set of quantum programs of different types and sizes.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We ran the whole pipeline from start to finish.</a:t>
            </a:r>
          </a:p>
          <a:p>
            <a:pPr>
              <a:spcAft>
                <a:spcPts val="1600"/>
              </a:spcAft>
            </a:pPr>
            <a:r>
              <a:rPr sz="19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900" b="0" i="0">
                <a:solidFill>
                  <a:srgbClr val="1E2A44"/>
                </a:solidFill>
                <a:latin typeface="Calibri"/>
              </a:rPr>
              <a:t>We also tried a few real, historical bugs from Qiskit’s own history.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Pipeline Feasibility: Validity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Gates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33057"/>
              </p:ext>
            </p:extLst>
          </p:nvPr>
        </p:nvGraphicFramePr>
        <p:xfrm>
          <a:off x="603504" y="1554480"/>
          <a:ext cx="10972800" cy="3030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8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Implementation-validity gate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Budget compliance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Reproducibility (same seed ⇒ same ranking)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A44"/>
                          </a:solidFill>
                          <a:latin typeface="Calibri"/>
                        </a:rPr>
                        <a:t>Leakage absence (current-event outcome cannot change ranking)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Label reproducibility from write-once artifacts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Metric correctness vs hand-computed cases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86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E2A44"/>
                          </a:solidFill>
                          <a:latin typeface="Calibri"/>
                        </a:rPr>
                        <a:t>Oracle coverage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E2A44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Historical Events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Attempted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822332"/>
              </p:ext>
            </p:extLst>
          </p:nvPr>
        </p:nvGraphicFramePr>
        <p:xfrm>
          <a:off x="603504" y="1554476"/>
          <a:ext cx="10972800" cy="27294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49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Event (PR)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Fault type </a:t>
                      </a:r>
                      <a:r>
                        <a:rPr lang="en-US" sz="1100" b="1" dirty="0" smtClean="0">
                          <a:solidFill>
                            <a:srgbClr val="FFFFFF"/>
                          </a:solidFill>
                          <a:latin typeface="Calibri"/>
                        </a:rPr>
                        <a:t>-&gt;</a:t>
                      </a:r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  <a:endParaRPr sz="11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in pilot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9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H4 (#14120)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forward_regression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P</a:t>
                      </a:r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erformance</a:t>
                      </a:r>
                      <a:endParaRPr sz="1100" dirty="0">
                        <a:solidFill>
                          <a:srgbClr val="1E2A44"/>
                        </a:solidFill>
                        <a:latin typeface="Calibr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verified (multi-run protocol)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9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H1 (#14603)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fix_boundary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semantic </a:t>
                      </a:r>
                      <a:r>
                        <a:rPr lang="en-US"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-&gt;</a:t>
                      </a:r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contract/metadata</a:t>
                      </a:r>
                      <a:endParaRPr sz="1100" dirty="0">
                        <a:solidFill>
                          <a:srgbClr val="1E2A44"/>
                        </a:solidFill>
                        <a:latin typeface="Calibri"/>
                      </a:endParaRP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demonstrated gap (output-unobservable)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9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H2 (#14919)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fix_boundary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semantic </a:t>
                      </a:r>
                      <a:r>
                        <a:rPr lang="en-US" sz="1100" dirty="0" smtClean="0">
                          <a:solidFill>
                            <a:srgbClr val="1E2A44"/>
                          </a:solidFill>
                          <a:latin typeface="+mn-lt"/>
                        </a:rPr>
                        <a:t>-&gt;</a:t>
                      </a:r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contract/metadata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not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9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H3 (#14730)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fix_boundary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quality </a:t>
                      </a:r>
                      <a:r>
                        <a:rPr lang="en-US" sz="1100" dirty="0" smtClean="0">
                          <a:solidFill>
                            <a:srgbClr val="1E2A44"/>
                          </a:solidFill>
                          <a:latin typeface="+mn-lt"/>
                        </a:rPr>
                        <a:t>-&gt;</a:t>
                      </a:r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 </a:t>
                      </a:r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determinism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blocked (needs noisy target)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9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H5 (#16285)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A44"/>
                          </a:solidFill>
                          <a:latin typeface="Calibri"/>
                        </a:rPr>
                        <a:t>fix_boundary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functional </a:t>
                      </a:r>
                      <a:r>
                        <a:rPr lang="en-US" sz="1100" dirty="0" smtClean="0">
                          <a:solidFill>
                            <a:srgbClr val="1E2A44"/>
                          </a:solidFill>
                          <a:latin typeface="+mn-lt"/>
                        </a:rPr>
                        <a:t>-&gt;</a:t>
                      </a:r>
                      <a:r>
                        <a:rPr sz="1100" dirty="0" smtClean="0">
                          <a:solidFill>
                            <a:srgbClr val="1E2A44"/>
                          </a:solidFill>
                          <a:latin typeface="Calibri"/>
                        </a:rPr>
                        <a:t> </a:t>
                      </a:r>
                      <a:r>
                        <a:rPr sz="1100" dirty="0" err="1">
                          <a:solidFill>
                            <a:srgbClr val="1E2A44"/>
                          </a:solidFill>
                          <a:latin typeface="Calibri"/>
                        </a:rPr>
                        <a:t>compilation_failure</a:t>
                      </a:r>
                      <a:endParaRPr sz="1100" dirty="0">
                        <a:solidFill>
                          <a:srgbClr val="1E2A44"/>
                        </a:solidFill>
                        <a:latin typeface="Calibri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E2A44"/>
                          </a:solidFill>
                          <a:latin typeface="Calibri"/>
                        </a:rPr>
                        <a:t>not run (input-specific crash)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H4 — A Verified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Slowdown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pic>
        <p:nvPicPr>
          <p:cNvPr id="5" name="Picture 4" descr="fig_h4_slo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573" y="1536192"/>
            <a:ext cx="7556547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1">
                <a:solidFill>
                  <a:srgbClr val="64748C"/>
                </a:solidFill>
                <a:latin typeface="Calibri"/>
              </a:rPr>
              <a:t>H4’s width-extended run (16–27 qubits) is a separate regime from the primary corpus (≤ 8 qubits).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H1 — The Same Bug, Two </a:t>
            </a:r>
            <a:r>
              <a:rPr sz="2800" b="1" i="0" dirty="0" smtClean="0">
                <a:solidFill>
                  <a:srgbClr val="1E2A44"/>
                </a:solidFill>
                <a:latin typeface="Cambria"/>
              </a:rPr>
              <a:t>Oracles</a:t>
            </a:r>
            <a:endParaRPr sz="2800" b="1" i="0" dirty="0">
              <a:solidFill>
                <a:srgbClr val="1E2A44"/>
              </a:solidFill>
              <a:latin typeface="Cambria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82946"/>
              </p:ext>
            </p:extLst>
          </p:nvPr>
        </p:nvGraphicFramePr>
        <p:xfrm>
          <a:off x="603504" y="1554480"/>
          <a:ext cx="10972800" cy="1874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Oracle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 on the buggy build</a:t>
                      </a:r>
                    </a:p>
                  </a:txBody>
                  <a:tcPr marL="54864" marR="54864" marT="18288" marB="18288" anchor="ctr">
                    <a:solidFill>
                      <a:srgbClr val="142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44"/>
                          </a:solidFill>
                          <a:latin typeface="Calibri"/>
                        </a:rPr>
                        <a:t>Black-box output-equivalence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44"/>
                          </a:solidFill>
                          <a:latin typeface="Calibri"/>
                        </a:rPr>
                        <a:t>EQUIVALENT  (fault missed)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E2A44"/>
                          </a:solidFill>
                          <a:latin typeface="Calibri"/>
                        </a:rPr>
                        <a:t>Property / isolated-pass (matched)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 err="1">
                          <a:solidFill>
                            <a:srgbClr val="1E2A44"/>
                          </a:solidFill>
                          <a:latin typeface="Calibri"/>
                        </a:rPr>
                        <a:t>contract_metadata_fail</a:t>
                      </a:r>
                      <a:r>
                        <a:rPr sz="1300" dirty="0">
                          <a:solidFill>
                            <a:srgbClr val="1E2A44"/>
                          </a:solidFill>
                          <a:latin typeface="Calibri"/>
                        </a:rPr>
                        <a:t>  (fault detected)</a:t>
                      </a:r>
                    </a:p>
                  </a:txBody>
                  <a:tcPr marL="54864" marR="54864" marT="18288" marB="18288" anchor="ctr">
                    <a:solidFill>
                      <a:srgbClr val="EF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INITIAL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4678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 dirty="0">
                <a:solidFill>
                  <a:srgbClr val="1E2A44"/>
                </a:solidFill>
                <a:latin typeface="Cambria"/>
              </a:rPr>
              <a:t>How Common Is the Blind Spot? </a:t>
            </a:r>
          </a:p>
        </p:txBody>
      </p:sp>
      <p:pic>
        <p:nvPicPr>
          <p:cNvPr id="5" name="Picture 4" descr="fig_preval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758" y="1536192"/>
            <a:ext cx="7662177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ONE YEAR TO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2800" b="1" i="0">
                <a:solidFill>
                  <a:srgbClr val="1E2A44"/>
                </a:solidFill>
                <a:latin typeface="Cambria"/>
              </a:rPr>
              <a:t>Work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3716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6583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Feasibility pilot (methodology, prototype, initial results)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892808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33472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24912"/>
            <a:ext cx="13716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724912"/>
            <a:ext cx="6583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Scale-up: verify ≥ 3 forward regressions; expand mining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83464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2026 Q3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75304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666744"/>
            <a:ext cx="13716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666744"/>
            <a:ext cx="6583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Powered comparison: selector vs baselines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77647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2026 Q4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17136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608576"/>
            <a:ext cx="13716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608576"/>
            <a:ext cx="6583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Validation and cross-SDK generalisation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718304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2027 Q1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58968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550408"/>
            <a:ext cx="137160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350" b="1" i="0">
                <a:solidFill>
                  <a:srgbClr val="1E2A44"/>
                </a:solidFill>
                <a:latin typeface="Calibri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550408"/>
            <a:ext cx="6583680" cy="6400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sz="1450" b="0" i="0">
                <a:solidFill>
                  <a:srgbClr val="1E2A44"/>
                </a:solidFill>
                <a:latin typeface="Calibri"/>
              </a:rPr>
              <a:t>Thesis write-up and defence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5660136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2027 Q2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300" b="1" i="0">
                <a:solidFill>
                  <a:srgbClr val="14B8A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Where We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10607040" cy="23774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D5E3F7"/>
                </a:solidFill>
                <a:latin typeface="Calibri"/>
              </a:rPr>
              <a:t>The method works on real transpiler bugs.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D5E3F7"/>
                </a:solidFill>
                <a:latin typeface="Calibri"/>
              </a:rPr>
              <a:t>The usual check has a real, common blind spot — and we can catch it.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800" b="0" i="0">
                <a:solidFill>
                  <a:srgbClr val="D5E3F7"/>
                </a:solidFill>
                <a:latin typeface="Calibri"/>
              </a:rPr>
              <a:t>Next: scale up, compare methods at larger scale, and extend to other tools (a one-year plan).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500" b="1" i="0">
                <a:solidFill>
                  <a:srgbClr val="14B8A6"/>
                </a:solidFill>
                <a:latin typeface="Calibri"/>
              </a:rPr>
              <a:t>Thank you  —  Questions &amp; discussion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14B8A6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A44"/>
                </a:solidFill>
                <a:latin typeface="Cambria"/>
              </a:rPr>
              <a:t>Selected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[1] Paltenghi &amp; Pradel. Bugs in quantum computing platforms: an empirical study. OOPSLA, 2022.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[3] Yoo &amp; Harman. Regression testing minimization, selection and prioritisation: a survey. STVR, 2012.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[4] Machalica et al. Predictive test selection. ICSE-SEIP, 2019.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[5] Paltenghi &amp; Pradel. A survey on testing and analysis of quantum software. arXiv, 2024.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[6] Burgholzer &amp; Wille. Advanced equivalence checking for quantum circuits. IEEE TCAD, 2021.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[7] Paltenghi &amp; Pradel. MorphQ: metamorphic testing of the Qiskit platform. ICSE, 2023.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[8] Javadi-Abhari et al. Quantum computing with Qiskit. arXiv, 2024.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[14] Elsner et al. Readily available information for regression test optimization in CI. ISSTA, 2021.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[22] Pontolillo et al. QuCheck: property-based testing for Qiskit. arXiv, 2025.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[23] Luo et al. QEMI: testing quantum stacks via equivalence modulo inputs. FASE, 2026.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[24] Wang et al. QDiff: differential testing of quantum software stacks. ASE, 2021.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[25] Ye et al. QSPE: enumerating skeletal quantum programs. arXiv, 2026.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[26] Choudhury et al. Concolic testing for quantum compilers. IEEE ICCD, 2025.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[27] Tao et al. Giallar: push-button verification for the Qiskit compiler. PLDI, 2022.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[42] Shi et al. Contract-based verification of a realistic quantum compiler (CertiQ). arXiv, 2019.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[46] Oldfield et al. Faster &amp; better quantum software testing. ACM TOSEM, 2025.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[47] Kang, Lee &amp; Oh. Statistical testing of quantum programs. OOPSLA, 2024.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[48] Lee, Hong &amp; Ryu. Exact inference for quantum circuits. ASE, 2025.</a:t>
            </a:r>
          </a:p>
          <a:p>
            <a:pPr>
              <a:spcAft>
                <a:spcPts val="700"/>
              </a:spcAft>
            </a:pPr>
            <a:r>
              <a:rPr sz="1100">
                <a:solidFill>
                  <a:srgbClr val="1E2A44"/>
                </a:solidFill>
                <a:latin typeface="Calibri"/>
              </a:rPr>
              <a:t>[50] IBM Quantum. Open Plan (free real-hardware access). IBM Quantum Platform, 2026.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E2A44"/>
                </a:solidFill>
                <a:latin typeface="Calibri"/>
              </a:rPr>
              <a:t>[51] Burgholzer, Raymond &amp; Wille. Verifying results of the IBM Qiskit compilation flow. QCE, 2020.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E2A44"/>
                </a:solidFill>
                <a:latin typeface="Calibri"/>
              </a:rPr>
              <a:t>[52] Ali et al. Input/output coverage criteria for testing quantum programs. ICST, 2021.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E2A44"/>
                </a:solidFill>
                <a:latin typeface="Calibri"/>
              </a:rPr>
              <a:t>[53] Wang et al. QuSBT: search-based testing of quantum programs. ICSE-C, 2022.</a:t>
            </a:r>
          </a:p>
          <a:p>
            <a:pPr>
              <a:spcAft>
                <a:spcPts val="600"/>
              </a:spcAft>
            </a:pPr>
            <a:r>
              <a:rPr sz="1050">
                <a:solidFill>
                  <a:srgbClr val="1E2A44"/>
                </a:solidFill>
                <a:latin typeface="Calibri"/>
              </a:rPr>
              <a:t>[54] Klimis et al. Shaking up quantum simulators with fuzzing and rigour. OOPSLA,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4748C"/>
                </a:solidFill>
                <a:latin typeface="Calibri"/>
              </a:rPr>
              <a:t>Numbering follows the proposal's reference list.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600" b="1" i="0">
                <a:solidFill>
                  <a:srgbClr val="1E2A44"/>
                </a:solidFill>
                <a:latin typeface="Cambria"/>
              </a:rPr>
              <a:t>Classical Foundation vs. Quantum-Specific Need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087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49377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54864" marR="54864" anchor="ctr">
                    <a:solidFill>
                      <a:srgbClr val="14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Classical testing</a:t>
                      </a:r>
                    </a:p>
                  </a:txBody>
                  <a:tcPr marL="54864" marR="54864" anchor="ctr">
                    <a:solidFill>
                      <a:srgbClr val="14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Quantum transpiler</a:t>
                      </a:r>
                    </a:p>
                  </a:txBody>
                  <a:tcPr marL="54864" marR="54864" anchor="ctr">
                    <a:solidFill>
                      <a:srgbClr val="1426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Observed result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Deterministic, directly inspectable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Probabilistic samples; internal state not directly observable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Correctness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Equality / observational equivalence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Up to global phase &amp; qubit/layout permutation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Fault model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Crashes, wrong values, performance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+ phase, entanglement, mapping/routing, backend/noise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Execution cost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Repeatable CPU time; one run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Repeated shots; simulation growth; oracle cost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Regression oracle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Expected output, assertions, logs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Output equivalence alone misses metadata/layout/quality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E2A44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54864" marR="54864" anchor="ctr"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Selection, prioritisation, cost, APFD/APFDc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E2A44"/>
                          </a:solidFill>
                          <a:latin typeface="Calibri"/>
                        </a:rPr>
                        <a:t>Retained — but features, costs, oracles redefined</a:t>
                      </a:r>
                    </a:p>
                  </a:txBody>
                  <a:tcPr marL="54864" marR="54864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150" b="1" i="1">
                <a:solidFill>
                  <a:srgbClr val="0E7C7B"/>
                </a:solidFill>
                <a:latin typeface="Calibri"/>
              </a:rPr>
              <a:t>Classical principles are the foundation; they do not transfer unchanged — this work is a quantum-specific adaptation and empirical validation, not the invention of regression testing.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600" b="1" i="0">
                <a:solidFill>
                  <a:srgbClr val="1E2A44"/>
                </a:solidFill>
                <a:latin typeface="Cambria"/>
              </a:rPr>
              <a:t>Evidence: Why Quantum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2062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E2A44"/>
                </a:solidFill>
                <a:latin typeface="Calibri"/>
              </a:rPr>
              <a:t>39.9% of real quantum-platform bugs are quantum-specific  </a:t>
            </a:r>
            <a:r>
              <a:rPr sz="1700" b="0" i="0">
                <a:solidFill>
                  <a:srgbClr val="1E2A44"/>
                </a:solidFill>
                <a:latin typeface="Calibri"/>
              </a:rPr>
              <a:t>— concentrated in compile/optimise components — a classical fault model is incomplete [1].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E2A44"/>
                </a:solidFill>
                <a:latin typeface="Calibri"/>
              </a:rPr>
              <a:t>Quantum outputs are exponentially large distributions  </a:t>
            </a:r>
            <a:r>
              <a:rPr sz="1700" b="0" i="0">
                <a:solidFill>
                  <a:srgbClr val="1E2A44"/>
                </a:solidFill>
                <a:latin typeface="Calibri"/>
              </a:rPr>
              <a:t>— conventional distribution testing can miss phase-flip faults [46].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E2A44"/>
                </a:solidFill>
                <a:latin typeface="Calibri"/>
              </a:rPr>
              <a:t>State equivalence can’t be read from one observation  </a:t>
            </a:r>
            <a:r>
              <a:rPr sz="1700" b="0" i="0">
                <a:solidFill>
                  <a:srgbClr val="1E2A44"/>
                </a:solidFill>
                <a:latin typeface="Calibri"/>
              </a:rPr>
              <a:t>— assurance needs repeated measurement; specialised oracles expose non-crash bugs [47], [48].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E2A44"/>
                </a:solidFill>
                <a:latin typeface="Calibri"/>
              </a:rPr>
              <a:t>Equivalence checking had to be redesigned  </a:t>
            </a:r>
            <a:r>
              <a:rPr sz="1700" b="0" i="0">
                <a:solidFill>
                  <a:srgbClr val="1E2A44"/>
                </a:solidFill>
                <a:latin typeface="Calibri"/>
              </a:rPr>
              <a:t>— for reversibility, superposition, entanglement — not reused from classical [6].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E2A44"/>
                </a:solidFill>
                <a:latin typeface="Calibri"/>
              </a:rPr>
              <a:t>Compiler-pass reasoning must encode quantum semantics  </a:t>
            </a:r>
            <a:r>
              <a:rPr sz="1700" b="0" i="0">
                <a:solidFill>
                  <a:srgbClr val="1E2A44"/>
                </a:solidFill>
                <a:latin typeface="Calibri"/>
              </a:rPr>
              <a:t>— formal verification confirms this is necessary and feasible [27].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0" i="1">
                <a:solidFill>
                  <a:srgbClr val="64748C"/>
                </a:solidFill>
                <a:latin typeface="Calibri"/>
              </a:rPr>
              <a:t>Central claim: classical machinery does not directly solve quantum-transpiler regression testing — its observability, oracle, equivalence and cost models do not hold unchanged.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600" b="1" i="0">
                <a:solidFill>
                  <a:srgbClr val="1E2A44"/>
                </a:solidFill>
                <a:latin typeface="Cambria"/>
              </a:rPr>
              <a:t>How Do We Evaluate Something Novel?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50" b="0" i="1">
                <a:solidFill>
                  <a:srgbClr val="1E2A44"/>
                </a:solidFill>
                <a:latin typeface="Calibri"/>
              </a:rPr>
              <a:t>The method is new — the evaluation apparatus is entirely standard. We do not compare against a non-existent rival; we do what every regression-testing study does: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1064240" cy="37490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Established baselines: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the selector is compared against random ordering plus cost-, history-, coverage/diversity- and change-based heuristics — the field-standard set [3], [10], [14].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Standard metrics: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APFD and cost-cognizant APFDc, recall@budget, detection-vs-budget AUC, oracle false-positive rate, inter-rater κ — all from the literature [10], [12], [40], [41].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Real ground truth: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evaluation on real, historical Qiskit regressions where the correct answer is known — e.g., a bug the output oracle passed but the matched oracle caught.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Ablation: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quantum-specific components are switched off one at a time to show which actually carry the effect — the method is compared against reduced versions of itself.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Self-audit: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six leakage-safe validity gates make every result reproducible and trustworthy, independent of any competitor.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10642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0" i="1">
                <a:solidFill>
                  <a:srgbClr val="64748C"/>
                </a:solidFill>
                <a:latin typeface="Calibri"/>
              </a:rPr>
              <a:t>In one line: what is new is the method; the yardstick — baselines, metrics, and real bugs — is standard and cited.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600" b="1" i="0">
                <a:solidFill>
                  <a:srgbClr val="1E2A44"/>
                </a:solidFill>
                <a:latin typeface="Cambria"/>
              </a:rPr>
              <a:t>Where the Tested Regressions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50" b="0" i="1">
                <a:solidFill>
                  <a:srgbClr val="1E2A44"/>
                </a:solidFill>
                <a:latin typeface="Calibri"/>
              </a:rPr>
              <a:t>The events (e.g., H1 = PR #14603, H4 = PR #14120) are not “just GitHub” — for an open-source SDK the repository IS the authoritative primary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1064240" cy="37490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Canonical primary source: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merged pull requests, their linked issues, and release notes are the official record of what changed and why — permanent and citable.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Standard methodology: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mining merged bug-fix commits is established empirical-software-engineering practice [49] (the SZZ / Mining-Software-Repositories line).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Same source as accepted benchmarks: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Bugs4Q curates real Qiskit bugs from this history [29]; Paltenghi &amp; Pradel mined 223 real platform bugs the same way [1].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Full traceability: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each event → inducing/fixing PR + issue thread + release note; all IDs, revisions and build scripts released for reproduction.</a:t>
            </a:r>
          </a:p>
          <a:p>
            <a:pPr>
              <a:spcAft>
                <a:spcPts val="11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0E7C7B"/>
                </a:solidFill>
                <a:latin typeface="Calibri"/>
              </a:rPr>
              <a:t>Why not RFCs:  </a:t>
            </a:r>
            <a:r>
              <a:rPr sz="1600" b="0" i="0">
                <a:solidFill>
                  <a:srgbClr val="1E2A44"/>
                </a:solidFill>
                <a:latin typeface="Calibri"/>
              </a:rPr>
              <a:t>Qiskit RFCs cover major design changes, not routine bug fixes — those live in the PR + release-note record, which is the correct provenance.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10642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0" i="1">
                <a:solidFill>
                  <a:srgbClr val="64748C"/>
                </a:solidFill>
                <a:latin typeface="Calibri"/>
              </a:rPr>
              <a:t>Every tested regression is traceable to a permanent, verifiable record — more so than most secondary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600" b="1" i="0">
                <a:solidFill>
                  <a:srgbClr val="1E2A44"/>
                </a:solidFill>
                <a:latin typeface="Cambria"/>
              </a:rPr>
              <a:t>Do We Run Quantum Simulations? (No Hardware)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10642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350" b="0" i="1">
                <a:solidFill>
                  <a:srgbClr val="1E2A44"/>
                </a:solidFill>
                <a:latin typeface="Calibri"/>
              </a:rPr>
              <a:t>Yes — classical simulation only, on the CPU. A simulator is classical software that computes what a quantum device would do; it never needs a quantum device.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1064240" cy="3749039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1000"/>
              </a:spcAft>
            </a:pPr>
            <a:r>
              <a:rPr sz="15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What we test is classical:  </a:t>
            </a:r>
            <a:r>
              <a:rPr sz="1550" b="0" i="0">
                <a:solidFill>
                  <a:srgbClr val="1E2A44"/>
                </a:solidFill>
                <a:latin typeface="Calibri"/>
              </a:rPr>
              <a:t>the transpiler is compiler software; checking its output is a classical computation, not a physics experiment.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How the check runs:  </a:t>
            </a:r>
            <a:r>
              <a:rPr sz="1550" b="0" i="0">
                <a:solidFill>
                  <a:srgbClr val="1E2A44"/>
                </a:solidFill>
                <a:latin typeface="Calibri"/>
              </a:rPr>
              <a:t>for small circuits (≤ 12 qubits) we compute the exact unitary with linear algebra (Qiskit’s classical simulator) and compare up to global phase [6].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It runs on a laptop:  </a:t>
            </a:r>
            <a:r>
              <a:rPr sz="1550" b="0" i="0">
                <a:solidFill>
                  <a:srgbClr val="1E2A44"/>
                </a:solidFill>
                <a:latin typeface="Calibri"/>
              </a:rPr>
              <a:t>the pilot caps at 8 qubits, so every semantic check simulates in milliseconds on a 32 GB CPU — no device, no queue, no noise.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Where simulation would blow up:  </a:t>
            </a:r>
            <a:r>
              <a:rPr sz="1550" b="0" i="0">
                <a:solidFill>
                  <a:srgbClr val="1E2A44"/>
                </a:solidFill>
                <a:latin typeface="Calibri"/>
              </a:rPr>
              <a:t>above the cap we do NOT simulate — structural checks (basis + coupling-map) take over, and even the 27-qubit performance test only times the compiler, not the circuit's output.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No hardware on the critical path:  </a:t>
            </a:r>
            <a:r>
              <a:rPr sz="1550" b="0" i="0">
                <a:solidFill>
                  <a:srgbClr val="1E2A44"/>
                </a:solidFill>
                <a:latin typeface="Calibri"/>
              </a:rPr>
              <a:t>our research validates the compiler transformation, not physical execution — it stops one step before hardware is needed. Physical-noise fidelity is a separate, downstream question, out of scope.</a:t>
            </a:r>
          </a:p>
          <a:p>
            <a:pPr>
              <a:spcAft>
                <a:spcPts val="1000"/>
              </a:spcAft>
            </a:pPr>
            <a:r>
              <a:rPr sz="1550" b="1">
                <a:solidFill>
                  <a:srgbClr val="14B8A6"/>
                </a:solidFill>
                <a:latin typeface="Calibri"/>
              </a:rPr>
              <a:t>▪  </a:t>
            </a:r>
            <a:r>
              <a:rPr sz="1550" b="1">
                <a:solidFill>
                  <a:srgbClr val="0E7C7B"/>
                </a:solidFill>
                <a:latin typeface="Calibri"/>
              </a:rPr>
              <a:t>Fallback only, if ever asked:  </a:t>
            </a:r>
            <a:r>
              <a:rPr sz="1550">
                <a:solidFill>
                  <a:srgbClr val="1E2A44"/>
                </a:solidFill>
                <a:latin typeface="Calibri"/>
              </a:rPr>
              <a:t>an optional real-device check would be free — IBM Quantum's Open Plan gives runtime on real hardware at no cost [50]. A convenience, not a dependency.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10642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0" i="1">
                <a:solidFill>
                  <a:srgbClr val="64748C"/>
                </a:solidFill>
                <a:latin typeface="Calibri"/>
              </a:rPr>
              <a:t>Simulator ≠ hardware: it runs on an ordinary CPU. Exact simulation is exponential, so the design caps it and falls back — that is why no quantum device is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10896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1" i="0">
                <a:solidFill>
                  <a:srgbClr val="14B8A6"/>
                </a:solidFill>
                <a:latin typeface="Calibri"/>
              </a:rPr>
              <a:t>BACKUP —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94944"/>
            <a:ext cx="11155680" cy="82296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2500" b="1" i="0">
                <a:solidFill>
                  <a:srgbClr val="1E2A44"/>
                </a:solidFill>
                <a:latin typeface="Cambria"/>
              </a:rPr>
              <a:t>Precedent: Testing Quantum Compilers Without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10642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50" b="0" i="1">
                <a:solidFill>
                  <a:srgbClr val="1E2A44"/>
                </a:solidFill>
                <a:latin typeface="Calibri"/>
              </a:rPr>
              <a:t>Top-venue studies evaluate quantum compilers and quantum-software testing in classical software or simulation — none required a QPU.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938528"/>
          <a:ext cx="101498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737360"/>
                <a:gridCol w="5120640"/>
                <a:gridCol w="82296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54864" marR="45720" marT="9144" marB="9144" anchor="ctr">
                    <a:solidFill>
                      <a:srgbClr val="14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Venue (year)</a:t>
                      </a:r>
                    </a:p>
                  </a:txBody>
                  <a:tcPr marL="54864" marR="45720" marT="9144" marB="9144" anchor="ctr">
                    <a:solidFill>
                      <a:srgbClr val="14264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Ran on</a:t>
                      </a:r>
                    </a:p>
                  </a:txBody>
                  <a:tcPr marL="54864" marR="45720" marT="9144" marB="9144" anchor="ctr">
                    <a:solidFill>
                      <a:srgbClr val="1426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QPU?</a:t>
                      </a:r>
                    </a:p>
                  </a:txBody>
                  <a:tcPr marL="54864" marR="45720" marT="9144" marB="9144" anchor="ctr">
                    <a:solidFill>
                      <a:srgbClr val="14264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Giallar [27]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PLDI 2022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symbolic pass verification (classical)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VOQC [44]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POPL 2021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Coq proofs over circuit semantics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Burgholzer et al. [51]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IEEE QCE 2020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equivalence checking of Qiskit compilation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MorphQ [7]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ICSE 2023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 simulator (8,000+ program pairs)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Muskit [30]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ASE 2021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 software (mutation analysis)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Bugs4Q [29]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ASE 2021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 buggy/fixed revisions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QMutPy [31]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IEEE TQE 2022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 software (24 programs)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Coverage criteria [52]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ICST 2021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simulator + statistical oracles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QuSBT [53]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ICSE-C 2022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 as the simulation framework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Simulator fuzzing [54]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OOPSLA 2025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Qiskit/Cirq simulators (800,000+ circuits)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2F5F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Exact inference [48]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ASE 2025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E2A44"/>
                          </a:solidFill>
                          <a:latin typeface="Calibri"/>
                        </a:rPr>
                        <a:t>classical exact inference oracle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E7C7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144768"/>
            <a:ext cx="1106424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1200" b="0" i="1">
                <a:solidFill>
                  <a:srgbClr val="64748C"/>
                </a:solidFill>
                <a:latin typeface="Calibri"/>
              </a:rPr>
              <a:t>Our study is in exactly this established, hardware-free mode — evaluating the compiler transformation, not physical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969264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r>
              <a:rPr sz="850" b="0" i="0">
                <a:solidFill>
                  <a:srgbClr val="64748C"/>
                </a:solidFill>
                <a:latin typeface="Calibri"/>
              </a:rPr>
              <a:t>GSC Synopsis  ·  A Leakage-Safe Framework for Observability-Aware Regression Testing of Quantum Compilers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r"/>
            <a:r>
              <a:rPr sz="850" b="1" i="0">
                <a:solidFill>
                  <a:srgbClr val="64748C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1686</Words>
  <Application>Microsoft Office PowerPoint</Application>
  <PresentationFormat>Widescreen</PresentationFormat>
  <Paragraphs>299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Furqan Nasir</dc:creator>
  <cp:keywords/>
  <dc:description>generated using python-pptx</dc:description>
  <cp:lastModifiedBy>Furqan Nasir</cp:lastModifiedBy>
  <cp:revision>21</cp:revision>
  <dcterms:created xsi:type="dcterms:W3CDTF">2013-01-27T09:14:16Z</dcterms:created>
  <dcterms:modified xsi:type="dcterms:W3CDTF">2026-07-10T07:34:22Z</dcterms:modified>
  <cp:category/>
</cp:coreProperties>
</file>