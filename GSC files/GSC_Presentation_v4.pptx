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3010" autoAdjust="0"/>
  </p:normalViewPr>
  <p:slideViewPr>
    <p:cSldViewPr snapToGrid="0" snapToObjects="1">
      <p:cViewPr varScale="1">
        <p:scale>
          <a:sx n="63" d="100"/>
          <a:sy n="63" d="100"/>
        </p:scale>
        <p:origin x="145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6471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smtClean="0"/>
              <a:t>First question, </a:t>
            </a:r>
            <a:r>
              <a:rPr lang="en-US" dirty="0" err="1" smtClean="0"/>
              <a:t>quauntum</a:t>
            </a:r>
            <a:r>
              <a:rPr lang="en-US" dirty="0" smtClean="0"/>
              <a:t> hardware is not available</a:t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what</a:t>
            </a:r>
            <a:r>
              <a:rPr lang="en-US" baseline="0" dirty="0" smtClean="0"/>
              <a:t> is meant by quantum compilers? If you make it ready for compiler then how does you know that this is the bug or not.</a:t>
            </a:r>
            <a:br>
              <a:rPr lang="en-US" baseline="0" dirty="0" smtClean="0"/>
            </a:br>
            <a:r>
              <a:rPr lang="en-US" baseline="0" dirty="0" smtClean="0"/>
              <a:t/>
            </a:r>
            <a:br>
              <a:rPr lang="en-US" baseline="0" dirty="0" smtClean="0"/>
            </a:br>
            <a:r>
              <a:rPr lang="en-US" baseline="0" dirty="0" smtClean="0"/>
              <a:t>Forward pass backward pass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talk follows the proposal chapters in order. No findings are shown until the initial-results section.</a:t>
            </a:r>
          </a:p>
          <a:p>
            <a:endParaRPr/>
          </a:p>
          <a:p>
            <a:r>
              <a:t>Key terms:</a:t>
            </a:r>
          </a:p>
          <a:p>
            <a:r>
              <a:t>• Methodology — the planned, step-by-step way of carrying out the research</a:t>
            </a:r>
          </a:p>
          <a:p>
            <a:r>
              <a:t>• Initial results — the study's initial findings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smtClean="0"/>
              <a:t>Give reference of last sentence there is no reliable</a:t>
            </a:r>
            <a:r>
              <a:rPr lang="en-US" baseline="0" dirty="0" smtClean="0"/>
              <a:t> and affordable way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four research questions, worded as in the proposal. RQ1 and RQ2 concern the observability gap — how often regressions evade the reference screen, and whether a matched oracle catches one from source. RQ3 is the pipeline's operational soundness; RQ4 is the transparent selector versus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prior work sits: classical test selection and prioritisation; quantum testing (MorphQ, QDiff); equivalence checking; and internal-state verification (CertiQ, Giallar, concolic). The gap we fill is combining matched internal-observability oracles with budgeted, leakage-safe selection — which no prior work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Table 2.1 compares this work with the closest prior threads across the properties that matter. Only this work has all of them together: a quantum-aware oracle, internal-state observability, cost-awareness, selection of existing tests, leakage-safe evaluation, and cohort separation.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cart pipeline in five stages over a shared reproducibility substrate — manifest and instrument; change-events and cohorts; tiered oracles producing write-once labels; selection against baselines under a budget; metrics and validity gates. Every result flows through the same audited substrate.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Figure 3.2 — the whole research on one page. One problem splits into two goals: EFFECTIVENESS (observability-aware fault detection; RQ1 prevalence, RQ2 gap real and closable) and COST (budgeted, cost-aware selection; RQ4 selector vs baselines). Both rest on a FOUNDATION of leakage-safe validity (RQ3): cohort separation, provenance, and six validity gates. Every metric is taken from the regression-testing literature (APFD, APFDc, false-positive rate, inter-rater kappa) — none is invented. Honest scope: the study demonstrates the effectiveness side; the cost-effectiveness comparison is the scale-up phase.</a:t>
            </a:r>
          </a:p>
          <a:p/>
          <a:p>
            <a:r>
              <a:t>Key terms:</a:t>
            </a:r>
          </a:p>
          <a:p>
            <a:r>
              <a:t>• Effectiveness — does it catch the regressions, including the output-invisible ones.</a:t>
            </a:r>
          </a:p>
          <a:p>
            <a:r>
              <a:t>• Cost — does it catch them within a test budget (APFD/APFDc).</a:t>
            </a:r>
          </a:p>
          <a:p>
            <a:r>
              <a:t>• Leakage-safe validity — the evaluation never uses answer or future information; results are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transparent selector is a hand-set, explainable scoring rule — no black-box AI. It uses only pre-execution information, is compared against five baselines including random, and its weights are frozen before evaluation and checked by ablation and a global sensitivity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evaluation runs on a single ordinary laptop, on circuits of up to eight qubits, across several circuit types, end to end, and reproduces real historical transpiler regressions from Qiskit's own development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smtClean="0"/>
              <a:t>All is pass but how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real historical transpiler regressions attempted from source. Two produced positive findings; the others are reported honestly as blocked or not run on commodity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H4 — a real update made compilation dramatically slower at larger width. Because the slowdown only appears at width, it was measured on a separate 16–27-qubit regime by timing the compiler, which needs no simulation and no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H1 — the same real regression shown to two oracles: the reference screen reports EQUIVALENT and misses it, while the matched contract oracle detects the corrupted layout metadata. This is the observability gap, demonstrated on a real regression.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smtClean="0"/>
              <a:t>You</a:t>
            </a:r>
            <a:r>
              <a:rPr lang="en-US" baseline="0" dirty="0" smtClean="0"/>
              <a:t> are working on which one. Circuit quality is already done so why you are working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one-year work plan. Phase 1 is complete; the remaining phases scale up, run the powered comparison, validate and extend to other tools, and finish with write-up and defence.</a:t>
            </a:r>
          </a:p>
          <a:p>
            <a:endParaRPr/>
          </a:p>
          <a:p>
            <a:r>
              <a:t>Key terms:</a:t>
            </a:r>
          </a:p>
          <a:p>
            <a:r>
              <a:t>• Powered comparison — a study with enough samples to draw statistically reliable conclusions</a:t>
            </a:r>
          </a:p>
          <a:p>
            <a:r>
              <a:t>• Cross-SDK generalisation — extending the approach to other quantum toolkits beyond Qiskit</a:t>
            </a:r>
          </a:p>
          <a:p>
            <a:r>
              <a:t>• Mining — collecting real bug-fixes from project history to expand the dataset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149840" y="-1097280"/>
            <a:ext cx="3108960" cy="3108960"/>
          </a:xfrm>
          <a:prstGeom prst="ellipse">
            <a:avLst/>
          </a:prstGeom>
          <a:solidFill>
            <a:srgbClr val="1B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143000"/>
            <a:ext cx="502920" cy="100584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33272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300" b="1" i="0">
                <a:solidFill>
                  <a:srgbClr val="14B8A6"/>
                </a:solidFill>
                <a:latin typeface="Calibri"/>
              </a:rPr>
              <a:t>PhD SYNOPSIS  ·  BOARD OF ADVANCED STUDIES &amp; RESEARCH (BASR)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607040" cy="1554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mbria"/>
              </a:rPr>
              <a:t>A Leakage-Safe Framework for Observability-Aware Regression Testing of Quantum Compilers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332720" cy="6400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500" b="0" i="1">
                <a:solidFill>
                  <a:srgbClr val="D5E3F7"/>
                </a:solidFill>
                <a:latin typeface="Calibri"/>
              </a:rPr>
              <a:t>Catching the transpiler regressions the standard output check cannot observe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10424160" cy="1371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Calibri"/>
              </a:rPr>
              <a:t>Furqan Nasir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D5E3F7"/>
                </a:solidFill>
                <a:latin typeface="Calibri"/>
              </a:rPr>
              <a:t>PhD in Computer Science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9FB2D6"/>
                </a:solidFill>
                <a:latin typeface="Calibri"/>
              </a:rPr>
              <a:t>City University of Science &amp; IT, Peshawar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14B8A6"/>
                </a:solidFill>
                <a:latin typeface="Calibri"/>
              </a:rPr>
              <a:t>July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FOLLOWING THE PROPOSAL CHAPTERS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>
                <a:solidFill>
                  <a:srgbClr val="1E2A44"/>
                </a:solidFill>
                <a:latin typeface="Cambria"/>
              </a:rPr>
              <a:t>Outline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193792" cy="1207008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96112" y="2020824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39" y="2002536"/>
            <a:ext cx="402336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700" b="1" i="0">
                <a:solidFill>
                  <a:srgbClr val="1E2A44"/>
                </a:solidFill>
                <a:latin typeface="Calibri"/>
              </a:rPr>
              <a:t>Introduction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691640"/>
            <a:ext cx="5193792" cy="1207008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611112" y="2020824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002536"/>
            <a:ext cx="402336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700" b="1" i="0">
                <a:solidFill>
                  <a:srgbClr val="1E2A44"/>
                </a:solidFill>
                <a:latin typeface="Calibri"/>
              </a:rPr>
              <a:t>Problem statement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99816"/>
            <a:ext cx="5193792" cy="1207008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96112" y="34290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39" y="3410712"/>
            <a:ext cx="402336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700" b="1" i="0">
                <a:solidFill>
                  <a:srgbClr val="1E2A44"/>
                </a:solidFill>
                <a:latin typeface="Calibri"/>
              </a:rPr>
              <a:t>Research questions &amp; objectives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3099816"/>
            <a:ext cx="5193792" cy="1207008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11112" y="34290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410712"/>
            <a:ext cx="402336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700" b="1" i="0">
                <a:solidFill>
                  <a:srgbClr val="1E2A44"/>
                </a:solidFill>
                <a:latin typeface="Calibri"/>
              </a:rPr>
              <a:t>Literature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07992"/>
            <a:ext cx="5193792" cy="1207008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96112" y="483717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39" y="4818888"/>
            <a:ext cx="402336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700" b="1" i="0">
                <a:solidFill>
                  <a:srgbClr val="1E2A44"/>
                </a:solidFill>
                <a:latin typeface="Calibri"/>
              </a:rPr>
              <a:t>Proposed methodology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507992"/>
            <a:ext cx="5193792" cy="1207008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611112" y="483717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818888"/>
            <a:ext cx="402336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700" b="1" i="0">
                <a:solidFill>
                  <a:srgbClr val="1E2A44"/>
                </a:solidFill>
                <a:latin typeface="Calibri"/>
              </a:rPr>
              <a:t>Initial 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>
                <a:solidFill>
                  <a:srgbClr val="1E2A44"/>
                </a:solidFill>
                <a:latin typeface="Cambria"/>
              </a:rPr>
              <a:t>What This Research Is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1064240" cy="41148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1600"/>
              </a:spcAft>
            </a:pPr>
            <a:r>
              <a:rPr sz="19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E2A44"/>
                </a:solidFill>
                <a:latin typeface="Calibri"/>
              </a:rPr>
              <a:t>A quantum program must be rewritten to run on real hardware. In Qiskit, the “transpiler” does this rewriting. [8]</a:t>
            </a:r>
          </a:p>
          <a:p>
            <a:pPr>
              <a:spcAft>
                <a:spcPts val="1600"/>
              </a:spcAft>
            </a:pPr>
            <a:r>
              <a:rPr sz="19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E2A44"/>
                </a:solidFill>
                <a:latin typeface="Calibri"/>
              </a:rPr>
              <a:t>The transpiler is updated very often, and any update can accidentally introduce a regression (a bug caused by a change). [1]</a:t>
            </a:r>
          </a:p>
          <a:p>
            <a:pPr>
              <a:spcAft>
                <a:spcPts val="1600"/>
              </a:spcAft>
            </a:pPr>
            <a:r>
              <a:rPr sz="19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E2A44"/>
                </a:solidFill>
                <a:latin typeface="Calibri"/>
              </a:rPr>
              <a:t>A regression can give a wrong result, a lower-quality circuit, or slower compilation.</a:t>
            </a:r>
          </a:p>
          <a:p>
            <a:pPr>
              <a:spcAft>
                <a:spcPts val="1600"/>
              </a:spcAft>
            </a:pPr>
            <a:r>
              <a:rPr sz="19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E2A44"/>
                </a:solidFill>
                <a:latin typeface="Calibri"/>
              </a:rPr>
              <a:t>We need regression testing that is trustworthy and affordable — catching these before they reach users.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>
                <a:solidFill>
                  <a:srgbClr val="1E2A44"/>
                </a:solidFill>
                <a:latin typeface="Cambria"/>
              </a:rPr>
              <a:t>The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349240" cy="3200400"/>
          </a:xfrm>
          <a:prstGeom prst="roundRect">
            <a:avLst>
              <a:gd name="adj" fmla="val 6000"/>
            </a:avLst>
          </a:prstGeom>
          <a:solidFill>
            <a:srgbClr val="F7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892807"/>
            <a:ext cx="4937760" cy="4572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650" b="1" i="0">
                <a:solidFill>
                  <a:srgbClr val="9A532E"/>
                </a:solidFill>
                <a:latin typeface="Calibri"/>
              </a:rPr>
              <a:t>1.  We can’t always observe the 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77440"/>
            <a:ext cx="4937760" cy="23774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900"/>
              </a:spcAft>
            </a:pPr>
            <a:r>
              <a:rPr sz="145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1E2A44"/>
                </a:solidFill>
                <a:latin typeface="Calibri"/>
              </a:rPr>
              <a:t>The usual check, an output-equivalence oracle, looks only at the final output. [6]</a:t>
            </a:r>
          </a:p>
          <a:p>
            <a:pPr>
              <a:spcAft>
                <a:spcPts val="900"/>
              </a:spcAft>
            </a:pPr>
            <a:r>
              <a:rPr sz="145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1E2A44"/>
                </a:solidFill>
                <a:latin typeface="Calibri"/>
              </a:rPr>
              <a:t>Some regressions keep the output correct but corrupt the transpiler’s internal state. [5]</a:t>
            </a:r>
          </a:p>
          <a:p>
            <a:pPr>
              <a:spcAft>
                <a:spcPts val="900"/>
              </a:spcAft>
            </a:pPr>
            <a:r>
              <a:rPr sz="145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1E2A44"/>
                </a:solidFill>
                <a:latin typeface="Calibri"/>
              </a:rPr>
              <a:t>So the output-equivalence oracle cannot observe them — an observability gap.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691640"/>
            <a:ext cx="5349240" cy="3200400"/>
          </a:xfrm>
          <a:prstGeom prst="roundRect">
            <a:avLst>
              <a:gd name="adj" fmla="val 6000"/>
            </a:avLst>
          </a:prstGeom>
          <a:solidFill>
            <a:srgbClr val="E7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11112" y="1892807"/>
            <a:ext cx="4937760" cy="4572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650" b="1" i="0">
                <a:solidFill>
                  <a:srgbClr val="0E7C7B"/>
                </a:solidFill>
                <a:latin typeface="Calibri"/>
              </a:rPr>
              <a:t>2.  We can’t afford to test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377440"/>
            <a:ext cx="4937760" cy="23774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900"/>
              </a:spcAft>
            </a:pPr>
            <a:r>
              <a:rPr sz="145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1E2A44"/>
                </a:solidFill>
                <a:latin typeface="Calibri"/>
              </a:rPr>
              <a:t>There are far too many tests to run them all on every update.</a:t>
            </a:r>
          </a:p>
          <a:p>
            <a:pPr>
              <a:spcAft>
                <a:spcPts val="900"/>
              </a:spcAft>
            </a:pPr>
            <a:r>
              <a:rPr sz="145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1E2A44"/>
                </a:solidFill>
                <a:latin typeface="Calibri"/>
              </a:rPr>
              <a:t>Running everything each time is too slow and too expensive.</a:t>
            </a:r>
          </a:p>
          <a:p>
            <a:pPr>
              <a:spcAft>
                <a:spcPts val="900"/>
              </a:spcAft>
            </a:pPr>
            <a:r>
              <a:rPr sz="145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1E2A44"/>
                </a:solidFill>
                <a:latin typeface="Calibri"/>
              </a:rPr>
              <a:t>We must select a small, high-value set — under a budget.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74920"/>
            <a:ext cx="11064240" cy="5486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500" b="1" i="1">
                <a:solidFill>
                  <a:srgbClr val="1E2A44"/>
                </a:solidFill>
                <a:latin typeface="Calibri"/>
              </a:rPr>
              <a:t>→  To our knowledge, no method yet combines matched oracles with budget-aware, leak-free test selection for the transpiler [26], [27], [42].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RESEARCH QUESTIONS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>
                <a:solidFill>
                  <a:srgbClr val="1E2A44"/>
                </a:solidFill>
                <a:latin typeface="Cambria"/>
              </a:rPr>
              <a:t>Research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27632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96112" y="1929384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37360"/>
            <a:ext cx="9784080" cy="8503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350" b="0" i="0">
                <a:solidFill>
                  <a:srgbClr val="1E2A44"/>
                </a:solidFill>
                <a:latin typeface="Calibri"/>
              </a:rPr>
              <a:t>How often do real transpiler regressions fall into fault channels not detected by a reference regression screen comprising semantic-equivalence, compilation-validity, circuit-quality, and performance oracles?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07208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96112" y="310896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16936"/>
            <a:ext cx="9784080" cy="8503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350" b="0" i="0">
                <a:solidFill>
                  <a:srgbClr val="1E2A44"/>
                </a:solidFill>
                <a:latin typeface="Calibri"/>
              </a:rPr>
              <a:t>Can real transpiler regressions that evade this reference screen be shown, from source, to be detected by fault-class-matched contract, property, isolated-pass, or determinism oracles, demonstrating that the gap is real and closable?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86784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96112" y="4288536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096512"/>
            <a:ext cx="9784080" cy="8503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350" b="0" i="0">
                <a:solidFill>
                  <a:srgbClr val="1E2A44"/>
                </a:solidFill>
                <a:latin typeface="Calibri"/>
              </a:rPr>
              <a:t>Can a leakage-safe, cost-aware regression-testing pipeline for the transpiler be built and shown operationally sound under an executable validity-gate audit?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16636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96112" y="5468112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276088"/>
            <a:ext cx="9784080" cy="8503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350" b="0" i="0">
                <a:solidFill>
                  <a:srgbClr val="1E2A44"/>
                </a:solidFill>
                <a:latin typeface="Calibri"/>
              </a:rPr>
              <a:t>(a) At feasibility scale, does the pipeline run the transparent selector and all five baselines correctly under identical budgets and anti-leakage rules? (b) In the full study, once a precision-analysis-set number of forward-regression events is verified, does the selector front-load fault-detecting tests earlier than those baselines?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RESEARCH QUESTIONS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>
                <a:solidFill>
                  <a:srgbClr val="1E2A44"/>
                </a:solidFill>
                <a:latin typeface="Cambria"/>
              </a:rPr>
              <a:t>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193792" cy="19659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11095"/>
            <a:ext cx="466344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350" b="1" i="0">
                <a:solidFill>
                  <a:srgbClr val="14B8A6"/>
                </a:solidFill>
                <a:latin typeface="Calibri"/>
              </a:rPr>
              <a:t>O1 → 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0008"/>
            <a:ext cx="4663440" cy="11887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350" b="0" i="0">
                <a:solidFill>
                  <a:srgbClr val="1E2A44"/>
                </a:solidFill>
                <a:latin typeface="Calibri"/>
              </a:rPr>
              <a:t>To measure how often real transpiler regressions fall into channels the reference screen (semantic-equivalence, compilation-validity, circuit-quality, and performance oracles) does not detect, by mining merged bug-fixes and classifying each channel with inter-rater agreement (Cohen's and Fleiss' κ).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691640"/>
            <a:ext cx="5193792" cy="19659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29400" y="1911095"/>
            <a:ext cx="466344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350" b="1" i="0">
                <a:solidFill>
                  <a:srgbClr val="14B8A6"/>
                </a:solidFill>
                <a:latin typeface="Calibri"/>
              </a:rPr>
              <a:t>O2 → 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350008"/>
            <a:ext cx="4663440" cy="11887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350" b="0" i="0">
                <a:solidFill>
                  <a:srgbClr val="1E2A44"/>
                </a:solidFill>
                <a:latin typeface="Calibri"/>
              </a:rPr>
              <a:t>To demonstrate, from source, at least one real regression that the reference screen misses but a fault-class-matched contract, property, isolated-pass, or determinism oracle detects, establishing that the gap is real and closable.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13631"/>
            <a:ext cx="5193792" cy="19659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466344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350" b="1" i="0">
                <a:solidFill>
                  <a:srgbClr val="14B8A6"/>
                </a:solidFill>
                <a:latin typeface="Calibri"/>
              </a:rPr>
              <a:t>O3 → RQ3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1999"/>
            <a:ext cx="4663440" cy="11887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350" b="0" i="0">
                <a:solidFill>
                  <a:srgbClr val="1E2A44"/>
                </a:solidFill>
                <a:latin typeface="Calibri"/>
              </a:rPr>
              <a:t>To build the leakage-safe, cost-aware methodology as an open prototype (cart) and show it operationally sound under a six-gate validity audit, verifying at least one forward regression from source.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3913631"/>
            <a:ext cx="5193792" cy="19659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133087"/>
            <a:ext cx="466344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350" b="1" i="0">
                <a:solidFill>
                  <a:srgbClr val="14B8A6"/>
                </a:solidFill>
                <a:latin typeface="Calibri"/>
              </a:rPr>
              <a:t>O4 → RQ4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571999"/>
            <a:ext cx="4663440" cy="11887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350" b="0" i="0">
                <a:solidFill>
                  <a:srgbClr val="1E2A44"/>
                </a:solidFill>
                <a:latin typeface="Calibri"/>
              </a:rPr>
              <a:t>(a) Establish the pipeline runs the selector and all five baselines correctly under identical anti-leakage rules and budgets; (b) commit to a powered comparison once a precision-analysis-set number of forward-regression events is verified — reporting the outcome either 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>
                <a:solidFill>
                  <a:srgbClr val="1E2A44"/>
                </a:solidFill>
                <a:latin typeface="Cambria"/>
              </a:rPr>
              <a:t>What Others Have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1064240" cy="2468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E7C7B"/>
                </a:solidFill>
                <a:latin typeface="Calibri"/>
              </a:rPr>
              <a:t>Classical testing:  </a:t>
            </a:r>
            <a:r>
              <a:rPr sz="1800" b="0" i="0">
                <a:solidFill>
                  <a:srgbClr val="1E2A44"/>
                </a:solidFill>
                <a:latin typeface="Calibri"/>
              </a:rPr>
              <a:t>how to pick and order tests under a time budget — well studied. [3], [4]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E7C7B"/>
                </a:solidFill>
                <a:latin typeface="Calibri"/>
              </a:rPr>
              <a:t>Quantum testing:  </a:t>
            </a:r>
            <a:r>
              <a:rPr sz="1800" b="0" i="0">
                <a:solidFill>
                  <a:srgbClr val="1E2A44"/>
                </a:solidFill>
                <a:latin typeface="Calibri"/>
              </a:rPr>
              <a:t>finding bugs and generating tests for quantum programs. [7], [23], [24]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E7C7B"/>
                </a:solidFill>
                <a:latin typeface="Calibri"/>
              </a:rPr>
              <a:t>Equivalence checking:  </a:t>
            </a:r>
            <a:r>
              <a:rPr sz="1800" b="0" i="0">
                <a:solidFill>
                  <a:srgbClr val="1E2A44"/>
                </a:solidFill>
                <a:latin typeface="Calibri"/>
              </a:rPr>
              <a:t>the standard “is the answer the same?” check — efficient and trusted. [6]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E7C7B"/>
                </a:solidFill>
                <a:latin typeface="Calibri"/>
              </a:rPr>
              <a:t>Internal checks:  </a:t>
            </a:r>
            <a:r>
              <a:rPr sz="1800" b="0" i="0">
                <a:solidFill>
                  <a:srgbClr val="1E2A44"/>
                </a:solidFill>
                <a:latin typeface="Calibri"/>
              </a:rPr>
              <a:t>CertiQ, Giallar, and concolic testing inspect compiler passes and internal state. [26], [27], [42]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B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315968"/>
            <a:ext cx="10515600" cy="10972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400" b="1" i="0">
                <a:solidFill>
                  <a:srgbClr val="14B8A6"/>
                </a:solidFill>
                <a:latin typeface="Calibri"/>
              </a:rPr>
              <a:t>The gap we fill:</a:t>
            </a:r>
          </a:p>
          <a:p>
            <a:pPr>
              <a:spcBef>
                <a:spcPts val="600"/>
              </a:spcBef>
            </a:pPr>
            <a:r>
              <a:rPr sz="13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Others verify passes and inspect internal state (Giallar, CertiQ, concolic) — so internal observability is feasible. [27], [42], [26]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But, to our knowledge, no study turns that into matched regression oracles with budget-aware, leak-free test selection for the transpiler [3], [14].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 dirty="0">
                <a:solidFill>
                  <a:srgbClr val="1E2A44"/>
                </a:solidFill>
                <a:latin typeface="Cambria"/>
              </a:rPr>
              <a:t>How This Work </a:t>
            </a:r>
            <a:r>
              <a:rPr sz="2800" b="1" i="0" dirty="0" smtClean="0">
                <a:solidFill>
                  <a:srgbClr val="1E2A44"/>
                </a:solidFill>
                <a:latin typeface="Cambria"/>
              </a:rPr>
              <a:t>Compares</a:t>
            </a:r>
            <a:endParaRPr sz="2800" b="1" i="0" dirty="0">
              <a:solidFill>
                <a:srgbClr val="1E2A44"/>
              </a:solidFill>
              <a:latin typeface="Cambria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5889502"/>
              </p:ext>
            </p:extLst>
          </p:nvPr>
        </p:nvGraphicFramePr>
        <p:xfrm>
          <a:off x="603504" y="1162763"/>
          <a:ext cx="11375135" cy="5201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214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71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35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0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50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393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78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28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Primary goal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QA oracle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Cost-aware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Selects / orders existing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Leakage-safe temporal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Cohort sep.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8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Classical RTP/TCP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prioritise tests of a program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8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Predictive selection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learned selection at scale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860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rgbClr val="1E2A44"/>
                          </a:solidFill>
                          <a:latin typeface="Calibri"/>
                        </a:rPr>
                        <a:t>MorphQ</a:t>
                      </a:r>
                      <a:r>
                        <a:rPr sz="900" dirty="0">
                          <a:solidFill>
                            <a:srgbClr val="1E2A44"/>
                          </a:solidFill>
                          <a:latin typeface="Calibri"/>
                        </a:rPr>
                        <a:t> / </a:t>
                      </a:r>
                      <a:r>
                        <a:rPr sz="900" dirty="0" err="1">
                          <a:solidFill>
                            <a:srgbClr val="1E2A44"/>
                          </a:solidFill>
                          <a:latin typeface="Calibri"/>
                        </a:rPr>
                        <a:t>MorphQ</a:t>
                      </a:r>
                      <a:r>
                        <a:rPr sz="900" dirty="0">
                          <a:solidFill>
                            <a:srgbClr val="1E2A44"/>
                          </a:solidFill>
                          <a:latin typeface="Calibri"/>
                        </a:rPr>
                        <a:t>++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metamorphic bug finding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8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QuCheck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property-based testing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8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QEMI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EMI stack bug finding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28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QDiff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differential stack bug finding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28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QSPE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skeletal-program differential testing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28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Giallar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formal Qiskit-pass verification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28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Benchpress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SDK compilation benchmarking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28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This work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cost-aware test selection for the transpiler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rgbClr val="1E2A44"/>
                          </a:solidFill>
                          <a:latin typeface="Calibri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PROPOSED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 dirty="0">
                <a:solidFill>
                  <a:srgbClr val="1E2A44"/>
                </a:solidFill>
                <a:latin typeface="Cambria"/>
              </a:rPr>
              <a:t>The cart </a:t>
            </a:r>
            <a:r>
              <a:rPr sz="2800" b="1" i="0" dirty="0" smtClean="0">
                <a:solidFill>
                  <a:srgbClr val="1E2A44"/>
                </a:solidFill>
                <a:latin typeface="Cambria"/>
              </a:rPr>
              <a:t>Pipelin</a:t>
            </a:r>
            <a:r>
              <a:rPr lang="en-US" sz="2800" b="1" dirty="0">
                <a:solidFill>
                  <a:srgbClr val="1E2A44"/>
                </a:solidFill>
                <a:latin typeface="Cambria"/>
              </a:rPr>
              <a:t>e</a:t>
            </a:r>
            <a:endParaRPr sz="2800" b="1" i="0" dirty="0">
              <a:solidFill>
                <a:srgbClr val="1E2A44"/>
              </a:solidFill>
              <a:latin typeface="Cambria"/>
            </a:endParaRP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931" y="1162764"/>
            <a:ext cx="10604326" cy="49986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PROPOSED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 dirty="0">
                <a:solidFill>
                  <a:srgbClr val="1E2A44"/>
                </a:solidFill>
                <a:latin typeface="Cambria"/>
              </a:rPr>
              <a:t>Research </a:t>
            </a:r>
            <a:r>
              <a:rPr sz="2800" b="1" i="0" dirty="0" smtClean="0">
                <a:solidFill>
                  <a:srgbClr val="1E2A44"/>
                </a:solidFill>
                <a:latin typeface="Cambria"/>
              </a:rPr>
              <a:t>Framework</a:t>
            </a:r>
            <a:endParaRPr sz="2800" b="1" i="0" dirty="0">
              <a:solidFill>
                <a:srgbClr val="1E2A44"/>
              </a:solidFill>
              <a:latin typeface="Cambria"/>
            </a:endParaRPr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493" y="1144645"/>
            <a:ext cx="9532307" cy="5388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3757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PROPOSED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>
                <a:solidFill>
                  <a:srgbClr val="1E2A44"/>
                </a:solidFill>
                <a:latin typeface="Cambria"/>
              </a:rPr>
              <a:t>The Test Selector (risk_score)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142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6070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500" b="1" i="0">
                <a:solidFill>
                  <a:srgbClr val="D5E3F7"/>
                </a:solidFill>
                <a:latin typeface="Consolas"/>
              </a:rPr>
              <a:t>risk_score = (ε + change_stage_match) × sensitivity × impact_prior × oracle_confidence ÷ expected_cost × novelty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1064240" cy="2468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 dirty="0">
                <a:solidFill>
                  <a:srgbClr val="14B8A6"/>
                </a:solidFill>
                <a:latin typeface="Calibri"/>
              </a:rPr>
              <a:t>▪  </a:t>
            </a:r>
            <a:r>
              <a:rPr sz="1700" b="1" i="0" dirty="0">
                <a:solidFill>
                  <a:srgbClr val="0E7C7B"/>
                </a:solidFill>
                <a:latin typeface="Calibri"/>
              </a:rPr>
              <a:t>Transparent:  </a:t>
            </a:r>
            <a:r>
              <a:rPr sz="1700" b="0" i="0" dirty="0">
                <a:solidFill>
                  <a:srgbClr val="1E2A44"/>
                </a:solidFill>
                <a:latin typeface="Calibri"/>
              </a:rPr>
              <a:t>hand-set weights, no black-box AI — every choice is explainable.</a:t>
            </a:r>
          </a:p>
          <a:p>
            <a:pPr>
              <a:spcAft>
                <a:spcPts val="1300"/>
              </a:spcAft>
            </a:pPr>
            <a:r>
              <a:rPr sz="1700" b="1" i="0" dirty="0">
                <a:solidFill>
                  <a:srgbClr val="14B8A6"/>
                </a:solidFill>
                <a:latin typeface="Calibri"/>
              </a:rPr>
              <a:t>▪  </a:t>
            </a:r>
            <a:r>
              <a:rPr sz="1700" b="1" i="0" dirty="0">
                <a:solidFill>
                  <a:srgbClr val="0E7C7B"/>
                </a:solidFill>
                <a:latin typeface="Calibri"/>
              </a:rPr>
              <a:t>Leakage-safe:  </a:t>
            </a:r>
            <a:r>
              <a:rPr sz="1700" b="0" i="0" dirty="0">
                <a:solidFill>
                  <a:srgbClr val="1E2A44"/>
                </a:solidFill>
                <a:latin typeface="Calibri"/>
              </a:rPr>
              <a:t>it sees only pre-execution information; it never peeks at the outcome.</a:t>
            </a:r>
          </a:p>
          <a:p>
            <a:pPr>
              <a:spcAft>
                <a:spcPts val="1300"/>
              </a:spcAft>
            </a:pPr>
            <a:r>
              <a:rPr sz="1700" b="1" i="0" dirty="0">
                <a:solidFill>
                  <a:srgbClr val="14B8A6"/>
                </a:solidFill>
                <a:latin typeface="Calibri"/>
              </a:rPr>
              <a:t>▪  </a:t>
            </a:r>
            <a:r>
              <a:rPr sz="1700" b="1" i="0" dirty="0">
                <a:solidFill>
                  <a:srgbClr val="0E7C7B"/>
                </a:solidFill>
                <a:latin typeface="Calibri"/>
              </a:rPr>
              <a:t>Compared:  </a:t>
            </a:r>
            <a:r>
              <a:rPr sz="1700" b="0" i="0" dirty="0">
                <a:solidFill>
                  <a:srgbClr val="1E2A44"/>
                </a:solidFill>
                <a:latin typeface="Calibri"/>
              </a:rPr>
              <a:t>against five simple baselines, including random ordering. [3], [14]</a:t>
            </a:r>
          </a:p>
          <a:p>
            <a:pPr>
              <a:spcAft>
                <a:spcPts val="1300"/>
              </a:spcAft>
            </a:pPr>
            <a:r>
              <a:rPr sz="1700" b="1" i="0" dirty="0">
                <a:solidFill>
                  <a:srgbClr val="14B8A6"/>
                </a:solidFill>
                <a:latin typeface="Calibri"/>
              </a:rPr>
              <a:t>▪  </a:t>
            </a:r>
            <a:r>
              <a:rPr sz="1700" b="1" i="0" dirty="0">
                <a:solidFill>
                  <a:srgbClr val="0E7C7B"/>
                </a:solidFill>
                <a:latin typeface="Calibri"/>
              </a:rPr>
              <a:t>Frozen:  </a:t>
            </a:r>
            <a:r>
              <a:rPr sz="1700" b="0" i="0" dirty="0">
                <a:solidFill>
                  <a:srgbClr val="1E2A44"/>
                </a:solidFill>
                <a:latin typeface="Calibri"/>
              </a:rPr>
              <a:t>all weights are fixed before evaluation and checked by ablation.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INITIAL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b="1" sz="2800">
                <a:solidFill>
                  <a:srgbClr val="1E2A44"/>
                </a:solidFill>
                <a:latin typeface="Cambria"/>
              </a:rPr>
              <a:t>What We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1064240" cy="29260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1600"/>
              </a:spcAft>
            </a:pPr>
            <a:r>
              <a:rPr sz="19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E2A44"/>
                </a:solidFill>
                <a:latin typeface="Calibri"/>
              </a:rPr>
              <a:t>Run on a single ordinary laptop, using circuits of up to eight qubits.</a:t>
            </a:r>
          </a:p>
          <a:p>
            <a:pPr>
              <a:spcAft>
                <a:spcPts val="1600"/>
              </a:spcAft>
            </a:pPr>
            <a:r>
              <a:rPr sz="19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E2A44"/>
                </a:solidFill>
                <a:latin typeface="Calibri"/>
              </a:rPr>
              <a:t>A set of quantum circuits of different types, up to eight qubits.</a:t>
            </a:r>
          </a:p>
          <a:p>
            <a:pPr>
              <a:spcAft>
                <a:spcPts val="1600"/>
              </a:spcAft>
            </a:pPr>
            <a:r>
              <a:rPr sz="19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E2A44"/>
                </a:solidFill>
                <a:latin typeface="Calibri"/>
              </a:rPr>
              <a:t>We ran the whole regression-testing pipeline end to end.</a:t>
            </a:r>
          </a:p>
          <a:p>
            <a:pPr>
              <a:spcAft>
                <a:spcPts val="1600"/>
              </a:spcAft>
            </a:pPr>
            <a:r>
              <a:rPr sz="19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E2A44"/>
                </a:solidFill>
                <a:latin typeface="Calibri"/>
              </a:rPr>
              <a:t>We also reproduced real historical transpiler regressions from Qiskit’s own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INITIAL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 dirty="0">
                <a:solidFill>
                  <a:srgbClr val="1E2A44"/>
                </a:solidFill>
                <a:latin typeface="Cambria"/>
              </a:rPr>
              <a:t>Pipeline Feasibility: Validity </a:t>
            </a:r>
            <a:r>
              <a:rPr sz="2800" b="1" i="0" dirty="0" smtClean="0">
                <a:solidFill>
                  <a:srgbClr val="1E2A44"/>
                </a:solidFill>
                <a:latin typeface="Cambria"/>
              </a:rPr>
              <a:t>Gates</a:t>
            </a:r>
            <a:endParaRPr sz="2800" b="1" i="0" dirty="0">
              <a:solidFill>
                <a:srgbClr val="1E2A44"/>
              </a:solidFill>
              <a:latin typeface="Cambria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733057"/>
              </p:ext>
            </p:extLst>
          </p:nvPr>
        </p:nvGraphicFramePr>
        <p:xfrm>
          <a:off x="603504" y="1554480"/>
          <a:ext cx="10972800" cy="3030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1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86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Implementation-validity gate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86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A44"/>
                          </a:solidFill>
                          <a:latin typeface="Calibri"/>
                        </a:rPr>
                        <a:t>Budget compliance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A44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86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A44"/>
                          </a:solidFill>
                          <a:latin typeface="Calibri"/>
                        </a:rPr>
                        <a:t>Reproducibility (same seed ⇒ same ranking)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A44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864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E2A44"/>
                          </a:solidFill>
                          <a:latin typeface="Calibri"/>
                        </a:rPr>
                        <a:t>Leakage absence (current-event outcome cannot change ranking)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A44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86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A44"/>
                          </a:solidFill>
                          <a:latin typeface="Calibri"/>
                        </a:rPr>
                        <a:t>Label reproducibility from write-once artifacts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A44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86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A44"/>
                          </a:solidFill>
                          <a:latin typeface="Calibri"/>
                        </a:rPr>
                        <a:t>Metric correctness vs hand-computed cases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A44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86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A44"/>
                          </a:solidFill>
                          <a:latin typeface="Calibri"/>
                        </a:rPr>
                        <a:t>Oracle coverage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E2A44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INITIAL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b="1" sz="2800">
                <a:solidFill>
                  <a:srgbClr val="1E2A44"/>
                </a:solidFill>
                <a:latin typeface="Cambria"/>
              </a:rPr>
              <a:t>Historical Transpiler Regressions Attempted</a:t>
            </a:r>
            <a:endParaRPr sz="2800" b="1" i="0" dirty="0">
              <a:solidFill>
                <a:srgbClr val="1E2A44"/>
              </a:solidFill>
              <a:latin typeface="Cambria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8822332"/>
              </p:ext>
            </p:extLst>
          </p:nvPr>
        </p:nvGraphicFramePr>
        <p:xfrm>
          <a:off x="603504" y="1554476"/>
          <a:ext cx="10972800" cy="2729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49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Event (PR)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Fault type </a:t>
                      </a:r>
                      <a:r>
                        <a:rPr lang="en-US" sz="1100" b="1" dirty="0" smtClean="0">
                          <a:solidFill>
                            <a:srgbClr val="FFFFFF"/>
                          </a:solidFill>
                          <a:latin typeface="Calibri"/>
                        </a:rPr>
                        <a:t>-&gt;</a:t>
                      </a:r>
                      <a:r>
                        <a:rPr sz="1100" b="1" dirty="0" smtClean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  <a:endParaRPr sz="11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9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H4 (#14120)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forward_regression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 smtClean="0">
                          <a:solidFill>
                            <a:srgbClr val="1E2A44"/>
                          </a:solidFill>
                          <a:latin typeface="Calibri"/>
                        </a:rPr>
                        <a:t>P</a:t>
                      </a:r>
                      <a:r>
                        <a:rPr sz="1100" dirty="0" smtClean="0">
                          <a:solidFill>
                            <a:srgbClr val="1E2A44"/>
                          </a:solidFill>
                          <a:latin typeface="Calibri"/>
                        </a:rPr>
                        <a:t>erformance</a:t>
                      </a:r>
                      <a:endParaRPr sz="1100" dirty="0">
                        <a:solidFill>
                          <a:srgbClr val="1E2A44"/>
                        </a:solidFill>
                        <a:latin typeface="Calibri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verified (multi-run protocol)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9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H1 (#14603)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fix_boundary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smtClean="0">
                          <a:solidFill>
                            <a:srgbClr val="1E2A44"/>
                          </a:solidFill>
                          <a:latin typeface="Calibri"/>
                        </a:rPr>
                        <a:t>semantic </a:t>
                      </a:r>
                      <a:r>
                        <a:rPr lang="en-US" sz="1100" dirty="0" smtClean="0">
                          <a:solidFill>
                            <a:srgbClr val="1E2A44"/>
                          </a:solidFill>
                          <a:latin typeface="Calibri"/>
                        </a:rPr>
                        <a:t>-&gt;</a:t>
                      </a:r>
                      <a:r>
                        <a:rPr sz="1100" dirty="0" smtClean="0">
                          <a:solidFill>
                            <a:srgbClr val="1E2A44"/>
                          </a:solidFill>
                          <a:latin typeface="Calibri"/>
                        </a:rPr>
                        <a:t>contract/metadata</a:t>
                      </a:r>
                      <a:endParaRPr sz="1100" dirty="0">
                        <a:solidFill>
                          <a:srgbClr val="1E2A44"/>
                        </a:solidFill>
                        <a:latin typeface="Calibri"/>
                      </a:endParaRP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demonstrated gap (output-unobservable)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49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H2 (#14919)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fix_boundary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E2A44"/>
                          </a:solidFill>
                          <a:latin typeface="Calibri"/>
                        </a:rPr>
                        <a:t>semantic </a:t>
                      </a:r>
                      <a:r>
                        <a:rPr lang="en-US" sz="1100" dirty="0" smtClean="0">
                          <a:solidFill>
                            <a:srgbClr val="1E2A44"/>
                          </a:solidFill>
                          <a:latin typeface="+mn-lt"/>
                        </a:rPr>
                        <a:t>-&gt;</a:t>
                      </a:r>
                      <a:r>
                        <a:rPr sz="1100" dirty="0" smtClean="0">
                          <a:solidFill>
                            <a:srgbClr val="1E2A44"/>
                          </a:solidFill>
                          <a:latin typeface="Calibri"/>
                        </a:rPr>
                        <a:t> </a:t>
                      </a:r>
                      <a:r>
                        <a:rPr sz="1100" dirty="0">
                          <a:solidFill>
                            <a:srgbClr val="1E2A44"/>
                          </a:solidFill>
                          <a:latin typeface="Calibri"/>
                        </a:rPr>
                        <a:t>contract/metadata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not run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49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H3 (#14730)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fix_boundary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E2A44"/>
                          </a:solidFill>
                          <a:latin typeface="Calibri"/>
                        </a:rPr>
                        <a:t>quality </a:t>
                      </a:r>
                      <a:r>
                        <a:rPr lang="en-US" sz="1100" dirty="0" smtClean="0">
                          <a:solidFill>
                            <a:srgbClr val="1E2A44"/>
                          </a:solidFill>
                          <a:latin typeface="+mn-lt"/>
                        </a:rPr>
                        <a:t>-&gt;</a:t>
                      </a:r>
                      <a:r>
                        <a:rPr sz="1100" dirty="0" smtClean="0">
                          <a:solidFill>
                            <a:srgbClr val="1E2A44"/>
                          </a:solidFill>
                          <a:latin typeface="Calibri"/>
                        </a:rPr>
                        <a:t> </a:t>
                      </a:r>
                      <a:r>
                        <a:rPr sz="1100" dirty="0">
                          <a:solidFill>
                            <a:srgbClr val="1E2A44"/>
                          </a:solidFill>
                          <a:latin typeface="Calibri"/>
                        </a:rPr>
                        <a:t>determinism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blocked (needs noisy target)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9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H5 (#16285)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fix_boundary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E2A44"/>
                          </a:solidFill>
                          <a:latin typeface="Calibri"/>
                        </a:rPr>
                        <a:t>functional </a:t>
                      </a:r>
                      <a:r>
                        <a:rPr lang="en-US" sz="1100" dirty="0" smtClean="0">
                          <a:solidFill>
                            <a:srgbClr val="1E2A44"/>
                          </a:solidFill>
                          <a:latin typeface="+mn-lt"/>
                        </a:rPr>
                        <a:t>-&gt;</a:t>
                      </a:r>
                      <a:r>
                        <a:rPr sz="1100" dirty="0" smtClean="0">
                          <a:solidFill>
                            <a:srgbClr val="1E2A44"/>
                          </a:solidFill>
                          <a:latin typeface="Calibri"/>
                        </a:rPr>
                        <a:t> </a:t>
                      </a:r>
                      <a:r>
                        <a:rPr sz="1100" dirty="0" err="1">
                          <a:solidFill>
                            <a:srgbClr val="1E2A44"/>
                          </a:solidFill>
                          <a:latin typeface="Calibri"/>
                        </a:rPr>
                        <a:t>compilation_failure</a:t>
                      </a:r>
                      <a:endParaRPr sz="1100" dirty="0">
                        <a:solidFill>
                          <a:srgbClr val="1E2A44"/>
                        </a:solidFill>
                        <a:latin typeface="Calibri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E2A44"/>
                          </a:solidFill>
                          <a:latin typeface="Calibri"/>
                        </a:rPr>
                        <a:t>not run (input-specific crash)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INITIAL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b="1" sz="2800">
                <a:solidFill>
                  <a:srgbClr val="1E2A44"/>
                </a:solidFill>
                <a:latin typeface="Cambria"/>
              </a:rPr>
              <a:t>H4 — A Verified Performance Regression</a:t>
            </a:r>
            <a:endParaRPr sz="2800" b="1" i="0" dirty="0">
              <a:solidFill>
                <a:srgbClr val="1E2A44"/>
              </a:solidFill>
              <a:latin typeface="Cambria"/>
            </a:endParaRPr>
          </a:p>
        </p:txBody>
      </p:sp>
      <p:pic>
        <p:nvPicPr>
          <p:cNvPr id="5" name="Picture 4" descr="fig_h4_slow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7573" y="1536192"/>
            <a:ext cx="7556547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100" b="0" i="1">
                <a:solidFill>
                  <a:srgbClr val="64748C"/>
                </a:solidFill>
                <a:latin typeface="Calibri"/>
              </a:rPr>
              <a:t>H4’s width-extended run (16–27 qubits) is a separate regime from the primary corpus (≤ 8 qubits).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INITIAL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b="1" sz="2800">
                <a:solidFill>
                  <a:srgbClr val="1E2A44"/>
                </a:solidFill>
                <a:latin typeface="Cambria"/>
              </a:rPr>
              <a:t>H1 — The Observability Gap on a Real Regression</a:t>
            </a:r>
            <a:endParaRPr sz="2800" b="1" i="0" dirty="0">
              <a:solidFill>
                <a:srgbClr val="1E2A44"/>
              </a:solidFill>
              <a:latin typeface="Cambria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82946"/>
              </p:ext>
            </p:extLst>
          </p:nvPr>
        </p:nvGraphicFramePr>
        <p:xfrm>
          <a:off x="603504" y="1554480"/>
          <a:ext cx="10972800" cy="1874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48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Oracle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Result on the buggy build</a:t>
                      </a:r>
                    </a:p>
                  </a:txBody>
                  <a:tcPr marL="54864" marR="54864" marT="18288" marB="18288" anchor="ctr">
                    <a:solidFill>
                      <a:srgbClr val="1426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E2A44"/>
                          </a:solidFill>
                          <a:latin typeface="Calibri"/>
                        </a:rPr>
                        <a:t>Black-box output-equivalence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E2A44"/>
                          </a:solidFill>
                          <a:latin typeface="Calibri"/>
                        </a:rPr>
                        <a:t>EQUIVALENT  (fault missed)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E2A44"/>
                          </a:solidFill>
                          <a:latin typeface="Calibri"/>
                        </a:rPr>
                        <a:t>Property / isolated-pass (matched)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 err="1">
                          <a:solidFill>
                            <a:srgbClr val="1E2A44"/>
                          </a:solidFill>
                          <a:latin typeface="Calibri"/>
                        </a:rPr>
                        <a:t>contract_metadata_fail</a:t>
                      </a:r>
                      <a:r>
                        <a:rPr sz="1300" dirty="0">
                          <a:solidFill>
                            <a:srgbClr val="1E2A44"/>
                          </a:solidFill>
                          <a:latin typeface="Calibri"/>
                        </a:rPr>
                        <a:t>  (fault detected)</a:t>
                      </a:r>
                    </a:p>
                  </a:txBody>
                  <a:tcPr marL="54864" marR="54864" marT="18288" marB="18288" anchor="ctr">
                    <a:solidFill>
                      <a:srgbClr val="EF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INITIAL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b="1" sz="2200">
                <a:solidFill>
                  <a:srgbClr val="1E2A44"/>
                </a:solidFill>
                <a:latin typeface="Cambria"/>
              </a:rPr>
              <a:t>Preliminary Oracle-Observability Gap in the 26-Fix Seed</a:t>
            </a:r>
          </a:p>
        </p:txBody>
      </p:sp>
      <p:pic>
        <p:nvPicPr>
          <p:cNvPr id="5" name="Picture 4" descr="fig_pre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4758" y="1536192"/>
            <a:ext cx="7662177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64748C"/>
                </a:solidFill>
                <a:latin typeface="Calibri"/>
              </a:rPr>
              <a:t>“Invisible” = not detected by the semantic (unitary-equivalence), quality, performance, or compilation screen — i.e. contract/metadata, non-determinism, and operationally-relevant global phase. Purposive seed of 26 fixes; full mining is future 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ONE YEAR TO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2800" b="1" i="0">
                <a:solidFill>
                  <a:srgbClr val="1E2A44"/>
                </a:solidFill>
                <a:latin typeface="Cambria"/>
              </a:rPr>
              <a:t>Work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350" b="1" i="0">
                <a:solidFill>
                  <a:srgbClr val="1E2A44"/>
                </a:solidFill>
                <a:latin typeface="Calibr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783080"/>
            <a:ext cx="658368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450" b="0" i="0">
                <a:solidFill>
                  <a:srgbClr val="1E2A44"/>
                </a:solidFill>
                <a:latin typeface="Calibri"/>
              </a:rPr>
              <a:t>Feasibility study (methodology, prototype, initial results)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1892808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Completed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33472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724912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350" b="1" i="0">
                <a:solidFill>
                  <a:srgbClr val="1E2A44"/>
                </a:solidFill>
                <a:latin typeface="Calibri"/>
              </a:rPr>
              <a:t>Phase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724912"/>
            <a:ext cx="658368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450" b="0" i="0">
                <a:solidFill>
                  <a:srgbClr val="1E2A44"/>
                </a:solidFill>
                <a:latin typeface="Calibri"/>
              </a:rPr>
              <a:t>Scale-up: verify ≥ 3 forward regressions; expand mining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20" y="283464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2026 Q3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75304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666744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350" b="1" i="0">
                <a:solidFill>
                  <a:srgbClr val="1E2A44"/>
                </a:solidFill>
                <a:latin typeface="Calibri"/>
              </a:rPr>
              <a:t>Phase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666744"/>
            <a:ext cx="658368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450" b="0" i="0">
                <a:solidFill>
                  <a:srgbClr val="1E2A44"/>
                </a:solidFill>
                <a:latin typeface="Calibri"/>
              </a:rPr>
              <a:t>Comparison: selector vs baselines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46920" y="3776472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2026 Q4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17136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608576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350" b="1" i="0">
                <a:solidFill>
                  <a:srgbClr val="1E2A44"/>
                </a:solidFill>
                <a:latin typeface="Calibri"/>
              </a:rPr>
              <a:t>Phase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608576"/>
            <a:ext cx="658368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450" b="0" i="0">
                <a:solidFill>
                  <a:srgbClr val="1E2A44"/>
                </a:solidFill>
                <a:latin typeface="Calibri"/>
              </a:rPr>
              <a:t>Validation and cross-SDK generalisation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4718304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2027 Q1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58968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1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5550408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350" b="1" i="0">
                <a:solidFill>
                  <a:srgbClr val="1E2A44"/>
                </a:solidFill>
                <a:latin typeface="Calibri"/>
              </a:rPr>
              <a:t>Phase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550408"/>
            <a:ext cx="658368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sz="1450" b="0" i="0">
                <a:solidFill>
                  <a:srgbClr val="1E2A44"/>
                </a:solidFill>
                <a:latin typeface="Calibri"/>
              </a:rPr>
              <a:t>Thesis write-up and defence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5660136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2027 Q2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300" b="1" i="0">
                <a:solidFill>
                  <a:srgbClr val="14B8A6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424160" cy="6400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Where We 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10607040" cy="23774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D5E3F7"/>
                </a:solidFill>
                <a:latin typeface="Calibri"/>
              </a:rPr>
              <a:t>The prototype is feasible and has produced usable evidence on two real historical regression events.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D5E3F7"/>
                </a:solidFill>
                <a:latin typeface="Calibri"/>
              </a:rPr>
              <a:t>One real contract regression (H1) shows the reference screen can miss a fault a matched oracle detects.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D5E3F7"/>
                </a:solidFill>
                <a:latin typeface="Calibri"/>
              </a:rPr>
              <a:t>The 26-fix seed indicates a potentially material gap; full mining and the comparative selector evaluation remain future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500" b="1" i="0">
                <a:solidFill>
                  <a:srgbClr val="14B8A6"/>
                </a:solidFill>
                <a:latin typeface="Calibri"/>
              </a:rPr>
              <a:t>Thank you  —  Questions &amp; discussion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14B8A6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E2A44"/>
                </a:solidFill>
                <a:latin typeface="Cambria"/>
              </a:rPr>
              <a:t>Selected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[1] Paltenghi &amp; Pradel. Bugs in quantum computing platforms: an empirical study. OOPSLA, 2022.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[3] Yoo &amp; Harman. Regression testing minimization, selection and prioritisation: a survey. STVR, 2012.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[4] Machalica et al. Predictive test selection. ICSE-SEIP, 2019.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[5] Paltenghi &amp; Pradel. A survey on testing and analysis of quantum software. arXiv, 2024.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[6] Burgholzer &amp; Wille. Advanced equivalence checking for quantum circuits. IEEE TCAD, 2021.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[7] Paltenghi &amp; Pradel. MorphQ: metamorphic testing of the Qiskit platform. ICSE, 2023.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[8] Javadi-Abhari et al. Quantum computing with Qiskit. arXiv, 2024.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[14] Elsner et al. Readily available information for regression test optimization in CI. ISSTA, 2021.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[22] Pontolillo et al. QuCheck: property-based testing for Qiskit. arXiv, 2025.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[23] Luo et al. QEMI: testing quantum stacks via equivalence modulo inputs. FASE, 2026.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[24] Wang et al. QDiff: differential testing of quantum software stacks. ASE, 2021.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[25] Ye et al. QSPE: enumerating skeletal quantum programs. arXiv, 2026.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[26] Choudhury et al. Concolic testing for quantum compilers. IEEE ICCD, 2025.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[27] Tao et al. Giallar: push-button verification for the Qiskit compiler. PLDI, 2022.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[42] Shi et al. Contract-based verification of a realistic quantum compiler (CertiQ). arXiv, 2019.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[46] Oldfield et al. Faster &amp; better quantum software testing. ACM TOSEM, 2025.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[47] Kang, Lee &amp; Oh. Statistical testing of quantum programs. OOPSLA, 2024.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E2A44"/>
                </a:solidFill>
                <a:latin typeface="Calibri"/>
              </a:rPr>
              <a:t>[48] Lee, Hong &amp; Ryu. Exact inference for quantum circuits. ASE, 2025.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E2A44"/>
                </a:solidFill>
                <a:latin typeface="Calibri"/>
              </a:rPr>
              <a:t>[50] Burgholzer, Raymond &amp; Wille. Verifying results of the IBM Qiskit compilation flow. QCE, 2020.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E2A44"/>
                </a:solidFill>
                <a:latin typeface="Calibri"/>
              </a:rPr>
              <a:t>[51] Ali et al. Input/output coverage criteria for testing quantum programs. ICST, 2021.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E2A44"/>
                </a:solidFill>
                <a:latin typeface="Calibri"/>
              </a:rPr>
              <a:t>[52] Wang et al. QuSBT: search-based testing of quantum programs. ICSE-C, 2022.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E2A44"/>
                </a:solidFill>
                <a:latin typeface="Calibri"/>
              </a:rPr>
              <a:t>[53] Klimis et al. Shaking up quantum simulators with fuzzing and rigour. OOPSLA, 2025.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E2A44"/>
                </a:solidFill>
                <a:latin typeface="Calibri"/>
              </a:rPr>
              <a:t>[54] Mei et al. Equivalence checking via path-sum &amp; weighted model counting. TACAS, 2026.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E2A44"/>
                </a:solidFill>
                <a:latin typeface="Calibri"/>
              </a:rPr>
              <a:t>[55] Ye et al. Is measurement enough? Rethinking output validation in quantum program testing. ASE (NIER),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64748C"/>
                </a:solidFill>
                <a:latin typeface="Calibri"/>
              </a:rPr>
              <a:t>Numbering follows the proposal's reference list.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BACKUP — 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22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2600" b="1" i="0">
                <a:solidFill>
                  <a:srgbClr val="1E2A44"/>
                </a:solidFill>
                <a:latin typeface="Cambria"/>
              </a:rPr>
              <a:t>Classical Foundation vs. Quantum-Specific Need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0876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931920"/>
                <a:gridCol w="49377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marL="54864" marR="54864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Classical testing</a:t>
                      </a:r>
                    </a:p>
                  </a:txBody>
                  <a:tcPr marL="54864" marR="54864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Quantum transpiler</a:t>
                      </a:r>
                    </a:p>
                  </a:txBody>
                  <a:tcPr marL="54864" marR="54864" anchor="ctr">
                    <a:solidFill>
                      <a:srgbClr val="14264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A44"/>
                          </a:solidFill>
                          <a:latin typeface="Calibri"/>
                        </a:rPr>
                        <a:t>Observed result</a:t>
                      </a:r>
                    </a:p>
                  </a:txBody>
                  <a:tcPr marL="54864" marR="54864" anchor="ctr"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Deterministic, directly inspectable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Probabilistic samples; internal state not directly observable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A44"/>
                          </a:solidFill>
                          <a:latin typeface="Calibri"/>
                        </a:rPr>
                        <a:t>Correctness</a:t>
                      </a:r>
                    </a:p>
                  </a:txBody>
                  <a:tcPr marL="54864" marR="54864" anchor="ctr"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Equality / observational equivalence</a:t>
                      </a:r>
                    </a:p>
                  </a:txBody>
                  <a:tcPr marL="54864" marR="5486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Up to global phase &amp; qubit/layout permutation</a:t>
                      </a:r>
                    </a:p>
                  </a:txBody>
                  <a:tcPr marL="54864" marR="54864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A44"/>
                          </a:solidFill>
                          <a:latin typeface="Calibri"/>
                        </a:rPr>
                        <a:t>Fault model</a:t>
                      </a:r>
                    </a:p>
                  </a:txBody>
                  <a:tcPr marL="54864" marR="54864" anchor="ctr"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Crashes, wrong values, performance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+ phase, entanglement, mapping/routing, backend/noise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A44"/>
                          </a:solidFill>
                          <a:latin typeface="Calibri"/>
                        </a:rPr>
                        <a:t>Execution cost</a:t>
                      </a:r>
                    </a:p>
                  </a:txBody>
                  <a:tcPr marL="54864" marR="54864" anchor="ctr"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Repeatable CPU time; one run</a:t>
                      </a:r>
                    </a:p>
                  </a:txBody>
                  <a:tcPr marL="54864" marR="5486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Repeated shots; simulation growth; oracle cost</a:t>
                      </a:r>
                    </a:p>
                  </a:txBody>
                  <a:tcPr marL="54864" marR="54864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A44"/>
                          </a:solidFill>
                          <a:latin typeface="Calibri"/>
                        </a:rPr>
                        <a:t>Regression oracle</a:t>
                      </a:r>
                    </a:p>
                  </a:txBody>
                  <a:tcPr marL="54864" marR="54864" anchor="ctr"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Expected output, assertions, logs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Output equivalence alone misses metadata/layout/quality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A44"/>
                          </a:solidFill>
                          <a:latin typeface="Calibri"/>
                        </a:rPr>
                        <a:t>Foundation</a:t>
                      </a:r>
                    </a:p>
                  </a:txBody>
                  <a:tcPr marL="54864" marR="54864" anchor="ctr"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Selection, prioritisation, cost, APFD/APFDc</a:t>
                      </a:r>
                    </a:p>
                  </a:txBody>
                  <a:tcPr marL="54864" marR="5486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E2A44"/>
                          </a:solidFill>
                          <a:latin typeface="Calibri"/>
                        </a:rPr>
                        <a:t>Retained — but features, costs, oracles redefined</a:t>
                      </a:r>
                    </a:p>
                  </a:txBody>
                  <a:tcPr marL="54864" marR="54864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150" b="1" i="1">
                <a:solidFill>
                  <a:srgbClr val="0E7C7B"/>
                </a:solidFill>
                <a:latin typeface="Calibri"/>
              </a:rPr>
              <a:t>Classical principles are the foundation; they do not transfer unchanged — this work is a quantum-specific adaptation and empirical validation, not the invention of regression testing.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BACKUP — 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22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2600" b="1" i="0">
                <a:solidFill>
                  <a:srgbClr val="1E2A44"/>
                </a:solidFill>
                <a:latin typeface="Cambria"/>
              </a:rPr>
              <a:t>Evidence: Why Quantum Differs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2062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E2A44"/>
                </a:solidFill>
                <a:latin typeface="Calibri"/>
              </a:rPr>
              <a:t>39.9% of real quantum-platform bugs are quantum-specific  </a:t>
            </a:r>
            <a:r>
              <a:rPr sz="1700" b="0" i="0">
                <a:solidFill>
                  <a:srgbClr val="1E2A44"/>
                </a:solidFill>
                <a:latin typeface="Calibri"/>
              </a:rPr>
              <a:t>— concentrated in compile/optimise components — a classical fault model is incomplete [1].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E2A44"/>
                </a:solidFill>
                <a:latin typeface="Calibri"/>
              </a:rPr>
              <a:t>Quantum outputs are exponentially large distributions  </a:t>
            </a:r>
            <a:r>
              <a:rPr sz="1700" b="0" i="0">
                <a:solidFill>
                  <a:srgbClr val="1E2A44"/>
                </a:solidFill>
                <a:latin typeface="Calibri"/>
              </a:rPr>
              <a:t>— conventional distribution testing can miss phase-flip faults [46].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E2A44"/>
                </a:solidFill>
                <a:latin typeface="Calibri"/>
              </a:rPr>
              <a:t>State equivalence can’t be read from one observation  </a:t>
            </a:r>
            <a:r>
              <a:rPr sz="1700" b="0" i="0">
                <a:solidFill>
                  <a:srgbClr val="1E2A44"/>
                </a:solidFill>
                <a:latin typeface="Calibri"/>
              </a:rPr>
              <a:t>— assurance needs repeated measurement; specialised oracles expose non-crash bugs [47], [48].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E2A44"/>
                </a:solidFill>
                <a:latin typeface="Calibri"/>
              </a:rPr>
              <a:t>Equivalence checking had to be redesigned  </a:t>
            </a:r>
            <a:r>
              <a:rPr sz="1700" b="0" i="0">
                <a:solidFill>
                  <a:srgbClr val="1E2A44"/>
                </a:solidFill>
                <a:latin typeface="Calibri"/>
              </a:rPr>
              <a:t>— for reversibility, superposition, entanglement — not reused from classical [6].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E2A44"/>
                </a:solidFill>
                <a:latin typeface="Calibri"/>
              </a:rPr>
              <a:t>Compiler-pass reasoning must encode quantum semantics  </a:t>
            </a:r>
            <a:r>
              <a:rPr sz="1700" b="0" i="0">
                <a:solidFill>
                  <a:srgbClr val="1E2A44"/>
                </a:solidFill>
                <a:latin typeface="Calibri"/>
              </a:rPr>
              <a:t>— formal verification confirms this is necessary and feasible [27].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0" i="1">
                <a:solidFill>
                  <a:srgbClr val="64748C"/>
                </a:solidFill>
                <a:latin typeface="Calibri"/>
              </a:rPr>
              <a:t>Central claim: classical machinery does not directly solve quantum-transpiler regression testing — its observability, oracle, equivalence and cost models do not hold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BACKUP — 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22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2600" b="1" i="0">
                <a:solidFill>
                  <a:srgbClr val="1E2A44"/>
                </a:solidFill>
                <a:latin typeface="Cambria"/>
              </a:rPr>
              <a:t>How Do We Evaluate Something Novel?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5029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350" b="0" i="1">
                <a:solidFill>
                  <a:srgbClr val="1E2A44"/>
                </a:solidFill>
                <a:latin typeface="Calibri"/>
              </a:rPr>
              <a:t>The method is new — the evaluation apparatus is entirely standard. We do not compare against a non-existent rival; we do what every regression-testing study does: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1064240" cy="3749039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1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0E7C7B"/>
                </a:solidFill>
                <a:latin typeface="Calibri"/>
              </a:rPr>
              <a:t>Established baselines:  </a:t>
            </a:r>
            <a:r>
              <a:rPr sz="1600" b="0" i="0">
                <a:solidFill>
                  <a:srgbClr val="1E2A44"/>
                </a:solidFill>
                <a:latin typeface="Calibri"/>
              </a:rPr>
              <a:t>the selector is compared against random ordering plus cost-, history-, coverage/diversity- and change-based heuristics — the field-standard set [3], [10], [14].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0E7C7B"/>
                </a:solidFill>
                <a:latin typeface="Calibri"/>
              </a:rPr>
              <a:t>Standard metrics:  </a:t>
            </a:r>
            <a:r>
              <a:rPr sz="1600" b="0" i="0">
                <a:solidFill>
                  <a:srgbClr val="1E2A44"/>
                </a:solidFill>
                <a:latin typeface="Calibri"/>
              </a:rPr>
              <a:t>APFD and cost-cognizant APFDc, recall@budget, detection-vs-budget AUC, oracle false-positive rate, inter-rater κ — all from the literature [10], [12], [40], [41].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0E7C7B"/>
                </a:solidFill>
                <a:latin typeface="Calibri"/>
              </a:rPr>
              <a:t>Real ground truth:  </a:t>
            </a:r>
            <a:r>
              <a:rPr sz="1600" b="0" i="0">
                <a:solidFill>
                  <a:srgbClr val="1E2A44"/>
                </a:solidFill>
                <a:latin typeface="Calibri"/>
              </a:rPr>
              <a:t>evaluation on real, historical Qiskit regressions where the correct answer is known — e.g., a bug the output oracle passed but the matched oracle caught.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0E7C7B"/>
                </a:solidFill>
                <a:latin typeface="Calibri"/>
              </a:rPr>
              <a:t>Ablation:  </a:t>
            </a:r>
            <a:r>
              <a:rPr sz="1600" b="0" i="0">
                <a:solidFill>
                  <a:srgbClr val="1E2A44"/>
                </a:solidFill>
                <a:latin typeface="Calibri"/>
              </a:rPr>
              <a:t>quantum-specific components are switched off one at a time to show which actually carry the effect — the method is compared against reduced versions of itself.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0E7C7B"/>
                </a:solidFill>
                <a:latin typeface="Calibri"/>
              </a:rPr>
              <a:t>Self-audit:  </a:t>
            </a:r>
            <a:r>
              <a:rPr sz="1600" b="0" i="0">
                <a:solidFill>
                  <a:srgbClr val="1E2A44"/>
                </a:solidFill>
                <a:latin typeface="Calibri"/>
              </a:rPr>
              <a:t>six leakage-safe validity gates make every result reproducible and trustworthy, independent of any competitor.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Calibri"/>
              </a:rPr>
              <a:t>▪  </a:t>
            </a:r>
            <a:r>
              <a:rPr sz="1600" b="1">
                <a:solidFill>
                  <a:srgbClr val="0E7C7B"/>
                </a:solidFill>
                <a:latin typeface="Calibri"/>
              </a:rPr>
              <a:t>Unit of analysis:  </a:t>
            </a:r>
            <a:r>
              <a:rPr sz="1600">
                <a:solidFill>
                  <a:srgbClr val="1E2A44"/>
                </a:solidFill>
                <a:latin typeface="Calibri"/>
              </a:rPr>
              <a:t>the regression event is the independent unit; test–oracle pairs are nested observations, not independent replications.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1064240" cy="457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0" i="1">
                <a:solidFill>
                  <a:srgbClr val="64748C"/>
                </a:solidFill>
                <a:latin typeface="Calibri"/>
              </a:rPr>
              <a:t>In one line: what is new is the method; the yardstick — baselines, metrics, and real bugs — is standard and cited.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BACKUP — 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22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2600" b="1" i="0">
                <a:solidFill>
                  <a:srgbClr val="1E2A44"/>
                </a:solidFill>
                <a:latin typeface="Cambria"/>
              </a:rPr>
              <a:t>Where the Tested Regressions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064240" cy="5029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350" b="0" i="1">
                <a:solidFill>
                  <a:srgbClr val="1E2A44"/>
                </a:solidFill>
                <a:latin typeface="Calibri"/>
              </a:rPr>
              <a:t>The events (e.g., H1 = PR #14603, H4 = PR #14120) are not “just GitHub” — for an open-source SDK the repository IS the authoritative primary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1064240" cy="3749039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1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0E7C7B"/>
                </a:solidFill>
                <a:latin typeface="Calibri"/>
              </a:rPr>
              <a:t>Canonical primary source:  </a:t>
            </a:r>
            <a:r>
              <a:rPr sz="1600" b="0" i="0">
                <a:solidFill>
                  <a:srgbClr val="1E2A44"/>
                </a:solidFill>
                <a:latin typeface="Calibri"/>
              </a:rPr>
              <a:t>merged pull requests, their linked issues, and release notes are the official record of what changed and why — permanent and citable.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0E7C7B"/>
                </a:solidFill>
                <a:latin typeface="Calibri"/>
              </a:rPr>
              <a:t>Standard methodology:  </a:t>
            </a:r>
            <a:r>
              <a:rPr sz="1600" b="0" i="0">
                <a:solidFill>
                  <a:srgbClr val="1E2A44"/>
                </a:solidFill>
                <a:latin typeface="Calibri"/>
              </a:rPr>
              <a:t>mining merged bug-fix commits is established empirical-software-engineering practice [49] (the SZZ / Mining-Software-Repositories line).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0E7C7B"/>
                </a:solidFill>
                <a:latin typeface="Calibri"/>
              </a:rPr>
              <a:t>Same source as accepted benchmarks:  </a:t>
            </a:r>
            <a:r>
              <a:rPr sz="1600" b="0" i="0">
                <a:solidFill>
                  <a:srgbClr val="1E2A44"/>
                </a:solidFill>
                <a:latin typeface="Calibri"/>
              </a:rPr>
              <a:t>Bugs4Q curates real Qiskit bugs from this history [29]; Paltenghi &amp; Pradel mined 223 real platform bugs the same way [1].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0E7C7B"/>
                </a:solidFill>
                <a:latin typeface="Calibri"/>
              </a:rPr>
              <a:t>Full traceability:  </a:t>
            </a:r>
            <a:r>
              <a:rPr sz="1600" b="0" i="0">
                <a:solidFill>
                  <a:srgbClr val="1E2A44"/>
                </a:solidFill>
                <a:latin typeface="Calibri"/>
              </a:rPr>
              <a:t>each event → inducing/fixing PR + issue thread + release note; all IDs, revisions and build scripts released for reproduction.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0E7C7B"/>
                </a:solidFill>
                <a:latin typeface="Calibri"/>
              </a:rPr>
              <a:t>Why not RFCs:  </a:t>
            </a:r>
            <a:r>
              <a:rPr sz="1600" b="0" i="0">
                <a:solidFill>
                  <a:srgbClr val="1E2A44"/>
                </a:solidFill>
                <a:latin typeface="Calibri"/>
              </a:rPr>
              <a:t>Qiskit RFCs cover major design changes, not routine bug fixes — those live in the PR + release-note record, which is the correct provenance.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1064240" cy="457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0" i="1">
                <a:solidFill>
                  <a:srgbClr val="64748C"/>
                </a:solidFill>
                <a:latin typeface="Calibri"/>
              </a:rPr>
              <a:t>Every tested regression is traceable to a permanent, verifiable record — more so than most secondary sources.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BACKUP — 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22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2600" b="1" i="0">
                <a:solidFill>
                  <a:srgbClr val="1E2A44"/>
                </a:solidFill>
                <a:latin typeface="Cambria"/>
              </a:rPr>
              <a:t>Do We Run Quantum Simulations? (No Hardware)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064240" cy="5029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350" b="0" i="1">
                <a:solidFill>
                  <a:srgbClr val="1E2A44"/>
                </a:solidFill>
                <a:latin typeface="Calibri"/>
              </a:rPr>
              <a:t>Yes — classical simulation only, on the CPU. A simulator is classical software that computes what a quantum device would do; it never needs a quantum device.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1064240" cy="3749039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155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550" b="1" i="0">
                <a:solidFill>
                  <a:srgbClr val="0E7C7B"/>
                </a:solidFill>
                <a:latin typeface="Calibri"/>
              </a:rPr>
              <a:t>What we test is classical:  </a:t>
            </a:r>
            <a:r>
              <a:rPr sz="1550" b="0" i="0">
                <a:solidFill>
                  <a:srgbClr val="1E2A44"/>
                </a:solidFill>
                <a:latin typeface="Calibri"/>
              </a:rPr>
              <a:t>the transpiler is compiler software; checking its output is a classical computation, not a physics experiment.</a:t>
            </a:r>
          </a:p>
          <a:p>
            <a:pPr>
              <a:spcAft>
                <a:spcPts val="1000"/>
              </a:spcAft>
            </a:pPr>
            <a:r>
              <a:rPr sz="155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550" b="1" i="0">
                <a:solidFill>
                  <a:srgbClr val="0E7C7B"/>
                </a:solidFill>
                <a:latin typeface="Calibri"/>
              </a:rPr>
              <a:t>How the check runs:  </a:t>
            </a:r>
            <a:r>
              <a:rPr sz="1550" b="0" i="0">
                <a:solidFill>
                  <a:srgbClr val="1E2A44"/>
                </a:solidFill>
                <a:latin typeface="Calibri"/>
              </a:rPr>
              <a:t>for small circuits (≤ 12 qubits) we compute the exact unitary with linear algebra (Qiskit’s classical simulator) and compare up to global phase [6].</a:t>
            </a:r>
          </a:p>
          <a:p>
            <a:pPr>
              <a:spcAft>
                <a:spcPts val="1000"/>
              </a:spcAft>
            </a:pPr>
            <a:r>
              <a:rPr sz="155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550" b="1" i="0">
                <a:solidFill>
                  <a:srgbClr val="0E7C7B"/>
                </a:solidFill>
                <a:latin typeface="Calibri"/>
              </a:rPr>
              <a:t>It runs on a laptop:  </a:t>
            </a:r>
            <a:r>
              <a:rPr sz="1550" b="0" i="0">
                <a:solidFill>
                  <a:srgbClr val="1E2A44"/>
                </a:solidFill>
                <a:latin typeface="Calibri"/>
              </a:rPr>
              <a:t>the corpus uses up to 8 qubits, so every semantic check simulates in milliseconds on a 32 GB CPU — no device, no queue, no noise.</a:t>
            </a:r>
          </a:p>
          <a:p>
            <a:pPr>
              <a:spcAft>
                <a:spcPts val="1000"/>
              </a:spcAft>
            </a:pPr>
            <a:r>
              <a:rPr sz="155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550" b="1" i="0">
                <a:solidFill>
                  <a:srgbClr val="0E7C7B"/>
                </a:solidFill>
                <a:latin typeface="Calibri"/>
              </a:rPr>
              <a:t>Where simulation would blow up:  </a:t>
            </a:r>
            <a:r>
              <a:rPr sz="1550" b="0" i="0">
                <a:solidFill>
                  <a:srgbClr val="1E2A44"/>
                </a:solidFill>
                <a:latin typeface="Calibri"/>
              </a:rPr>
              <a:t>above the cap we do NOT simulate — structural checks (basis + coupling-map) take over, and even the 27-qubit performance test only times the compiler, not the circuit's output.</a:t>
            </a:r>
          </a:p>
          <a:p>
            <a:pPr>
              <a:spcAft>
                <a:spcPts val="1000"/>
              </a:spcAft>
            </a:pPr>
            <a:r>
              <a:rPr sz="1550" b="1" i="0">
                <a:solidFill>
                  <a:srgbClr val="14B8A6"/>
                </a:solidFill>
                <a:latin typeface="Calibri"/>
              </a:rPr>
              <a:t>▪  </a:t>
            </a:r>
            <a:r>
              <a:rPr sz="1550" b="1" i="0">
                <a:solidFill>
                  <a:srgbClr val="0E7C7B"/>
                </a:solidFill>
                <a:latin typeface="Calibri"/>
              </a:rPr>
              <a:t>No hardware on the critical path:  </a:t>
            </a:r>
            <a:r>
              <a:rPr sz="1550" b="0" i="0">
                <a:solidFill>
                  <a:srgbClr val="1E2A44"/>
                </a:solidFill>
                <a:latin typeface="Calibri"/>
              </a:rPr>
              <a:t>our research validates the compiler transformation, not physical execution — it stops one step before hardware is needed. Physical-noise fidelity is a separate, downstream question, out of scope.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1064240" cy="457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0" i="1">
                <a:solidFill>
                  <a:srgbClr val="64748C"/>
                </a:solidFill>
                <a:latin typeface="Calibri"/>
              </a:rPr>
              <a:t>Simulator ≠ hardware: it runs on an ordinary CPU. Exact simulation is exponential, so the design caps it and falls back — that is why no quantum device is needed.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BACKUP — 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22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2500" b="1" i="0">
                <a:solidFill>
                  <a:srgbClr val="1E2A44"/>
                </a:solidFill>
                <a:latin typeface="Cambria"/>
              </a:rPr>
              <a:t>Precedent: Testing Quantum Compilers Without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44752"/>
            <a:ext cx="11064240" cy="457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0" i="1">
                <a:solidFill>
                  <a:srgbClr val="1E2A44"/>
                </a:solidFill>
                <a:latin typeface="Calibri"/>
              </a:rPr>
              <a:t>Top-venue studies evaluate quantum compilers and quantum-software testing in classical software or simulation — none required a QPU.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1064240" cy="457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00" b="0" i="1">
                <a:solidFill>
                  <a:srgbClr val="64748C"/>
                </a:solidFill>
                <a:latin typeface="Calibri"/>
              </a:rPr>
              <a:t>Our study is in exactly this established, hardware-free mode — evaluating the compiler transformation, not physical execution.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26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3504" y="1847088"/>
          <a:ext cx="10378440" cy="3675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508760"/>
                <a:gridCol w="960120"/>
                <a:gridCol w="4892040"/>
                <a:gridCol w="777240"/>
              </a:tblGrid>
              <a:tr h="30632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54864" marR="45720" marT="9144" marB="9144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Venue (year)</a:t>
                      </a:r>
                    </a:p>
                  </a:txBody>
                  <a:tcPr marL="54864" marR="45720" marT="9144" marB="9144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54864" marR="45720" marT="9144" marB="9144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Ran on</a:t>
                      </a:r>
                    </a:p>
                  </a:txBody>
                  <a:tcPr marL="54864" marR="45720" marT="9144" marB="9144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QPU?</a:t>
                      </a:r>
                    </a:p>
                  </a:txBody>
                  <a:tcPr marL="54864" marR="45720" marT="9144" marB="9144" anchor="ctr">
                    <a:solidFill>
                      <a:srgbClr val="14264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Giallar [27]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PLDI 2022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64F"/>
                          </a:solidFill>
                          <a:latin typeface="Calibri"/>
                        </a:rPr>
                        <a:t>A*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symbolic pass verification (classical)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7C7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VOQC [44]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POPL 2021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64F"/>
                          </a:solidFill>
                          <a:latin typeface="Calibri"/>
                        </a:rPr>
                        <a:t>A*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Coq proofs over circuit semantics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7C7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Burgholzer et al. [50]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IEEE QCE 2020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64F"/>
                          </a:solidFill>
                          <a:latin typeface="Calibri"/>
                        </a:rPr>
                        <a:t>Nat.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equivalence checking of Qiskit compilation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7C7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MorphQ [7]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ICSE 2023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64F"/>
                          </a:solidFill>
                          <a:latin typeface="Calibri"/>
                        </a:rPr>
                        <a:t>A*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Qiskit simulator (8,000+ program pairs)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7C7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Muskit [30]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ASE 2021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64F"/>
                          </a:solidFill>
                          <a:latin typeface="Calibri"/>
                        </a:rPr>
                        <a:t>A*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Qiskit software (mutation analysis)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7C7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Bugs4Q [29]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ASE 2021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64F"/>
                          </a:solidFill>
                          <a:latin typeface="Calibri"/>
                        </a:rPr>
                        <a:t>A*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Qiskit buggy/fixed revisions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7C7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QMutPy [31]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IEEE TQE 2022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64F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Qiskit software (24 programs)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7C7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Coverage criteria [51]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ICST 2021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64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simulator + statistical oracles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7C7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QuSBT [52]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ICSE-C 2022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64F"/>
                          </a:solidFill>
                          <a:latin typeface="Calibri"/>
                        </a:rPr>
                        <a:t>A*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Qiskit as the simulation framework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7C7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Simulator fuzzing [53]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OOPSLA 2025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64F"/>
                          </a:solidFill>
                          <a:latin typeface="Calibri"/>
                        </a:rPr>
                        <a:t>A*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Qiskit/Cirq simulators (800,000+ circuits)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7C7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45720" marT="9144" marB="9144" anchor="ctr">
                    <a:solidFill>
                      <a:srgbClr val="F2F5F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Exact inference [48]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ASE 2025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264F"/>
                          </a:solidFill>
                          <a:latin typeface="Calibri"/>
                        </a:rPr>
                        <a:t>A*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E2A44"/>
                          </a:solidFill>
                          <a:latin typeface="Calibri"/>
                        </a:rPr>
                        <a:t>classical exact inference oracle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7C7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7424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i="1">
                <a:solidFill>
                  <a:srgbClr val="64748C"/>
                </a:solidFill>
                <a:latin typeface="Calibri"/>
              </a:rPr>
              <a:t>Tier — conferences: CORE 2023 (A* = top tier, A = strong); journals: Scimago quartile (Q1 = top 25%). IEEE QCE is a specialised quantum venue (CORE national tier).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1" i="0">
                <a:solidFill>
                  <a:srgbClr val="14B8A6"/>
                </a:solidFill>
                <a:latin typeface="Calibri"/>
              </a:rPr>
              <a:t>BACKUP — 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1155680" cy="822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2600" b="1" i="0">
                <a:solidFill>
                  <a:srgbClr val="1E2A44"/>
                </a:solidFill>
                <a:latin typeface="Cambria"/>
              </a:rPr>
              <a:t>Which Oracle Detects Which Fault?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44752"/>
            <a:ext cx="11064240" cy="457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250" b="0" i="1">
                <a:solidFill>
                  <a:srgbClr val="1E2A44"/>
                </a:solidFill>
                <a:latin typeface="Calibri"/>
              </a:rPr>
              <a:t>No single oracle covers all channels — each fault channel needs its matched oracle. “Output oracle” is not one thing.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" y="2011680"/>
          <a:ext cx="1042416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17320"/>
                <a:gridCol w="1371600"/>
                <a:gridCol w="1234440"/>
                <a:gridCol w="1371600"/>
                <a:gridCol w="1234440"/>
                <a:gridCol w="13258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Manifestation</a:t>
                      </a:r>
                    </a:p>
                  </a:txBody>
                  <a:tcPr marL="45720" marR="36576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Unitary equiv.</a:t>
                      </a:r>
                    </a:p>
                  </a:txBody>
                  <a:tcPr marL="45720" marR="36576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Compilation</a:t>
                      </a:r>
                    </a:p>
                  </a:txBody>
                  <a:tcPr marL="45720" marR="36576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Quality</a:t>
                      </a:r>
                    </a:p>
                  </a:txBody>
                  <a:tcPr marL="45720" marR="36576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Performance</a:t>
                      </a:r>
                    </a:p>
                  </a:txBody>
                  <a:tcPr marL="45720" marR="36576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marL="45720" marR="36576" anchor="ctr">
                    <a:solidFill>
                      <a:srgbClr val="1426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Determinism</a:t>
                      </a:r>
                    </a:p>
                  </a:txBody>
                  <a:tcPr marL="45720" marR="36576" anchor="ctr">
                    <a:solidFill>
                      <a:srgbClr val="14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A44"/>
                          </a:solidFill>
                          <a:latin typeface="Calibri"/>
                        </a:rPr>
                        <a:t>Semantic difference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7C7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Sometimes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A44"/>
                          </a:solidFill>
                          <a:latin typeface="Calibri"/>
                        </a:rPr>
                        <a:t>Compilation failure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7C7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A44"/>
                          </a:solidFill>
                          <a:latin typeface="Calibri"/>
                        </a:rPr>
                        <a:t>Circuit-quality regression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7C7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A44"/>
                          </a:solidFill>
                          <a:latin typeface="Calibri"/>
                        </a:rPr>
                        <a:t>Performance regression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7C7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A44"/>
                          </a:solidFill>
                          <a:latin typeface="Calibri"/>
                        </a:rPr>
                        <a:t>Contract/metadata corruption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7C7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Sometimes</a:t>
                      </a:r>
                    </a:p>
                  </a:txBody>
                  <a:tcPr marL="45720" marR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A44"/>
                          </a:solidFill>
                          <a:latin typeface="Calibri"/>
                        </a:rPr>
                        <a:t>Non-determinism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Not in 1 run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Sometimes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Sometimes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E2A44"/>
                          </a:solidFill>
                          <a:latin typeface="Calibri"/>
                        </a:rPr>
                        <a:t>Sometimes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7C7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36576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80760"/>
            <a:ext cx="11064240" cy="457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1150" i="1">
                <a:solidFill>
                  <a:srgbClr val="64748C"/>
                </a:solidFill>
                <a:latin typeface="Calibri"/>
              </a:rPr>
              <a:t>Contract and determinism channels are not covered by the reference black-box regression screen; the framework operationalises matched checks for them — and we demonstrate that a matched contract oracle can close the gap for H1.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r"/>
            <a:r>
              <a:rPr sz="850" b="1" i="0">
                <a:solidFill>
                  <a:srgbClr val="64748C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9692640" cy="2743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r>
              <a:rPr sz="850" b="0" i="0">
                <a:solidFill>
                  <a:srgbClr val="64748C"/>
                </a:solidFill>
                <a:latin typeface="Calibri"/>
              </a:rPr>
              <a:t>PhD Synopsis  ·  A Leakage-Safe Framework for Observability-Aware Regression Testing of Quantum Compilers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1686</Words>
  <Application>Microsoft Office PowerPoint</Application>
  <PresentationFormat>Widescreen</PresentationFormat>
  <Paragraphs>299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Furqan Nasir</dc:creator>
  <cp:keywords/>
  <dc:description>generated using python-pptx</dc:description>
  <cp:lastModifiedBy>Furqan Nasir</cp:lastModifiedBy>
  <cp:revision>21</cp:revision>
  <dcterms:created xsi:type="dcterms:W3CDTF">2013-01-27T09:14:16Z</dcterms:created>
  <dcterms:modified xsi:type="dcterms:W3CDTF">2026-07-10T07:34:22Z</dcterms:modified>
  <cp:category/>
</cp:coreProperties>
</file>