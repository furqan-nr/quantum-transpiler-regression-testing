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87" r:id="rId6"/>
    <p:sldId id="260" r:id="rId7"/>
    <p:sldId id="261" r:id="rId8"/>
    <p:sldId id="284" r:id="rId9"/>
    <p:sldId id="262" r:id="rId10"/>
    <p:sldId id="263" r:id="rId11"/>
    <p:sldId id="265" r:id="rId12"/>
    <p:sldId id="283" r:id="rId13"/>
    <p:sldId id="267" r:id="rId14"/>
    <p:sldId id="268" r:id="rId15"/>
    <p:sldId id="270" r:id="rId16"/>
    <p:sldId id="271" r:id="rId17"/>
    <p:sldId id="272" r:id="rId18"/>
    <p:sldId id="273" r:id="rId19"/>
    <p:sldId id="274" r:id="rId20"/>
    <p:sldId id="275" r:id="rId21"/>
    <p:sldId id="276" r:id="rId22"/>
    <p:sldId id="266" r:id="rId23"/>
    <p:sldId id="269" r:id="rId24"/>
    <p:sldId id="285" r:id="rId25"/>
    <p:sldId id="277" r:id="rId26"/>
    <p:sldId id="278" r:id="rId27"/>
    <p:sldId id="279" r:id="rId28"/>
    <p:sldId id="280" r:id="rId29"/>
    <p:sldId id="281" r:id="rId30"/>
    <p:sldId id="282"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010" autoAdjust="0"/>
  </p:normalViewPr>
  <p:slideViewPr>
    <p:cSldViewPr snapToGrid="0" snapToObjects="1">
      <p:cViewPr varScale="1">
        <p:scale>
          <a:sx n="63" d="100"/>
          <a:sy n="63" d="100"/>
        </p:scale>
        <p:origin x="14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6471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First question, </a:t>
            </a:r>
            <a:r>
              <a:rPr lang="en-US" dirty="0" err="1" smtClean="0"/>
              <a:t>quauntum</a:t>
            </a:r>
            <a:r>
              <a:rPr lang="en-US" dirty="0" smtClean="0"/>
              <a:t> hardware is not available</a:t>
            </a:r>
            <a:br>
              <a:rPr lang="en-US" dirty="0" smtClean="0"/>
            </a:br>
            <a:r>
              <a:rPr lang="en-US" dirty="0" smtClean="0"/>
              <a:t/>
            </a:r>
            <a:br>
              <a:rPr lang="en-US" dirty="0" smtClean="0"/>
            </a:br>
            <a:r>
              <a:rPr lang="en-US" dirty="0" smtClean="0"/>
              <a:t>what</a:t>
            </a:r>
            <a:r>
              <a:rPr lang="en-US" baseline="0" dirty="0" smtClean="0"/>
              <a:t> is meant by quantum compilers? If you make it ready for compiler then how does you know that this is the bug or not.</a:t>
            </a:r>
            <a:br>
              <a:rPr lang="en-US" baseline="0" dirty="0" smtClean="0"/>
            </a:br>
            <a:r>
              <a:rPr lang="en-US" baseline="0" dirty="0" smtClean="0"/>
              <a:t/>
            </a:r>
            <a:br>
              <a:rPr lang="en-US" baseline="0" dirty="0" smtClean="0"/>
            </a:br>
            <a:r>
              <a:rPr lang="en-US" baseline="0" dirty="0" smtClean="0"/>
              <a:t>Forward pass backward pass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talk follows the proposal chapters in order. No findings are shown until the initial-results section.</a:t>
            </a:r>
          </a:p>
          <a:p>
            <a:endParaRPr/>
          </a:p>
          <a:p>
            <a:r>
              <a:t>Key terms:</a:t>
            </a:r>
          </a:p>
          <a:p>
            <a:r>
              <a:t>• Methodology — the planned, step-by-step way of carrying out the research</a:t>
            </a:r>
          </a:p>
          <a:p>
            <a:r>
              <a:t>• Initial results — the study's initial findings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Give reference of last sentence there is no reliable</a:t>
            </a:r>
            <a:r>
              <a:rPr lang="en-US" baseline="0" dirty="0" smtClean="0"/>
              <a:t> and affordable way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research questions, worded as in the proposal. RQ1 and RQ2 concern the observability gap — how often regressions evade the reference screen, and whether a matched oracle catches one from source. RQ3 is the pipeline's operational soundness. RQ4 is the transparent selector versus baselines.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prior work sits: classical test selection and prioritisation, quantum testing (MorphQ, QDiff), equivalence checking, and internal-state verification (CertiQ, Giallar, concolic). The gap we fill is combining matched internal-observability oracles with budgeted, leakage-safe selection — which no prior work does.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Table 2.1 compares this work with the closest prior threads across the properties that matter. Only this work has all of them together: a quantum-aware oracle, internal-state observability, cost-awareness, selection of existing tests, leakage-safe evaluation, and cohort separation.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cart pipeline in five stages over a shared reproducibility substrate — manifest and instrument, change-events and cohorts, tiered oracles producing write-once labels, selection against baselines under a budget, and metrics and validity gates. Every result flows through the same audited substrate.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transparent selector is a hand-set, explainable scoring rule — no black-box AI. It uses only pre-execution information, is compared against five baselines including random, and its weights are frozen before evaluation and checked by ablation and a global sensitivity analysis.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evaluation runs on a single ordinary laptop, on circuits of up to eight qubits, across several circuit types, end to end, and reproduces real historical transpiler regressions from Qiskit's own development history.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real historical transpiler regressions attempted from source. Two produced positive findings. The others are reported honestly as blocked or not run on commodity hardware.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H4 — a real update made compilation dramatically slower at larger width. Because the slowdown only appears at width, it was measured on a separate 16–27-qubit regime by timing the compiler, which needs no simulation and no hardware.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H1 — the same real regression shown to two oracles: the reference screen reports EQUIVALENT and misses it, while the matched contract oracle detects the corrupted layout metadata. This is the observability gap, demonstrated on a real regression.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You</a:t>
            </a:r>
            <a:r>
              <a:rPr lang="en-US" baseline="0" dirty="0" smtClean="0"/>
              <a:t> are working on which one. Circuit quality is already done so why you are working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one-year work plan. Phase 1 is complete. The remaining phases scale up, run the powered comparison, validate and extend to other tools, and finish with write-up and defence.</a:t>
            </a:r>
          </a:p>
          <a:p>
            <a:endParaRPr/>
          </a:p>
          <a:p>
            <a:r>
              <a:t>Key terms:</a:t>
            </a:r>
          </a:p>
          <a:p>
            <a:r>
              <a:t>• Powered comparison — a study with enough samples to draw statistically reliable conclusions</a:t>
            </a:r>
          </a:p>
          <a:p>
            <a:r>
              <a:t>• Cross-SDK generalisation — extending the approach to other quantum toolkits beyond Qiskit</a:t>
            </a:r>
          </a:p>
          <a:p>
            <a:r>
              <a:t>• Mining — collecting real bug-fixes from project history to expand the dataset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3.2 — the whole research on one page. One problem splits into two goals: EFFECTIVENESS (observability-aware fault detection, RQ1 prevalence, RQ2 gap real and closable) and COST (budgeted, cost-aware selection. RQ4 selector vs baselines). Both rest on a FOUNDATION of leakage-safe validity (RQ3): cohort separation, provenance, and six validity gates. Every metric is taken from the regression-testing literature (APFD, APFDc, false-positive rate, inter-rater kappa) — none is invented. Honest scope: the study demonstrates the effectiveness side. The cost-effectiveness comparison is the scale-up phase.</a:t>
            </a:r>
          </a:p>
          <a:p>
            <a:endParaRPr/>
          </a:p>
          <a:p>
            <a:r>
              <a:t>Key terms:</a:t>
            </a:r>
          </a:p>
          <a:p>
            <a:r>
              <a:t>• Effectiveness — does it catch the regressions, including the output-invisible ones.</a:t>
            </a:r>
          </a:p>
          <a:p>
            <a:r>
              <a:t>• Cost — does it catch them within a test budget (APFD/APFDc).</a:t>
            </a:r>
          </a:p>
          <a:p>
            <a:r>
              <a:t>• Leakage-safe validity — the evaluation never uses answer or future information. Results are trustworthy.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All is pass but how</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895" y="0"/>
            <a:ext cx="12191695" cy="6858000"/>
          </a:xfrm>
          <a:prstGeom prst="rect">
            <a:avLst/>
          </a:prstGeom>
          <a:solidFill>
            <a:srgbClr val="14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 name="Rounded Rectangle 3"/>
          <p:cNvSpPr/>
          <p:nvPr/>
        </p:nvSpPr>
        <p:spPr>
          <a:xfrm>
            <a:off x="747065" y="1143000"/>
            <a:ext cx="502920" cy="100584"/>
          </a:xfrm>
          <a:prstGeom prst="round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 name="TextBox 4"/>
          <p:cNvSpPr txBox="1"/>
          <p:nvPr/>
        </p:nvSpPr>
        <p:spPr>
          <a:xfrm>
            <a:off x="747065" y="1325880"/>
            <a:ext cx="10332720" cy="344710"/>
          </a:xfrm>
          <a:prstGeom prst="rect">
            <a:avLst/>
          </a:prstGeom>
          <a:noFill/>
        </p:spPr>
        <p:txBody>
          <a:bodyPr wrap="square" lIns="36576" tIns="18288" rIns="36576" bIns="18288">
            <a:spAutoFit/>
          </a:bodyPr>
          <a:lstStyle/>
          <a:p>
            <a:r>
              <a:rPr sz="2000" b="1" i="0" dirty="0">
                <a:solidFill>
                  <a:srgbClr val="14B8A6"/>
                </a:solidFill>
                <a:latin typeface="Calibri"/>
              </a:rPr>
              <a:t>PhD SYNOPSIS  ·  BOARD OF ADVANCED STUDIES &amp; RESEARCH (BASR)</a:t>
            </a:r>
          </a:p>
        </p:txBody>
      </p:sp>
      <p:sp>
        <p:nvSpPr>
          <p:cNvPr id="6" name="TextBox 5"/>
          <p:cNvSpPr txBox="1"/>
          <p:nvPr/>
        </p:nvSpPr>
        <p:spPr>
          <a:xfrm>
            <a:off x="747065" y="1828800"/>
            <a:ext cx="10607040" cy="1883593"/>
          </a:xfrm>
          <a:prstGeom prst="rect">
            <a:avLst/>
          </a:prstGeom>
          <a:noFill/>
        </p:spPr>
        <p:txBody>
          <a:bodyPr wrap="square" lIns="36576" tIns="18288" rIns="36576" bIns="18288">
            <a:spAutoFit/>
          </a:bodyPr>
          <a:lstStyle/>
          <a:p>
            <a:r>
              <a:rPr sz="4000" b="1" i="0">
                <a:solidFill>
                  <a:srgbClr val="FFFFFF"/>
                </a:solidFill>
                <a:latin typeface="Cambria"/>
              </a:rPr>
              <a:t>A Leakage-Safe Framework for Observability-Aware Regression Testing of Quantum Compilers</a:t>
            </a:r>
          </a:p>
        </p:txBody>
      </p:sp>
      <p:sp>
        <p:nvSpPr>
          <p:cNvPr id="7" name="TextBox 6"/>
          <p:cNvSpPr txBox="1"/>
          <p:nvPr/>
        </p:nvSpPr>
        <p:spPr>
          <a:xfrm>
            <a:off x="747065" y="3920320"/>
            <a:ext cx="10332720" cy="406265"/>
          </a:xfrm>
          <a:prstGeom prst="rect">
            <a:avLst/>
          </a:prstGeom>
          <a:noFill/>
        </p:spPr>
        <p:txBody>
          <a:bodyPr wrap="square" lIns="36576" tIns="18288" rIns="36576" bIns="18288">
            <a:spAutoFit/>
          </a:bodyPr>
          <a:lstStyle/>
          <a:p>
            <a:r>
              <a:rPr sz="2400" b="0" i="1" dirty="0">
                <a:solidFill>
                  <a:srgbClr val="D5E3F7"/>
                </a:solidFill>
                <a:latin typeface="Calibri"/>
              </a:rPr>
              <a:t>Catching the </a:t>
            </a:r>
            <a:r>
              <a:rPr sz="2400" b="0" i="1" dirty="0" err="1">
                <a:solidFill>
                  <a:srgbClr val="D5E3F7"/>
                </a:solidFill>
                <a:latin typeface="Calibri"/>
              </a:rPr>
              <a:t>transpiler</a:t>
            </a:r>
            <a:r>
              <a:rPr sz="2400" b="0" i="1" dirty="0">
                <a:solidFill>
                  <a:srgbClr val="D5E3F7"/>
                </a:solidFill>
                <a:latin typeface="Calibri"/>
              </a:rPr>
              <a:t> regressions the standard output check cannot observe</a:t>
            </a:r>
          </a:p>
        </p:txBody>
      </p:sp>
      <p:sp>
        <p:nvSpPr>
          <p:cNvPr id="8" name="TextBox 7"/>
          <p:cNvSpPr txBox="1"/>
          <p:nvPr/>
        </p:nvSpPr>
        <p:spPr>
          <a:xfrm>
            <a:off x="747065" y="4526280"/>
            <a:ext cx="10424160" cy="1529650"/>
          </a:xfrm>
          <a:prstGeom prst="rect">
            <a:avLst/>
          </a:prstGeom>
          <a:noFill/>
        </p:spPr>
        <p:txBody>
          <a:bodyPr wrap="square" lIns="36576" tIns="18288" rIns="36576" bIns="18288">
            <a:spAutoFit/>
          </a:bodyPr>
          <a:lstStyle/>
          <a:p>
            <a:r>
              <a:rPr sz="3200" b="1" i="0">
                <a:solidFill>
                  <a:srgbClr val="FFFFFF"/>
                </a:solidFill>
                <a:latin typeface="Calibri"/>
              </a:rPr>
              <a:t>Furqan Nasir</a:t>
            </a:r>
          </a:p>
          <a:p>
            <a:pPr>
              <a:spcBef>
                <a:spcPts val="200"/>
              </a:spcBef>
            </a:pPr>
            <a:r>
              <a:rPr sz="2000" b="0" i="0">
                <a:solidFill>
                  <a:srgbClr val="D5E3F7"/>
                </a:solidFill>
                <a:latin typeface="Calibri"/>
              </a:rPr>
              <a:t>PhD in Computer Science</a:t>
            </a:r>
          </a:p>
          <a:p>
            <a:pPr>
              <a:spcBef>
                <a:spcPts val="200"/>
              </a:spcBef>
            </a:pPr>
            <a:r>
              <a:rPr sz="2000" b="0" i="0">
                <a:solidFill>
                  <a:srgbClr val="9FB2D6"/>
                </a:solidFill>
                <a:latin typeface="Calibri"/>
              </a:rPr>
              <a:t>City University of Science &amp; IT, Peshawar</a:t>
            </a:r>
          </a:p>
          <a:p>
            <a:pPr>
              <a:spcBef>
                <a:spcPts val="200"/>
              </a:spcBef>
            </a:pPr>
            <a:r>
              <a:rPr sz="2000" b="1" i="0">
                <a:solidFill>
                  <a:srgbClr val="14B8A6"/>
                </a:solidFill>
                <a:latin typeface="Calibri"/>
              </a:rPr>
              <a:t>July 2026</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 name="TextBox 2"/>
          <p:cNvSpPr txBox="1"/>
          <p:nvPr/>
        </p:nvSpPr>
        <p:spPr>
          <a:xfrm>
            <a:off x="640080" y="384048"/>
            <a:ext cx="10972800" cy="344710"/>
          </a:xfrm>
          <a:prstGeom prst="rect">
            <a:avLst/>
          </a:prstGeom>
          <a:noFill/>
        </p:spPr>
        <p:txBody>
          <a:bodyPr wrap="square" lIns="36576" tIns="18288" rIns="36576" bIns="18288">
            <a:spAutoFit/>
          </a:bodyPr>
          <a:lstStyle/>
          <a:p>
            <a:r>
              <a:rPr sz="2000" b="1" i="0">
                <a:solidFill>
                  <a:srgbClr val="14B8A6"/>
                </a:solidFill>
                <a:latin typeface="Calibri"/>
              </a:rPr>
              <a:t>FOLLOWING THE PROPOSAL CHAPTERS</a:t>
            </a:r>
          </a:p>
        </p:txBody>
      </p:sp>
      <p:sp>
        <p:nvSpPr>
          <p:cNvPr id="4" name="TextBox 3"/>
          <p:cNvSpPr txBox="1"/>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rPr>
              <a:t>Outline</a:t>
            </a:r>
          </a:p>
        </p:txBody>
      </p:sp>
      <p:sp>
        <p:nvSpPr>
          <p:cNvPr id="5" name="Rounded Rectangle 4"/>
          <p:cNvSpPr/>
          <p:nvPr/>
        </p:nvSpPr>
        <p:spPr>
          <a:xfrm>
            <a:off x="640080" y="1691640"/>
            <a:ext cx="5193792" cy="1207008"/>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Rounded Rectangle 5"/>
          <p:cNvSpPr/>
          <p:nvPr/>
        </p:nvSpPr>
        <p:spPr>
          <a:xfrm>
            <a:off x="896112" y="2020824"/>
            <a:ext cx="566928" cy="566928"/>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200" b="1">
                <a:solidFill>
                  <a:srgbClr val="FFFFFF"/>
                </a:solidFill>
                <a:latin typeface="Calibri"/>
              </a:rPr>
              <a:t>1</a:t>
            </a:r>
          </a:p>
        </p:txBody>
      </p:sp>
      <p:sp>
        <p:nvSpPr>
          <p:cNvPr id="7" name="TextBox 6"/>
          <p:cNvSpPr txBox="1"/>
          <p:nvPr/>
        </p:nvSpPr>
        <p:spPr>
          <a:xfrm>
            <a:off x="1691639" y="2143531"/>
            <a:ext cx="4023360" cy="467820"/>
          </a:xfrm>
          <a:prstGeom prst="rect">
            <a:avLst/>
          </a:prstGeom>
          <a:noFill/>
        </p:spPr>
        <p:txBody>
          <a:bodyPr wrap="square" lIns="36576" tIns="18288" rIns="36576" bIns="18288" anchor="ctr">
            <a:spAutoFit/>
          </a:bodyPr>
          <a:lstStyle/>
          <a:p>
            <a:r>
              <a:rPr sz="2800" b="1" i="0" dirty="0">
                <a:solidFill>
                  <a:srgbClr val="1E2A44"/>
                </a:solidFill>
                <a:latin typeface="Calibri"/>
              </a:rPr>
              <a:t>Introduction</a:t>
            </a:r>
          </a:p>
        </p:txBody>
      </p:sp>
      <p:sp>
        <p:nvSpPr>
          <p:cNvPr id="8" name="Rounded Rectangle 7"/>
          <p:cNvSpPr/>
          <p:nvPr/>
        </p:nvSpPr>
        <p:spPr>
          <a:xfrm>
            <a:off x="6355080" y="1691640"/>
            <a:ext cx="5193792" cy="1207008"/>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Rounded Rectangle 8"/>
          <p:cNvSpPr/>
          <p:nvPr/>
        </p:nvSpPr>
        <p:spPr>
          <a:xfrm>
            <a:off x="6611112" y="2020824"/>
            <a:ext cx="566928" cy="566928"/>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200" b="1">
                <a:solidFill>
                  <a:srgbClr val="FFFFFF"/>
                </a:solidFill>
                <a:latin typeface="Calibri"/>
              </a:rPr>
              <a:t>2</a:t>
            </a:r>
          </a:p>
        </p:txBody>
      </p:sp>
      <p:sp>
        <p:nvSpPr>
          <p:cNvPr id="10" name="TextBox 9"/>
          <p:cNvSpPr txBox="1"/>
          <p:nvPr/>
        </p:nvSpPr>
        <p:spPr>
          <a:xfrm>
            <a:off x="7406640" y="2143531"/>
            <a:ext cx="4023360" cy="467820"/>
          </a:xfrm>
          <a:prstGeom prst="rect">
            <a:avLst/>
          </a:prstGeom>
          <a:noFill/>
        </p:spPr>
        <p:txBody>
          <a:bodyPr wrap="square" lIns="36576" tIns="18288" rIns="36576" bIns="18288" anchor="ctr">
            <a:spAutoFit/>
          </a:bodyPr>
          <a:lstStyle/>
          <a:p>
            <a:r>
              <a:rPr sz="2800" b="1" i="0">
                <a:solidFill>
                  <a:srgbClr val="1E2A44"/>
                </a:solidFill>
                <a:latin typeface="Calibri"/>
              </a:rPr>
              <a:t>Literature Review</a:t>
            </a:r>
          </a:p>
        </p:txBody>
      </p:sp>
      <p:sp>
        <p:nvSpPr>
          <p:cNvPr id="11" name="Rounded Rectangle 10"/>
          <p:cNvSpPr/>
          <p:nvPr/>
        </p:nvSpPr>
        <p:spPr>
          <a:xfrm>
            <a:off x="640080" y="3099816"/>
            <a:ext cx="5193792" cy="1207008"/>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Rounded Rectangle 11"/>
          <p:cNvSpPr/>
          <p:nvPr/>
        </p:nvSpPr>
        <p:spPr>
          <a:xfrm>
            <a:off x="896112" y="3429000"/>
            <a:ext cx="566928" cy="566928"/>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200" b="1">
                <a:solidFill>
                  <a:srgbClr val="FFFFFF"/>
                </a:solidFill>
                <a:latin typeface="Calibri"/>
              </a:rPr>
              <a:t>3</a:t>
            </a:r>
          </a:p>
        </p:txBody>
      </p:sp>
      <p:sp>
        <p:nvSpPr>
          <p:cNvPr id="13" name="TextBox 12"/>
          <p:cNvSpPr txBox="1"/>
          <p:nvPr/>
        </p:nvSpPr>
        <p:spPr>
          <a:xfrm>
            <a:off x="1691639" y="3551707"/>
            <a:ext cx="4023360" cy="467820"/>
          </a:xfrm>
          <a:prstGeom prst="rect">
            <a:avLst/>
          </a:prstGeom>
          <a:noFill/>
        </p:spPr>
        <p:txBody>
          <a:bodyPr wrap="square" lIns="36576" tIns="18288" rIns="36576" bIns="18288" anchor="ctr">
            <a:spAutoFit/>
          </a:bodyPr>
          <a:lstStyle/>
          <a:p>
            <a:r>
              <a:rPr sz="2800" b="1" i="0">
                <a:solidFill>
                  <a:srgbClr val="1E2A44"/>
                </a:solidFill>
                <a:latin typeface="Calibri"/>
              </a:rPr>
              <a:t>Proposed Methodology</a:t>
            </a:r>
          </a:p>
        </p:txBody>
      </p:sp>
      <p:sp>
        <p:nvSpPr>
          <p:cNvPr id="14" name="Rounded Rectangle 13"/>
          <p:cNvSpPr/>
          <p:nvPr/>
        </p:nvSpPr>
        <p:spPr>
          <a:xfrm>
            <a:off x="6355080" y="3099816"/>
            <a:ext cx="5193792" cy="1207008"/>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Rounded Rectangle 14"/>
          <p:cNvSpPr/>
          <p:nvPr/>
        </p:nvSpPr>
        <p:spPr>
          <a:xfrm>
            <a:off x="6611112" y="3429000"/>
            <a:ext cx="566928" cy="566928"/>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200" b="1">
                <a:solidFill>
                  <a:srgbClr val="FFFFFF"/>
                </a:solidFill>
                <a:latin typeface="Calibri"/>
              </a:rPr>
              <a:t>4</a:t>
            </a:r>
          </a:p>
        </p:txBody>
      </p:sp>
      <p:sp>
        <p:nvSpPr>
          <p:cNvPr id="16" name="TextBox 15"/>
          <p:cNvSpPr txBox="1"/>
          <p:nvPr/>
        </p:nvSpPr>
        <p:spPr>
          <a:xfrm>
            <a:off x="7406640" y="3551707"/>
            <a:ext cx="4023360" cy="467820"/>
          </a:xfrm>
          <a:prstGeom prst="rect">
            <a:avLst/>
          </a:prstGeom>
          <a:noFill/>
        </p:spPr>
        <p:txBody>
          <a:bodyPr wrap="square" lIns="36576" tIns="18288" rIns="36576" bIns="18288" anchor="ctr">
            <a:spAutoFit/>
          </a:bodyPr>
          <a:lstStyle/>
          <a:p>
            <a:r>
              <a:rPr sz="2800" b="1" i="0">
                <a:solidFill>
                  <a:srgbClr val="1E2A44"/>
                </a:solidFill>
                <a:latin typeface="Calibri"/>
              </a:rPr>
              <a:t>Initial Results</a:t>
            </a:r>
          </a:p>
        </p:txBody>
      </p:sp>
      <p:sp>
        <p:nvSpPr>
          <p:cNvPr id="17" name="Rounded Rectangle 16"/>
          <p:cNvSpPr/>
          <p:nvPr/>
        </p:nvSpPr>
        <p:spPr>
          <a:xfrm>
            <a:off x="640080" y="4507992"/>
            <a:ext cx="5193792" cy="1207008"/>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8" name="Rounded Rectangle 17"/>
          <p:cNvSpPr/>
          <p:nvPr/>
        </p:nvSpPr>
        <p:spPr>
          <a:xfrm>
            <a:off x="896112" y="4837176"/>
            <a:ext cx="566928" cy="566928"/>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200" b="1">
                <a:solidFill>
                  <a:srgbClr val="FFFFFF"/>
                </a:solidFill>
                <a:latin typeface="Calibri"/>
              </a:rPr>
              <a:t>5</a:t>
            </a:r>
          </a:p>
        </p:txBody>
      </p:sp>
      <p:sp>
        <p:nvSpPr>
          <p:cNvPr id="19" name="TextBox 18"/>
          <p:cNvSpPr txBox="1"/>
          <p:nvPr/>
        </p:nvSpPr>
        <p:spPr>
          <a:xfrm>
            <a:off x="1691639" y="4959883"/>
            <a:ext cx="4023360" cy="467820"/>
          </a:xfrm>
          <a:prstGeom prst="rect">
            <a:avLst/>
          </a:prstGeom>
          <a:noFill/>
        </p:spPr>
        <p:txBody>
          <a:bodyPr wrap="square" lIns="36576" tIns="18288" rIns="36576" bIns="18288" anchor="ctr">
            <a:spAutoFit/>
          </a:bodyPr>
          <a:lstStyle/>
          <a:p>
            <a:r>
              <a:rPr sz="2800" b="1" i="0">
                <a:solidFill>
                  <a:srgbClr val="1E2A44"/>
                </a:solidFill>
                <a:latin typeface="Calibri"/>
              </a:rPr>
              <a:t>Work Plan</a:t>
            </a:r>
          </a:p>
        </p:txBody>
      </p:sp>
      <p:sp>
        <p:nvSpPr>
          <p:cNvPr id="20" name="Rounded Rectangle 19"/>
          <p:cNvSpPr/>
          <p:nvPr/>
        </p:nvSpPr>
        <p:spPr>
          <a:xfrm>
            <a:off x="6355080" y="4507992"/>
            <a:ext cx="5193792" cy="1207008"/>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Rounded Rectangle 20"/>
          <p:cNvSpPr/>
          <p:nvPr/>
        </p:nvSpPr>
        <p:spPr>
          <a:xfrm>
            <a:off x="6611112" y="4837176"/>
            <a:ext cx="566928" cy="566928"/>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200" b="1">
                <a:solidFill>
                  <a:srgbClr val="FFFFFF"/>
                </a:solidFill>
                <a:latin typeface="Calibri"/>
              </a:rPr>
              <a:t>6</a:t>
            </a:r>
          </a:p>
        </p:txBody>
      </p:sp>
      <p:sp>
        <p:nvSpPr>
          <p:cNvPr id="22" name="TextBox 21"/>
          <p:cNvSpPr txBox="1"/>
          <p:nvPr/>
        </p:nvSpPr>
        <p:spPr>
          <a:xfrm>
            <a:off x="7406640" y="4959883"/>
            <a:ext cx="4023360" cy="467820"/>
          </a:xfrm>
          <a:prstGeom prst="rect">
            <a:avLst/>
          </a:prstGeom>
          <a:noFill/>
        </p:spPr>
        <p:txBody>
          <a:bodyPr wrap="square" lIns="36576" tIns="18288" rIns="36576" bIns="18288" anchor="ctr">
            <a:spAutoFit/>
          </a:bodyPr>
          <a:lstStyle/>
          <a:p>
            <a:r>
              <a:rPr sz="2800" b="1" i="0">
                <a:solidFill>
                  <a:srgbClr val="1E2A44"/>
                </a:solidFill>
                <a:latin typeface="Calibri"/>
              </a:rPr>
              <a:t>Summary &amp; Q&amp;A</a:t>
            </a:r>
          </a:p>
        </p:txBody>
      </p:sp>
      <p:sp>
        <p:nvSpPr>
          <p:cNvPr id="23" name="TextBox 22"/>
          <p:cNvSpPr txBox="1"/>
          <p:nvPr/>
        </p:nvSpPr>
        <p:spPr>
          <a:xfrm>
            <a:off x="640080" y="6473952"/>
            <a:ext cx="9692640" cy="206210"/>
          </a:xfrm>
          <a:prstGeom prst="rect">
            <a:avLst/>
          </a:prstGeom>
          <a:noFill/>
        </p:spPr>
        <p:txBody>
          <a:bodyPr wrap="square" lIns="36576" tIns="18288" rIns="36576" bIns="18288">
            <a:spAutoFit/>
          </a:bodyPr>
          <a:lstStyle/>
          <a:p>
            <a:r>
              <a:rPr sz="1100" b="0" i="0" dirty="0">
                <a:solidFill>
                  <a:srgbClr val="64748C"/>
                </a:solidFill>
                <a:latin typeface="Calibri"/>
              </a:rPr>
              <a:t>PhD Synopsis  ·  A Leakage-Safe Framework for Observability-Aware Regression Testing of Quantum Compilers</a:t>
            </a:r>
          </a:p>
        </p:txBody>
      </p:sp>
      <p:sp>
        <p:nvSpPr>
          <p:cNvPr id="24" name="TextBox 23"/>
          <p:cNvSpPr txBox="1"/>
          <p:nvPr/>
        </p:nvSpPr>
        <p:spPr>
          <a:xfrm>
            <a:off x="11155680" y="6473952"/>
            <a:ext cx="822960" cy="206210"/>
          </a:xfrm>
          <a:prstGeom prst="rect">
            <a:avLst/>
          </a:prstGeom>
          <a:noFill/>
        </p:spPr>
        <p:txBody>
          <a:bodyPr wrap="square" lIns="36576" tIns="18288" rIns="36576" bIns="18288">
            <a:spAutoFit/>
          </a:bodyPr>
          <a:lstStyle/>
          <a:p>
            <a:pPr algn="r"/>
            <a:r>
              <a:rPr sz="1100" b="1" i="0">
                <a:solidFill>
                  <a:srgbClr val="64748C"/>
                </a:solidFill>
                <a:latin typeface="Calibri"/>
              </a:rPr>
              <a:t>2</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INTRODUCTION</a:t>
            </a:r>
          </a:p>
        </p:txBody>
      </p:sp>
      <p:sp>
        <p:nvSpPr>
          <p:cNvPr id="4" name="TextBox 3"/>
          <p:cNvSpPr txBox="1"/>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rPr>
              <a:t>What This Research Is About</a:t>
            </a:r>
          </a:p>
        </p:txBody>
      </p:sp>
      <p:sp>
        <p:nvSpPr>
          <p:cNvPr id="5" name="TextBox 4"/>
          <p:cNvSpPr txBox="1"/>
          <p:nvPr/>
        </p:nvSpPr>
        <p:spPr>
          <a:xfrm>
            <a:off x="640080" y="1737360"/>
            <a:ext cx="11064240" cy="3237809"/>
          </a:xfrm>
          <a:prstGeom prst="rect">
            <a:avLst/>
          </a:prstGeom>
          <a:noFill/>
        </p:spPr>
        <p:txBody>
          <a:bodyPr wrap="square" lIns="36576" tIns="18288" rIns="36576" bIns="18288">
            <a:spAutoFit/>
          </a:bodyPr>
          <a:lstStyle/>
          <a:p>
            <a:pPr>
              <a:spcAft>
                <a:spcPts val="1600"/>
              </a:spcAft>
            </a:pPr>
            <a:r>
              <a:rPr sz="2400" b="1" i="0" dirty="0">
                <a:solidFill>
                  <a:srgbClr val="14B8A6"/>
                </a:solidFill>
                <a:latin typeface="Calibri"/>
              </a:rPr>
              <a:t>▪  </a:t>
            </a:r>
            <a:r>
              <a:rPr sz="2400" b="0" i="0" dirty="0">
                <a:solidFill>
                  <a:srgbClr val="1E2A44"/>
                </a:solidFill>
                <a:latin typeface="Calibri"/>
              </a:rPr>
              <a:t>A quantum program must be rewritten to run on real hardware. In </a:t>
            </a:r>
            <a:r>
              <a:rPr sz="2400" b="0" i="0" dirty="0" err="1">
                <a:solidFill>
                  <a:srgbClr val="1E2A44"/>
                </a:solidFill>
                <a:latin typeface="Calibri"/>
              </a:rPr>
              <a:t>Qiskit</a:t>
            </a:r>
            <a:r>
              <a:rPr sz="2400" b="0" i="0" dirty="0">
                <a:solidFill>
                  <a:srgbClr val="1E2A44"/>
                </a:solidFill>
                <a:latin typeface="Calibri"/>
              </a:rPr>
              <a:t>, the “</a:t>
            </a:r>
            <a:r>
              <a:rPr sz="2400" b="0" i="0" dirty="0" err="1">
                <a:solidFill>
                  <a:srgbClr val="1E2A44"/>
                </a:solidFill>
                <a:latin typeface="Calibri"/>
              </a:rPr>
              <a:t>transpiler</a:t>
            </a:r>
            <a:r>
              <a:rPr sz="2400" b="0" i="0" dirty="0">
                <a:solidFill>
                  <a:srgbClr val="1E2A44"/>
                </a:solidFill>
                <a:latin typeface="Calibri"/>
              </a:rPr>
              <a:t>” does this rewriting. [8]</a:t>
            </a:r>
          </a:p>
          <a:p>
            <a:pPr>
              <a:spcAft>
                <a:spcPts val="1600"/>
              </a:spcAft>
            </a:pPr>
            <a:r>
              <a:rPr sz="2400" b="1" i="0" dirty="0">
                <a:solidFill>
                  <a:srgbClr val="14B8A6"/>
                </a:solidFill>
                <a:latin typeface="Calibri"/>
              </a:rPr>
              <a:t>▪  </a:t>
            </a:r>
            <a:r>
              <a:rPr sz="2400" b="0" i="0" dirty="0">
                <a:solidFill>
                  <a:srgbClr val="1E2A44"/>
                </a:solidFill>
                <a:latin typeface="Calibri"/>
              </a:rPr>
              <a:t>The </a:t>
            </a:r>
            <a:r>
              <a:rPr sz="2400" b="0" i="0" dirty="0" err="1">
                <a:solidFill>
                  <a:srgbClr val="1E2A44"/>
                </a:solidFill>
                <a:latin typeface="Calibri"/>
              </a:rPr>
              <a:t>transpiler</a:t>
            </a:r>
            <a:r>
              <a:rPr sz="2400" b="0" i="0" dirty="0">
                <a:solidFill>
                  <a:srgbClr val="1E2A44"/>
                </a:solidFill>
                <a:latin typeface="Calibri"/>
              </a:rPr>
              <a:t> is updated very often, and any update can accidentally introduce a regression (a bug caused by a change). [1]</a:t>
            </a:r>
          </a:p>
          <a:p>
            <a:pPr>
              <a:spcAft>
                <a:spcPts val="1600"/>
              </a:spcAft>
            </a:pPr>
            <a:r>
              <a:rPr sz="2400" b="1" i="0" dirty="0">
                <a:solidFill>
                  <a:srgbClr val="14B8A6"/>
                </a:solidFill>
                <a:latin typeface="Calibri"/>
              </a:rPr>
              <a:t>▪  </a:t>
            </a:r>
            <a:r>
              <a:rPr sz="2400" b="0" i="0" dirty="0">
                <a:solidFill>
                  <a:srgbClr val="1E2A44"/>
                </a:solidFill>
                <a:latin typeface="Calibri"/>
              </a:rPr>
              <a:t>A regression can give a wrong result, a lower-quality circuit, or slower compilation.</a:t>
            </a:r>
          </a:p>
          <a:p>
            <a:pPr>
              <a:spcAft>
                <a:spcPts val="1600"/>
              </a:spcAft>
            </a:pPr>
            <a:r>
              <a:rPr sz="2400" b="1" i="0" dirty="0">
                <a:solidFill>
                  <a:srgbClr val="14B8A6"/>
                </a:solidFill>
                <a:latin typeface="Calibri"/>
              </a:rPr>
              <a:t>▪  </a:t>
            </a:r>
            <a:r>
              <a:rPr sz="2400" b="0" i="0" dirty="0">
                <a:solidFill>
                  <a:srgbClr val="1E2A44"/>
                </a:solidFill>
                <a:latin typeface="Calibri"/>
              </a:rPr>
              <a:t>We need regression testing that is trustworthy and affordable — catching these before they reach users.</a:t>
            </a:r>
          </a:p>
        </p:txBody>
      </p:sp>
      <p:sp>
        <p:nvSpPr>
          <p:cNvPr id="6" name="TextBox 5"/>
          <p:cNvSpPr txBox="1"/>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rPr>
              <a:t>PhD Synopsis  ·  A Leakage-Safe Framework for Observability-Aware Regression Testing of Quantum Compilers</a:t>
            </a:r>
          </a:p>
        </p:txBody>
      </p:sp>
      <p:sp>
        <p:nvSpPr>
          <p:cNvPr id="7" name="TextBox 6"/>
          <p:cNvSpPr txBox="1"/>
          <p:nvPr/>
        </p:nvSpPr>
        <p:spPr>
          <a:xfrm>
            <a:off x="11155680" y="6473952"/>
            <a:ext cx="822960" cy="190821"/>
          </a:xfrm>
          <a:prstGeom prst="rect">
            <a:avLst/>
          </a:prstGeom>
          <a:noFill/>
        </p:spPr>
        <p:txBody>
          <a:bodyPr wrap="square" lIns="36576" tIns="18288" rIns="36576" bIns="18288">
            <a:spAutoFit/>
          </a:bodyPr>
          <a:lstStyle/>
          <a:p>
            <a:pPr algn="r"/>
            <a:r>
              <a:rPr sz="1000" b="1" i="0">
                <a:solidFill>
                  <a:srgbClr val="64748C"/>
                </a:solidFill>
                <a:latin typeface="Calibri"/>
              </a:rPr>
              <a:t>3</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464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PROBLEM STATEMENT</a:t>
            </a:r>
          </a:p>
        </p:txBody>
      </p:sp>
      <p:sp>
        <p:nvSpPr>
          <p:cNvPr id="4" name="TextBox 3"/>
          <p:cNvSpPr txBox="1"/>
          <p:nvPr/>
        </p:nvSpPr>
        <p:spPr>
          <a:xfrm>
            <a:off x="640080" y="694944"/>
            <a:ext cx="11155680" cy="652486"/>
          </a:xfrm>
          <a:prstGeom prst="rect">
            <a:avLst/>
          </a:prstGeom>
          <a:noFill/>
        </p:spPr>
        <p:txBody>
          <a:bodyPr wrap="square" lIns="36576" tIns="18288" rIns="36576" bIns="18288">
            <a:spAutoFit/>
          </a:bodyPr>
          <a:lstStyle/>
          <a:p>
            <a:r>
              <a:rPr sz="4000" b="1" i="0">
                <a:solidFill>
                  <a:srgbClr val="1E2A44"/>
                </a:solidFill>
                <a:latin typeface="Cambria"/>
              </a:rPr>
              <a:t>The Problem</a:t>
            </a:r>
          </a:p>
        </p:txBody>
      </p:sp>
      <p:sp>
        <p:nvSpPr>
          <p:cNvPr id="5" name="Rounded Rectangle 4"/>
          <p:cNvSpPr/>
          <p:nvPr/>
        </p:nvSpPr>
        <p:spPr>
          <a:xfrm>
            <a:off x="640080" y="1691640"/>
            <a:ext cx="5349240" cy="4416552"/>
          </a:xfrm>
          <a:prstGeom prst="roundRect">
            <a:avLst>
              <a:gd name="adj" fmla="val 6000"/>
            </a:avLst>
          </a:prstGeom>
          <a:solidFill>
            <a:srgbClr val="F7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896112" y="1892807"/>
            <a:ext cx="4937760" cy="406265"/>
          </a:xfrm>
          <a:prstGeom prst="rect">
            <a:avLst/>
          </a:prstGeom>
          <a:noFill/>
        </p:spPr>
        <p:txBody>
          <a:bodyPr wrap="square" lIns="36576" tIns="18288" rIns="36576" bIns="18288">
            <a:spAutoFit/>
          </a:bodyPr>
          <a:lstStyle/>
          <a:p>
            <a:r>
              <a:rPr sz="2400" b="1" i="0">
                <a:solidFill>
                  <a:srgbClr val="9A532E"/>
                </a:solidFill>
                <a:latin typeface="Calibri"/>
              </a:rPr>
              <a:t>1.  We can’t always observe the fault</a:t>
            </a:r>
          </a:p>
        </p:txBody>
      </p:sp>
      <p:sp>
        <p:nvSpPr>
          <p:cNvPr id="7" name="TextBox 6"/>
          <p:cNvSpPr txBox="1"/>
          <p:nvPr/>
        </p:nvSpPr>
        <p:spPr>
          <a:xfrm>
            <a:off x="896112" y="2377440"/>
            <a:ext cx="4937760" cy="2114425"/>
          </a:xfrm>
          <a:prstGeom prst="rect">
            <a:avLst/>
          </a:prstGeom>
          <a:noFill/>
        </p:spPr>
        <p:txBody>
          <a:bodyPr wrap="square" lIns="36576" tIns="18288" rIns="36576" bIns="18288">
            <a:spAutoFit/>
          </a:bodyPr>
          <a:lstStyle/>
          <a:p>
            <a:pPr>
              <a:spcAft>
                <a:spcPts val="900"/>
              </a:spcAft>
            </a:pPr>
            <a:r>
              <a:rPr sz="2000" b="1" i="0" dirty="0">
                <a:solidFill>
                  <a:srgbClr val="14B8A6"/>
                </a:solidFill>
                <a:latin typeface="Calibri"/>
              </a:rPr>
              <a:t>▪  </a:t>
            </a:r>
            <a:r>
              <a:rPr sz="2000" b="0" i="0" dirty="0">
                <a:solidFill>
                  <a:srgbClr val="1E2A44"/>
                </a:solidFill>
                <a:latin typeface="Calibri"/>
              </a:rPr>
              <a:t>The usual check, an output-equivalence oracle, looks only at the final output. [6]</a:t>
            </a:r>
          </a:p>
          <a:p>
            <a:pPr>
              <a:spcAft>
                <a:spcPts val="900"/>
              </a:spcAft>
            </a:pPr>
            <a:r>
              <a:rPr sz="2000" b="1" i="0" dirty="0">
                <a:solidFill>
                  <a:srgbClr val="14B8A6"/>
                </a:solidFill>
                <a:latin typeface="Calibri"/>
              </a:rPr>
              <a:t>▪  </a:t>
            </a:r>
            <a:r>
              <a:rPr sz="2000" b="0" i="0" dirty="0">
                <a:solidFill>
                  <a:srgbClr val="1E2A44"/>
                </a:solidFill>
                <a:latin typeface="Calibri"/>
              </a:rPr>
              <a:t>Some regressions keep the output correct but corrupt the </a:t>
            </a:r>
            <a:r>
              <a:rPr sz="2000" b="0" i="0" dirty="0" err="1">
                <a:solidFill>
                  <a:srgbClr val="1E2A44"/>
                </a:solidFill>
                <a:latin typeface="Calibri"/>
              </a:rPr>
              <a:t>transpiler’s</a:t>
            </a:r>
            <a:r>
              <a:rPr sz="2000" b="0" i="0" dirty="0">
                <a:solidFill>
                  <a:srgbClr val="1E2A44"/>
                </a:solidFill>
                <a:latin typeface="Calibri"/>
              </a:rPr>
              <a:t> internal state. [5]</a:t>
            </a:r>
          </a:p>
          <a:p>
            <a:pPr>
              <a:spcAft>
                <a:spcPts val="900"/>
              </a:spcAft>
            </a:pPr>
            <a:r>
              <a:rPr sz="2000" b="1" i="0" dirty="0">
                <a:solidFill>
                  <a:srgbClr val="14B8A6"/>
                </a:solidFill>
                <a:latin typeface="Calibri"/>
              </a:rPr>
              <a:t>▪  </a:t>
            </a:r>
            <a:r>
              <a:rPr sz="2000" b="0" i="0" dirty="0">
                <a:solidFill>
                  <a:srgbClr val="1E2A44"/>
                </a:solidFill>
                <a:latin typeface="Calibri"/>
              </a:rPr>
              <a:t>So the output-equivalence oracle cannot observe them — an observability gap.</a:t>
            </a:r>
          </a:p>
        </p:txBody>
      </p:sp>
      <p:sp>
        <p:nvSpPr>
          <p:cNvPr id="8" name="Rounded Rectangle 7"/>
          <p:cNvSpPr/>
          <p:nvPr/>
        </p:nvSpPr>
        <p:spPr>
          <a:xfrm>
            <a:off x="6355080" y="1691640"/>
            <a:ext cx="5349240" cy="4416552"/>
          </a:xfrm>
          <a:prstGeom prst="roundRect">
            <a:avLst>
              <a:gd name="adj" fmla="val 6000"/>
            </a:avLst>
          </a:prstGeom>
          <a:solidFill>
            <a:srgbClr val="E7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TextBox 8"/>
          <p:cNvSpPr txBox="1"/>
          <p:nvPr/>
        </p:nvSpPr>
        <p:spPr>
          <a:xfrm>
            <a:off x="6611112" y="1892807"/>
            <a:ext cx="4937760" cy="406265"/>
          </a:xfrm>
          <a:prstGeom prst="rect">
            <a:avLst/>
          </a:prstGeom>
          <a:noFill/>
        </p:spPr>
        <p:txBody>
          <a:bodyPr wrap="square" lIns="36576" tIns="18288" rIns="36576" bIns="18288">
            <a:spAutoFit/>
          </a:bodyPr>
          <a:lstStyle/>
          <a:p>
            <a:r>
              <a:rPr sz="2400" b="1" i="0">
                <a:solidFill>
                  <a:srgbClr val="0E7C7B"/>
                </a:solidFill>
                <a:latin typeface="Calibri"/>
              </a:rPr>
              <a:t>2.  We can’t afford to test everything</a:t>
            </a:r>
          </a:p>
        </p:txBody>
      </p:sp>
      <p:sp>
        <p:nvSpPr>
          <p:cNvPr id="10" name="TextBox 9"/>
          <p:cNvSpPr txBox="1"/>
          <p:nvPr/>
        </p:nvSpPr>
        <p:spPr>
          <a:xfrm>
            <a:off x="6611112" y="2377440"/>
            <a:ext cx="4937760" cy="2114425"/>
          </a:xfrm>
          <a:prstGeom prst="rect">
            <a:avLst/>
          </a:prstGeom>
          <a:noFill/>
        </p:spPr>
        <p:txBody>
          <a:bodyPr wrap="square" lIns="36576" tIns="18288" rIns="36576" bIns="18288">
            <a:spAutoFit/>
          </a:bodyPr>
          <a:lstStyle/>
          <a:p>
            <a:pPr>
              <a:spcAft>
                <a:spcPts val="900"/>
              </a:spcAft>
            </a:pPr>
            <a:r>
              <a:rPr sz="2000" b="1" i="0" dirty="0">
                <a:solidFill>
                  <a:srgbClr val="14B8A6"/>
                </a:solidFill>
                <a:latin typeface="Calibri"/>
              </a:rPr>
              <a:t>▪  </a:t>
            </a:r>
            <a:r>
              <a:rPr sz="2000" b="0" i="0" dirty="0">
                <a:solidFill>
                  <a:srgbClr val="1E2A44"/>
                </a:solidFill>
                <a:latin typeface="Calibri"/>
              </a:rPr>
              <a:t>There are far too many tests to run them all on every update.</a:t>
            </a:r>
          </a:p>
          <a:p>
            <a:pPr>
              <a:spcAft>
                <a:spcPts val="900"/>
              </a:spcAft>
            </a:pPr>
            <a:r>
              <a:rPr sz="2000" b="1" i="0" dirty="0">
                <a:solidFill>
                  <a:srgbClr val="14B8A6"/>
                </a:solidFill>
                <a:latin typeface="Calibri"/>
              </a:rPr>
              <a:t>▪  </a:t>
            </a:r>
            <a:r>
              <a:rPr sz="2000" b="0" i="0" dirty="0">
                <a:solidFill>
                  <a:srgbClr val="1E2A44"/>
                </a:solidFill>
                <a:latin typeface="Calibri"/>
              </a:rPr>
              <a:t>Running everything each time is too slow and too expensive.</a:t>
            </a:r>
          </a:p>
          <a:p>
            <a:pPr>
              <a:spcAft>
                <a:spcPts val="900"/>
              </a:spcAft>
            </a:pPr>
            <a:r>
              <a:rPr sz="2000" b="1" i="0" dirty="0">
                <a:solidFill>
                  <a:srgbClr val="14B8A6"/>
                </a:solidFill>
                <a:latin typeface="Calibri"/>
              </a:rPr>
              <a:t>▪  </a:t>
            </a:r>
            <a:r>
              <a:rPr sz="2000" b="0" i="0" dirty="0">
                <a:solidFill>
                  <a:srgbClr val="1E2A44"/>
                </a:solidFill>
                <a:latin typeface="Calibri"/>
              </a:rPr>
              <a:t>We must select a small, high-value set — under a budget.</a:t>
            </a:r>
          </a:p>
        </p:txBody>
      </p:sp>
      <p:sp>
        <p:nvSpPr>
          <p:cNvPr id="11" name="TextBox 10"/>
          <p:cNvSpPr txBox="1"/>
          <p:nvPr/>
        </p:nvSpPr>
        <p:spPr>
          <a:xfrm>
            <a:off x="640080" y="5074920"/>
            <a:ext cx="11064240" cy="344710"/>
          </a:xfrm>
          <a:prstGeom prst="rect">
            <a:avLst/>
          </a:prstGeom>
          <a:noFill/>
        </p:spPr>
        <p:txBody>
          <a:bodyPr wrap="square" lIns="36576" tIns="18288" rIns="36576" bIns="18288">
            <a:spAutoFit/>
          </a:bodyPr>
          <a:lstStyle/>
          <a:p>
            <a:endParaRPr sz="2000" b="1" i="1" dirty="0">
              <a:solidFill>
                <a:srgbClr val="1E2A44"/>
              </a:solidFill>
              <a:latin typeface="Calibri"/>
            </a:endParaRPr>
          </a:p>
        </p:txBody>
      </p:sp>
      <p:sp>
        <p:nvSpPr>
          <p:cNvPr id="12" name="TextBox 11"/>
          <p:cNvSpPr txBox="1"/>
          <p:nvPr/>
        </p:nvSpPr>
        <p:spPr>
          <a:xfrm>
            <a:off x="640080" y="6473952"/>
            <a:ext cx="9692640" cy="221599"/>
          </a:xfrm>
          <a:prstGeom prst="rect">
            <a:avLst/>
          </a:prstGeom>
          <a:noFill/>
        </p:spPr>
        <p:txBody>
          <a:bodyPr wrap="square" lIns="36576" tIns="18288" rIns="36576" bIns="18288">
            <a:spAutoFit/>
          </a:bodyPr>
          <a:lstStyle/>
          <a:p>
            <a:r>
              <a:rPr sz="1200" b="0" i="0" dirty="0">
                <a:solidFill>
                  <a:srgbClr val="64748C"/>
                </a:solidFill>
                <a:latin typeface="Calibri"/>
              </a:rPr>
              <a:t>PhD Synopsis  ·  A Leakage-Safe Framework for Observability-Aware Regression Testing of Quantum Compilers</a:t>
            </a:r>
          </a:p>
        </p:txBody>
      </p:sp>
      <p:sp>
        <p:nvSpPr>
          <p:cNvPr id="13" name="TextBox 12"/>
          <p:cNvSpPr txBox="1"/>
          <p:nvPr/>
        </p:nvSpPr>
        <p:spPr>
          <a:xfrm>
            <a:off x="11155680" y="6473952"/>
            <a:ext cx="822960" cy="198516"/>
          </a:xfrm>
          <a:prstGeom prst="rect">
            <a:avLst/>
          </a:prstGeom>
          <a:noFill/>
        </p:spPr>
        <p:txBody>
          <a:bodyPr wrap="square" lIns="36576" tIns="18288" rIns="36576" bIns="18288">
            <a:spAutoFit/>
          </a:bodyPr>
          <a:lstStyle/>
          <a:p>
            <a:pPr algn="r"/>
            <a:r>
              <a:rPr sz="1050" b="1" i="0">
                <a:solidFill>
                  <a:srgbClr val="64748C"/>
                </a:solidFill>
                <a:latin typeface="Calibri"/>
              </a:rPr>
              <a:t>4</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TextBox 2"/>
          <p:cNvSpPr txBox="1"/>
          <p:nvPr/>
        </p:nvSpPr>
        <p:spPr>
          <a:xfrm>
            <a:off x="640080" y="384048"/>
            <a:ext cx="10972800" cy="305276"/>
          </a:xfrm>
          <a:prstGeom prst="rect">
            <a:avLst/>
          </a:prstGeom>
          <a:noFill/>
        </p:spPr>
        <p:txBody>
          <a:bodyPr wrap="square" lIns="27432" tIns="27432" rIns="27432" bIns="27432" anchor="t">
            <a:spAutoFit/>
          </a:bodyPr>
          <a:lstStyle/>
          <a:p>
            <a:pPr algn="l">
              <a:lnSpc>
                <a:spcPct val="106000"/>
              </a:lnSpc>
              <a:spcAft>
                <a:spcPts val="300"/>
              </a:spcAft>
            </a:pPr>
            <a:r>
              <a:rPr sz="1600" b="1" dirty="0">
                <a:solidFill>
                  <a:srgbClr val="14B8A6"/>
                </a:solidFill>
                <a:latin typeface="Calibri"/>
              </a:rPr>
              <a:t>PROBLEM STATEMENT</a:t>
            </a:r>
          </a:p>
        </p:txBody>
      </p:sp>
      <p:sp>
        <p:nvSpPr>
          <p:cNvPr id="4" name="TextBox 3"/>
          <p:cNvSpPr txBox="1"/>
          <p:nvPr/>
        </p:nvSpPr>
        <p:spPr>
          <a:xfrm>
            <a:off x="640080" y="676656"/>
            <a:ext cx="11338560" cy="642612"/>
          </a:xfrm>
          <a:prstGeom prst="rect">
            <a:avLst/>
          </a:prstGeom>
          <a:noFill/>
        </p:spPr>
        <p:txBody>
          <a:bodyPr wrap="square" lIns="27432" tIns="27432" rIns="27432" bIns="27432" anchor="t">
            <a:spAutoFit/>
          </a:bodyPr>
          <a:lstStyle/>
          <a:p>
            <a:pPr algn="l">
              <a:lnSpc>
                <a:spcPct val="106000"/>
              </a:lnSpc>
              <a:spcAft>
                <a:spcPts val="300"/>
              </a:spcAft>
            </a:pPr>
            <a:r>
              <a:rPr sz="3600" b="1">
                <a:solidFill>
                  <a:srgbClr val="1E2A44"/>
                </a:solidFill>
                <a:latin typeface="Cambria"/>
              </a:rPr>
              <a:t>Seven Ways a Regression Shows Up</a:t>
            </a:r>
          </a:p>
        </p:txBody>
      </p:sp>
      <p:sp>
        <p:nvSpPr>
          <p:cNvPr id="5" name="Rounded Rectangle 4"/>
          <p:cNvSpPr/>
          <p:nvPr/>
        </p:nvSpPr>
        <p:spPr>
          <a:xfrm>
            <a:off x="640080" y="1463040"/>
            <a:ext cx="10927080" cy="786384"/>
          </a:xfrm>
          <a:prstGeom prst="roundRect">
            <a:avLst/>
          </a:prstGeom>
          <a:solidFill>
            <a:srgbClr val="EAF4F3"/>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841248" y="1534926"/>
            <a:ext cx="10561320" cy="642612"/>
          </a:xfrm>
          <a:prstGeom prst="rect">
            <a:avLst/>
          </a:prstGeom>
          <a:noFill/>
        </p:spPr>
        <p:txBody>
          <a:bodyPr wrap="square" lIns="27432" tIns="27432" rIns="27432" bIns="27432" anchor="ctr">
            <a:spAutoFit/>
          </a:bodyPr>
          <a:lstStyle/>
          <a:p>
            <a:pPr algn="l">
              <a:lnSpc>
                <a:spcPct val="106000"/>
              </a:lnSpc>
              <a:spcAft>
                <a:spcPts val="300"/>
              </a:spcAft>
            </a:pPr>
            <a:r>
              <a:rPr b="0" dirty="0">
                <a:solidFill>
                  <a:srgbClr val="0E7C7B"/>
                </a:solidFill>
                <a:latin typeface="Calibri"/>
              </a:rPr>
              <a:t>A single </a:t>
            </a:r>
            <a:r>
              <a:rPr b="0" dirty="0" err="1">
                <a:solidFill>
                  <a:srgbClr val="0E7C7B"/>
                </a:solidFill>
                <a:latin typeface="Calibri"/>
              </a:rPr>
              <a:t>transpiler</a:t>
            </a:r>
            <a:r>
              <a:rPr b="0" dirty="0">
                <a:solidFill>
                  <a:srgbClr val="0E7C7B"/>
                </a:solidFill>
                <a:latin typeface="Calibri"/>
              </a:rPr>
              <a:t> regression can surface through seven channels. The reference screen watches four of them. The other three have no standard oracle, and that blind spot is the observability gap this research targets.</a:t>
            </a:r>
          </a:p>
        </p:txBody>
      </p:sp>
      <p:sp>
        <p:nvSpPr>
          <p:cNvPr id="7" name="Rounded Rectangle 6"/>
          <p:cNvSpPr/>
          <p:nvPr/>
        </p:nvSpPr>
        <p:spPr>
          <a:xfrm>
            <a:off x="640080" y="2468880"/>
            <a:ext cx="7178040" cy="3611880"/>
          </a:xfrm>
          <a:prstGeom prst="roundRect">
            <a:avLst/>
          </a:prstGeom>
          <a:solidFill>
            <a:srgbClr val="F2F5FA"/>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868680" y="2596896"/>
            <a:ext cx="6766560" cy="349006"/>
          </a:xfrm>
          <a:prstGeom prst="rect">
            <a:avLst/>
          </a:prstGeom>
          <a:noFill/>
        </p:spPr>
        <p:txBody>
          <a:bodyPr wrap="square" lIns="27432" tIns="27432" rIns="27432" bIns="27432" anchor="t">
            <a:spAutoFit/>
          </a:bodyPr>
          <a:lstStyle/>
          <a:p>
            <a:pPr algn="l">
              <a:lnSpc>
                <a:spcPct val="106000"/>
              </a:lnSpc>
              <a:spcAft>
                <a:spcPts val="300"/>
              </a:spcAft>
            </a:pPr>
            <a:r>
              <a:rPr b="1">
                <a:solidFill>
                  <a:srgbClr val="0E7C7B"/>
                </a:solidFill>
                <a:latin typeface="Calibri"/>
              </a:rPr>
              <a:t>WATCHED BY THE REFERENCE SCREEN</a:t>
            </a:r>
          </a:p>
        </p:txBody>
      </p:sp>
      <p:sp>
        <p:nvSpPr>
          <p:cNvPr id="9" name="TextBox 8"/>
          <p:cNvSpPr txBox="1"/>
          <p:nvPr/>
        </p:nvSpPr>
        <p:spPr>
          <a:xfrm>
            <a:off x="868680" y="3044952"/>
            <a:ext cx="6766560" cy="598112"/>
          </a:xfrm>
          <a:prstGeom prst="rect">
            <a:avLst/>
          </a:prstGeom>
          <a:noFill/>
        </p:spPr>
        <p:txBody>
          <a:bodyPr wrap="square" lIns="27432" tIns="27432" rIns="27432" bIns="27432" anchor="t">
            <a:spAutoFit/>
          </a:bodyPr>
          <a:lstStyle/>
          <a:p>
            <a:pPr algn="l">
              <a:lnSpc>
                <a:spcPct val="105000"/>
              </a:lnSpc>
              <a:spcAft>
                <a:spcPts val="200"/>
              </a:spcAft>
            </a:pPr>
            <a:r>
              <a:rPr b="1">
                <a:solidFill>
                  <a:srgbClr val="14B8A6"/>
                </a:solidFill>
                <a:latin typeface="Calibri"/>
              </a:rPr>
              <a:t>▪  </a:t>
            </a:r>
            <a:r>
              <a:rPr b="1">
                <a:solidFill>
                  <a:srgbClr val="1E2A44"/>
                </a:solidFill>
                <a:latin typeface="Calibri"/>
              </a:rPr>
              <a:t>Semantic difference</a:t>
            </a:r>
          </a:p>
          <a:p>
            <a:pPr algn="l">
              <a:lnSpc>
                <a:spcPct val="105000"/>
              </a:lnSpc>
              <a:spcAft>
                <a:spcPts val="200"/>
              </a:spcAft>
            </a:pPr>
            <a:r>
              <a:rPr sz="1400" b="0">
                <a:solidFill>
                  <a:srgbClr val="64748C"/>
                </a:solidFill>
                <a:latin typeface="Calibri"/>
              </a:rPr>
              <a:t>     The compiled circuit now computes a different unitary.</a:t>
            </a:r>
          </a:p>
        </p:txBody>
      </p:sp>
      <p:sp>
        <p:nvSpPr>
          <p:cNvPr id="10" name="TextBox 9"/>
          <p:cNvSpPr txBox="1"/>
          <p:nvPr/>
        </p:nvSpPr>
        <p:spPr>
          <a:xfrm>
            <a:off x="868680" y="3776472"/>
            <a:ext cx="6766560" cy="598112"/>
          </a:xfrm>
          <a:prstGeom prst="rect">
            <a:avLst/>
          </a:prstGeom>
          <a:noFill/>
        </p:spPr>
        <p:txBody>
          <a:bodyPr wrap="square" lIns="27432" tIns="27432" rIns="27432" bIns="27432" anchor="t">
            <a:spAutoFit/>
          </a:bodyPr>
          <a:lstStyle/>
          <a:p>
            <a:pPr algn="l">
              <a:lnSpc>
                <a:spcPct val="105000"/>
              </a:lnSpc>
              <a:spcAft>
                <a:spcPts val="200"/>
              </a:spcAft>
            </a:pPr>
            <a:r>
              <a:rPr b="1">
                <a:solidFill>
                  <a:srgbClr val="14B8A6"/>
                </a:solidFill>
                <a:latin typeface="Calibri"/>
              </a:rPr>
              <a:t>▪  </a:t>
            </a:r>
            <a:r>
              <a:rPr b="1">
                <a:solidFill>
                  <a:srgbClr val="1E2A44"/>
                </a:solidFill>
                <a:latin typeface="Calibri"/>
              </a:rPr>
              <a:t>Compilation failure</a:t>
            </a:r>
          </a:p>
          <a:p>
            <a:pPr algn="l">
              <a:lnSpc>
                <a:spcPct val="105000"/>
              </a:lnSpc>
              <a:spcAft>
                <a:spcPts val="200"/>
              </a:spcAft>
            </a:pPr>
            <a:r>
              <a:rPr sz="1400" b="0">
                <a:solidFill>
                  <a:srgbClr val="64748C"/>
                </a:solidFill>
                <a:latin typeface="Calibri"/>
              </a:rPr>
              <a:t>     The transpiler crashes or refuses to produce a circuit.</a:t>
            </a:r>
          </a:p>
        </p:txBody>
      </p:sp>
      <p:sp>
        <p:nvSpPr>
          <p:cNvPr id="11" name="TextBox 10"/>
          <p:cNvSpPr txBox="1"/>
          <p:nvPr/>
        </p:nvSpPr>
        <p:spPr>
          <a:xfrm>
            <a:off x="868680" y="4507992"/>
            <a:ext cx="6766560" cy="598112"/>
          </a:xfrm>
          <a:prstGeom prst="rect">
            <a:avLst/>
          </a:prstGeom>
          <a:noFill/>
        </p:spPr>
        <p:txBody>
          <a:bodyPr wrap="square" lIns="27432" tIns="27432" rIns="27432" bIns="27432" anchor="t">
            <a:spAutoFit/>
          </a:bodyPr>
          <a:lstStyle/>
          <a:p>
            <a:pPr algn="l">
              <a:lnSpc>
                <a:spcPct val="105000"/>
              </a:lnSpc>
              <a:spcAft>
                <a:spcPts val="200"/>
              </a:spcAft>
            </a:pPr>
            <a:r>
              <a:rPr b="1">
                <a:solidFill>
                  <a:srgbClr val="14B8A6"/>
                </a:solidFill>
                <a:latin typeface="Calibri"/>
              </a:rPr>
              <a:t>▪  </a:t>
            </a:r>
            <a:r>
              <a:rPr b="1">
                <a:solidFill>
                  <a:srgbClr val="1E2A44"/>
                </a:solidFill>
                <a:latin typeface="Calibri"/>
              </a:rPr>
              <a:t>Circuit-quality regression</a:t>
            </a:r>
          </a:p>
          <a:p>
            <a:pPr algn="l">
              <a:lnSpc>
                <a:spcPct val="105000"/>
              </a:lnSpc>
              <a:spcAft>
                <a:spcPts val="200"/>
              </a:spcAft>
            </a:pPr>
            <a:r>
              <a:rPr sz="1400" b="0">
                <a:solidFill>
                  <a:srgbClr val="64748C"/>
                </a:solidFill>
                <a:latin typeface="Calibri"/>
              </a:rPr>
              <a:t>     The output is correct but has more gates or greater depth.</a:t>
            </a:r>
          </a:p>
        </p:txBody>
      </p:sp>
      <p:sp>
        <p:nvSpPr>
          <p:cNvPr id="12" name="TextBox 11"/>
          <p:cNvSpPr txBox="1"/>
          <p:nvPr/>
        </p:nvSpPr>
        <p:spPr>
          <a:xfrm>
            <a:off x="868680" y="5239512"/>
            <a:ext cx="6766560" cy="598112"/>
          </a:xfrm>
          <a:prstGeom prst="rect">
            <a:avLst/>
          </a:prstGeom>
          <a:noFill/>
        </p:spPr>
        <p:txBody>
          <a:bodyPr wrap="square" lIns="27432" tIns="27432" rIns="27432" bIns="27432" anchor="t">
            <a:spAutoFit/>
          </a:bodyPr>
          <a:lstStyle/>
          <a:p>
            <a:pPr algn="l">
              <a:lnSpc>
                <a:spcPct val="105000"/>
              </a:lnSpc>
              <a:spcAft>
                <a:spcPts val="200"/>
              </a:spcAft>
            </a:pPr>
            <a:r>
              <a:rPr b="1">
                <a:solidFill>
                  <a:srgbClr val="14B8A6"/>
                </a:solidFill>
                <a:latin typeface="Calibri"/>
              </a:rPr>
              <a:t>▪  </a:t>
            </a:r>
            <a:r>
              <a:rPr b="1">
                <a:solidFill>
                  <a:srgbClr val="1E2A44"/>
                </a:solidFill>
                <a:latin typeface="Calibri"/>
              </a:rPr>
              <a:t>Performance regression</a:t>
            </a:r>
          </a:p>
          <a:p>
            <a:pPr algn="l">
              <a:lnSpc>
                <a:spcPct val="105000"/>
              </a:lnSpc>
              <a:spcAft>
                <a:spcPts val="200"/>
              </a:spcAft>
            </a:pPr>
            <a:r>
              <a:rPr sz="1400" b="0">
                <a:solidFill>
                  <a:srgbClr val="64748C"/>
                </a:solidFill>
                <a:latin typeface="Calibri"/>
              </a:rPr>
              <a:t>     The circuit is correct, but transpilation takes far longer.</a:t>
            </a:r>
          </a:p>
        </p:txBody>
      </p:sp>
      <p:sp>
        <p:nvSpPr>
          <p:cNvPr id="13" name="Rounded Rectangle 12"/>
          <p:cNvSpPr/>
          <p:nvPr/>
        </p:nvSpPr>
        <p:spPr>
          <a:xfrm>
            <a:off x="8001000" y="2468880"/>
            <a:ext cx="3566160" cy="3611880"/>
          </a:xfrm>
          <a:prstGeom prst="roundRect">
            <a:avLst/>
          </a:prstGeom>
          <a:solidFill>
            <a:srgbClr val="F2F5FA"/>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8229600" y="2596896"/>
            <a:ext cx="3154680" cy="349006"/>
          </a:xfrm>
          <a:prstGeom prst="rect">
            <a:avLst/>
          </a:prstGeom>
          <a:noFill/>
        </p:spPr>
        <p:txBody>
          <a:bodyPr wrap="square" lIns="27432" tIns="27432" rIns="27432" bIns="27432" anchor="t">
            <a:spAutoFit/>
          </a:bodyPr>
          <a:lstStyle/>
          <a:p>
            <a:pPr algn="l">
              <a:lnSpc>
                <a:spcPct val="106000"/>
              </a:lnSpc>
              <a:spcAft>
                <a:spcPts val="300"/>
              </a:spcAft>
            </a:pPr>
            <a:r>
              <a:rPr b="1">
                <a:solidFill>
                  <a:srgbClr val="0E7C7B"/>
                </a:solidFill>
                <a:latin typeface="Calibri"/>
              </a:rPr>
              <a:t>THE OBSERVABILITY GAP</a:t>
            </a:r>
          </a:p>
        </p:txBody>
      </p:sp>
      <p:sp>
        <p:nvSpPr>
          <p:cNvPr id="15" name="TextBox 14"/>
          <p:cNvSpPr txBox="1"/>
          <p:nvPr/>
        </p:nvSpPr>
        <p:spPr>
          <a:xfrm>
            <a:off x="8229600" y="2871216"/>
            <a:ext cx="3154680" cy="283796"/>
          </a:xfrm>
          <a:prstGeom prst="rect">
            <a:avLst/>
          </a:prstGeom>
          <a:noFill/>
        </p:spPr>
        <p:txBody>
          <a:bodyPr wrap="square" lIns="27432" tIns="27432" rIns="27432" bIns="27432" anchor="t">
            <a:spAutoFit/>
          </a:bodyPr>
          <a:lstStyle/>
          <a:p>
            <a:pPr algn="l">
              <a:lnSpc>
                <a:spcPct val="106000"/>
              </a:lnSpc>
              <a:spcAft>
                <a:spcPts val="300"/>
              </a:spcAft>
            </a:pPr>
            <a:r>
              <a:rPr sz="1400" b="0">
                <a:solidFill>
                  <a:srgbClr val="64748C"/>
                </a:solidFill>
                <a:latin typeface="Calibri"/>
              </a:rPr>
              <a:t>no standard oracle</a:t>
            </a:r>
          </a:p>
        </p:txBody>
      </p:sp>
      <p:sp>
        <p:nvSpPr>
          <p:cNvPr id="16" name="TextBox 15"/>
          <p:cNvSpPr txBox="1"/>
          <p:nvPr/>
        </p:nvSpPr>
        <p:spPr>
          <a:xfrm>
            <a:off x="8229600" y="3218688"/>
            <a:ext cx="3154680" cy="824328"/>
          </a:xfrm>
          <a:prstGeom prst="rect">
            <a:avLst/>
          </a:prstGeom>
          <a:noFill/>
        </p:spPr>
        <p:txBody>
          <a:bodyPr wrap="square" lIns="27432" tIns="27432" rIns="27432" bIns="27432" anchor="t">
            <a:spAutoFit/>
          </a:bodyPr>
          <a:lstStyle/>
          <a:p>
            <a:pPr algn="l">
              <a:lnSpc>
                <a:spcPct val="105000"/>
              </a:lnSpc>
              <a:spcAft>
                <a:spcPts val="200"/>
              </a:spcAft>
            </a:pPr>
            <a:r>
              <a:rPr b="1">
                <a:solidFill>
                  <a:srgbClr val="14B8A6"/>
                </a:solidFill>
                <a:latin typeface="Calibri"/>
              </a:rPr>
              <a:t>▪  </a:t>
            </a:r>
            <a:r>
              <a:rPr b="1">
                <a:solidFill>
                  <a:srgbClr val="1E2A44"/>
                </a:solidFill>
                <a:latin typeface="Calibri"/>
              </a:rPr>
              <a:t>Contract / metadata</a:t>
            </a:r>
          </a:p>
          <a:p>
            <a:pPr algn="l">
              <a:lnSpc>
                <a:spcPct val="105000"/>
              </a:lnSpc>
              <a:spcAft>
                <a:spcPts val="200"/>
              </a:spcAft>
            </a:pPr>
            <a:r>
              <a:rPr sz="1400" b="0">
                <a:solidFill>
                  <a:srgbClr val="64748C"/>
                </a:solidFill>
                <a:latin typeface="Calibri"/>
              </a:rPr>
              <a:t>     The output looks right, but the recorded qubit mapping is wrong.</a:t>
            </a:r>
          </a:p>
        </p:txBody>
      </p:sp>
      <p:sp>
        <p:nvSpPr>
          <p:cNvPr id="17" name="TextBox 16"/>
          <p:cNvSpPr txBox="1"/>
          <p:nvPr/>
        </p:nvSpPr>
        <p:spPr>
          <a:xfrm>
            <a:off x="8229600" y="4151376"/>
            <a:ext cx="3154680" cy="824328"/>
          </a:xfrm>
          <a:prstGeom prst="rect">
            <a:avLst/>
          </a:prstGeom>
          <a:noFill/>
        </p:spPr>
        <p:txBody>
          <a:bodyPr wrap="square" lIns="27432" tIns="27432" rIns="27432" bIns="27432" anchor="t">
            <a:spAutoFit/>
          </a:bodyPr>
          <a:lstStyle/>
          <a:p>
            <a:pPr algn="l">
              <a:lnSpc>
                <a:spcPct val="105000"/>
              </a:lnSpc>
              <a:spcAft>
                <a:spcPts val="200"/>
              </a:spcAft>
            </a:pPr>
            <a:r>
              <a:rPr b="1">
                <a:solidFill>
                  <a:srgbClr val="14B8A6"/>
                </a:solidFill>
                <a:latin typeface="Calibri"/>
              </a:rPr>
              <a:t>▪  </a:t>
            </a:r>
            <a:r>
              <a:rPr b="1">
                <a:solidFill>
                  <a:srgbClr val="1E2A44"/>
                </a:solidFill>
                <a:latin typeface="Calibri"/>
              </a:rPr>
              <a:t>Non-determinism</a:t>
            </a:r>
          </a:p>
          <a:p>
            <a:pPr algn="l">
              <a:lnSpc>
                <a:spcPct val="105000"/>
              </a:lnSpc>
              <a:spcAft>
                <a:spcPts val="200"/>
              </a:spcAft>
            </a:pPr>
            <a:r>
              <a:rPr sz="1400" b="0">
                <a:solidFill>
                  <a:srgbClr val="64748C"/>
                </a:solidFill>
                <a:latin typeface="Calibri"/>
              </a:rPr>
              <a:t>     Different results across runs with identical settings.</a:t>
            </a:r>
          </a:p>
        </p:txBody>
      </p:sp>
      <p:sp>
        <p:nvSpPr>
          <p:cNvPr id="18" name="TextBox 17"/>
          <p:cNvSpPr txBox="1"/>
          <p:nvPr/>
        </p:nvSpPr>
        <p:spPr>
          <a:xfrm>
            <a:off x="8229600" y="5084064"/>
            <a:ext cx="3154680" cy="824328"/>
          </a:xfrm>
          <a:prstGeom prst="rect">
            <a:avLst/>
          </a:prstGeom>
          <a:noFill/>
        </p:spPr>
        <p:txBody>
          <a:bodyPr wrap="square" lIns="27432" tIns="27432" rIns="27432" bIns="27432" anchor="t">
            <a:spAutoFit/>
          </a:bodyPr>
          <a:lstStyle/>
          <a:p>
            <a:pPr algn="l">
              <a:lnSpc>
                <a:spcPct val="105000"/>
              </a:lnSpc>
              <a:spcAft>
                <a:spcPts val="200"/>
              </a:spcAft>
            </a:pPr>
            <a:r>
              <a:rPr b="1">
                <a:solidFill>
                  <a:srgbClr val="14B8A6"/>
                </a:solidFill>
                <a:latin typeface="Calibri"/>
              </a:rPr>
              <a:t>▪  </a:t>
            </a:r>
            <a:r>
              <a:rPr b="1">
                <a:solidFill>
                  <a:srgbClr val="1E2A44"/>
                </a:solidFill>
                <a:latin typeface="Calibri"/>
              </a:rPr>
              <a:t>Global-phase discrepancy</a:t>
            </a:r>
          </a:p>
          <a:p>
            <a:pPr algn="l">
              <a:lnSpc>
                <a:spcPct val="105000"/>
              </a:lnSpc>
              <a:spcAft>
                <a:spcPts val="200"/>
              </a:spcAft>
            </a:pPr>
            <a:r>
              <a:rPr sz="1400" b="0">
                <a:solidFill>
                  <a:srgbClr val="64748C"/>
                </a:solidFill>
                <a:latin typeface="Calibri"/>
              </a:rPr>
              <a:t>     An operationally relevant overall phase is dropped or changed.</a:t>
            </a:r>
          </a:p>
        </p:txBody>
      </p:sp>
      <p:sp>
        <p:nvSpPr>
          <p:cNvPr id="19" name="TextBox 18"/>
          <p:cNvSpPr txBox="1"/>
          <p:nvPr/>
        </p:nvSpPr>
        <p:spPr>
          <a:xfrm>
            <a:off x="640080" y="6473952"/>
            <a:ext cx="9692640" cy="234808"/>
          </a:xfrm>
          <a:prstGeom prst="rect">
            <a:avLst/>
          </a:prstGeom>
          <a:noFill/>
        </p:spPr>
        <p:txBody>
          <a:bodyPr wrap="square" lIns="27432" tIns="27432" rIns="27432" bIns="27432" anchor="t">
            <a:spAutoFit/>
          </a:bodyPr>
          <a:lstStyle/>
          <a:p>
            <a:pPr algn="l">
              <a:lnSpc>
                <a:spcPct val="106000"/>
              </a:lnSpc>
              <a:spcAft>
                <a:spcPts val="300"/>
              </a:spcAft>
            </a:pPr>
            <a:r>
              <a:rPr sz="1050" b="0">
                <a:solidFill>
                  <a:srgbClr val="64748C"/>
                </a:solidFill>
                <a:latin typeface="Calibri"/>
              </a:rPr>
              <a:t>PhD Synopsis  ·  A Leakage-Safe Framework for Observability-Aware Regression Testing of Quantum Compilers</a:t>
            </a:r>
          </a:p>
        </p:txBody>
      </p:sp>
      <p:sp>
        <p:nvSpPr>
          <p:cNvPr id="20" name="TextBox 19"/>
          <p:cNvSpPr txBox="1"/>
          <p:nvPr/>
        </p:nvSpPr>
        <p:spPr>
          <a:xfrm>
            <a:off x="11155680" y="6473952"/>
            <a:ext cx="822960" cy="234808"/>
          </a:xfrm>
          <a:prstGeom prst="rect">
            <a:avLst/>
          </a:prstGeom>
          <a:noFill/>
        </p:spPr>
        <p:txBody>
          <a:bodyPr wrap="square" lIns="27432" tIns="27432" rIns="27432" bIns="27432" anchor="t">
            <a:spAutoFit/>
          </a:bodyPr>
          <a:lstStyle/>
          <a:p>
            <a:pPr algn="r">
              <a:lnSpc>
                <a:spcPct val="106000"/>
              </a:lnSpc>
              <a:spcAft>
                <a:spcPts val="300"/>
              </a:spcAft>
            </a:pPr>
            <a:r>
              <a:rPr sz="1050" b="1">
                <a:solidFill>
                  <a:srgbClr val="64748C"/>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RESEARCH QUESTIONS &amp; OBJECTIVES</a:t>
            </a:r>
          </a:p>
        </p:txBody>
      </p:sp>
      <p:sp>
        <p:nvSpPr>
          <p:cNvPr id="4" name="TextBox 3"/>
          <p:cNvSpPr txBox="1"/>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rPr>
              <a:t>Research Questions</a:t>
            </a:r>
          </a:p>
        </p:txBody>
      </p:sp>
      <p:sp>
        <p:nvSpPr>
          <p:cNvPr id="5" name="Rounded Rectangle 4"/>
          <p:cNvSpPr/>
          <p:nvPr/>
        </p:nvSpPr>
        <p:spPr>
          <a:xfrm>
            <a:off x="640080" y="1627632"/>
            <a:ext cx="11064240" cy="10515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Rounded Rectangle 5"/>
          <p:cNvSpPr/>
          <p:nvPr/>
        </p:nvSpPr>
        <p:spPr>
          <a:xfrm>
            <a:off x="896112" y="1929384"/>
            <a:ext cx="640080" cy="640080"/>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RQ1</a:t>
            </a:r>
          </a:p>
        </p:txBody>
      </p:sp>
      <p:sp>
        <p:nvSpPr>
          <p:cNvPr id="7" name="TextBox 6"/>
          <p:cNvSpPr txBox="1"/>
          <p:nvPr/>
        </p:nvSpPr>
        <p:spPr>
          <a:xfrm>
            <a:off x="1737360" y="1682425"/>
            <a:ext cx="9784080" cy="960263"/>
          </a:xfrm>
          <a:prstGeom prst="rect">
            <a:avLst/>
          </a:prstGeom>
          <a:noFill/>
        </p:spPr>
        <p:txBody>
          <a:bodyPr wrap="square" lIns="36576" tIns="18288" rIns="36576" bIns="18288" anchor="ctr">
            <a:spAutoFit/>
          </a:bodyPr>
          <a:lstStyle/>
          <a:p>
            <a:r>
              <a:rPr sz="2000" b="0" i="0">
                <a:solidFill>
                  <a:srgbClr val="1E2A44"/>
                </a:solidFill>
                <a:latin typeface="Calibri"/>
              </a:rPr>
              <a:t>How often do real transpiler regressions fall into fault channels not detected by a reference regression screen comprising semantic-equivalence, compilation-validity, circuit-quality, and performance oracles?</a:t>
            </a:r>
          </a:p>
        </p:txBody>
      </p:sp>
      <p:sp>
        <p:nvSpPr>
          <p:cNvPr id="8" name="Rounded Rectangle 7"/>
          <p:cNvSpPr/>
          <p:nvPr/>
        </p:nvSpPr>
        <p:spPr>
          <a:xfrm>
            <a:off x="640080" y="2807208"/>
            <a:ext cx="11064240" cy="10515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Rounded Rectangle 8"/>
          <p:cNvSpPr/>
          <p:nvPr/>
        </p:nvSpPr>
        <p:spPr>
          <a:xfrm>
            <a:off x="896112" y="3108960"/>
            <a:ext cx="640080" cy="640080"/>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RQ2</a:t>
            </a:r>
          </a:p>
        </p:txBody>
      </p:sp>
      <p:sp>
        <p:nvSpPr>
          <p:cNvPr id="10" name="TextBox 9"/>
          <p:cNvSpPr txBox="1"/>
          <p:nvPr/>
        </p:nvSpPr>
        <p:spPr>
          <a:xfrm>
            <a:off x="1737360" y="2862001"/>
            <a:ext cx="9784080" cy="960263"/>
          </a:xfrm>
          <a:prstGeom prst="rect">
            <a:avLst/>
          </a:prstGeom>
          <a:noFill/>
        </p:spPr>
        <p:txBody>
          <a:bodyPr wrap="square" lIns="36576" tIns="18288" rIns="36576" bIns="18288" anchor="ctr">
            <a:spAutoFit/>
          </a:bodyPr>
          <a:lstStyle/>
          <a:p>
            <a:r>
              <a:rPr sz="2000" b="0" i="0">
                <a:solidFill>
                  <a:srgbClr val="1E2A44"/>
                </a:solidFill>
                <a:latin typeface="Calibri"/>
              </a:rPr>
              <a:t>Can real transpiler regressions that evade this reference screen be shown, from source, to be detected by fault-class-matched contract, property, isolated-pass, or determinism oracles, demonstrating that the gap is real and closable?</a:t>
            </a:r>
          </a:p>
        </p:txBody>
      </p:sp>
      <p:sp>
        <p:nvSpPr>
          <p:cNvPr id="11" name="Rounded Rectangle 10"/>
          <p:cNvSpPr/>
          <p:nvPr/>
        </p:nvSpPr>
        <p:spPr>
          <a:xfrm>
            <a:off x="640080" y="3986784"/>
            <a:ext cx="11064240" cy="10515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Rounded Rectangle 11"/>
          <p:cNvSpPr/>
          <p:nvPr/>
        </p:nvSpPr>
        <p:spPr>
          <a:xfrm>
            <a:off x="896112" y="4288536"/>
            <a:ext cx="640080" cy="640080"/>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RQ3</a:t>
            </a:r>
          </a:p>
        </p:txBody>
      </p:sp>
      <p:sp>
        <p:nvSpPr>
          <p:cNvPr id="13" name="TextBox 12"/>
          <p:cNvSpPr txBox="1"/>
          <p:nvPr/>
        </p:nvSpPr>
        <p:spPr>
          <a:xfrm>
            <a:off x="1737360" y="4195466"/>
            <a:ext cx="9784080" cy="652486"/>
          </a:xfrm>
          <a:prstGeom prst="rect">
            <a:avLst/>
          </a:prstGeom>
          <a:noFill/>
        </p:spPr>
        <p:txBody>
          <a:bodyPr wrap="square" lIns="36576" tIns="18288" rIns="36576" bIns="18288" anchor="ctr">
            <a:spAutoFit/>
          </a:bodyPr>
          <a:lstStyle/>
          <a:p>
            <a:r>
              <a:rPr sz="2000" b="0" i="0">
                <a:solidFill>
                  <a:srgbClr val="1E2A44"/>
                </a:solidFill>
                <a:latin typeface="Calibri"/>
              </a:rPr>
              <a:t>Can a leakage-safe, cost-aware regression-testing pipeline for the transpiler be built and shown to be operationally sound under an executable validity-gate audit?</a:t>
            </a:r>
          </a:p>
        </p:txBody>
      </p:sp>
      <p:sp>
        <p:nvSpPr>
          <p:cNvPr id="14" name="Rounded Rectangle 13"/>
          <p:cNvSpPr/>
          <p:nvPr/>
        </p:nvSpPr>
        <p:spPr>
          <a:xfrm>
            <a:off x="640080" y="5166360"/>
            <a:ext cx="11064240" cy="1197864"/>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Rounded Rectangle 14"/>
          <p:cNvSpPr/>
          <p:nvPr/>
        </p:nvSpPr>
        <p:spPr>
          <a:xfrm>
            <a:off x="896112" y="5468112"/>
            <a:ext cx="640080" cy="640080"/>
          </a:xfrm>
          <a:prstGeom prst="roundRect">
            <a:avLst>
              <a:gd name="adj" fmla="val 2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dirty="0">
                <a:solidFill>
                  <a:srgbClr val="FFFFFF"/>
                </a:solidFill>
                <a:latin typeface="Calibri"/>
              </a:rPr>
              <a:t>RQ4</a:t>
            </a:r>
          </a:p>
        </p:txBody>
      </p:sp>
      <p:sp>
        <p:nvSpPr>
          <p:cNvPr id="16" name="TextBox 15"/>
          <p:cNvSpPr txBox="1"/>
          <p:nvPr/>
        </p:nvSpPr>
        <p:spPr>
          <a:xfrm>
            <a:off x="1737360" y="5067265"/>
            <a:ext cx="9784080" cy="1268039"/>
          </a:xfrm>
          <a:prstGeom prst="rect">
            <a:avLst/>
          </a:prstGeom>
          <a:noFill/>
        </p:spPr>
        <p:txBody>
          <a:bodyPr wrap="square" lIns="36576" tIns="18288" rIns="36576" bIns="18288" anchor="ctr">
            <a:spAutoFit/>
          </a:bodyPr>
          <a:lstStyle/>
          <a:p>
            <a:r>
              <a:rPr sz="2000" b="0" i="0" dirty="0">
                <a:solidFill>
                  <a:srgbClr val="1E2A44"/>
                </a:solidFill>
                <a:latin typeface="Calibri"/>
              </a:rPr>
              <a:t>(a) At feasibility scale, does the pipeline run the transparent selector and all five baselines correctly under identical budgets and anti-leakage rules? (b) In the full study, once a number of forward-regression events, fixed in advance by a prospective precision analysis, is verified, does the selector place fault-detecting tests earlier than those baselines?</a:t>
            </a:r>
          </a:p>
        </p:txBody>
      </p:sp>
      <p:sp>
        <p:nvSpPr>
          <p:cNvPr id="17" name="TextBox 16"/>
          <p:cNvSpPr txBox="1"/>
          <p:nvPr/>
        </p:nvSpPr>
        <p:spPr>
          <a:xfrm>
            <a:off x="640080" y="6473952"/>
            <a:ext cx="9692640" cy="206210"/>
          </a:xfrm>
          <a:prstGeom prst="rect">
            <a:avLst/>
          </a:prstGeom>
          <a:noFill/>
        </p:spPr>
        <p:txBody>
          <a:bodyPr wrap="square" lIns="36576" tIns="18288" rIns="36576" bIns="18288">
            <a:spAutoFit/>
          </a:bodyPr>
          <a:lstStyle/>
          <a:p>
            <a:r>
              <a:rPr sz="1100" b="0" i="0">
                <a:solidFill>
                  <a:srgbClr val="64748C"/>
                </a:solidFill>
                <a:latin typeface="Calibri"/>
              </a:rPr>
              <a:t>PhD Synopsis  ·  A Leakage-Safe Framework for Observability-Aware Regression Testing of Quantum Compilers</a:t>
            </a:r>
          </a:p>
        </p:txBody>
      </p:sp>
      <p:sp>
        <p:nvSpPr>
          <p:cNvPr id="18" name="TextBox 17"/>
          <p:cNvSpPr txBox="1"/>
          <p:nvPr/>
        </p:nvSpPr>
        <p:spPr>
          <a:xfrm>
            <a:off x="11155680" y="6473952"/>
            <a:ext cx="822960" cy="206210"/>
          </a:xfrm>
          <a:prstGeom prst="rect">
            <a:avLst/>
          </a:prstGeom>
          <a:noFill/>
        </p:spPr>
        <p:txBody>
          <a:bodyPr wrap="square" lIns="36576" tIns="18288" rIns="36576" bIns="18288">
            <a:spAutoFit/>
          </a:bodyPr>
          <a:lstStyle/>
          <a:p>
            <a:pPr algn="r"/>
            <a:r>
              <a:rPr sz="1100" b="1" i="0">
                <a:solidFill>
                  <a:srgbClr val="64748C"/>
                </a:solidFill>
                <a:latin typeface="Calibri"/>
              </a:rPr>
              <a:t>6</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RESEARCH QUESTIONS &amp; OBJECTIVES</a:t>
            </a:r>
          </a:p>
        </p:txBody>
      </p:sp>
      <p:sp>
        <p:nvSpPr>
          <p:cNvPr id="4" name="TextBox 3"/>
          <p:cNvSpPr txBox="1"/>
          <p:nvPr/>
        </p:nvSpPr>
        <p:spPr>
          <a:xfrm>
            <a:off x="640080" y="694944"/>
            <a:ext cx="11155680" cy="590931"/>
          </a:xfrm>
          <a:prstGeom prst="rect">
            <a:avLst/>
          </a:prstGeom>
          <a:noFill/>
        </p:spPr>
        <p:txBody>
          <a:bodyPr wrap="square" lIns="36576" tIns="18288" rIns="36576" bIns="18288">
            <a:spAutoFit/>
          </a:bodyPr>
          <a:lstStyle/>
          <a:p>
            <a:r>
              <a:rPr sz="3600" b="1" i="0" dirty="0">
                <a:solidFill>
                  <a:srgbClr val="1E2A44"/>
                </a:solidFill>
                <a:latin typeface="Cambria"/>
              </a:rPr>
              <a:t>Objectives</a:t>
            </a:r>
          </a:p>
        </p:txBody>
      </p:sp>
      <p:sp>
        <p:nvSpPr>
          <p:cNvPr id="5" name="Rounded Rectangle 4"/>
          <p:cNvSpPr/>
          <p:nvPr/>
        </p:nvSpPr>
        <p:spPr>
          <a:xfrm>
            <a:off x="640080" y="1379142"/>
            <a:ext cx="5193792" cy="2553439"/>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905256" y="1414105"/>
            <a:ext cx="4663440" cy="283154"/>
          </a:xfrm>
          <a:prstGeom prst="rect">
            <a:avLst/>
          </a:prstGeom>
          <a:noFill/>
        </p:spPr>
        <p:txBody>
          <a:bodyPr wrap="square" lIns="36576" tIns="18288" rIns="36576" bIns="18288">
            <a:spAutoFit/>
          </a:bodyPr>
          <a:lstStyle/>
          <a:p>
            <a:r>
              <a:rPr sz="1600" b="1" i="0" dirty="0">
                <a:solidFill>
                  <a:srgbClr val="14B8A6"/>
                </a:solidFill>
                <a:latin typeface="Calibri"/>
              </a:rPr>
              <a:t>O1 → RQ1</a:t>
            </a:r>
          </a:p>
        </p:txBody>
      </p:sp>
      <p:sp>
        <p:nvSpPr>
          <p:cNvPr id="7" name="TextBox 6"/>
          <p:cNvSpPr txBox="1"/>
          <p:nvPr/>
        </p:nvSpPr>
        <p:spPr>
          <a:xfrm>
            <a:off x="905255" y="1713195"/>
            <a:ext cx="4807001" cy="2252924"/>
          </a:xfrm>
          <a:prstGeom prst="rect">
            <a:avLst/>
          </a:prstGeom>
          <a:noFill/>
        </p:spPr>
        <p:txBody>
          <a:bodyPr wrap="square" lIns="36576" tIns="18288" rIns="36576" bIns="18288">
            <a:spAutoFit/>
          </a:bodyPr>
          <a:lstStyle/>
          <a:p>
            <a:r>
              <a:rPr dirty="0">
                <a:solidFill>
                  <a:srgbClr val="1E2A44"/>
                </a:solidFill>
                <a:latin typeface="Calibri"/>
              </a:rPr>
              <a:t>To measure how often real </a:t>
            </a:r>
            <a:r>
              <a:rPr dirty="0" err="1">
                <a:solidFill>
                  <a:srgbClr val="1E2A44"/>
                </a:solidFill>
                <a:latin typeface="Calibri"/>
              </a:rPr>
              <a:t>transpiler</a:t>
            </a:r>
            <a:r>
              <a:rPr dirty="0">
                <a:solidFill>
                  <a:srgbClr val="1E2A44"/>
                </a:solidFill>
                <a:latin typeface="Calibri"/>
              </a:rPr>
              <a:t> regressions fall into channels the reference screen (semantic-equivalence, compilation-validity, circuit-quality, and performance oracles) does not detect, by mining merged bug-fixes and classifying each channel with inter-rater agreement (Cohen's κ for two raters, or Fleiss' κ if three or more raters participate).</a:t>
            </a:r>
          </a:p>
        </p:txBody>
      </p:sp>
      <p:sp>
        <p:nvSpPr>
          <p:cNvPr id="8" name="Rounded Rectangle 7"/>
          <p:cNvSpPr/>
          <p:nvPr/>
        </p:nvSpPr>
        <p:spPr>
          <a:xfrm>
            <a:off x="6355080" y="1368398"/>
            <a:ext cx="5193792" cy="2458847"/>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6629400" y="1446882"/>
            <a:ext cx="4663440" cy="283154"/>
          </a:xfrm>
          <a:prstGeom prst="rect">
            <a:avLst/>
          </a:prstGeom>
          <a:noFill/>
        </p:spPr>
        <p:txBody>
          <a:bodyPr wrap="square" lIns="36576" tIns="18288" rIns="36576" bIns="18288">
            <a:spAutoFit/>
          </a:bodyPr>
          <a:lstStyle/>
          <a:p>
            <a:r>
              <a:rPr sz="1600" b="1" i="0" dirty="0">
                <a:solidFill>
                  <a:srgbClr val="14B8A6"/>
                </a:solidFill>
                <a:latin typeface="Calibri"/>
              </a:rPr>
              <a:t>O2 → RQ2</a:t>
            </a:r>
          </a:p>
        </p:txBody>
      </p:sp>
      <p:sp>
        <p:nvSpPr>
          <p:cNvPr id="10" name="TextBox 9"/>
          <p:cNvSpPr txBox="1"/>
          <p:nvPr/>
        </p:nvSpPr>
        <p:spPr>
          <a:xfrm>
            <a:off x="6629400" y="1728108"/>
            <a:ext cx="4919472" cy="1421928"/>
          </a:xfrm>
          <a:prstGeom prst="rect">
            <a:avLst/>
          </a:prstGeom>
          <a:noFill/>
        </p:spPr>
        <p:txBody>
          <a:bodyPr wrap="square" lIns="36576" tIns="18288" rIns="36576" bIns="18288">
            <a:spAutoFit/>
          </a:bodyPr>
          <a:lstStyle/>
          <a:p>
            <a:r>
              <a:rPr b="0" i="0" dirty="0">
                <a:solidFill>
                  <a:srgbClr val="1E2A44"/>
                </a:solidFill>
                <a:latin typeface="Calibri"/>
              </a:rPr>
              <a:t>To demonstrate, from source, at least one real regression that the reference screen misses but a fault-class-matched contract, property, isolated-pass, or determinism oracle detects, establishing that the gap is real and closable.</a:t>
            </a:r>
          </a:p>
        </p:txBody>
      </p:sp>
      <p:sp>
        <p:nvSpPr>
          <p:cNvPr id="11" name="Rounded Rectangle 10"/>
          <p:cNvSpPr/>
          <p:nvPr/>
        </p:nvSpPr>
        <p:spPr>
          <a:xfrm>
            <a:off x="640080" y="4096510"/>
            <a:ext cx="5193792" cy="2377441"/>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914400" y="4178027"/>
            <a:ext cx="4663440" cy="283154"/>
          </a:xfrm>
          <a:prstGeom prst="rect">
            <a:avLst/>
          </a:prstGeom>
          <a:noFill/>
        </p:spPr>
        <p:txBody>
          <a:bodyPr wrap="square" lIns="36576" tIns="18288" rIns="36576" bIns="18288">
            <a:spAutoFit/>
          </a:bodyPr>
          <a:lstStyle/>
          <a:p>
            <a:r>
              <a:rPr sz="1600" b="1" i="0" dirty="0">
                <a:solidFill>
                  <a:srgbClr val="14B8A6"/>
                </a:solidFill>
                <a:latin typeface="Calibri"/>
              </a:rPr>
              <a:t>O3 → RQ3</a:t>
            </a:r>
          </a:p>
        </p:txBody>
      </p:sp>
      <p:sp>
        <p:nvSpPr>
          <p:cNvPr id="13" name="TextBox 12"/>
          <p:cNvSpPr txBox="1"/>
          <p:nvPr/>
        </p:nvSpPr>
        <p:spPr>
          <a:xfrm>
            <a:off x="905256" y="4523671"/>
            <a:ext cx="4928616" cy="1421928"/>
          </a:xfrm>
          <a:prstGeom prst="rect">
            <a:avLst/>
          </a:prstGeom>
          <a:noFill/>
        </p:spPr>
        <p:txBody>
          <a:bodyPr wrap="square" lIns="36576" tIns="18288" rIns="36576" bIns="18288">
            <a:spAutoFit/>
          </a:bodyPr>
          <a:lstStyle/>
          <a:p>
            <a:r>
              <a:rPr b="0" i="0" dirty="0">
                <a:solidFill>
                  <a:srgbClr val="1E2A44"/>
                </a:solidFill>
                <a:latin typeface="Calibri"/>
              </a:rPr>
              <a:t>To build the leakage-safe, cost-aware methodology as an open prototype (cart) and show it to be operationally sound under a six-gate validity audit, verifying at least one forward regression from source.</a:t>
            </a:r>
          </a:p>
        </p:txBody>
      </p:sp>
      <p:sp>
        <p:nvSpPr>
          <p:cNvPr id="14" name="Rounded Rectangle 13"/>
          <p:cNvSpPr/>
          <p:nvPr/>
        </p:nvSpPr>
        <p:spPr>
          <a:xfrm>
            <a:off x="6355080" y="4096510"/>
            <a:ext cx="5193792" cy="2377441"/>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6620256" y="4178027"/>
            <a:ext cx="4663440" cy="283154"/>
          </a:xfrm>
          <a:prstGeom prst="rect">
            <a:avLst/>
          </a:prstGeom>
          <a:noFill/>
        </p:spPr>
        <p:txBody>
          <a:bodyPr wrap="square" lIns="36576" tIns="18288" rIns="36576" bIns="18288">
            <a:spAutoFit/>
          </a:bodyPr>
          <a:lstStyle/>
          <a:p>
            <a:r>
              <a:rPr sz="1600" b="1" i="0" dirty="0">
                <a:solidFill>
                  <a:srgbClr val="14B8A6"/>
                </a:solidFill>
                <a:latin typeface="Calibri"/>
              </a:rPr>
              <a:t>O4 → RQ4</a:t>
            </a:r>
          </a:p>
        </p:txBody>
      </p:sp>
      <p:sp>
        <p:nvSpPr>
          <p:cNvPr id="16" name="TextBox 15"/>
          <p:cNvSpPr txBox="1"/>
          <p:nvPr/>
        </p:nvSpPr>
        <p:spPr>
          <a:xfrm>
            <a:off x="6620256" y="4482301"/>
            <a:ext cx="4928616" cy="1975926"/>
          </a:xfrm>
          <a:prstGeom prst="rect">
            <a:avLst/>
          </a:prstGeom>
          <a:noFill/>
        </p:spPr>
        <p:txBody>
          <a:bodyPr wrap="square" lIns="36576" tIns="18288" rIns="36576" bIns="18288">
            <a:spAutoFit/>
          </a:bodyPr>
          <a:lstStyle/>
          <a:p>
            <a:r>
              <a:rPr b="0" i="0" dirty="0">
                <a:solidFill>
                  <a:srgbClr val="1E2A44"/>
                </a:solidFill>
                <a:latin typeface="Calibri"/>
              </a:rPr>
              <a:t>(a) Establish the pipeline runs the selector and all five baselines correctly under identical anti-leakage rules and budgets, and (b) commit to a powered comparison once a number of forward-regression events, fixed in advance by a prospective precision analysis, is verified, reporting the outcome either way.</a:t>
            </a:r>
          </a:p>
        </p:txBody>
      </p:sp>
      <p:sp>
        <p:nvSpPr>
          <p:cNvPr id="17" name="TextBox 16"/>
          <p:cNvSpPr txBox="1"/>
          <p:nvPr/>
        </p:nvSpPr>
        <p:spPr>
          <a:xfrm>
            <a:off x="640080" y="6473952"/>
            <a:ext cx="9692640" cy="190821"/>
          </a:xfrm>
          <a:prstGeom prst="rect">
            <a:avLst/>
          </a:prstGeom>
          <a:noFill/>
        </p:spPr>
        <p:txBody>
          <a:bodyPr wrap="square" lIns="36576" tIns="18288" rIns="36576" bIns="18288">
            <a:spAutoFit/>
          </a:bodyPr>
          <a:lstStyle/>
          <a:p>
            <a:r>
              <a:rPr sz="1000" b="0" i="0">
                <a:solidFill>
                  <a:srgbClr val="64748C"/>
                </a:solidFill>
                <a:latin typeface="Calibri"/>
              </a:rPr>
              <a:t>PhD Synopsis  ·  A Leakage-Safe Framework for Observability-Aware Regression Testing of Quantum Compilers</a:t>
            </a:r>
          </a:p>
        </p:txBody>
      </p:sp>
      <p:sp>
        <p:nvSpPr>
          <p:cNvPr id="18" name="TextBox 17"/>
          <p:cNvSpPr txBox="1"/>
          <p:nvPr/>
        </p:nvSpPr>
        <p:spPr>
          <a:xfrm>
            <a:off x="11155680" y="6473952"/>
            <a:ext cx="822960" cy="175433"/>
          </a:xfrm>
          <a:prstGeom prst="rect">
            <a:avLst/>
          </a:prstGeom>
          <a:noFill/>
        </p:spPr>
        <p:txBody>
          <a:bodyPr wrap="square" lIns="36576" tIns="18288" rIns="36576" bIns="18288">
            <a:spAutoFit/>
          </a:bodyPr>
          <a:lstStyle/>
          <a:p>
            <a:pPr algn="r"/>
            <a:r>
              <a:rPr sz="900" b="1" i="0">
                <a:solidFill>
                  <a:srgbClr val="64748C"/>
                </a:solidFill>
                <a:latin typeface="Calibri"/>
              </a:rPr>
              <a:t>7</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339773"/>
          </a:xfrm>
          <a:prstGeom prst="rect">
            <a:avLst/>
          </a:prstGeom>
          <a:noFill/>
        </p:spPr>
        <p:txBody>
          <a:bodyPr wrap="square" lIns="36576" tIns="36576" rIns="36576" bIns="36576" anchor="t">
            <a:spAutoFit/>
          </a:bodyPr>
          <a:lstStyle/>
          <a:p>
            <a:pPr algn="l">
              <a:lnSpc>
                <a:spcPct val="108000"/>
              </a:lnSpc>
              <a:spcAft>
                <a:spcPts val="400"/>
              </a:spcAft>
            </a:pPr>
            <a:r>
              <a:rPr sz="1600" b="1" i="0" dirty="0">
                <a:solidFill>
                  <a:srgbClr val="14B8A6"/>
                </a:solidFill>
                <a:latin typeface="Calibri"/>
              </a:rPr>
              <a:t>INTRODUCTION</a:t>
            </a:r>
          </a:p>
        </p:txBody>
      </p:sp>
      <p:sp>
        <p:nvSpPr>
          <p:cNvPr id="4" name="TextBox 3"/>
          <p:cNvSpPr txBox="1"/>
          <p:nvPr/>
        </p:nvSpPr>
        <p:spPr>
          <a:xfrm>
            <a:off x="640080" y="694944"/>
            <a:ext cx="11155680" cy="672172"/>
          </a:xfrm>
          <a:prstGeom prst="rect">
            <a:avLst/>
          </a:prstGeom>
          <a:noFill/>
        </p:spPr>
        <p:txBody>
          <a:bodyPr wrap="square" lIns="36576" tIns="36576" rIns="36576" bIns="36576" anchor="t">
            <a:spAutoFit/>
          </a:bodyPr>
          <a:lstStyle/>
          <a:p>
            <a:pPr algn="l">
              <a:lnSpc>
                <a:spcPct val="108000"/>
              </a:lnSpc>
              <a:spcAft>
                <a:spcPts val="400"/>
              </a:spcAft>
            </a:pPr>
            <a:r>
              <a:rPr sz="3600" b="1" i="0">
                <a:solidFill>
                  <a:srgbClr val="1E2A44"/>
                </a:solidFill>
                <a:latin typeface="Cambria"/>
              </a:rPr>
              <a:t>Scope &amp; Contributions</a:t>
            </a:r>
          </a:p>
        </p:txBody>
      </p:sp>
      <p:sp>
        <p:nvSpPr>
          <p:cNvPr id="5" name="TextBox 4"/>
          <p:cNvSpPr txBox="1"/>
          <p:nvPr/>
        </p:nvSpPr>
        <p:spPr>
          <a:xfrm>
            <a:off x="640080" y="6473952"/>
            <a:ext cx="9692640" cy="240066"/>
          </a:xfrm>
          <a:prstGeom prst="rect">
            <a:avLst/>
          </a:prstGeom>
          <a:noFill/>
        </p:spPr>
        <p:txBody>
          <a:bodyPr wrap="square" lIns="36576" tIns="36576" rIns="36576" bIns="36576" anchor="t">
            <a:spAutoFit/>
          </a:bodyPr>
          <a:lstStyle/>
          <a:p>
            <a:pPr algn="l">
              <a:lnSpc>
                <a:spcPct val="108000"/>
              </a:lnSpc>
              <a:spcAft>
                <a:spcPts val="400"/>
              </a:spcAft>
            </a:pPr>
            <a:r>
              <a:rPr sz="1000" b="0" i="0">
                <a:solidFill>
                  <a:srgbClr val="64748C"/>
                </a:solidFill>
                <a:latin typeface="Calibri"/>
              </a:rPr>
              <a:t>PhD Synopsis  ·  A Leakage-Safe Framework for Observability-Aware Regression Testing of Quantum Compilers</a:t>
            </a:r>
          </a:p>
        </p:txBody>
      </p:sp>
      <p:sp>
        <p:nvSpPr>
          <p:cNvPr id="6" name="TextBox 5"/>
          <p:cNvSpPr txBox="1"/>
          <p:nvPr/>
        </p:nvSpPr>
        <p:spPr>
          <a:xfrm>
            <a:off x="11155680" y="6473952"/>
            <a:ext cx="822960" cy="240066"/>
          </a:xfrm>
          <a:prstGeom prst="rect">
            <a:avLst/>
          </a:prstGeom>
          <a:noFill/>
        </p:spPr>
        <p:txBody>
          <a:bodyPr wrap="square" lIns="36576" tIns="36576" rIns="36576" bIns="36576" anchor="t">
            <a:spAutoFit/>
          </a:bodyPr>
          <a:lstStyle/>
          <a:p>
            <a:pPr algn="r">
              <a:lnSpc>
                <a:spcPct val="108000"/>
              </a:lnSpc>
              <a:spcAft>
                <a:spcPts val="400"/>
              </a:spcAft>
            </a:pPr>
            <a:r>
              <a:rPr sz="1000" b="1" i="0">
                <a:solidFill>
                  <a:srgbClr val="64748C"/>
                </a:solidFill>
                <a:latin typeface="Calibri"/>
              </a:rPr>
              <a:t>8</a:t>
            </a:r>
          </a:p>
        </p:txBody>
      </p:sp>
      <p:sp>
        <p:nvSpPr>
          <p:cNvPr id="7" name="Rounded Rectangle 6"/>
          <p:cNvSpPr/>
          <p:nvPr/>
        </p:nvSpPr>
        <p:spPr>
          <a:xfrm>
            <a:off x="640080" y="1600200"/>
            <a:ext cx="5532120" cy="4160520"/>
          </a:xfrm>
          <a:prstGeom prst="roundRect">
            <a:avLst/>
          </a:prstGeom>
          <a:solidFill>
            <a:srgbClr val="F2F5FA"/>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868680" y="1755648"/>
            <a:ext cx="5120640" cy="373051"/>
          </a:xfrm>
          <a:prstGeom prst="rect">
            <a:avLst/>
          </a:prstGeom>
          <a:noFill/>
        </p:spPr>
        <p:txBody>
          <a:bodyPr wrap="square" lIns="36576" tIns="36576" rIns="36576" bIns="36576" anchor="t">
            <a:spAutoFit/>
          </a:bodyPr>
          <a:lstStyle/>
          <a:p>
            <a:pPr algn="l">
              <a:lnSpc>
                <a:spcPct val="108000"/>
              </a:lnSpc>
              <a:spcAft>
                <a:spcPts val="400"/>
              </a:spcAft>
            </a:pPr>
            <a:r>
              <a:rPr b="1" i="0">
                <a:solidFill>
                  <a:srgbClr val="0E7C7B"/>
                </a:solidFill>
                <a:latin typeface="Calibri"/>
              </a:rPr>
              <a:t>SCOPE</a:t>
            </a:r>
          </a:p>
        </p:txBody>
      </p:sp>
      <p:sp>
        <p:nvSpPr>
          <p:cNvPr id="9" name="TextBox 8"/>
          <p:cNvSpPr txBox="1"/>
          <p:nvPr/>
        </p:nvSpPr>
        <p:spPr>
          <a:xfrm>
            <a:off x="868680" y="2240280"/>
            <a:ext cx="5166360" cy="3055708"/>
          </a:xfrm>
          <a:prstGeom prst="rect">
            <a:avLst/>
          </a:prstGeom>
          <a:noFill/>
        </p:spPr>
        <p:txBody>
          <a:bodyPr wrap="square" lIns="36576" tIns="36576" rIns="36576" bIns="36576" anchor="t">
            <a:spAutoFit/>
          </a:bodyPr>
          <a:lstStyle/>
          <a:p>
            <a:pPr algn="l">
              <a:lnSpc>
                <a:spcPct val="112000"/>
              </a:lnSpc>
              <a:spcAft>
                <a:spcPts val="1300"/>
              </a:spcAft>
            </a:pPr>
            <a:r>
              <a:rPr b="1" i="0">
                <a:solidFill>
                  <a:srgbClr val="14B8A6"/>
                </a:solidFill>
                <a:latin typeface="Calibri"/>
              </a:rPr>
              <a:t>▪  </a:t>
            </a:r>
            <a:r>
              <a:rPr b="1" i="0">
                <a:solidFill>
                  <a:srgbClr val="0E7C7B"/>
                </a:solidFill>
                <a:latin typeface="Calibri"/>
              </a:rPr>
              <a:t>Subject:  </a:t>
            </a:r>
            <a:r>
              <a:rPr b="0" i="0">
                <a:solidFill>
                  <a:srgbClr val="1E2A44"/>
                </a:solidFill>
                <a:latin typeface="Calibri"/>
              </a:rPr>
              <a:t>the Qiskit 2.x transpiler — a reproducible feasibility study, not a powered evaluation.</a:t>
            </a:r>
          </a:p>
          <a:p>
            <a:pPr algn="l">
              <a:lnSpc>
                <a:spcPct val="112000"/>
              </a:lnSpc>
              <a:spcAft>
                <a:spcPts val="1300"/>
              </a:spcAft>
            </a:pPr>
            <a:r>
              <a:rPr b="1" i="0">
                <a:solidFill>
                  <a:srgbClr val="14B8A6"/>
                </a:solidFill>
                <a:latin typeface="Calibri"/>
              </a:rPr>
              <a:t>▪  </a:t>
            </a:r>
            <a:r>
              <a:rPr b="1" i="0">
                <a:solidFill>
                  <a:srgbClr val="0E7C7B"/>
                </a:solidFill>
                <a:latin typeface="Calibri"/>
              </a:rPr>
              <a:t>Commodity only:  </a:t>
            </a:r>
            <a:r>
              <a:rPr b="0" i="0">
                <a:solidFill>
                  <a:srgbClr val="1E2A44"/>
                </a:solidFill>
                <a:latin typeface="Calibri"/>
              </a:rPr>
              <a:t>one ordinary laptop, circuits up to 8 qubits (H4 timed at 16–27 qubits).</a:t>
            </a:r>
          </a:p>
          <a:p>
            <a:pPr algn="l">
              <a:lnSpc>
                <a:spcPct val="112000"/>
              </a:lnSpc>
              <a:spcAft>
                <a:spcPts val="1300"/>
              </a:spcAft>
            </a:pPr>
            <a:r>
              <a:rPr b="1" i="0">
                <a:solidFill>
                  <a:srgbClr val="14B8A6"/>
                </a:solidFill>
                <a:latin typeface="Calibri"/>
              </a:rPr>
              <a:t>▪  </a:t>
            </a:r>
            <a:r>
              <a:rPr b="1" i="0">
                <a:solidFill>
                  <a:srgbClr val="0E7C7B"/>
                </a:solidFill>
                <a:latin typeface="Calibri"/>
              </a:rPr>
              <a:t>No quantum hardware:  </a:t>
            </a:r>
            <a:r>
              <a:rPr b="0" i="0">
                <a:solidFill>
                  <a:srgbClr val="1E2A44"/>
                </a:solidFill>
                <a:latin typeface="Calibri"/>
              </a:rPr>
              <a:t>checking the compiler's transformation is a classical computation.</a:t>
            </a:r>
          </a:p>
          <a:p>
            <a:pPr algn="l">
              <a:lnSpc>
                <a:spcPct val="112000"/>
              </a:lnSpc>
              <a:spcAft>
                <a:spcPts val="1300"/>
              </a:spcAft>
            </a:pPr>
            <a:r>
              <a:rPr b="1" i="0">
                <a:solidFill>
                  <a:srgbClr val="14B8A6"/>
                </a:solidFill>
                <a:latin typeface="Calibri"/>
              </a:rPr>
              <a:t>▪  </a:t>
            </a:r>
            <a:r>
              <a:rPr b="1" i="0">
                <a:solidFill>
                  <a:srgbClr val="0E7C7B"/>
                </a:solidFill>
                <a:latin typeface="Calibri"/>
              </a:rPr>
              <a:t>Deliberately bounded:  </a:t>
            </a:r>
            <a:r>
              <a:rPr b="0" i="0">
                <a:solidFill>
                  <a:srgbClr val="1E2A44"/>
                </a:solidFill>
                <a:latin typeface="Calibri"/>
              </a:rPr>
              <a:t>a small, honest study whose claims stay within its evidence.</a:t>
            </a:r>
          </a:p>
        </p:txBody>
      </p:sp>
      <p:sp>
        <p:nvSpPr>
          <p:cNvPr id="10" name="Rounded Rectangle 9"/>
          <p:cNvSpPr/>
          <p:nvPr/>
        </p:nvSpPr>
        <p:spPr>
          <a:xfrm>
            <a:off x="6446520" y="1600200"/>
            <a:ext cx="5120640" cy="4160520"/>
          </a:xfrm>
          <a:prstGeom prst="roundRect">
            <a:avLst/>
          </a:prstGeom>
          <a:solidFill>
            <a:srgbClr val="F2F5FA"/>
          </a:solidFill>
          <a:ln w="15875">
            <a:solidFill>
              <a:srgbClr val="1426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675120" y="1755648"/>
            <a:ext cx="4754880" cy="373051"/>
          </a:xfrm>
          <a:prstGeom prst="rect">
            <a:avLst/>
          </a:prstGeom>
          <a:noFill/>
        </p:spPr>
        <p:txBody>
          <a:bodyPr wrap="square" lIns="36576" tIns="36576" rIns="36576" bIns="36576" anchor="t">
            <a:spAutoFit/>
          </a:bodyPr>
          <a:lstStyle/>
          <a:p>
            <a:pPr algn="l">
              <a:lnSpc>
                <a:spcPct val="108000"/>
              </a:lnSpc>
              <a:spcAft>
                <a:spcPts val="400"/>
              </a:spcAft>
            </a:pPr>
            <a:r>
              <a:rPr b="1" i="0">
                <a:solidFill>
                  <a:srgbClr val="14264F"/>
                </a:solidFill>
                <a:latin typeface="Calibri"/>
              </a:rPr>
              <a:t>CONTRIBUTIONS</a:t>
            </a:r>
          </a:p>
        </p:txBody>
      </p:sp>
      <p:sp>
        <p:nvSpPr>
          <p:cNvPr id="12" name="TextBox 11"/>
          <p:cNvSpPr txBox="1"/>
          <p:nvPr/>
        </p:nvSpPr>
        <p:spPr>
          <a:xfrm>
            <a:off x="6675120" y="2240280"/>
            <a:ext cx="4709160" cy="2888996"/>
          </a:xfrm>
          <a:prstGeom prst="rect">
            <a:avLst/>
          </a:prstGeom>
          <a:noFill/>
        </p:spPr>
        <p:txBody>
          <a:bodyPr wrap="square" lIns="36576" tIns="36576" rIns="36576" bIns="36576" anchor="t">
            <a:spAutoFit/>
          </a:bodyPr>
          <a:lstStyle/>
          <a:p>
            <a:pPr algn="l">
              <a:lnSpc>
                <a:spcPct val="112000"/>
              </a:lnSpc>
              <a:spcAft>
                <a:spcPts val="1300"/>
              </a:spcAft>
            </a:pPr>
            <a:r>
              <a:rPr b="1" i="0">
                <a:solidFill>
                  <a:srgbClr val="14B8A6"/>
                </a:solidFill>
                <a:latin typeface="Calibri"/>
              </a:rPr>
              <a:t>▪  </a:t>
            </a:r>
            <a:r>
              <a:rPr b="1" i="0">
                <a:solidFill>
                  <a:srgbClr val="14264F"/>
                </a:solidFill>
                <a:latin typeface="Calibri"/>
              </a:rPr>
              <a:t>Observability gap:  </a:t>
            </a:r>
            <a:r>
              <a:rPr b="0" i="0">
                <a:solidFill>
                  <a:srgbClr val="1E2A44"/>
                </a:solidFill>
                <a:latin typeface="Calibri"/>
              </a:rPr>
              <a:t>measured, and demonstrated from source (H1), as a real and common blind spot.</a:t>
            </a:r>
          </a:p>
          <a:p>
            <a:pPr algn="l">
              <a:lnSpc>
                <a:spcPct val="112000"/>
              </a:lnSpc>
              <a:spcAft>
                <a:spcPts val="1300"/>
              </a:spcAft>
            </a:pPr>
            <a:r>
              <a:rPr b="1" i="0">
                <a:solidFill>
                  <a:srgbClr val="14B8A6"/>
                </a:solidFill>
                <a:latin typeface="Calibri"/>
              </a:rPr>
              <a:t>▪  </a:t>
            </a:r>
            <a:r>
              <a:rPr b="1" i="0">
                <a:solidFill>
                  <a:srgbClr val="14264F"/>
                </a:solidFill>
                <a:latin typeface="Calibri"/>
              </a:rPr>
              <a:t>Method + prototype:  </a:t>
            </a:r>
            <a:r>
              <a:rPr b="0" i="0">
                <a:solidFill>
                  <a:srgbClr val="1E2A44"/>
                </a:solidFill>
                <a:latin typeface="Calibri"/>
              </a:rPr>
              <a:t>a leakage-safe, cost-aware evaluation methodology with an open harness (cart).</a:t>
            </a:r>
          </a:p>
          <a:p>
            <a:pPr algn="l">
              <a:lnSpc>
                <a:spcPct val="112000"/>
              </a:lnSpc>
              <a:spcAft>
                <a:spcPts val="1300"/>
              </a:spcAft>
            </a:pPr>
            <a:r>
              <a:rPr b="1" i="0">
                <a:solidFill>
                  <a:srgbClr val="14B8A6"/>
                </a:solidFill>
                <a:latin typeface="Calibri"/>
              </a:rPr>
              <a:t>▪  </a:t>
            </a:r>
            <a:r>
              <a:rPr b="1" i="0">
                <a:solidFill>
                  <a:srgbClr val="14264F"/>
                </a:solidFill>
                <a:latin typeface="Calibri"/>
              </a:rPr>
              <a:t>A first:  </a:t>
            </a:r>
            <a:r>
              <a:rPr b="0" i="0">
                <a:solidFill>
                  <a:srgbClr val="1E2A44"/>
                </a:solidFill>
                <a:latin typeface="Calibri"/>
              </a:rPr>
              <a:t>the first leakage-safe, cost-aware regression-test selection for a quantum transpiler.</a:t>
            </a:r>
          </a:p>
        </p:txBody>
      </p:sp>
      <p:sp>
        <p:nvSpPr>
          <p:cNvPr id="13" name="TextBox 12"/>
          <p:cNvSpPr txBox="1"/>
          <p:nvPr/>
        </p:nvSpPr>
        <p:spPr>
          <a:xfrm>
            <a:off x="640080" y="5989320"/>
            <a:ext cx="11064240" cy="339773"/>
          </a:xfrm>
          <a:prstGeom prst="rect">
            <a:avLst/>
          </a:prstGeom>
          <a:noFill/>
        </p:spPr>
        <p:txBody>
          <a:bodyPr wrap="square" lIns="36576" tIns="36576" rIns="36576" bIns="36576" anchor="t">
            <a:spAutoFit/>
          </a:bodyPr>
          <a:lstStyle/>
          <a:p>
            <a:pPr algn="l">
              <a:lnSpc>
                <a:spcPct val="108000"/>
              </a:lnSpc>
              <a:spcAft>
                <a:spcPts val="400"/>
              </a:spcAft>
            </a:pPr>
            <a:r>
              <a:rPr sz="1600" b="0" i="1">
                <a:solidFill>
                  <a:srgbClr val="64748C"/>
                </a:solidFill>
                <a:latin typeface="Calibri"/>
              </a:rPr>
              <a:t>The gap is reframed as: output equivalence is necessary but not sufficient for the transpiler.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LITERATURE REVIEW</a:t>
            </a:r>
          </a:p>
        </p:txBody>
      </p:sp>
      <p:sp>
        <p:nvSpPr>
          <p:cNvPr id="4" name="TextBox 3"/>
          <p:cNvSpPr txBox="1"/>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rPr>
              <a:t>What Others Have Done</a:t>
            </a:r>
          </a:p>
        </p:txBody>
      </p:sp>
      <p:sp>
        <p:nvSpPr>
          <p:cNvPr id="5" name="TextBox 4"/>
          <p:cNvSpPr txBox="1"/>
          <p:nvPr/>
        </p:nvSpPr>
        <p:spPr>
          <a:xfrm>
            <a:off x="640080" y="1402068"/>
            <a:ext cx="11064240" cy="3530197"/>
          </a:xfrm>
          <a:prstGeom prst="rect">
            <a:avLst/>
          </a:prstGeom>
          <a:noFill/>
        </p:spPr>
        <p:txBody>
          <a:bodyPr wrap="square" lIns="36576" tIns="18288" rIns="36576" bIns="18288">
            <a:spAutoFit/>
          </a:bodyPr>
          <a:lstStyle/>
          <a:p>
            <a:pPr>
              <a:spcAft>
                <a:spcPts val="1400"/>
              </a:spcAft>
            </a:pPr>
            <a:r>
              <a:rPr sz="2400" b="1" i="0" dirty="0">
                <a:solidFill>
                  <a:srgbClr val="14B8A6"/>
                </a:solidFill>
                <a:latin typeface="Calibri"/>
              </a:rPr>
              <a:t>▪  </a:t>
            </a:r>
            <a:r>
              <a:rPr sz="2400" b="1" i="0" dirty="0">
                <a:solidFill>
                  <a:srgbClr val="0E7C7B"/>
                </a:solidFill>
                <a:latin typeface="Calibri"/>
              </a:rPr>
              <a:t>Classical testing:  </a:t>
            </a:r>
            <a:r>
              <a:rPr sz="2400" b="0" i="0" dirty="0">
                <a:solidFill>
                  <a:srgbClr val="1E2A44"/>
                </a:solidFill>
                <a:latin typeface="Calibri"/>
              </a:rPr>
              <a:t>how to pick and order tests under a time budget — well studied. [3], [4]</a:t>
            </a:r>
          </a:p>
          <a:p>
            <a:pPr>
              <a:spcAft>
                <a:spcPts val="1400"/>
              </a:spcAft>
            </a:pPr>
            <a:r>
              <a:rPr sz="2400" b="1" i="0" dirty="0">
                <a:solidFill>
                  <a:srgbClr val="14B8A6"/>
                </a:solidFill>
                <a:latin typeface="Calibri"/>
              </a:rPr>
              <a:t>▪  </a:t>
            </a:r>
            <a:r>
              <a:rPr sz="2400" b="1" i="0" dirty="0">
                <a:solidFill>
                  <a:srgbClr val="0E7C7B"/>
                </a:solidFill>
                <a:latin typeface="Calibri"/>
              </a:rPr>
              <a:t>Quantum testing:  </a:t>
            </a:r>
            <a:r>
              <a:rPr sz="2400" b="0" i="0" dirty="0">
                <a:solidFill>
                  <a:srgbClr val="1E2A44"/>
                </a:solidFill>
                <a:latin typeface="Calibri"/>
              </a:rPr>
              <a:t>finding bugs and generating tests for quantum programs. [7], [23], [24]</a:t>
            </a:r>
          </a:p>
          <a:p>
            <a:pPr>
              <a:spcAft>
                <a:spcPts val="1400"/>
              </a:spcAft>
            </a:pPr>
            <a:r>
              <a:rPr sz="2400" b="1" i="0" dirty="0">
                <a:solidFill>
                  <a:srgbClr val="14B8A6"/>
                </a:solidFill>
                <a:latin typeface="Calibri"/>
              </a:rPr>
              <a:t>▪  </a:t>
            </a:r>
            <a:r>
              <a:rPr sz="2400" b="1" i="0" dirty="0">
                <a:solidFill>
                  <a:srgbClr val="0E7C7B"/>
                </a:solidFill>
                <a:latin typeface="Calibri"/>
              </a:rPr>
              <a:t>Equivalence checking:  </a:t>
            </a:r>
            <a:r>
              <a:rPr sz="2400" b="0" i="0" dirty="0">
                <a:solidFill>
                  <a:srgbClr val="1E2A44"/>
                </a:solidFill>
                <a:latin typeface="Calibri"/>
              </a:rPr>
              <a:t>the standard “is the answer the same?” check — efficient and trusted. [6]</a:t>
            </a:r>
          </a:p>
          <a:p>
            <a:pPr>
              <a:spcAft>
                <a:spcPts val="1400"/>
              </a:spcAft>
            </a:pPr>
            <a:r>
              <a:rPr sz="2400" b="1" i="0" dirty="0">
                <a:solidFill>
                  <a:srgbClr val="14B8A6"/>
                </a:solidFill>
                <a:latin typeface="Calibri"/>
              </a:rPr>
              <a:t>▪  </a:t>
            </a:r>
            <a:r>
              <a:rPr sz="2400" b="1" i="0" dirty="0">
                <a:solidFill>
                  <a:srgbClr val="0E7C7B"/>
                </a:solidFill>
                <a:latin typeface="Calibri"/>
              </a:rPr>
              <a:t>Internal checks:  </a:t>
            </a:r>
            <a:r>
              <a:rPr sz="2400" b="0" i="0" dirty="0" err="1">
                <a:solidFill>
                  <a:srgbClr val="1E2A44"/>
                </a:solidFill>
                <a:latin typeface="Calibri"/>
              </a:rPr>
              <a:t>CertiQ</a:t>
            </a:r>
            <a:r>
              <a:rPr sz="2400" b="0" i="0" dirty="0">
                <a:solidFill>
                  <a:srgbClr val="1E2A44"/>
                </a:solidFill>
                <a:latin typeface="Calibri"/>
              </a:rPr>
              <a:t>, </a:t>
            </a:r>
            <a:r>
              <a:rPr sz="2400" b="0" i="0" dirty="0" err="1">
                <a:solidFill>
                  <a:srgbClr val="1E2A44"/>
                </a:solidFill>
                <a:latin typeface="Calibri"/>
              </a:rPr>
              <a:t>Giallar</a:t>
            </a:r>
            <a:r>
              <a:rPr sz="2400" b="0" i="0" dirty="0">
                <a:solidFill>
                  <a:srgbClr val="1E2A44"/>
                </a:solidFill>
                <a:latin typeface="Calibri"/>
              </a:rPr>
              <a:t>, and </a:t>
            </a:r>
            <a:r>
              <a:rPr sz="2400" b="0" i="0" dirty="0" err="1">
                <a:solidFill>
                  <a:srgbClr val="1E2A44"/>
                </a:solidFill>
                <a:latin typeface="Calibri"/>
              </a:rPr>
              <a:t>concolic</a:t>
            </a:r>
            <a:r>
              <a:rPr sz="2400" b="0" i="0" dirty="0">
                <a:solidFill>
                  <a:srgbClr val="1E2A44"/>
                </a:solidFill>
                <a:latin typeface="Calibri"/>
              </a:rPr>
              <a:t> testing inspect compiler passes and internal state. [26], [27], [42]</a:t>
            </a:r>
          </a:p>
        </p:txBody>
      </p:sp>
      <p:sp>
        <p:nvSpPr>
          <p:cNvPr id="6" name="Rounded Rectangle 5"/>
          <p:cNvSpPr/>
          <p:nvPr/>
        </p:nvSpPr>
        <p:spPr>
          <a:xfrm>
            <a:off x="573024" y="5102352"/>
            <a:ext cx="11064240" cy="1371600"/>
          </a:xfrm>
          <a:prstGeom prst="roundRect">
            <a:avLst>
              <a:gd name="adj" fmla="val 6000"/>
            </a:avLst>
          </a:prstGeom>
          <a:solidFill>
            <a:srgbClr val="1B3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752703" y="5161049"/>
            <a:ext cx="10515600" cy="1180836"/>
          </a:xfrm>
          <a:prstGeom prst="rect">
            <a:avLst/>
          </a:prstGeom>
          <a:noFill/>
        </p:spPr>
        <p:txBody>
          <a:bodyPr wrap="square" lIns="36576" tIns="18288" rIns="36576" bIns="18288">
            <a:spAutoFit/>
          </a:bodyPr>
          <a:lstStyle/>
          <a:p>
            <a:r>
              <a:rPr b="1" i="0" dirty="0">
                <a:solidFill>
                  <a:srgbClr val="14B8A6"/>
                </a:solidFill>
                <a:latin typeface="Calibri"/>
              </a:rPr>
              <a:t>The gap we fill:</a:t>
            </a:r>
          </a:p>
          <a:p>
            <a:pPr>
              <a:spcBef>
                <a:spcPts val="600"/>
              </a:spcBef>
            </a:pPr>
            <a:r>
              <a:rPr sz="1600" b="1" i="0" dirty="0">
                <a:solidFill>
                  <a:srgbClr val="14B8A6"/>
                </a:solidFill>
                <a:latin typeface="Calibri"/>
              </a:rPr>
              <a:t>▪  </a:t>
            </a:r>
            <a:r>
              <a:rPr sz="1600" b="0" i="0" dirty="0">
                <a:solidFill>
                  <a:srgbClr val="FFFFFF"/>
                </a:solidFill>
                <a:latin typeface="Calibri"/>
              </a:rPr>
              <a:t>Others verify passes and inspect internal state (</a:t>
            </a:r>
            <a:r>
              <a:rPr sz="1600" b="0" i="0" dirty="0" err="1">
                <a:solidFill>
                  <a:srgbClr val="FFFFFF"/>
                </a:solidFill>
                <a:latin typeface="Calibri"/>
              </a:rPr>
              <a:t>Giallar</a:t>
            </a:r>
            <a:r>
              <a:rPr sz="1600" b="0" i="0" dirty="0">
                <a:solidFill>
                  <a:srgbClr val="FFFFFF"/>
                </a:solidFill>
                <a:latin typeface="Calibri"/>
              </a:rPr>
              <a:t>, </a:t>
            </a:r>
            <a:r>
              <a:rPr sz="1600" b="0" i="0" dirty="0" err="1">
                <a:solidFill>
                  <a:srgbClr val="FFFFFF"/>
                </a:solidFill>
                <a:latin typeface="Calibri"/>
              </a:rPr>
              <a:t>CertiQ</a:t>
            </a:r>
            <a:r>
              <a:rPr sz="1600" b="0" i="0" dirty="0">
                <a:solidFill>
                  <a:srgbClr val="FFFFFF"/>
                </a:solidFill>
                <a:latin typeface="Calibri"/>
              </a:rPr>
              <a:t>, </a:t>
            </a:r>
            <a:r>
              <a:rPr sz="1600" b="0" i="0" dirty="0" err="1">
                <a:solidFill>
                  <a:srgbClr val="FFFFFF"/>
                </a:solidFill>
                <a:latin typeface="Calibri"/>
              </a:rPr>
              <a:t>concolic</a:t>
            </a:r>
            <a:r>
              <a:rPr sz="1600" b="0" i="0" dirty="0">
                <a:solidFill>
                  <a:srgbClr val="FFFFFF"/>
                </a:solidFill>
                <a:latin typeface="Calibri"/>
              </a:rPr>
              <a:t>) — so internal observability is feasible. [27], [42], [26]</a:t>
            </a:r>
          </a:p>
          <a:p>
            <a:pPr>
              <a:spcBef>
                <a:spcPts val="400"/>
              </a:spcBef>
            </a:pPr>
            <a:r>
              <a:rPr sz="1600" b="1" i="0" dirty="0">
                <a:solidFill>
                  <a:srgbClr val="14B8A6"/>
                </a:solidFill>
                <a:latin typeface="Calibri"/>
              </a:rPr>
              <a:t>▪  </a:t>
            </a:r>
            <a:r>
              <a:rPr sz="1600" b="0" i="0" dirty="0">
                <a:solidFill>
                  <a:srgbClr val="FFFFFF"/>
                </a:solidFill>
                <a:latin typeface="Calibri"/>
              </a:rPr>
              <a:t>But, to our knowledge, no study turns that into matched regression oracles with budget-aware, leak-free test selection for the </a:t>
            </a:r>
            <a:r>
              <a:rPr sz="1600" b="0" i="0" dirty="0" err="1">
                <a:solidFill>
                  <a:srgbClr val="FFFFFF"/>
                </a:solidFill>
                <a:latin typeface="Calibri"/>
              </a:rPr>
              <a:t>transpiler</a:t>
            </a:r>
            <a:r>
              <a:rPr sz="1600" b="0" i="0" dirty="0">
                <a:solidFill>
                  <a:srgbClr val="FFFFFF"/>
                </a:solidFill>
                <a:latin typeface="Calibri"/>
              </a:rPr>
              <a:t> [3], [14].</a:t>
            </a:r>
          </a:p>
        </p:txBody>
      </p:sp>
      <p:sp>
        <p:nvSpPr>
          <p:cNvPr id="8" name="TextBox 7"/>
          <p:cNvSpPr txBox="1"/>
          <p:nvPr/>
        </p:nvSpPr>
        <p:spPr>
          <a:xfrm>
            <a:off x="640080" y="6473952"/>
            <a:ext cx="9692640" cy="190821"/>
          </a:xfrm>
          <a:prstGeom prst="rect">
            <a:avLst/>
          </a:prstGeom>
          <a:noFill/>
        </p:spPr>
        <p:txBody>
          <a:bodyPr wrap="square" lIns="36576" tIns="18288" rIns="36576" bIns="18288">
            <a:spAutoFit/>
          </a:bodyPr>
          <a:lstStyle/>
          <a:p>
            <a:r>
              <a:rPr sz="1000" b="0" i="0">
                <a:solidFill>
                  <a:srgbClr val="64748C"/>
                </a:solidFill>
                <a:latin typeface="Calibri"/>
              </a:rPr>
              <a:t>PhD Synopsis  ·  A Leakage-Safe Framework for Observability-Aware Regression Testing of Quantum Compilers</a:t>
            </a:r>
          </a:p>
        </p:txBody>
      </p:sp>
      <p:sp>
        <p:nvSpPr>
          <p:cNvPr id="9" name="TextBox 8"/>
          <p:cNvSpPr txBox="1"/>
          <p:nvPr/>
        </p:nvSpPr>
        <p:spPr>
          <a:xfrm>
            <a:off x="11155680" y="6473952"/>
            <a:ext cx="822960" cy="190821"/>
          </a:xfrm>
          <a:prstGeom prst="rect">
            <a:avLst/>
          </a:prstGeom>
          <a:noFill/>
        </p:spPr>
        <p:txBody>
          <a:bodyPr wrap="square" lIns="36576" tIns="18288" rIns="36576" bIns="18288">
            <a:spAutoFit/>
          </a:bodyPr>
          <a:lstStyle/>
          <a:p>
            <a:pPr algn="r"/>
            <a:r>
              <a:rPr sz="1000" b="1" i="0">
                <a:solidFill>
                  <a:srgbClr val="64748C"/>
                </a:solidFill>
                <a:latin typeface="Calibri"/>
              </a:rPr>
              <a:t>9</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35280"/>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LITERATURE</a:t>
            </a:r>
            <a:r>
              <a:rPr sz="1250" b="1" i="0" dirty="0">
                <a:solidFill>
                  <a:srgbClr val="14B8A6"/>
                </a:solidFill>
                <a:latin typeface="Calibri"/>
              </a:rPr>
              <a:t> </a:t>
            </a:r>
            <a:r>
              <a:rPr sz="1600" b="1" i="0" dirty="0">
                <a:solidFill>
                  <a:srgbClr val="14B8A6"/>
                </a:solidFill>
                <a:latin typeface="Calibri"/>
              </a:rPr>
              <a:t>REVIEW</a:t>
            </a:r>
            <a:endParaRPr sz="1250" b="1" i="0" dirty="0">
              <a:solidFill>
                <a:srgbClr val="14B8A6"/>
              </a:solidFill>
              <a:latin typeface="Calibri"/>
            </a:endParaRPr>
          </a:p>
        </p:txBody>
      </p:sp>
      <p:sp>
        <p:nvSpPr>
          <p:cNvPr id="4" name="TextBox 3"/>
          <p:cNvSpPr txBox="1"/>
          <p:nvPr/>
        </p:nvSpPr>
        <p:spPr>
          <a:xfrm>
            <a:off x="640080" y="633387"/>
            <a:ext cx="11155680" cy="590931"/>
          </a:xfrm>
          <a:prstGeom prst="rect">
            <a:avLst/>
          </a:prstGeom>
          <a:noFill/>
        </p:spPr>
        <p:txBody>
          <a:bodyPr wrap="square" lIns="36576" tIns="18288" rIns="36576" bIns="18288">
            <a:spAutoFit/>
          </a:bodyPr>
          <a:lstStyle/>
          <a:p>
            <a:r>
              <a:rPr sz="3600" b="1" i="0" dirty="0">
                <a:solidFill>
                  <a:srgbClr val="1E2A44"/>
                </a:solidFill>
                <a:latin typeface="Cambria"/>
              </a:rPr>
              <a:t>How</a:t>
            </a:r>
            <a:r>
              <a:rPr sz="3200" b="1" i="0" dirty="0">
                <a:solidFill>
                  <a:srgbClr val="1E2A44"/>
                </a:solidFill>
                <a:latin typeface="Cambria"/>
              </a:rPr>
              <a:t> This Work </a:t>
            </a:r>
            <a:r>
              <a:rPr sz="3200" b="1" i="0" dirty="0" smtClean="0">
                <a:solidFill>
                  <a:srgbClr val="1E2A44"/>
                </a:solidFill>
                <a:latin typeface="Cambria"/>
              </a:rPr>
              <a:t>Compares</a:t>
            </a:r>
            <a:endParaRPr sz="3200" b="1" i="0" dirty="0">
              <a:solidFill>
                <a:srgbClr val="1E2A44"/>
              </a:solidFill>
              <a:latin typeface="Cambria"/>
            </a:endParaRPr>
          </a:p>
        </p:txBody>
      </p:sp>
      <p:graphicFrame>
        <p:nvGraphicFramePr>
          <p:cNvPr id="5" name="Table 4"/>
          <p:cNvGraphicFramePr>
            <a:graphicFrameLocks noGrp="1"/>
          </p:cNvGraphicFramePr>
          <p:nvPr>
            <p:extLst>
              <p:ext uri="{D42A27DB-BD31-4B8C-83A1-F6EECF244321}">
                <p14:modId xmlns:p14="http://schemas.microsoft.com/office/powerpoint/2010/main" val="2647538075"/>
              </p:ext>
            </p:extLst>
          </p:nvPr>
        </p:nvGraphicFramePr>
        <p:xfrm>
          <a:off x="603504" y="1162763"/>
          <a:ext cx="11375135" cy="5201460"/>
        </p:xfrm>
        <a:graphic>
          <a:graphicData uri="http://schemas.openxmlformats.org/drawingml/2006/table">
            <a:tbl>
              <a:tblPr>
                <a:tableStyleId>{5C22544A-7EE6-4342-B048-85BDC9FD1C3A}</a:tableStyleId>
              </a:tblPr>
              <a:tblGrid>
                <a:gridCol w="2321456">
                  <a:extLst>
                    <a:ext uri="{9D8B030D-6E8A-4147-A177-3AD203B41FA5}">
                      <a16:colId xmlns:a16="http://schemas.microsoft.com/office/drawing/2014/main" val="20000"/>
                    </a:ext>
                  </a:extLst>
                </a:gridCol>
                <a:gridCol w="2507173">
                  <a:extLst>
                    <a:ext uri="{9D8B030D-6E8A-4147-A177-3AD203B41FA5}">
                      <a16:colId xmlns:a16="http://schemas.microsoft.com/office/drawing/2014/main" val="20001"/>
                    </a:ext>
                  </a:extLst>
                </a:gridCol>
                <a:gridCol w="1253586">
                  <a:extLst>
                    <a:ext uri="{9D8B030D-6E8A-4147-A177-3AD203B41FA5}">
                      <a16:colId xmlns:a16="http://schemas.microsoft.com/office/drawing/2014/main" val="20002"/>
                    </a:ext>
                  </a:extLst>
                </a:gridCol>
                <a:gridCol w="1160728">
                  <a:extLst>
                    <a:ext uri="{9D8B030D-6E8A-4147-A177-3AD203B41FA5}">
                      <a16:colId xmlns:a16="http://schemas.microsoft.com/office/drawing/2014/main" val="20003"/>
                    </a:ext>
                  </a:extLst>
                </a:gridCol>
                <a:gridCol w="1625019">
                  <a:extLst>
                    <a:ext uri="{9D8B030D-6E8A-4147-A177-3AD203B41FA5}">
                      <a16:colId xmlns:a16="http://schemas.microsoft.com/office/drawing/2014/main" val="20004"/>
                    </a:ext>
                  </a:extLst>
                </a:gridCol>
                <a:gridCol w="1439303">
                  <a:extLst>
                    <a:ext uri="{9D8B030D-6E8A-4147-A177-3AD203B41FA5}">
                      <a16:colId xmlns:a16="http://schemas.microsoft.com/office/drawing/2014/main" val="20005"/>
                    </a:ext>
                  </a:extLst>
                </a:gridCol>
                <a:gridCol w="1067870">
                  <a:extLst>
                    <a:ext uri="{9D8B030D-6E8A-4147-A177-3AD203B41FA5}">
                      <a16:colId xmlns:a16="http://schemas.microsoft.com/office/drawing/2014/main" val="20006"/>
                    </a:ext>
                  </a:extLst>
                </a:gridCol>
              </a:tblGrid>
              <a:tr h="472860">
                <a:tc>
                  <a:txBody>
                    <a:bodyPr/>
                    <a:lstStyle/>
                    <a:p>
                      <a:r>
                        <a:rPr sz="1400" b="1">
                          <a:solidFill>
                            <a:srgbClr val="FFFFFF"/>
                          </a:solidFill>
                          <a:latin typeface="Calibri"/>
                        </a:rPr>
                        <a:t>Approach</a:t>
                      </a:r>
                    </a:p>
                  </a:txBody>
                  <a:tcPr marL="54864" marR="54864" marT="18288" marB="18288" anchor="ctr">
                    <a:solidFill>
                      <a:srgbClr val="14264F"/>
                    </a:solidFill>
                  </a:tcPr>
                </a:tc>
                <a:tc>
                  <a:txBody>
                    <a:bodyPr/>
                    <a:lstStyle/>
                    <a:p>
                      <a:r>
                        <a:rPr sz="1400" b="1">
                          <a:solidFill>
                            <a:srgbClr val="FFFFFF"/>
                          </a:solidFill>
                          <a:latin typeface="Calibri"/>
                        </a:rPr>
                        <a:t>Primary goal</a:t>
                      </a:r>
                    </a:p>
                  </a:txBody>
                  <a:tcPr marL="54864" marR="54864" marT="18288" marB="18288" anchor="ctr">
                    <a:solidFill>
                      <a:srgbClr val="14264F"/>
                    </a:solidFill>
                  </a:tcPr>
                </a:tc>
                <a:tc>
                  <a:txBody>
                    <a:bodyPr/>
                    <a:lstStyle/>
                    <a:p>
                      <a:r>
                        <a:rPr sz="1400" b="1">
                          <a:solidFill>
                            <a:srgbClr val="FFFFFF"/>
                          </a:solidFill>
                          <a:latin typeface="Calibri"/>
                        </a:rPr>
                        <a:t>QA oracle</a:t>
                      </a:r>
                    </a:p>
                  </a:txBody>
                  <a:tcPr marL="54864" marR="54864" marT="18288" marB="18288" anchor="ctr">
                    <a:solidFill>
                      <a:srgbClr val="14264F"/>
                    </a:solidFill>
                  </a:tcPr>
                </a:tc>
                <a:tc>
                  <a:txBody>
                    <a:bodyPr/>
                    <a:lstStyle/>
                    <a:p>
                      <a:r>
                        <a:rPr sz="1400" b="1">
                          <a:solidFill>
                            <a:srgbClr val="FFFFFF"/>
                          </a:solidFill>
                          <a:latin typeface="Calibri"/>
                        </a:rPr>
                        <a:t>Cost-aware</a:t>
                      </a:r>
                    </a:p>
                  </a:txBody>
                  <a:tcPr marL="54864" marR="54864" marT="18288" marB="18288" anchor="ctr">
                    <a:solidFill>
                      <a:srgbClr val="14264F"/>
                    </a:solidFill>
                  </a:tcPr>
                </a:tc>
                <a:tc>
                  <a:txBody>
                    <a:bodyPr/>
                    <a:lstStyle/>
                    <a:p>
                      <a:r>
                        <a:rPr sz="1400" b="1">
                          <a:solidFill>
                            <a:srgbClr val="FFFFFF"/>
                          </a:solidFill>
                          <a:latin typeface="Calibri"/>
                        </a:rPr>
                        <a:t>Selects / orders existing</a:t>
                      </a:r>
                    </a:p>
                  </a:txBody>
                  <a:tcPr marL="54864" marR="54864" marT="18288" marB="18288" anchor="ctr">
                    <a:solidFill>
                      <a:srgbClr val="14264F"/>
                    </a:solidFill>
                  </a:tcPr>
                </a:tc>
                <a:tc>
                  <a:txBody>
                    <a:bodyPr/>
                    <a:lstStyle/>
                    <a:p>
                      <a:r>
                        <a:rPr sz="1400" b="1">
                          <a:solidFill>
                            <a:srgbClr val="FFFFFF"/>
                          </a:solidFill>
                          <a:latin typeface="Calibri"/>
                        </a:rPr>
                        <a:t>Leakage-safe temporal</a:t>
                      </a:r>
                    </a:p>
                  </a:txBody>
                  <a:tcPr marL="54864" marR="54864" marT="18288" marB="18288" anchor="ctr">
                    <a:solidFill>
                      <a:srgbClr val="14264F"/>
                    </a:solidFill>
                  </a:tcPr>
                </a:tc>
                <a:tc>
                  <a:txBody>
                    <a:bodyPr/>
                    <a:lstStyle/>
                    <a:p>
                      <a:r>
                        <a:rPr sz="1400" b="1">
                          <a:solidFill>
                            <a:srgbClr val="FFFFFF"/>
                          </a:solidFill>
                          <a:latin typeface="Calibri"/>
                        </a:rPr>
                        <a:t>Cohort sep.</a:t>
                      </a:r>
                    </a:p>
                  </a:txBody>
                  <a:tcPr marL="54864" marR="54864" marT="18288" marB="18288" anchor="ctr">
                    <a:solidFill>
                      <a:srgbClr val="14264F"/>
                    </a:solidFill>
                  </a:tcPr>
                </a:tc>
                <a:extLst>
                  <a:ext uri="{0D108BD9-81ED-4DB2-BD59-A6C34878D82A}">
                    <a16:rowId xmlns:a16="http://schemas.microsoft.com/office/drawing/2014/main" val="10000"/>
                  </a:ext>
                </a:extLst>
              </a:tr>
              <a:tr h="472860">
                <a:tc>
                  <a:txBody>
                    <a:bodyPr/>
                    <a:lstStyle/>
                    <a:p>
                      <a:r>
                        <a:rPr sz="1400">
                          <a:solidFill>
                            <a:srgbClr val="1E2A44"/>
                          </a:solidFill>
                          <a:latin typeface="Calibri"/>
                        </a:rPr>
                        <a:t>Classical RTP/TCP</a:t>
                      </a:r>
                    </a:p>
                  </a:txBody>
                  <a:tcPr marL="54864" marR="54864" marT="18288" marB="18288" anchor="ctr">
                    <a:solidFill>
                      <a:srgbClr val="FFFFFF"/>
                    </a:solidFill>
                  </a:tcPr>
                </a:tc>
                <a:tc>
                  <a:txBody>
                    <a:bodyPr/>
                    <a:lstStyle/>
                    <a:p>
                      <a:r>
                        <a:rPr sz="1400">
                          <a:solidFill>
                            <a:srgbClr val="1E2A44"/>
                          </a:solidFill>
                          <a:latin typeface="Calibri"/>
                        </a:rPr>
                        <a:t>prioritise tests of a program</a:t>
                      </a:r>
                    </a:p>
                  </a:txBody>
                  <a:tcPr marL="54864" marR="54864" marT="18288" marB="18288" anchor="ctr">
                    <a:solidFill>
                      <a:srgbClr val="FFFFFF"/>
                    </a:solidFill>
                  </a:tcPr>
                </a:tc>
                <a:tc>
                  <a:txBody>
                    <a:bodyPr/>
                    <a:lstStyle/>
                    <a:p>
                      <a:r>
                        <a:rPr sz="1400" dirty="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extLst>
                  <a:ext uri="{0D108BD9-81ED-4DB2-BD59-A6C34878D82A}">
                    <a16:rowId xmlns:a16="http://schemas.microsoft.com/office/drawing/2014/main" val="10001"/>
                  </a:ext>
                </a:extLst>
              </a:tr>
              <a:tr h="472860">
                <a:tc>
                  <a:txBody>
                    <a:bodyPr/>
                    <a:lstStyle/>
                    <a:p>
                      <a:r>
                        <a:rPr sz="1400">
                          <a:solidFill>
                            <a:srgbClr val="1E2A44"/>
                          </a:solidFill>
                          <a:latin typeface="Calibri"/>
                        </a:rPr>
                        <a:t>Predictive selection</a:t>
                      </a:r>
                    </a:p>
                  </a:txBody>
                  <a:tcPr marL="54864" marR="54864" marT="18288" marB="18288" anchor="ctr">
                    <a:solidFill>
                      <a:srgbClr val="EFF4FA"/>
                    </a:solidFill>
                  </a:tcPr>
                </a:tc>
                <a:tc>
                  <a:txBody>
                    <a:bodyPr/>
                    <a:lstStyle/>
                    <a:p>
                      <a:r>
                        <a:rPr sz="1400">
                          <a:solidFill>
                            <a:srgbClr val="1E2A44"/>
                          </a:solidFill>
                          <a:latin typeface="Calibri"/>
                        </a:rPr>
                        <a:t>learned selection at scale</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extLst>
                  <a:ext uri="{0D108BD9-81ED-4DB2-BD59-A6C34878D82A}">
                    <a16:rowId xmlns:a16="http://schemas.microsoft.com/office/drawing/2014/main" val="10002"/>
                  </a:ext>
                </a:extLst>
              </a:tr>
              <a:tr h="472860">
                <a:tc>
                  <a:txBody>
                    <a:bodyPr/>
                    <a:lstStyle/>
                    <a:p>
                      <a:r>
                        <a:rPr sz="1400" dirty="0" err="1">
                          <a:solidFill>
                            <a:srgbClr val="1E2A44"/>
                          </a:solidFill>
                          <a:latin typeface="Calibri"/>
                        </a:rPr>
                        <a:t>MorphQ</a:t>
                      </a:r>
                      <a:r>
                        <a:rPr sz="1400" dirty="0">
                          <a:solidFill>
                            <a:srgbClr val="1E2A44"/>
                          </a:solidFill>
                          <a:latin typeface="Calibri"/>
                        </a:rPr>
                        <a:t> / </a:t>
                      </a:r>
                      <a:r>
                        <a:rPr sz="1400" dirty="0" err="1">
                          <a:solidFill>
                            <a:srgbClr val="1E2A44"/>
                          </a:solidFill>
                          <a:latin typeface="Calibri"/>
                        </a:rPr>
                        <a:t>MorphQ</a:t>
                      </a:r>
                      <a:r>
                        <a:rPr sz="1400" dirty="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metamorphic bug finding</a:t>
                      </a:r>
                    </a:p>
                  </a:txBody>
                  <a:tcPr marL="54864" marR="54864" marT="18288" marB="18288" anchor="ctr">
                    <a:solidFill>
                      <a:srgbClr val="FFFFFF"/>
                    </a:solidFill>
                  </a:tcPr>
                </a:tc>
                <a:tc>
                  <a:txBody>
                    <a:bodyPr/>
                    <a:lstStyle/>
                    <a:p>
                      <a:r>
                        <a:rPr sz="1400" dirty="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extLst>
                  <a:ext uri="{0D108BD9-81ED-4DB2-BD59-A6C34878D82A}">
                    <a16:rowId xmlns:a16="http://schemas.microsoft.com/office/drawing/2014/main" val="10003"/>
                  </a:ext>
                </a:extLst>
              </a:tr>
              <a:tr h="472860">
                <a:tc>
                  <a:txBody>
                    <a:bodyPr/>
                    <a:lstStyle/>
                    <a:p>
                      <a:r>
                        <a:rPr sz="1400">
                          <a:solidFill>
                            <a:srgbClr val="1E2A44"/>
                          </a:solidFill>
                          <a:latin typeface="Calibri"/>
                        </a:rPr>
                        <a:t>QuCheck</a:t>
                      </a:r>
                    </a:p>
                  </a:txBody>
                  <a:tcPr marL="54864" marR="54864" marT="18288" marB="18288" anchor="ctr">
                    <a:solidFill>
                      <a:srgbClr val="EFF4FA"/>
                    </a:solidFill>
                  </a:tcPr>
                </a:tc>
                <a:tc>
                  <a:txBody>
                    <a:bodyPr/>
                    <a:lstStyle/>
                    <a:p>
                      <a:r>
                        <a:rPr sz="1400">
                          <a:solidFill>
                            <a:srgbClr val="1E2A44"/>
                          </a:solidFill>
                          <a:latin typeface="Calibri"/>
                        </a:rPr>
                        <a:t>property-based testing</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extLst>
                  <a:ext uri="{0D108BD9-81ED-4DB2-BD59-A6C34878D82A}">
                    <a16:rowId xmlns:a16="http://schemas.microsoft.com/office/drawing/2014/main" val="10004"/>
                  </a:ext>
                </a:extLst>
              </a:tr>
              <a:tr h="472860">
                <a:tc>
                  <a:txBody>
                    <a:bodyPr/>
                    <a:lstStyle/>
                    <a:p>
                      <a:r>
                        <a:rPr sz="1400">
                          <a:solidFill>
                            <a:srgbClr val="1E2A44"/>
                          </a:solidFill>
                          <a:latin typeface="Calibri"/>
                        </a:rPr>
                        <a:t>QEMI</a:t>
                      </a:r>
                    </a:p>
                  </a:txBody>
                  <a:tcPr marL="54864" marR="54864" marT="18288" marB="18288" anchor="ctr">
                    <a:solidFill>
                      <a:srgbClr val="FFFFFF"/>
                    </a:solidFill>
                  </a:tcPr>
                </a:tc>
                <a:tc>
                  <a:txBody>
                    <a:bodyPr/>
                    <a:lstStyle/>
                    <a:p>
                      <a:r>
                        <a:rPr sz="1400">
                          <a:solidFill>
                            <a:srgbClr val="1E2A44"/>
                          </a:solidFill>
                          <a:latin typeface="Calibri"/>
                        </a:rPr>
                        <a:t>EMI stack bug finding</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extLst>
                  <a:ext uri="{0D108BD9-81ED-4DB2-BD59-A6C34878D82A}">
                    <a16:rowId xmlns:a16="http://schemas.microsoft.com/office/drawing/2014/main" val="10005"/>
                  </a:ext>
                </a:extLst>
              </a:tr>
              <a:tr h="472860">
                <a:tc>
                  <a:txBody>
                    <a:bodyPr/>
                    <a:lstStyle/>
                    <a:p>
                      <a:r>
                        <a:rPr sz="1400">
                          <a:solidFill>
                            <a:srgbClr val="1E2A44"/>
                          </a:solidFill>
                          <a:latin typeface="Calibri"/>
                        </a:rPr>
                        <a:t>QDiff</a:t>
                      </a:r>
                    </a:p>
                  </a:txBody>
                  <a:tcPr marL="54864" marR="54864" marT="18288" marB="18288" anchor="ctr">
                    <a:solidFill>
                      <a:srgbClr val="EFF4FA"/>
                    </a:solidFill>
                  </a:tcPr>
                </a:tc>
                <a:tc>
                  <a:txBody>
                    <a:bodyPr/>
                    <a:lstStyle/>
                    <a:p>
                      <a:r>
                        <a:rPr sz="1400">
                          <a:solidFill>
                            <a:srgbClr val="1E2A44"/>
                          </a:solidFill>
                          <a:latin typeface="Calibri"/>
                        </a:rPr>
                        <a:t>differential stack bug finding</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extLst>
                  <a:ext uri="{0D108BD9-81ED-4DB2-BD59-A6C34878D82A}">
                    <a16:rowId xmlns:a16="http://schemas.microsoft.com/office/drawing/2014/main" val="10006"/>
                  </a:ext>
                </a:extLst>
              </a:tr>
              <a:tr h="472860">
                <a:tc>
                  <a:txBody>
                    <a:bodyPr/>
                    <a:lstStyle/>
                    <a:p>
                      <a:r>
                        <a:rPr sz="1400">
                          <a:solidFill>
                            <a:srgbClr val="1E2A44"/>
                          </a:solidFill>
                          <a:latin typeface="Calibri"/>
                        </a:rPr>
                        <a:t>QSPE</a:t>
                      </a:r>
                    </a:p>
                  </a:txBody>
                  <a:tcPr marL="54864" marR="54864" marT="18288" marB="18288" anchor="ctr">
                    <a:solidFill>
                      <a:srgbClr val="FFFFFF"/>
                    </a:solidFill>
                  </a:tcPr>
                </a:tc>
                <a:tc>
                  <a:txBody>
                    <a:bodyPr/>
                    <a:lstStyle/>
                    <a:p>
                      <a:r>
                        <a:rPr sz="1400">
                          <a:solidFill>
                            <a:srgbClr val="1E2A44"/>
                          </a:solidFill>
                          <a:latin typeface="Calibri"/>
                        </a:rPr>
                        <a:t>skeletal-program differential testing</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extLst>
                  <a:ext uri="{0D108BD9-81ED-4DB2-BD59-A6C34878D82A}">
                    <a16:rowId xmlns:a16="http://schemas.microsoft.com/office/drawing/2014/main" val="10007"/>
                  </a:ext>
                </a:extLst>
              </a:tr>
              <a:tr h="472860">
                <a:tc>
                  <a:txBody>
                    <a:bodyPr/>
                    <a:lstStyle/>
                    <a:p>
                      <a:r>
                        <a:rPr sz="1400">
                          <a:solidFill>
                            <a:srgbClr val="1E2A44"/>
                          </a:solidFill>
                          <a:latin typeface="Calibri"/>
                        </a:rPr>
                        <a:t>Giallar</a:t>
                      </a:r>
                    </a:p>
                  </a:txBody>
                  <a:tcPr marL="54864" marR="54864" marT="18288" marB="18288" anchor="ctr">
                    <a:solidFill>
                      <a:srgbClr val="EFF4FA"/>
                    </a:solidFill>
                  </a:tcPr>
                </a:tc>
                <a:tc>
                  <a:txBody>
                    <a:bodyPr/>
                    <a:lstStyle/>
                    <a:p>
                      <a:r>
                        <a:rPr sz="1400">
                          <a:solidFill>
                            <a:srgbClr val="1E2A44"/>
                          </a:solidFill>
                          <a:latin typeface="Calibri"/>
                        </a:rPr>
                        <a:t>formal Qiskit-pass verification</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extLst>
                  <a:ext uri="{0D108BD9-81ED-4DB2-BD59-A6C34878D82A}">
                    <a16:rowId xmlns:a16="http://schemas.microsoft.com/office/drawing/2014/main" val="10008"/>
                  </a:ext>
                </a:extLst>
              </a:tr>
              <a:tr h="472860">
                <a:tc>
                  <a:txBody>
                    <a:bodyPr/>
                    <a:lstStyle/>
                    <a:p>
                      <a:r>
                        <a:rPr sz="1400">
                          <a:solidFill>
                            <a:srgbClr val="1E2A44"/>
                          </a:solidFill>
                          <a:latin typeface="Calibri"/>
                        </a:rPr>
                        <a:t>Benchpress</a:t>
                      </a:r>
                    </a:p>
                  </a:txBody>
                  <a:tcPr marL="54864" marR="54864" marT="18288" marB="18288" anchor="ctr">
                    <a:solidFill>
                      <a:srgbClr val="FFFFFF"/>
                    </a:solidFill>
                  </a:tcPr>
                </a:tc>
                <a:tc>
                  <a:txBody>
                    <a:bodyPr/>
                    <a:lstStyle/>
                    <a:p>
                      <a:r>
                        <a:rPr sz="1400">
                          <a:solidFill>
                            <a:srgbClr val="1E2A44"/>
                          </a:solidFill>
                          <a:latin typeface="Calibri"/>
                        </a:rPr>
                        <a:t>SDK compilation benchmarking</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tc>
                  <a:txBody>
                    <a:bodyPr/>
                    <a:lstStyle/>
                    <a:p>
                      <a:r>
                        <a:rPr sz="1400">
                          <a:solidFill>
                            <a:srgbClr val="1E2A44"/>
                          </a:solidFill>
                          <a:latin typeface="Calibri"/>
                        </a:rPr>
                        <a:t>○</a:t>
                      </a:r>
                    </a:p>
                  </a:txBody>
                  <a:tcPr marL="54864" marR="54864" marT="18288" marB="18288" anchor="ctr">
                    <a:solidFill>
                      <a:srgbClr val="FFFFFF"/>
                    </a:solidFill>
                  </a:tcPr>
                </a:tc>
                <a:extLst>
                  <a:ext uri="{0D108BD9-81ED-4DB2-BD59-A6C34878D82A}">
                    <a16:rowId xmlns:a16="http://schemas.microsoft.com/office/drawing/2014/main" val="10009"/>
                  </a:ext>
                </a:extLst>
              </a:tr>
              <a:tr h="472860">
                <a:tc>
                  <a:txBody>
                    <a:bodyPr/>
                    <a:lstStyle/>
                    <a:p>
                      <a:r>
                        <a:rPr sz="1400">
                          <a:solidFill>
                            <a:srgbClr val="1E2A44"/>
                          </a:solidFill>
                          <a:latin typeface="Calibri"/>
                        </a:rPr>
                        <a:t>This work</a:t>
                      </a:r>
                    </a:p>
                  </a:txBody>
                  <a:tcPr marL="54864" marR="54864" marT="18288" marB="18288" anchor="ctr">
                    <a:solidFill>
                      <a:srgbClr val="EFF4FA"/>
                    </a:solidFill>
                  </a:tcPr>
                </a:tc>
                <a:tc>
                  <a:txBody>
                    <a:bodyPr/>
                    <a:lstStyle/>
                    <a:p>
                      <a:r>
                        <a:rPr sz="1400" dirty="0">
                          <a:solidFill>
                            <a:srgbClr val="1E2A44"/>
                          </a:solidFill>
                          <a:latin typeface="Calibri"/>
                        </a:rPr>
                        <a:t>cost-aware test selection for the </a:t>
                      </a:r>
                      <a:r>
                        <a:rPr sz="1400" dirty="0" err="1">
                          <a:solidFill>
                            <a:srgbClr val="1E2A44"/>
                          </a:solidFill>
                          <a:latin typeface="Calibri"/>
                        </a:rPr>
                        <a:t>transpiler</a:t>
                      </a:r>
                      <a:endParaRPr sz="1400" dirty="0">
                        <a:solidFill>
                          <a:srgbClr val="1E2A44"/>
                        </a:solidFill>
                        <a:latin typeface="Calibri"/>
                      </a:endParaRP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a:solidFill>
                            <a:srgbClr val="1E2A44"/>
                          </a:solidFill>
                          <a:latin typeface="Calibri"/>
                        </a:rPr>
                        <a:t>●</a:t>
                      </a:r>
                    </a:p>
                  </a:txBody>
                  <a:tcPr marL="54864" marR="54864" marT="18288" marB="18288" anchor="ctr">
                    <a:solidFill>
                      <a:srgbClr val="EFF4FA"/>
                    </a:solidFill>
                  </a:tcPr>
                </a:tc>
                <a:tc>
                  <a:txBody>
                    <a:bodyPr/>
                    <a:lstStyle/>
                    <a:p>
                      <a:r>
                        <a:rPr sz="1400" dirty="0">
                          <a:solidFill>
                            <a:srgbClr val="1E2A44"/>
                          </a:solidFill>
                          <a:latin typeface="Calibri"/>
                        </a:rPr>
                        <a:t>●</a:t>
                      </a:r>
                    </a:p>
                  </a:txBody>
                  <a:tcPr marL="54864" marR="54864" marT="18288" marB="18288" anchor="ctr">
                    <a:solidFill>
                      <a:srgbClr val="EFF4FA"/>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640080" y="6501385"/>
            <a:ext cx="9692640" cy="198516"/>
          </a:xfrm>
          <a:prstGeom prst="rect">
            <a:avLst/>
          </a:prstGeom>
          <a:noFill/>
        </p:spPr>
        <p:txBody>
          <a:bodyPr wrap="square" lIns="36576" tIns="18288" rIns="36576" bIns="18288">
            <a:spAutoFit/>
          </a:bodyPr>
          <a:lstStyle/>
          <a:p>
            <a:r>
              <a:rPr sz="1050" b="0" i="0">
                <a:solidFill>
                  <a:srgbClr val="64748C"/>
                </a:solidFill>
                <a:latin typeface="Calibri"/>
              </a:rPr>
              <a:t>PhD Synopsis  ·  A Leakage-Safe Framework for Observability-Aware Regression Testing of Quantum Compilers</a:t>
            </a:r>
          </a:p>
        </p:txBody>
      </p:sp>
      <p:sp>
        <p:nvSpPr>
          <p:cNvPr id="7" name="TextBox 6"/>
          <p:cNvSpPr txBox="1"/>
          <p:nvPr/>
        </p:nvSpPr>
        <p:spPr>
          <a:xfrm>
            <a:off x="11155680" y="6473952"/>
            <a:ext cx="822960" cy="274320"/>
          </a:xfrm>
          <a:prstGeom prst="rect">
            <a:avLst/>
          </a:prstGeom>
          <a:noFill/>
        </p:spPr>
        <p:txBody>
          <a:bodyPr wrap="square" lIns="36576" tIns="18288" rIns="36576" bIns="18288">
            <a:spAutoFit/>
          </a:bodyPr>
          <a:lstStyle/>
          <a:p>
            <a:pPr algn="r"/>
            <a:r>
              <a:rPr sz="850" b="1" i="0">
                <a:solidFill>
                  <a:srgbClr val="64748C"/>
                </a:solidFill>
                <a:latin typeface="Calibri"/>
              </a:rPr>
              <a:t>10</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PROPOSED METHODOLOGY</a:t>
            </a:r>
          </a:p>
        </p:txBody>
      </p:sp>
      <p:sp>
        <p:nvSpPr>
          <p:cNvPr id="4" name="TextBox 3"/>
          <p:cNvSpPr txBox="1"/>
          <p:nvPr/>
        </p:nvSpPr>
        <p:spPr>
          <a:xfrm>
            <a:off x="640080" y="694944"/>
            <a:ext cx="11155680" cy="467820"/>
          </a:xfrm>
          <a:prstGeom prst="rect">
            <a:avLst/>
          </a:prstGeom>
          <a:noFill/>
        </p:spPr>
        <p:txBody>
          <a:bodyPr wrap="square" lIns="36576" tIns="18288" rIns="36576" bIns="18288">
            <a:spAutoFit/>
          </a:bodyPr>
          <a:lstStyle/>
          <a:p>
            <a:r>
              <a:rPr sz="2800" b="1" i="0" dirty="0">
                <a:solidFill>
                  <a:srgbClr val="1E2A44"/>
                </a:solidFill>
                <a:latin typeface="Cambria"/>
              </a:rPr>
              <a:t>The cart </a:t>
            </a:r>
            <a:r>
              <a:rPr sz="2800" b="1" i="0" dirty="0" smtClean="0">
                <a:solidFill>
                  <a:srgbClr val="1E2A44"/>
                </a:solidFill>
                <a:latin typeface="Cambria"/>
              </a:rPr>
              <a:t>Pipelin</a:t>
            </a:r>
            <a:r>
              <a:rPr lang="en-US" sz="2800" b="1" dirty="0">
                <a:solidFill>
                  <a:srgbClr val="1E2A44"/>
                </a:solidFill>
                <a:latin typeface="Cambria"/>
              </a:rPr>
              <a:t>e</a:t>
            </a:r>
            <a:endParaRPr sz="2800" b="1" i="0" dirty="0">
              <a:solidFill>
                <a:srgbClr val="1E2A44"/>
              </a:solidFill>
              <a:latin typeface="Cambria"/>
            </a:endParaRPr>
          </a:p>
        </p:txBody>
      </p:sp>
      <p:sp>
        <p:nvSpPr>
          <p:cNvPr id="6" name="TextBox 5"/>
          <p:cNvSpPr txBox="1"/>
          <p:nvPr/>
        </p:nvSpPr>
        <p:spPr>
          <a:xfrm>
            <a:off x="640080" y="6473952"/>
            <a:ext cx="9692640" cy="274320"/>
          </a:xfrm>
          <a:prstGeom prst="rect">
            <a:avLst/>
          </a:prstGeom>
          <a:noFill/>
        </p:spPr>
        <p:txBody>
          <a:bodyPr wrap="square" lIns="36576" tIns="18288" rIns="36576" bIns="18288">
            <a:spAutoFit/>
          </a:bodyPr>
          <a:lstStyle/>
          <a:p>
            <a:r>
              <a:rPr sz="850" b="0" i="0">
                <a:solidFill>
                  <a:srgbClr val="64748C"/>
                </a:solidFill>
                <a:latin typeface="Calibri"/>
              </a:rPr>
              <a:t>PhD Synopsis  ·  A Leakage-Safe Framework for Observability-Aware Regression Testing of Quantum Compilers</a:t>
            </a:r>
          </a:p>
        </p:txBody>
      </p:sp>
      <p:sp>
        <p:nvSpPr>
          <p:cNvPr id="7" name="TextBox 6"/>
          <p:cNvSpPr txBox="1"/>
          <p:nvPr/>
        </p:nvSpPr>
        <p:spPr>
          <a:xfrm>
            <a:off x="11155680" y="6473952"/>
            <a:ext cx="822960" cy="274320"/>
          </a:xfrm>
          <a:prstGeom prst="rect">
            <a:avLst/>
          </a:prstGeom>
          <a:noFill/>
        </p:spPr>
        <p:txBody>
          <a:bodyPr wrap="square" lIns="36576" tIns="18288" rIns="36576" bIns="18288">
            <a:spAutoFit/>
          </a:bodyPr>
          <a:lstStyle/>
          <a:p>
            <a:pPr algn="r"/>
            <a:r>
              <a:rPr sz="850" b="1" i="0">
                <a:solidFill>
                  <a:srgbClr val="64748C"/>
                </a:solidFill>
                <a:latin typeface="Calibri"/>
              </a:rPr>
              <a:t>11</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587" y="694944"/>
            <a:ext cx="11172825" cy="5796343"/>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301621"/>
          </a:xfrm>
          <a:prstGeom prst="rect">
            <a:avLst/>
          </a:prstGeom>
          <a:noFill/>
        </p:spPr>
        <p:txBody>
          <a:bodyPr wrap="square" lIns="27432" tIns="27432" rIns="27432" bIns="27432">
            <a:spAutoFit/>
          </a:bodyPr>
          <a:lstStyle/>
          <a:p>
            <a:r>
              <a:rPr sz="1600" b="1" i="0" dirty="0">
                <a:solidFill>
                  <a:srgbClr val="14B8A6"/>
                </a:solidFill>
                <a:latin typeface="Calibri"/>
              </a:rPr>
              <a:t>PROPOSED METHODOLOGY</a:t>
            </a:r>
          </a:p>
        </p:txBody>
      </p:sp>
      <p:sp>
        <p:nvSpPr>
          <p:cNvPr id="4" name="TextBox 3"/>
          <p:cNvSpPr txBox="1"/>
          <p:nvPr/>
        </p:nvSpPr>
        <p:spPr>
          <a:xfrm>
            <a:off x="640080" y="694944"/>
            <a:ext cx="11155680" cy="822960"/>
          </a:xfrm>
          <a:prstGeom prst="rect">
            <a:avLst/>
          </a:prstGeom>
          <a:noFill/>
        </p:spPr>
        <p:txBody>
          <a:bodyPr wrap="square" lIns="27432" tIns="27432" rIns="27432" bIns="27432">
            <a:spAutoFit/>
          </a:bodyPr>
          <a:lstStyle/>
          <a:p>
            <a:r>
              <a:rPr sz="2600" b="1" i="0">
                <a:solidFill>
                  <a:srgbClr val="1E2A44"/>
                </a:solidFill>
                <a:latin typeface="Cambria"/>
              </a:rPr>
              <a:t>Which Oracle Detects Which Fault?</a:t>
            </a:r>
          </a:p>
        </p:txBody>
      </p:sp>
      <p:sp>
        <p:nvSpPr>
          <p:cNvPr id="5" name="TextBox 4"/>
          <p:cNvSpPr txBox="1"/>
          <p:nvPr/>
        </p:nvSpPr>
        <p:spPr>
          <a:xfrm>
            <a:off x="640080" y="1444752"/>
            <a:ext cx="11064240" cy="301621"/>
          </a:xfrm>
          <a:prstGeom prst="rect">
            <a:avLst/>
          </a:prstGeom>
          <a:noFill/>
        </p:spPr>
        <p:txBody>
          <a:bodyPr wrap="square" lIns="27432" tIns="27432" rIns="27432" bIns="27432">
            <a:spAutoFit/>
          </a:bodyPr>
          <a:lstStyle/>
          <a:p>
            <a:r>
              <a:rPr sz="1600" b="0" i="1" dirty="0">
                <a:solidFill>
                  <a:srgbClr val="1E2A44"/>
                </a:solidFill>
                <a:latin typeface="Calibri"/>
              </a:rPr>
              <a:t>No single oracle covers all channels — each fault channel needs its matched oracle. “Output oracle” is not one thing.</a:t>
            </a:r>
          </a:p>
        </p:txBody>
      </p:sp>
      <p:graphicFrame>
        <p:nvGraphicFramePr>
          <p:cNvPr id="6" name="Table 5"/>
          <p:cNvGraphicFramePr>
            <a:graphicFrameLocks noGrp="1"/>
          </p:cNvGraphicFramePr>
          <p:nvPr>
            <p:extLst>
              <p:ext uri="{D42A27DB-BD31-4B8C-83A1-F6EECF244321}">
                <p14:modId xmlns:p14="http://schemas.microsoft.com/office/powerpoint/2010/main" val="2060437560"/>
              </p:ext>
            </p:extLst>
          </p:nvPr>
        </p:nvGraphicFramePr>
        <p:xfrm>
          <a:off x="603504" y="2011680"/>
          <a:ext cx="10424160" cy="35966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502920">
                <a:tc>
                  <a:txBody>
                    <a:bodyPr/>
                    <a:lstStyle/>
                    <a:p>
                      <a:r>
                        <a:rPr sz="1400" b="1">
                          <a:solidFill>
                            <a:srgbClr val="FFFFFF"/>
                          </a:solidFill>
                          <a:latin typeface="Calibri"/>
                        </a:rPr>
                        <a:t>Manifestation</a:t>
                      </a:r>
                    </a:p>
                  </a:txBody>
                  <a:tcPr marL="45720" marR="36576" anchor="ctr">
                    <a:solidFill>
                      <a:srgbClr val="14264F"/>
                    </a:solidFill>
                  </a:tcPr>
                </a:tc>
                <a:tc>
                  <a:txBody>
                    <a:bodyPr/>
                    <a:lstStyle/>
                    <a:p>
                      <a:pPr algn="ctr"/>
                      <a:r>
                        <a:rPr sz="1400" b="1">
                          <a:solidFill>
                            <a:srgbClr val="FFFFFF"/>
                          </a:solidFill>
                          <a:latin typeface="Calibri"/>
                        </a:rPr>
                        <a:t>Unitary equiv.</a:t>
                      </a:r>
                    </a:p>
                  </a:txBody>
                  <a:tcPr marL="45720" marR="36576" anchor="ctr">
                    <a:solidFill>
                      <a:srgbClr val="14264F"/>
                    </a:solidFill>
                  </a:tcPr>
                </a:tc>
                <a:tc>
                  <a:txBody>
                    <a:bodyPr/>
                    <a:lstStyle/>
                    <a:p>
                      <a:pPr algn="ctr"/>
                      <a:r>
                        <a:rPr sz="1400" b="1">
                          <a:solidFill>
                            <a:srgbClr val="FFFFFF"/>
                          </a:solidFill>
                          <a:latin typeface="Calibri"/>
                        </a:rPr>
                        <a:t>Compilation</a:t>
                      </a:r>
                    </a:p>
                  </a:txBody>
                  <a:tcPr marL="45720" marR="36576" anchor="ctr">
                    <a:solidFill>
                      <a:srgbClr val="14264F"/>
                    </a:solidFill>
                  </a:tcPr>
                </a:tc>
                <a:tc>
                  <a:txBody>
                    <a:bodyPr/>
                    <a:lstStyle/>
                    <a:p>
                      <a:pPr algn="ctr"/>
                      <a:r>
                        <a:rPr sz="1400" b="1">
                          <a:solidFill>
                            <a:srgbClr val="FFFFFF"/>
                          </a:solidFill>
                          <a:latin typeface="Calibri"/>
                        </a:rPr>
                        <a:t>Quality</a:t>
                      </a:r>
                    </a:p>
                  </a:txBody>
                  <a:tcPr marL="45720" marR="36576" anchor="ctr">
                    <a:solidFill>
                      <a:srgbClr val="14264F"/>
                    </a:solidFill>
                  </a:tcPr>
                </a:tc>
                <a:tc>
                  <a:txBody>
                    <a:bodyPr/>
                    <a:lstStyle/>
                    <a:p>
                      <a:pPr algn="ctr"/>
                      <a:r>
                        <a:rPr sz="1400" b="1">
                          <a:solidFill>
                            <a:srgbClr val="FFFFFF"/>
                          </a:solidFill>
                          <a:latin typeface="Calibri"/>
                        </a:rPr>
                        <a:t>Performance</a:t>
                      </a:r>
                    </a:p>
                  </a:txBody>
                  <a:tcPr marL="45720" marR="36576" anchor="ctr">
                    <a:solidFill>
                      <a:srgbClr val="14264F"/>
                    </a:solidFill>
                  </a:tcPr>
                </a:tc>
                <a:tc>
                  <a:txBody>
                    <a:bodyPr/>
                    <a:lstStyle/>
                    <a:p>
                      <a:pPr algn="ctr"/>
                      <a:r>
                        <a:rPr sz="1400" b="1">
                          <a:solidFill>
                            <a:srgbClr val="FFFFFF"/>
                          </a:solidFill>
                          <a:latin typeface="Calibri"/>
                        </a:rPr>
                        <a:t>Contract</a:t>
                      </a:r>
                    </a:p>
                  </a:txBody>
                  <a:tcPr marL="45720" marR="36576" anchor="ctr">
                    <a:solidFill>
                      <a:srgbClr val="14264F"/>
                    </a:solidFill>
                  </a:tcPr>
                </a:tc>
                <a:tc>
                  <a:txBody>
                    <a:bodyPr/>
                    <a:lstStyle/>
                    <a:p>
                      <a:pPr algn="ctr"/>
                      <a:r>
                        <a:rPr sz="1400" b="1">
                          <a:solidFill>
                            <a:srgbClr val="FFFFFF"/>
                          </a:solidFill>
                          <a:latin typeface="Calibri"/>
                        </a:rPr>
                        <a:t>Determinism</a:t>
                      </a:r>
                    </a:p>
                  </a:txBody>
                  <a:tcPr marL="45720" marR="36576" anchor="ctr">
                    <a:solidFill>
                      <a:srgbClr val="14264F"/>
                    </a:solidFill>
                  </a:tcPr>
                </a:tc>
                <a:extLst>
                  <a:ext uri="{0D108BD9-81ED-4DB2-BD59-A6C34878D82A}">
                    <a16:rowId xmlns:a16="http://schemas.microsoft.com/office/drawing/2014/main" val="10000"/>
                  </a:ext>
                </a:extLst>
              </a:tr>
              <a:tr h="502920">
                <a:tc>
                  <a:txBody>
                    <a:bodyPr/>
                    <a:lstStyle/>
                    <a:p>
                      <a:r>
                        <a:rPr sz="1600" b="1">
                          <a:solidFill>
                            <a:srgbClr val="1E2A44"/>
                          </a:solidFill>
                          <a:latin typeface="Calibri"/>
                        </a:rPr>
                        <a:t>Semantic difference</a:t>
                      </a:r>
                    </a:p>
                  </a:txBody>
                  <a:tcPr marL="45720" marR="36576" anchor="ctr">
                    <a:solidFill>
                      <a:srgbClr val="FFFFFF"/>
                    </a:solidFill>
                  </a:tcPr>
                </a:tc>
                <a:tc>
                  <a:txBody>
                    <a:bodyPr/>
                    <a:lstStyle/>
                    <a:p>
                      <a:pPr algn="ctr"/>
                      <a:r>
                        <a:rPr sz="1600" b="1">
                          <a:solidFill>
                            <a:srgbClr val="0E7C7B"/>
                          </a:solidFill>
                          <a:latin typeface="Calibri"/>
                        </a:rPr>
                        <a:t>Yes</a:t>
                      </a:r>
                    </a:p>
                  </a:txBody>
                  <a:tcPr marL="45720" marR="36576" anchor="ctr">
                    <a:solidFill>
                      <a:srgbClr val="FFFFFF"/>
                    </a:solidFill>
                  </a:tcPr>
                </a:tc>
                <a:tc>
                  <a:txBody>
                    <a:bodyPr/>
                    <a:lstStyle/>
                    <a:p>
                      <a:pPr algn="ctr"/>
                      <a:r>
                        <a:rPr sz="1600">
                          <a:solidFill>
                            <a:srgbClr val="1E2A44"/>
                          </a:solidFill>
                          <a:latin typeface="Calibri"/>
                        </a:rPr>
                        <a:t>Sometimes</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extLst>
                  <a:ext uri="{0D108BD9-81ED-4DB2-BD59-A6C34878D82A}">
                    <a16:rowId xmlns:a16="http://schemas.microsoft.com/office/drawing/2014/main" val="10001"/>
                  </a:ext>
                </a:extLst>
              </a:tr>
              <a:tr h="502920">
                <a:tc>
                  <a:txBody>
                    <a:bodyPr/>
                    <a:lstStyle/>
                    <a:p>
                      <a:r>
                        <a:rPr sz="1600" b="1">
                          <a:solidFill>
                            <a:srgbClr val="1E2A44"/>
                          </a:solidFill>
                          <a:latin typeface="Calibri"/>
                        </a:rPr>
                        <a:t>Compilation failure</a:t>
                      </a:r>
                    </a:p>
                  </a:txBody>
                  <a:tcPr marL="45720" marR="36576" anchor="ctr">
                    <a:solidFill>
                      <a:srgbClr val="F2F5FA"/>
                    </a:solidFill>
                  </a:tcPr>
                </a:tc>
                <a:tc>
                  <a:txBody>
                    <a:bodyPr/>
                    <a:lstStyle/>
                    <a:p>
                      <a:pPr algn="ctr"/>
                      <a:r>
                        <a:rPr sz="1600">
                          <a:solidFill>
                            <a:srgbClr val="1E2A44"/>
                          </a:solidFill>
                          <a:latin typeface="Calibri"/>
                        </a:rPr>
                        <a:t>N/A</a:t>
                      </a:r>
                    </a:p>
                  </a:txBody>
                  <a:tcPr marL="45720" marR="36576" anchor="ctr">
                    <a:solidFill>
                      <a:srgbClr val="F2F5FA"/>
                    </a:solidFill>
                  </a:tcPr>
                </a:tc>
                <a:tc>
                  <a:txBody>
                    <a:bodyPr/>
                    <a:lstStyle/>
                    <a:p>
                      <a:pPr algn="ctr"/>
                      <a:r>
                        <a:rPr sz="1600" b="1">
                          <a:solidFill>
                            <a:srgbClr val="0E7C7B"/>
                          </a:solidFill>
                          <a:latin typeface="Calibri"/>
                        </a:rPr>
                        <a:t>Yes</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extLst>
                  <a:ext uri="{0D108BD9-81ED-4DB2-BD59-A6C34878D82A}">
                    <a16:rowId xmlns:a16="http://schemas.microsoft.com/office/drawing/2014/main" val="10002"/>
                  </a:ext>
                </a:extLst>
              </a:tr>
              <a:tr h="502920">
                <a:tc>
                  <a:txBody>
                    <a:bodyPr/>
                    <a:lstStyle/>
                    <a:p>
                      <a:r>
                        <a:rPr sz="1600" b="1">
                          <a:solidFill>
                            <a:srgbClr val="1E2A44"/>
                          </a:solidFill>
                          <a:latin typeface="Calibri"/>
                        </a:rPr>
                        <a:t>Circuit-quality regression</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b="1">
                          <a:solidFill>
                            <a:srgbClr val="0E7C7B"/>
                          </a:solidFill>
                          <a:latin typeface="Calibri"/>
                        </a:rPr>
                        <a:t>Yes</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extLst>
                  <a:ext uri="{0D108BD9-81ED-4DB2-BD59-A6C34878D82A}">
                    <a16:rowId xmlns:a16="http://schemas.microsoft.com/office/drawing/2014/main" val="10003"/>
                  </a:ext>
                </a:extLst>
              </a:tr>
              <a:tr h="502920">
                <a:tc>
                  <a:txBody>
                    <a:bodyPr/>
                    <a:lstStyle/>
                    <a:p>
                      <a:r>
                        <a:rPr sz="1600" b="1">
                          <a:solidFill>
                            <a:srgbClr val="1E2A44"/>
                          </a:solidFill>
                          <a:latin typeface="Calibri"/>
                        </a:rPr>
                        <a:t>Performance regression</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tc>
                  <a:txBody>
                    <a:bodyPr/>
                    <a:lstStyle/>
                    <a:p>
                      <a:pPr algn="ctr"/>
                      <a:r>
                        <a:rPr sz="1600" b="1">
                          <a:solidFill>
                            <a:srgbClr val="0E7C7B"/>
                          </a:solidFill>
                          <a:latin typeface="Calibri"/>
                        </a:rPr>
                        <a:t>Yes</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extLst>
                  <a:ext uri="{0D108BD9-81ED-4DB2-BD59-A6C34878D82A}">
                    <a16:rowId xmlns:a16="http://schemas.microsoft.com/office/drawing/2014/main" val="10004"/>
                  </a:ext>
                </a:extLst>
              </a:tr>
              <a:tr h="502920">
                <a:tc>
                  <a:txBody>
                    <a:bodyPr/>
                    <a:lstStyle/>
                    <a:p>
                      <a:r>
                        <a:rPr sz="1600" b="1">
                          <a:solidFill>
                            <a:srgbClr val="1E2A44"/>
                          </a:solidFill>
                          <a:latin typeface="Calibri"/>
                        </a:rPr>
                        <a:t>Contract/metadata corruption</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a:solidFill>
                            <a:srgbClr val="1E2A44"/>
                          </a:solidFill>
                          <a:latin typeface="Calibri"/>
                        </a:rPr>
                        <a:t>No</a:t>
                      </a:r>
                    </a:p>
                  </a:txBody>
                  <a:tcPr marL="45720" marR="36576" anchor="ctr">
                    <a:solidFill>
                      <a:srgbClr val="FFFFFF"/>
                    </a:solidFill>
                  </a:tcPr>
                </a:tc>
                <a:tc>
                  <a:txBody>
                    <a:bodyPr/>
                    <a:lstStyle/>
                    <a:p>
                      <a:pPr algn="ctr"/>
                      <a:r>
                        <a:rPr sz="1600" b="1">
                          <a:solidFill>
                            <a:srgbClr val="0E7C7B"/>
                          </a:solidFill>
                          <a:latin typeface="Calibri"/>
                        </a:rPr>
                        <a:t>Yes</a:t>
                      </a:r>
                    </a:p>
                  </a:txBody>
                  <a:tcPr marL="45720" marR="36576" anchor="ctr">
                    <a:solidFill>
                      <a:srgbClr val="FFFFFF"/>
                    </a:solidFill>
                  </a:tcPr>
                </a:tc>
                <a:tc>
                  <a:txBody>
                    <a:bodyPr/>
                    <a:lstStyle/>
                    <a:p>
                      <a:pPr algn="ctr"/>
                      <a:r>
                        <a:rPr sz="1600">
                          <a:solidFill>
                            <a:srgbClr val="1E2A44"/>
                          </a:solidFill>
                          <a:latin typeface="Calibri"/>
                        </a:rPr>
                        <a:t>Sometimes</a:t>
                      </a:r>
                    </a:p>
                  </a:txBody>
                  <a:tcPr marL="45720" marR="36576" anchor="ctr">
                    <a:solidFill>
                      <a:srgbClr val="FFFFFF"/>
                    </a:solidFill>
                  </a:tcPr>
                </a:tc>
                <a:extLst>
                  <a:ext uri="{0D108BD9-81ED-4DB2-BD59-A6C34878D82A}">
                    <a16:rowId xmlns:a16="http://schemas.microsoft.com/office/drawing/2014/main" val="10005"/>
                  </a:ext>
                </a:extLst>
              </a:tr>
              <a:tr h="502920">
                <a:tc>
                  <a:txBody>
                    <a:bodyPr/>
                    <a:lstStyle/>
                    <a:p>
                      <a:r>
                        <a:rPr sz="1600" b="1">
                          <a:solidFill>
                            <a:srgbClr val="1E2A44"/>
                          </a:solidFill>
                          <a:latin typeface="Calibri"/>
                        </a:rPr>
                        <a:t>Non-determinism</a:t>
                      </a:r>
                    </a:p>
                  </a:txBody>
                  <a:tcPr marL="45720" marR="36576" anchor="ctr">
                    <a:solidFill>
                      <a:srgbClr val="F2F5FA"/>
                    </a:solidFill>
                  </a:tcPr>
                </a:tc>
                <a:tc>
                  <a:txBody>
                    <a:bodyPr/>
                    <a:lstStyle/>
                    <a:p>
                      <a:pPr algn="ctr"/>
                      <a:r>
                        <a:rPr sz="1600">
                          <a:solidFill>
                            <a:srgbClr val="1E2A44"/>
                          </a:solidFill>
                          <a:latin typeface="Calibri"/>
                        </a:rPr>
                        <a:t>Not in 1 run</a:t>
                      </a:r>
                    </a:p>
                  </a:txBody>
                  <a:tcPr marL="45720" marR="36576" anchor="ctr">
                    <a:solidFill>
                      <a:srgbClr val="F2F5FA"/>
                    </a:solidFill>
                  </a:tcPr>
                </a:tc>
                <a:tc>
                  <a:txBody>
                    <a:bodyPr/>
                    <a:lstStyle/>
                    <a:p>
                      <a:pPr algn="ctr"/>
                      <a:r>
                        <a:rPr sz="1600">
                          <a:solidFill>
                            <a:srgbClr val="1E2A44"/>
                          </a:solidFill>
                          <a:latin typeface="Calibri"/>
                        </a:rPr>
                        <a:t>No</a:t>
                      </a:r>
                    </a:p>
                  </a:txBody>
                  <a:tcPr marL="45720" marR="36576" anchor="ctr">
                    <a:solidFill>
                      <a:srgbClr val="F2F5FA"/>
                    </a:solidFill>
                  </a:tcPr>
                </a:tc>
                <a:tc>
                  <a:txBody>
                    <a:bodyPr/>
                    <a:lstStyle/>
                    <a:p>
                      <a:pPr algn="ctr"/>
                      <a:r>
                        <a:rPr sz="1600">
                          <a:solidFill>
                            <a:srgbClr val="1E2A44"/>
                          </a:solidFill>
                          <a:latin typeface="Calibri"/>
                        </a:rPr>
                        <a:t>Sometimes</a:t>
                      </a:r>
                    </a:p>
                  </a:txBody>
                  <a:tcPr marL="45720" marR="36576" anchor="ctr">
                    <a:solidFill>
                      <a:srgbClr val="F2F5FA"/>
                    </a:solidFill>
                  </a:tcPr>
                </a:tc>
                <a:tc>
                  <a:txBody>
                    <a:bodyPr/>
                    <a:lstStyle/>
                    <a:p>
                      <a:pPr algn="ctr"/>
                      <a:r>
                        <a:rPr sz="1600">
                          <a:solidFill>
                            <a:srgbClr val="1E2A44"/>
                          </a:solidFill>
                          <a:latin typeface="Calibri"/>
                        </a:rPr>
                        <a:t>Sometimes</a:t>
                      </a:r>
                    </a:p>
                  </a:txBody>
                  <a:tcPr marL="45720" marR="36576" anchor="ctr">
                    <a:solidFill>
                      <a:srgbClr val="F2F5FA"/>
                    </a:solidFill>
                  </a:tcPr>
                </a:tc>
                <a:tc>
                  <a:txBody>
                    <a:bodyPr/>
                    <a:lstStyle/>
                    <a:p>
                      <a:pPr algn="ctr"/>
                      <a:r>
                        <a:rPr sz="1600">
                          <a:solidFill>
                            <a:srgbClr val="1E2A44"/>
                          </a:solidFill>
                          <a:latin typeface="Calibri"/>
                        </a:rPr>
                        <a:t>Sometimes</a:t>
                      </a:r>
                    </a:p>
                  </a:txBody>
                  <a:tcPr marL="45720" marR="36576" anchor="ctr">
                    <a:solidFill>
                      <a:srgbClr val="F2F5FA"/>
                    </a:solidFill>
                  </a:tcPr>
                </a:tc>
                <a:tc>
                  <a:txBody>
                    <a:bodyPr/>
                    <a:lstStyle/>
                    <a:p>
                      <a:pPr algn="ctr"/>
                      <a:r>
                        <a:rPr sz="1600" b="1" dirty="0">
                          <a:solidFill>
                            <a:srgbClr val="0E7C7B"/>
                          </a:solidFill>
                          <a:latin typeface="Calibri"/>
                        </a:rPr>
                        <a:t>Yes</a:t>
                      </a:r>
                    </a:p>
                  </a:txBody>
                  <a:tcPr marL="45720" marR="36576" anchor="ctr">
                    <a:solidFill>
                      <a:srgbClr val="F2F5FA"/>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603504" y="5644896"/>
            <a:ext cx="10424160" cy="547842"/>
          </a:xfrm>
          <a:prstGeom prst="rect">
            <a:avLst/>
          </a:prstGeom>
          <a:noFill/>
        </p:spPr>
        <p:txBody>
          <a:bodyPr wrap="square" lIns="27432" tIns="27432" rIns="27432" bIns="27432">
            <a:spAutoFit/>
          </a:bodyPr>
          <a:lstStyle/>
          <a:p>
            <a:r>
              <a:rPr sz="1600" i="1" dirty="0">
                <a:solidFill>
                  <a:srgbClr val="64748C"/>
                </a:solidFill>
                <a:latin typeface="Calibri"/>
              </a:rPr>
              <a:t>Contract and determinism channels are not covered by the reference black-box regression screen. The framework </a:t>
            </a:r>
            <a:r>
              <a:rPr sz="1600" i="1" dirty="0" err="1">
                <a:solidFill>
                  <a:srgbClr val="64748C"/>
                </a:solidFill>
                <a:latin typeface="Calibri"/>
              </a:rPr>
              <a:t>operationalises</a:t>
            </a:r>
            <a:r>
              <a:rPr sz="1600" i="1" dirty="0">
                <a:solidFill>
                  <a:srgbClr val="64748C"/>
                </a:solidFill>
                <a:latin typeface="Calibri"/>
              </a:rPr>
              <a:t> matched checks for them — and we demonstrate that a matched contract oracle can close the gap for H1.</a:t>
            </a:r>
          </a:p>
        </p:txBody>
      </p:sp>
      <p:sp>
        <p:nvSpPr>
          <p:cNvPr id="8" name="TextBox 7"/>
          <p:cNvSpPr txBox="1"/>
          <p:nvPr/>
        </p:nvSpPr>
        <p:spPr>
          <a:xfrm>
            <a:off x="11155680" y="6473952"/>
            <a:ext cx="822960" cy="274320"/>
          </a:xfrm>
          <a:prstGeom prst="rect">
            <a:avLst/>
          </a:prstGeom>
          <a:noFill/>
        </p:spPr>
        <p:txBody>
          <a:bodyPr wrap="square" lIns="27432" tIns="27432" rIns="27432" bIns="27432">
            <a:spAutoFit/>
          </a:bodyPr>
          <a:lstStyle/>
          <a:p>
            <a:pPr algn="r"/>
            <a:r>
              <a:rPr sz="850" b="1" i="0">
                <a:solidFill>
                  <a:srgbClr val="64748C"/>
                </a:solidFill>
                <a:latin typeface="Calibri"/>
              </a:rPr>
              <a:t>12</a:t>
            </a:r>
          </a:p>
        </p:txBody>
      </p:sp>
      <p:sp>
        <p:nvSpPr>
          <p:cNvPr id="9" name="TextBox 8"/>
          <p:cNvSpPr txBox="1"/>
          <p:nvPr/>
        </p:nvSpPr>
        <p:spPr>
          <a:xfrm>
            <a:off x="640080" y="6473952"/>
            <a:ext cx="9692640" cy="274320"/>
          </a:xfrm>
          <a:prstGeom prst="rect">
            <a:avLst/>
          </a:prstGeom>
          <a:noFill/>
        </p:spPr>
        <p:txBody>
          <a:bodyPr wrap="square" lIns="27432" tIns="27432" rIns="27432" bIns="27432">
            <a:spAutoFit/>
          </a:bodyPr>
          <a:lstStyle/>
          <a:p>
            <a:r>
              <a:rPr sz="850" b="0" i="0">
                <a:solidFill>
                  <a:srgbClr val="64748C"/>
                </a:solidFill>
                <a:latin typeface="Calibri"/>
              </a:rPr>
              <a:t>PhD Synopsis  ·  A Leakage-Safe Framework for Observability-Aware Regression Testing of Quantum Compilers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1962"/>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PROPOSED METHODOLOGY</a:t>
            </a:r>
          </a:p>
        </p:txBody>
      </p:sp>
      <p:sp>
        <p:nvSpPr>
          <p:cNvPr id="4" name="TextBox 3"/>
          <p:cNvSpPr txBox="1"/>
          <p:nvPr/>
        </p:nvSpPr>
        <p:spPr>
          <a:xfrm>
            <a:off x="640080" y="694944"/>
            <a:ext cx="11155680" cy="590931"/>
          </a:xfrm>
          <a:prstGeom prst="rect">
            <a:avLst/>
          </a:prstGeom>
          <a:noFill/>
        </p:spPr>
        <p:txBody>
          <a:bodyPr wrap="square" lIns="36576" tIns="18288" rIns="36576" bIns="18288">
            <a:spAutoFit/>
          </a:bodyPr>
          <a:lstStyle/>
          <a:p>
            <a:r>
              <a:rPr sz="3600" b="1" i="0" dirty="0">
                <a:solidFill>
                  <a:srgbClr val="1E2A44"/>
                </a:solidFill>
                <a:latin typeface="Cambria"/>
              </a:rPr>
              <a:t>The Test Selector (</a:t>
            </a:r>
            <a:r>
              <a:rPr sz="3600" b="1" i="0" dirty="0" err="1">
                <a:solidFill>
                  <a:srgbClr val="1E2A44"/>
                </a:solidFill>
                <a:latin typeface="Cambria"/>
              </a:rPr>
              <a:t>risk_score</a:t>
            </a:r>
            <a:r>
              <a:rPr sz="3600" b="1" i="0" dirty="0">
                <a:solidFill>
                  <a:srgbClr val="1E2A44"/>
                </a:solidFill>
                <a:latin typeface="Cambria"/>
              </a:rPr>
              <a:t>)</a:t>
            </a:r>
          </a:p>
        </p:txBody>
      </p:sp>
      <p:sp>
        <p:nvSpPr>
          <p:cNvPr id="8" name="TextBox 7"/>
          <p:cNvSpPr txBox="1"/>
          <p:nvPr/>
        </p:nvSpPr>
        <p:spPr>
          <a:xfrm>
            <a:off x="640080" y="6605217"/>
            <a:ext cx="9692640" cy="221599"/>
          </a:xfrm>
          <a:prstGeom prst="rect">
            <a:avLst/>
          </a:prstGeom>
          <a:noFill/>
        </p:spPr>
        <p:txBody>
          <a:bodyPr wrap="square" lIns="36576" tIns="18288" rIns="36576" bIns="18288">
            <a:spAutoFit/>
          </a:bodyPr>
          <a:lstStyle/>
          <a:p>
            <a:r>
              <a:rPr sz="1200" b="0" i="0" dirty="0">
                <a:solidFill>
                  <a:srgbClr val="64748C"/>
                </a:solidFill>
                <a:latin typeface="Calibri"/>
              </a:rPr>
              <a:t>PhD Synopsis  ·  A Leakage-Safe Framework for Observability-Aware Regression Testing of Quantum Compilers</a:t>
            </a:r>
          </a:p>
        </p:txBody>
      </p:sp>
      <p:sp>
        <p:nvSpPr>
          <p:cNvPr id="9" name="TextBox 8"/>
          <p:cNvSpPr txBox="1"/>
          <p:nvPr/>
        </p:nvSpPr>
        <p:spPr>
          <a:xfrm>
            <a:off x="11155680" y="6473952"/>
            <a:ext cx="822960" cy="190821"/>
          </a:xfrm>
          <a:prstGeom prst="rect">
            <a:avLst/>
          </a:prstGeom>
          <a:noFill/>
        </p:spPr>
        <p:txBody>
          <a:bodyPr wrap="square" lIns="36576" tIns="18288" rIns="36576" bIns="18288">
            <a:spAutoFit/>
          </a:bodyPr>
          <a:lstStyle/>
          <a:p>
            <a:pPr algn="r"/>
            <a:r>
              <a:rPr sz="1000" b="1" i="0">
                <a:solidFill>
                  <a:srgbClr val="64748C"/>
                </a:solidFill>
                <a:latin typeface="Calibri"/>
              </a:rPr>
              <a:t>13</a:t>
            </a:r>
          </a:p>
        </p:txBody>
      </p:sp>
      <p:sp>
        <p:nvSpPr>
          <p:cNvPr id="10" name="TextBox 9"/>
          <p:cNvSpPr txBox="1"/>
          <p:nvPr/>
        </p:nvSpPr>
        <p:spPr>
          <a:xfrm>
            <a:off x="640080" y="1481328"/>
            <a:ext cx="11064240" cy="364715"/>
          </a:xfrm>
          <a:prstGeom prst="rect">
            <a:avLst/>
          </a:prstGeom>
          <a:noFill/>
        </p:spPr>
        <p:txBody>
          <a:bodyPr wrap="square" lIns="36576" tIns="36576" rIns="36576" bIns="36576" anchor="t">
            <a:spAutoFit/>
          </a:bodyPr>
          <a:lstStyle/>
          <a:p>
            <a:pPr algn="l">
              <a:lnSpc>
                <a:spcPct val="105000"/>
              </a:lnSpc>
              <a:spcAft>
                <a:spcPts val="300"/>
              </a:spcAft>
            </a:pPr>
            <a:r>
              <a:rPr b="0" i="1">
                <a:solidFill>
                  <a:srgbClr val="1E2A44"/>
                </a:solidFill>
                <a:latin typeface="Calibri"/>
              </a:rPr>
              <a:t>Rank every candidate test by its expected value per unit cost, then run the highest-scoring first.</a:t>
            </a:r>
          </a:p>
        </p:txBody>
      </p:sp>
      <p:sp>
        <p:nvSpPr>
          <p:cNvPr id="11" name="Rounded Rectangle 10"/>
          <p:cNvSpPr/>
          <p:nvPr/>
        </p:nvSpPr>
        <p:spPr>
          <a:xfrm>
            <a:off x="640080" y="2011680"/>
            <a:ext cx="6903720" cy="1965960"/>
          </a:xfrm>
          <a:prstGeom prst="roundRect">
            <a:avLst/>
          </a:prstGeom>
          <a:solidFill>
            <a:srgbClr val="EAF4F3"/>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841248" y="2130552"/>
            <a:ext cx="6537960" cy="1804597"/>
          </a:xfrm>
          <a:prstGeom prst="rect">
            <a:avLst/>
          </a:prstGeom>
          <a:noFill/>
        </p:spPr>
        <p:txBody>
          <a:bodyPr wrap="square" lIns="36576" tIns="36576" rIns="36576" bIns="36576" anchor="t">
            <a:spAutoFit/>
          </a:bodyPr>
          <a:lstStyle/>
          <a:p>
            <a:pPr algn="l">
              <a:lnSpc>
                <a:spcPct val="105000"/>
              </a:lnSpc>
              <a:spcAft>
                <a:spcPts val="700"/>
              </a:spcAft>
            </a:pPr>
            <a:r>
              <a:rPr sz="2400" b="1" i="0" dirty="0">
                <a:solidFill>
                  <a:srgbClr val="0E7C7B"/>
                </a:solidFill>
                <a:latin typeface="Calibri"/>
              </a:rPr>
              <a:t>VALUE</a:t>
            </a:r>
            <a:r>
              <a:rPr sz="2000" b="0" i="0" dirty="0">
                <a:solidFill>
                  <a:srgbClr val="64748C"/>
                </a:solidFill>
                <a:latin typeface="Calibri"/>
              </a:rPr>
              <a:t>   how much a test is worth running</a:t>
            </a:r>
          </a:p>
          <a:p>
            <a:pPr algn="l">
              <a:lnSpc>
                <a:spcPct val="105000"/>
              </a:lnSpc>
              <a:spcAft>
                <a:spcPts val="700"/>
              </a:spcAft>
            </a:pPr>
            <a:r>
              <a:rPr sz="2000" b="1" i="0" dirty="0">
                <a:solidFill>
                  <a:srgbClr val="1E2A44"/>
                </a:solidFill>
                <a:latin typeface="Calibri"/>
              </a:rPr>
              <a:t>chance it catches the fault  ×  how much the fault matters  ×  how trustworthy the check is  ×  novelty</a:t>
            </a:r>
          </a:p>
          <a:p>
            <a:pPr algn="l">
              <a:lnSpc>
                <a:spcPct val="105000"/>
              </a:lnSpc>
              <a:spcAft>
                <a:spcPts val="700"/>
              </a:spcAft>
            </a:pPr>
            <a:r>
              <a:rPr sz="1600" b="0" i="1" dirty="0">
                <a:solidFill>
                  <a:srgbClr val="64748C"/>
                </a:solidFill>
                <a:latin typeface="Calibri"/>
              </a:rPr>
              <a:t>factors: change-stage match · circuit/backend sensitivity · criticality · historical risk · oracle confidence · novelty</a:t>
            </a:r>
          </a:p>
        </p:txBody>
      </p:sp>
      <p:sp>
        <p:nvSpPr>
          <p:cNvPr id="13" name="TextBox 12"/>
          <p:cNvSpPr txBox="1"/>
          <p:nvPr/>
        </p:nvSpPr>
        <p:spPr>
          <a:xfrm>
            <a:off x="7589520" y="2547069"/>
            <a:ext cx="548640" cy="849463"/>
          </a:xfrm>
          <a:prstGeom prst="rect">
            <a:avLst/>
          </a:prstGeom>
          <a:noFill/>
        </p:spPr>
        <p:txBody>
          <a:bodyPr wrap="square" lIns="36576" tIns="36576" rIns="36576" bIns="36576" anchor="ctr">
            <a:spAutoFit/>
          </a:bodyPr>
          <a:lstStyle/>
          <a:p>
            <a:pPr algn="ctr">
              <a:lnSpc>
                <a:spcPct val="105000"/>
              </a:lnSpc>
              <a:spcAft>
                <a:spcPts val="300"/>
              </a:spcAft>
            </a:pPr>
            <a:r>
              <a:rPr sz="4800" b="1" i="0">
                <a:solidFill>
                  <a:srgbClr val="14B8A6"/>
                </a:solidFill>
                <a:latin typeface="Calibri"/>
              </a:rPr>
              <a:t>÷</a:t>
            </a:r>
          </a:p>
        </p:txBody>
      </p:sp>
      <p:sp>
        <p:nvSpPr>
          <p:cNvPr id="14" name="Rounded Rectangle 13"/>
          <p:cNvSpPr/>
          <p:nvPr/>
        </p:nvSpPr>
        <p:spPr>
          <a:xfrm>
            <a:off x="8183879" y="2011680"/>
            <a:ext cx="3520440" cy="1965960"/>
          </a:xfrm>
          <a:prstGeom prst="roundRect">
            <a:avLst/>
          </a:prstGeom>
          <a:solidFill>
            <a:srgbClr val="F2F5FA"/>
          </a:solidFill>
          <a:ln w="15875">
            <a:solidFill>
              <a:srgbClr val="1426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8385048" y="2240280"/>
            <a:ext cx="3154680" cy="1507079"/>
          </a:xfrm>
          <a:prstGeom prst="rect">
            <a:avLst/>
          </a:prstGeom>
          <a:noFill/>
        </p:spPr>
        <p:txBody>
          <a:bodyPr wrap="square" lIns="36576" tIns="36576" rIns="36576" bIns="36576" anchor="t">
            <a:spAutoFit/>
          </a:bodyPr>
          <a:lstStyle/>
          <a:p>
            <a:pPr algn="l">
              <a:lnSpc>
                <a:spcPct val="105000"/>
              </a:lnSpc>
              <a:spcAft>
                <a:spcPts val="800"/>
              </a:spcAft>
            </a:pPr>
            <a:r>
              <a:rPr sz="2400" b="1" i="0" dirty="0">
                <a:solidFill>
                  <a:srgbClr val="14264F"/>
                </a:solidFill>
                <a:latin typeface="Calibri"/>
              </a:rPr>
              <a:t>COST</a:t>
            </a:r>
          </a:p>
          <a:p>
            <a:pPr algn="l">
              <a:lnSpc>
                <a:spcPct val="105000"/>
              </a:lnSpc>
              <a:spcAft>
                <a:spcPts val="800"/>
              </a:spcAft>
            </a:pPr>
            <a:r>
              <a:rPr sz="2000" b="1" i="0" dirty="0">
                <a:solidFill>
                  <a:srgbClr val="1E2A44"/>
                </a:solidFill>
                <a:latin typeface="Calibri"/>
              </a:rPr>
              <a:t>expected time to run</a:t>
            </a:r>
          </a:p>
          <a:p>
            <a:pPr algn="l">
              <a:lnSpc>
                <a:spcPct val="105000"/>
              </a:lnSpc>
              <a:spcAft>
                <a:spcPts val="800"/>
              </a:spcAft>
            </a:pPr>
            <a:r>
              <a:rPr sz="1600" b="0" i="1" dirty="0" err="1">
                <a:solidFill>
                  <a:srgbClr val="64748C"/>
                </a:solidFill>
                <a:latin typeface="Calibri"/>
              </a:rPr>
              <a:t>transpilation</a:t>
            </a:r>
            <a:r>
              <a:rPr sz="1600" b="0" i="1" dirty="0">
                <a:solidFill>
                  <a:srgbClr val="64748C"/>
                </a:solidFill>
                <a:latin typeface="Calibri"/>
              </a:rPr>
              <a:t> + oracle time, measured on the baseline</a:t>
            </a:r>
          </a:p>
        </p:txBody>
      </p:sp>
      <p:sp>
        <p:nvSpPr>
          <p:cNvPr id="16" name="TextBox 15"/>
          <p:cNvSpPr txBox="1"/>
          <p:nvPr/>
        </p:nvSpPr>
        <p:spPr>
          <a:xfrm>
            <a:off x="640080" y="3998975"/>
            <a:ext cx="11064240" cy="332399"/>
          </a:xfrm>
          <a:prstGeom prst="rect">
            <a:avLst/>
          </a:prstGeom>
          <a:noFill/>
        </p:spPr>
        <p:txBody>
          <a:bodyPr wrap="square" lIns="36576" tIns="36576" rIns="36576" bIns="36576" anchor="t">
            <a:spAutoFit/>
          </a:bodyPr>
          <a:lstStyle/>
          <a:p>
            <a:pPr algn="l">
              <a:lnSpc>
                <a:spcPct val="105000"/>
              </a:lnSpc>
              <a:spcAft>
                <a:spcPts val="300"/>
              </a:spcAft>
            </a:pPr>
            <a:r>
              <a:rPr sz="1600" b="0" i="1" dirty="0">
                <a:solidFill>
                  <a:srgbClr val="64748C"/>
                </a:solidFill>
                <a:latin typeface="Calibri"/>
              </a:rPr>
              <a:t>The higher a test's value per unit cost, the earlier it runs — under a fixed test budget.</a:t>
            </a:r>
          </a:p>
        </p:txBody>
      </p:sp>
      <p:sp>
        <p:nvSpPr>
          <p:cNvPr id="17" name="TextBox 16"/>
          <p:cNvSpPr txBox="1"/>
          <p:nvPr/>
        </p:nvSpPr>
        <p:spPr>
          <a:xfrm>
            <a:off x="475488" y="4234888"/>
            <a:ext cx="11064240" cy="2286780"/>
          </a:xfrm>
          <a:prstGeom prst="rect">
            <a:avLst/>
          </a:prstGeom>
          <a:noFill/>
        </p:spPr>
        <p:txBody>
          <a:bodyPr wrap="square" lIns="36576" tIns="36576" rIns="36576" bIns="36576" anchor="t">
            <a:spAutoFit/>
          </a:bodyPr>
          <a:lstStyle/>
          <a:p>
            <a:pPr algn="l">
              <a:lnSpc>
                <a:spcPct val="110000"/>
              </a:lnSpc>
              <a:spcAft>
                <a:spcPts val="1000"/>
              </a:spcAft>
            </a:pPr>
            <a:r>
              <a:rPr b="1" i="0" dirty="0">
                <a:solidFill>
                  <a:srgbClr val="14B8A6"/>
                </a:solidFill>
                <a:latin typeface="Calibri"/>
              </a:rPr>
              <a:t>▪  </a:t>
            </a:r>
            <a:r>
              <a:rPr b="1" i="0" dirty="0">
                <a:solidFill>
                  <a:srgbClr val="0E7C7B"/>
                </a:solidFill>
                <a:latin typeface="Calibri"/>
              </a:rPr>
              <a:t>Transparent:  </a:t>
            </a:r>
            <a:r>
              <a:rPr b="0" i="0" dirty="0">
                <a:solidFill>
                  <a:srgbClr val="1E2A44"/>
                </a:solidFill>
                <a:latin typeface="Calibri"/>
              </a:rPr>
              <a:t>hand-set weights, no black-box AI — every choice is explainable.</a:t>
            </a:r>
          </a:p>
          <a:p>
            <a:pPr algn="l">
              <a:lnSpc>
                <a:spcPct val="110000"/>
              </a:lnSpc>
              <a:spcAft>
                <a:spcPts val="1000"/>
              </a:spcAft>
            </a:pPr>
            <a:r>
              <a:rPr b="1" i="0" dirty="0">
                <a:solidFill>
                  <a:srgbClr val="14B8A6"/>
                </a:solidFill>
                <a:latin typeface="Calibri"/>
              </a:rPr>
              <a:t>▪  </a:t>
            </a:r>
            <a:r>
              <a:rPr b="1" i="0" dirty="0">
                <a:solidFill>
                  <a:srgbClr val="0E7C7B"/>
                </a:solidFill>
                <a:latin typeface="Calibri"/>
              </a:rPr>
              <a:t>Leakage-safe:  </a:t>
            </a:r>
            <a:r>
              <a:rPr b="0" i="0" dirty="0">
                <a:solidFill>
                  <a:srgbClr val="1E2A44"/>
                </a:solidFill>
                <a:latin typeface="Calibri"/>
              </a:rPr>
              <a:t>uses only pre-execution information, and never peeks at the outcome.</a:t>
            </a:r>
          </a:p>
          <a:p>
            <a:pPr algn="l">
              <a:lnSpc>
                <a:spcPct val="110000"/>
              </a:lnSpc>
              <a:spcAft>
                <a:spcPts val="1000"/>
              </a:spcAft>
            </a:pPr>
            <a:r>
              <a:rPr b="1" i="0" dirty="0">
                <a:solidFill>
                  <a:srgbClr val="14B8A6"/>
                </a:solidFill>
                <a:latin typeface="Calibri"/>
              </a:rPr>
              <a:t>▪  </a:t>
            </a:r>
            <a:r>
              <a:rPr b="1" i="0" dirty="0">
                <a:solidFill>
                  <a:srgbClr val="0E7C7B"/>
                </a:solidFill>
                <a:latin typeface="Calibri"/>
              </a:rPr>
              <a:t>Frozen &amp; compared:  </a:t>
            </a:r>
            <a:r>
              <a:rPr b="0" i="0" dirty="0">
                <a:solidFill>
                  <a:srgbClr val="1E2A44"/>
                </a:solidFill>
                <a:latin typeface="Calibri"/>
              </a:rPr>
              <a:t>weights fixed before evaluation, tested against five baselines including random, and checked by ablation.</a:t>
            </a:r>
          </a:p>
          <a:p>
            <a:pPr algn="l">
              <a:lnSpc>
                <a:spcPct val="110000"/>
              </a:lnSpc>
              <a:spcAft>
                <a:spcPts val="1000"/>
              </a:spcAft>
            </a:pPr>
            <a:r>
              <a:rPr b="1" dirty="0">
                <a:solidFill>
                  <a:srgbClr val="14B8A6"/>
                </a:solidFill>
                <a:latin typeface="Calibri"/>
              </a:rPr>
              <a:t>▪  </a:t>
            </a:r>
            <a:r>
              <a:rPr b="1" dirty="0">
                <a:solidFill>
                  <a:srgbClr val="0E7C7B"/>
                </a:solidFill>
                <a:latin typeface="Calibri"/>
              </a:rPr>
              <a:t>Stress-tested:  </a:t>
            </a:r>
            <a:r>
              <a:rPr b="0" dirty="0">
                <a:solidFill>
                  <a:srgbClr val="1E2A44"/>
                </a:solidFill>
                <a:latin typeface="Calibri"/>
              </a:rPr>
              <a:t>conclusions hold under ±50% weight perturbation and a 10–20% reserve sweep, so no single hand-set number drives the result.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INITIAL RESULTS</a:t>
            </a:r>
          </a:p>
        </p:txBody>
      </p:sp>
      <p:sp>
        <p:nvSpPr>
          <p:cNvPr id="4" name="TextBox 3"/>
          <p:cNvSpPr txBox="1"/>
          <p:nvPr/>
        </p:nvSpPr>
        <p:spPr>
          <a:xfrm>
            <a:off x="640080" y="694944"/>
            <a:ext cx="11155680" cy="652486"/>
          </a:xfrm>
          <a:prstGeom prst="rect">
            <a:avLst/>
          </a:prstGeom>
          <a:noFill/>
        </p:spPr>
        <p:txBody>
          <a:bodyPr wrap="square" lIns="36576" tIns="18288" rIns="36576" bIns="18288">
            <a:spAutoFit/>
          </a:bodyPr>
          <a:lstStyle/>
          <a:p>
            <a:r>
              <a:rPr sz="4000" b="1">
                <a:solidFill>
                  <a:srgbClr val="1E2A44"/>
                </a:solidFill>
                <a:latin typeface="Cambria"/>
              </a:rPr>
              <a:t>What We Tested</a:t>
            </a:r>
          </a:p>
        </p:txBody>
      </p:sp>
      <p:sp>
        <p:nvSpPr>
          <p:cNvPr id="5" name="TextBox 4"/>
          <p:cNvSpPr txBox="1"/>
          <p:nvPr/>
        </p:nvSpPr>
        <p:spPr>
          <a:xfrm>
            <a:off x="640080" y="1783080"/>
            <a:ext cx="11064240" cy="2170851"/>
          </a:xfrm>
          <a:prstGeom prst="rect">
            <a:avLst/>
          </a:prstGeom>
          <a:noFill/>
        </p:spPr>
        <p:txBody>
          <a:bodyPr wrap="square" lIns="36576" tIns="18288" rIns="36576" bIns="18288">
            <a:spAutoFit/>
          </a:bodyPr>
          <a:lstStyle/>
          <a:p>
            <a:pPr>
              <a:spcAft>
                <a:spcPts val="1600"/>
              </a:spcAft>
            </a:pPr>
            <a:r>
              <a:rPr sz="2800" b="1" i="0">
                <a:solidFill>
                  <a:srgbClr val="14B8A6"/>
                </a:solidFill>
                <a:latin typeface="Calibri"/>
              </a:rPr>
              <a:t>▪  </a:t>
            </a:r>
            <a:r>
              <a:rPr sz="2800" b="0" i="0">
                <a:solidFill>
                  <a:srgbClr val="1E2A44"/>
                </a:solidFill>
                <a:latin typeface="Calibri"/>
              </a:rPr>
              <a:t>Run on a single ordinary laptop, using circuits of up to eight qubits.</a:t>
            </a:r>
          </a:p>
          <a:p>
            <a:pPr>
              <a:spcAft>
                <a:spcPts val="1600"/>
              </a:spcAft>
            </a:pPr>
            <a:r>
              <a:rPr sz="2800" b="1" i="0">
                <a:solidFill>
                  <a:srgbClr val="14B8A6"/>
                </a:solidFill>
                <a:latin typeface="Calibri"/>
              </a:rPr>
              <a:t>▪  </a:t>
            </a:r>
            <a:r>
              <a:rPr sz="2800" b="0" i="0">
                <a:solidFill>
                  <a:srgbClr val="1E2A44"/>
                </a:solidFill>
                <a:latin typeface="Calibri"/>
              </a:rPr>
              <a:t>We ran the whole regression-testing pipeline end to end.</a:t>
            </a:r>
          </a:p>
          <a:p>
            <a:pPr>
              <a:spcAft>
                <a:spcPts val="1600"/>
              </a:spcAft>
            </a:pPr>
            <a:r>
              <a:rPr sz="2800" b="1" i="0">
                <a:solidFill>
                  <a:srgbClr val="14B8A6"/>
                </a:solidFill>
                <a:latin typeface="Calibri"/>
              </a:rPr>
              <a:t>▪  </a:t>
            </a:r>
            <a:r>
              <a:rPr sz="2800" b="0" i="0">
                <a:solidFill>
                  <a:srgbClr val="1E2A44"/>
                </a:solidFill>
                <a:latin typeface="Calibri"/>
              </a:rPr>
              <a:t>We also reproduced real historical transpiler regressions from Qiskit’s own history.</a:t>
            </a:r>
          </a:p>
        </p:txBody>
      </p:sp>
      <p:sp>
        <p:nvSpPr>
          <p:cNvPr id="6" name="TextBox 5"/>
          <p:cNvSpPr txBox="1"/>
          <p:nvPr/>
        </p:nvSpPr>
        <p:spPr>
          <a:xfrm>
            <a:off x="640080" y="6473952"/>
            <a:ext cx="9692640" cy="206210"/>
          </a:xfrm>
          <a:prstGeom prst="rect">
            <a:avLst/>
          </a:prstGeom>
          <a:noFill/>
        </p:spPr>
        <p:txBody>
          <a:bodyPr wrap="square" lIns="36576" tIns="18288" rIns="36576" bIns="18288">
            <a:spAutoFit/>
          </a:bodyPr>
          <a:lstStyle/>
          <a:p>
            <a:r>
              <a:rPr sz="1050" b="0" i="0">
                <a:solidFill>
                  <a:srgbClr val="64748C"/>
                </a:solidFill>
                <a:latin typeface="Calibri"/>
              </a:rPr>
              <a:t>PhD Synopsis  ·  A Leakage-Safe Framework for Observability-Aware Regression Testing of Quantum Compilers</a:t>
            </a:r>
          </a:p>
        </p:txBody>
      </p:sp>
      <p:sp>
        <p:nvSpPr>
          <p:cNvPr id="7" name="TextBox 6"/>
          <p:cNvSpPr txBox="1"/>
          <p:nvPr/>
        </p:nvSpPr>
        <p:spPr>
          <a:xfrm>
            <a:off x="11155680" y="6473952"/>
            <a:ext cx="822960" cy="206210"/>
          </a:xfrm>
          <a:prstGeom prst="rect">
            <a:avLst/>
          </a:prstGeom>
          <a:noFill/>
        </p:spPr>
        <p:txBody>
          <a:bodyPr wrap="square" lIns="36576" tIns="18288" rIns="36576" bIns="18288">
            <a:spAutoFit/>
          </a:bodyPr>
          <a:lstStyle/>
          <a:p>
            <a:pPr algn="r"/>
            <a:r>
              <a:rPr sz="1050" b="1" i="0">
                <a:solidFill>
                  <a:srgbClr val="64748C"/>
                </a:solidFill>
                <a:latin typeface="Calibri"/>
              </a:rPr>
              <a:t>14</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INITIAL RESULTS</a:t>
            </a:r>
          </a:p>
        </p:txBody>
      </p:sp>
      <p:sp>
        <p:nvSpPr>
          <p:cNvPr id="4" name="TextBox 3"/>
          <p:cNvSpPr txBox="1"/>
          <p:nvPr/>
        </p:nvSpPr>
        <p:spPr>
          <a:xfrm>
            <a:off x="640080" y="694944"/>
            <a:ext cx="11155680" cy="590931"/>
          </a:xfrm>
          <a:prstGeom prst="rect">
            <a:avLst/>
          </a:prstGeom>
          <a:noFill/>
        </p:spPr>
        <p:txBody>
          <a:bodyPr wrap="square" lIns="36576" tIns="18288" rIns="36576" bIns="18288">
            <a:spAutoFit/>
          </a:bodyPr>
          <a:lstStyle/>
          <a:p>
            <a:r>
              <a:rPr sz="3600" b="1">
                <a:solidFill>
                  <a:srgbClr val="1E2A44"/>
                </a:solidFill>
                <a:latin typeface="Cambria"/>
              </a:rPr>
              <a:t>Historical Transpiler Regressions Attempted</a:t>
            </a:r>
            <a:endParaRPr sz="3600" b="1" i="0" dirty="0">
              <a:solidFill>
                <a:srgbClr val="1E2A44"/>
              </a:solidFill>
              <a:latin typeface="Cambria"/>
            </a:endParaRPr>
          </a:p>
        </p:txBody>
      </p:sp>
      <p:graphicFrame>
        <p:nvGraphicFramePr>
          <p:cNvPr id="5" name="Table 4"/>
          <p:cNvGraphicFramePr>
            <a:graphicFrameLocks noGrp="1"/>
          </p:cNvGraphicFramePr>
          <p:nvPr>
            <p:extLst>
              <p:ext uri="{D42A27DB-BD31-4B8C-83A1-F6EECF244321}">
                <p14:modId xmlns:p14="http://schemas.microsoft.com/office/powerpoint/2010/main" val="1648924263"/>
              </p:ext>
            </p:extLst>
          </p:nvPr>
        </p:nvGraphicFramePr>
        <p:xfrm>
          <a:off x="603504" y="1554476"/>
          <a:ext cx="10972800" cy="2859736"/>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54904">
                <a:tc>
                  <a:txBody>
                    <a:bodyPr/>
                    <a:lstStyle/>
                    <a:p>
                      <a:r>
                        <a:rPr sz="1800" b="1" dirty="0">
                          <a:solidFill>
                            <a:srgbClr val="FFFFFF"/>
                          </a:solidFill>
                          <a:latin typeface="Calibri"/>
                        </a:rPr>
                        <a:t>Event (PR)</a:t>
                      </a:r>
                    </a:p>
                  </a:txBody>
                  <a:tcPr marL="54864" marR="54864" marT="18288" marB="18288" anchor="ctr">
                    <a:solidFill>
                      <a:srgbClr val="14264F"/>
                    </a:solidFill>
                  </a:tcPr>
                </a:tc>
                <a:tc>
                  <a:txBody>
                    <a:bodyPr/>
                    <a:lstStyle/>
                    <a:p>
                      <a:r>
                        <a:rPr sz="1800" b="1">
                          <a:solidFill>
                            <a:srgbClr val="FFFFFF"/>
                          </a:solidFill>
                          <a:latin typeface="Calibri"/>
                        </a:rPr>
                        <a:t>Cohort</a:t>
                      </a:r>
                    </a:p>
                  </a:txBody>
                  <a:tcPr marL="54864" marR="54864" marT="18288" marB="18288" anchor="ctr">
                    <a:solidFill>
                      <a:srgbClr val="14264F"/>
                    </a:solidFill>
                  </a:tcPr>
                </a:tc>
                <a:tc>
                  <a:txBody>
                    <a:bodyPr/>
                    <a:lstStyle/>
                    <a:p>
                      <a:r>
                        <a:rPr sz="1800" b="1" dirty="0">
                          <a:solidFill>
                            <a:srgbClr val="FFFFFF"/>
                          </a:solidFill>
                          <a:latin typeface="Calibri"/>
                        </a:rPr>
                        <a:t>Fault type </a:t>
                      </a:r>
                      <a:r>
                        <a:rPr lang="en-US" sz="1800" b="1" dirty="0" smtClean="0">
                          <a:solidFill>
                            <a:srgbClr val="FFFFFF"/>
                          </a:solidFill>
                          <a:latin typeface="Calibri"/>
                        </a:rPr>
                        <a:t>-&gt;</a:t>
                      </a:r>
                      <a:r>
                        <a:rPr sz="1800" b="1" dirty="0" smtClean="0">
                          <a:solidFill>
                            <a:srgbClr val="FFFFFF"/>
                          </a:solidFill>
                          <a:latin typeface="Calibri"/>
                        </a:rPr>
                        <a:t>channel</a:t>
                      </a:r>
                      <a:endParaRPr sz="1800" b="1" dirty="0">
                        <a:solidFill>
                          <a:srgbClr val="FFFFFF"/>
                        </a:solidFill>
                        <a:latin typeface="Calibri"/>
                      </a:endParaRPr>
                    </a:p>
                  </a:txBody>
                  <a:tcPr marL="54864" marR="54864" marT="18288" marB="18288" anchor="ctr">
                    <a:solidFill>
                      <a:srgbClr val="14264F"/>
                    </a:solidFill>
                  </a:tcPr>
                </a:tc>
                <a:tc>
                  <a:txBody>
                    <a:bodyPr/>
                    <a:lstStyle/>
                    <a:p>
                      <a:r>
                        <a:rPr sz="1800" b="1">
                          <a:solidFill>
                            <a:srgbClr val="FFFFFF"/>
                          </a:solidFill>
                          <a:latin typeface="Calibri"/>
                        </a:rPr>
                        <a:t>Status</a:t>
                      </a:r>
                    </a:p>
                  </a:txBody>
                  <a:tcPr marL="54864" marR="54864" marT="18288" marB="18288" anchor="ctr">
                    <a:solidFill>
                      <a:srgbClr val="14264F"/>
                    </a:solidFill>
                  </a:tcPr>
                </a:tc>
                <a:extLst>
                  <a:ext uri="{0D108BD9-81ED-4DB2-BD59-A6C34878D82A}">
                    <a16:rowId xmlns:a16="http://schemas.microsoft.com/office/drawing/2014/main" val="10000"/>
                  </a:ext>
                </a:extLst>
              </a:tr>
              <a:tr h="454904">
                <a:tc>
                  <a:txBody>
                    <a:bodyPr/>
                    <a:lstStyle/>
                    <a:p>
                      <a:r>
                        <a:rPr sz="1800">
                          <a:solidFill>
                            <a:srgbClr val="1E2A44"/>
                          </a:solidFill>
                          <a:latin typeface="Calibri"/>
                        </a:rPr>
                        <a:t>H4 (#14120)</a:t>
                      </a:r>
                    </a:p>
                  </a:txBody>
                  <a:tcPr marL="54864" marR="54864" marT="18288" marB="18288" anchor="ctr">
                    <a:solidFill>
                      <a:srgbClr val="FFFFFF"/>
                    </a:solidFill>
                  </a:tcPr>
                </a:tc>
                <a:tc>
                  <a:txBody>
                    <a:bodyPr/>
                    <a:lstStyle/>
                    <a:p>
                      <a:r>
                        <a:rPr sz="1800">
                          <a:solidFill>
                            <a:srgbClr val="1E2A44"/>
                          </a:solidFill>
                          <a:latin typeface="Calibri"/>
                        </a:rPr>
                        <a:t>forward_regression</a:t>
                      </a:r>
                    </a:p>
                  </a:txBody>
                  <a:tcPr marL="54864" marR="54864" marT="18288" marB="18288" anchor="ctr">
                    <a:solidFill>
                      <a:srgbClr val="FFFFFF"/>
                    </a:solidFill>
                  </a:tcPr>
                </a:tc>
                <a:tc>
                  <a:txBody>
                    <a:bodyPr/>
                    <a:lstStyle/>
                    <a:p>
                      <a:r>
                        <a:rPr lang="en-US" sz="1800" dirty="0" smtClean="0">
                          <a:solidFill>
                            <a:srgbClr val="1E2A44"/>
                          </a:solidFill>
                          <a:latin typeface="Calibri"/>
                        </a:rPr>
                        <a:t>P</a:t>
                      </a:r>
                      <a:r>
                        <a:rPr sz="1800" dirty="0" smtClean="0">
                          <a:solidFill>
                            <a:srgbClr val="1E2A44"/>
                          </a:solidFill>
                          <a:latin typeface="Calibri"/>
                        </a:rPr>
                        <a:t>erformance</a:t>
                      </a:r>
                      <a:endParaRPr sz="1800" dirty="0">
                        <a:solidFill>
                          <a:srgbClr val="1E2A44"/>
                        </a:solidFill>
                        <a:latin typeface="Calibri"/>
                      </a:endParaRPr>
                    </a:p>
                  </a:txBody>
                  <a:tcPr marL="54864" marR="54864" marT="18288" marB="18288" anchor="ctr">
                    <a:solidFill>
                      <a:srgbClr val="FFFFFF"/>
                    </a:solidFill>
                  </a:tcPr>
                </a:tc>
                <a:tc>
                  <a:txBody>
                    <a:bodyPr/>
                    <a:lstStyle/>
                    <a:p>
                      <a:r>
                        <a:rPr sz="1800">
                          <a:solidFill>
                            <a:srgbClr val="1E2A44"/>
                          </a:solidFill>
                          <a:latin typeface="Calibri"/>
                        </a:rPr>
                        <a:t>verified (multi-run protocol)</a:t>
                      </a:r>
                    </a:p>
                  </a:txBody>
                  <a:tcPr marL="54864" marR="54864" marT="18288" marB="18288" anchor="ctr">
                    <a:solidFill>
                      <a:srgbClr val="FFFFFF"/>
                    </a:solidFill>
                  </a:tcPr>
                </a:tc>
                <a:extLst>
                  <a:ext uri="{0D108BD9-81ED-4DB2-BD59-A6C34878D82A}">
                    <a16:rowId xmlns:a16="http://schemas.microsoft.com/office/drawing/2014/main" val="10001"/>
                  </a:ext>
                </a:extLst>
              </a:tr>
              <a:tr h="454904">
                <a:tc>
                  <a:txBody>
                    <a:bodyPr/>
                    <a:lstStyle/>
                    <a:p>
                      <a:r>
                        <a:rPr sz="1800">
                          <a:solidFill>
                            <a:srgbClr val="1E2A44"/>
                          </a:solidFill>
                          <a:latin typeface="Calibri"/>
                        </a:rPr>
                        <a:t>H1 (#14603)</a:t>
                      </a:r>
                    </a:p>
                  </a:txBody>
                  <a:tcPr marL="54864" marR="54864" marT="18288" marB="18288" anchor="ctr">
                    <a:solidFill>
                      <a:srgbClr val="EFF4FA"/>
                    </a:solidFill>
                  </a:tcPr>
                </a:tc>
                <a:tc>
                  <a:txBody>
                    <a:bodyPr/>
                    <a:lstStyle/>
                    <a:p>
                      <a:r>
                        <a:rPr sz="1800">
                          <a:solidFill>
                            <a:srgbClr val="1E2A44"/>
                          </a:solidFill>
                          <a:latin typeface="Calibri"/>
                        </a:rPr>
                        <a:t>fix_boundary</a:t>
                      </a:r>
                    </a:p>
                  </a:txBody>
                  <a:tcPr marL="54864" marR="54864" marT="18288" marB="18288" anchor="ctr">
                    <a:solidFill>
                      <a:srgbClr val="EFF4FA"/>
                    </a:solidFill>
                  </a:tcPr>
                </a:tc>
                <a:tc>
                  <a:txBody>
                    <a:bodyPr/>
                    <a:lstStyle/>
                    <a:p>
                      <a:r>
                        <a:rPr sz="1800" dirty="0" smtClean="0">
                          <a:solidFill>
                            <a:srgbClr val="1E2A44"/>
                          </a:solidFill>
                          <a:latin typeface="Calibri"/>
                        </a:rPr>
                        <a:t>semantic </a:t>
                      </a:r>
                      <a:r>
                        <a:rPr lang="en-US" sz="1800" dirty="0" smtClean="0">
                          <a:solidFill>
                            <a:srgbClr val="1E2A44"/>
                          </a:solidFill>
                          <a:latin typeface="Calibri"/>
                        </a:rPr>
                        <a:t>-&gt;</a:t>
                      </a:r>
                      <a:r>
                        <a:rPr sz="1800" dirty="0" smtClean="0">
                          <a:solidFill>
                            <a:srgbClr val="1E2A44"/>
                          </a:solidFill>
                          <a:latin typeface="Calibri"/>
                        </a:rPr>
                        <a:t>contract/metadata</a:t>
                      </a:r>
                      <a:endParaRPr sz="1800" dirty="0">
                        <a:solidFill>
                          <a:srgbClr val="1E2A44"/>
                        </a:solidFill>
                        <a:latin typeface="Calibri"/>
                      </a:endParaRPr>
                    </a:p>
                  </a:txBody>
                  <a:tcPr marL="54864" marR="54864" marT="18288" marB="18288" anchor="ctr">
                    <a:solidFill>
                      <a:srgbClr val="EFF4FA"/>
                    </a:solidFill>
                  </a:tcPr>
                </a:tc>
                <a:tc>
                  <a:txBody>
                    <a:bodyPr/>
                    <a:lstStyle/>
                    <a:p>
                      <a:r>
                        <a:rPr sz="1800">
                          <a:solidFill>
                            <a:srgbClr val="1E2A44"/>
                          </a:solidFill>
                          <a:latin typeface="Calibri"/>
                        </a:rPr>
                        <a:t>demonstrated gap (output-unobservable)</a:t>
                      </a:r>
                    </a:p>
                  </a:txBody>
                  <a:tcPr marL="54864" marR="54864" marT="18288" marB="18288" anchor="ctr">
                    <a:solidFill>
                      <a:srgbClr val="EFF4FA"/>
                    </a:solidFill>
                  </a:tcPr>
                </a:tc>
                <a:extLst>
                  <a:ext uri="{0D108BD9-81ED-4DB2-BD59-A6C34878D82A}">
                    <a16:rowId xmlns:a16="http://schemas.microsoft.com/office/drawing/2014/main" val="10002"/>
                  </a:ext>
                </a:extLst>
              </a:tr>
              <a:tr h="454904">
                <a:tc>
                  <a:txBody>
                    <a:bodyPr/>
                    <a:lstStyle/>
                    <a:p>
                      <a:r>
                        <a:rPr sz="1800">
                          <a:solidFill>
                            <a:srgbClr val="1E2A44"/>
                          </a:solidFill>
                          <a:latin typeface="Calibri"/>
                        </a:rPr>
                        <a:t>H2 (#14919)</a:t>
                      </a:r>
                    </a:p>
                  </a:txBody>
                  <a:tcPr marL="54864" marR="54864" marT="18288" marB="18288" anchor="ctr">
                    <a:solidFill>
                      <a:srgbClr val="FFFFFF"/>
                    </a:solidFill>
                  </a:tcPr>
                </a:tc>
                <a:tc>
                  <a:txBody>
                    <a:bodyPr/>
                    <a:lstStyle/>
                    <a:p>
                      <a:r>
                        <a:rPr sz="1800">
                          <a:solidFill>
                            <a:srgbClr val="1E2A44"/>
                          </a:solidFill>
                          <a:latin typeface="Calibri"/>
                        </a:rPr>
                        <a:t>fix_boundary</a:t>
                      </a:r>
                    </a:p>
                  </a:txBody>
                  <a:tcPr marL="54864" marR="54864" marT="18288" marB="18288" anchor="ctr">
                    <a:solidFill>
                      <a:srgbClr val="FFFFFF"/>
                    </a:solidFill>
                  </a:tcPr>
                </a:tc>
                <a:tc>
                  <a:txBody>
                    <a:bodyPr/>
                    <a:lstStyle/>
                    <a:p>
                      <a:r>
                        <a:rPr sz="1800" dirty="0">
                          <a:solidFill>
                            <a:srgbClr val="1E2A44"/>
                          </a:solidFill>
                          <a:latin typeface="Calibri"/>
                        </a:rPr>
                        <a:t>semantic </a:t>
                      </a:r>
                      <a:r>
                        <a:rPr lang="en-US" sz="1800" dirty="0" smtClean="0">
                          <a:solidFill>
                            <a:srgbClr val="1E2A44"/>
                          </a:solidFill>
                          <a:latin typeface="+mn-lt"/>
                        </a:rPr>
                        <a:t>-&gt;</a:t>
                      </a:r>
                      <a:r>
                        <a:rPr sz="1800" dirty="0" smtClean="0">
                          <a:solidFill>
                            <a:srgbClr val="1E2A44"/>
                          </a:solidFill>
                          <a:latin typeface="Calibri"/>
                        </a:rPr>
                        <a:t> </a:t>
                      </a:r>
                      <a:r>
                        <a:rPr sz="1800" dirty="0">
                          <a:solidFill>
                            <a:srgbClr val="1E2A44"/>
                          </a:solidFill>
                          <a:latin typeface="Calibri"/>
                        </a:rPr>
                        <a:t>contract/metadata</a:t>
                      </a:r>
                    </a:p>
                  </a:txBody>
                  <a:tcPr marL="54864" marR="54864" marT="18288" marB="18288" anchor="ctr">
                    <a:solidFill>
                      <a:srgbClr val="FFFFFF"/>
                    </a:solidFill>
                  </a:tcPr>
                </a:tc>
                <a:tc>
                  <a:txBody>
                    <a:bodyPr/>
                    <a:lstStyle/>
                    <a:p>
                      <a:r>
                        <a:rPr sz="1800">
                          <a:solidFill>
                            <a:srgbClr val="1E2A44"/>
                          </a:solidFill>
                          <a:latin typeface="Calibri"/>
                        </a:rPr>
                        <a:t>not run</a:t>
                      </a:r>
                    </a:p>
                  </a:txBody>
                  <a:tcPr marL="54864" marR="54864" marT="18288" marB="18288" anchor="ctr">
                    <a:solidFill>
                      <a:srgbClr val="FFFFFF"/>
                    </a:solidFill>
                  </a:tcPr>
                </a:tc>
                <a:extLst>
                  <a:ext uri="{0D108BD9-81ED-4DB2-BD59-A6C34878D82A}">
                    <a16:rowId xmlns:a16="http://schemas.microsoft.com/office/drawing/2014/main" val="10003"/>
                  </a:ext>
                </a:extLst>
              </a:tr>
              <a:tr h="454904">
                <a:tc>
                  <a:txBody>
                    <a:bodyPr/>
                    <a:lstStyle/>
                    <a:p>
                      <a:r>
                        <a:rPr sz="1800">
                          <a:solidFill>
                            <a:srgbClr val="1E2A44"/>
                          </a:solidFill>
                          <a:latin typeface="Calibri"/>
                        </a:rPr>
                        <a:t>H3 (#14730)</a:t>
                      </a:r>
                    </a:p>
                  </a:txBody>
                  <a:tcPr marL="54864" marR="54864" marT="18288" marB="18288" anchor="ctr">
                    <a:solidFill>
                      <a:srgbClr val="EFF4FA"/>
                    </a:solidFill>
                  </a:tcPr>
                </a:tc>
                <a:tc>
                  <a:txBody>
                    <a:bodyPr/>
                    <a:lstStyle/>
                    <a:p>
                      <a:r>
                        <a:rPr sz="1800">
                          <a:solidFill>
                            <a:srgbClr val="1E2A44"/>
                          </a:solidFill>
                          <a:latin typeface="Calibri"/>
                        </a:rPr>
                        <a:t>fix_boundary</a:t>
                      </a:r>
                    </a:p>
                  </a:txBody>
                  <a:tcPr marL="54864" marR="54864" marT="18288" marB="18288" anchor="ctr">
                    <a:solidFill>
                      <a:srgbClr val="EFF4FA"/>
                    </a:solidFill>
                  </a:tcPr>
                </a:tc>
                <a:tc>
                  <a:txBody>
                    <a:bodyPr/>
                    <a:lstStyle/>
                    <a:p>
                      <a:r>
                        <a:rPr sz="1800" dirty="0">
                          <a:solidFill>
                            <a:srgbClr val="1E2A44"/>
                          </a:solidFill>
                          <a:latin typeface="Calibri"/>
                        </a:rPr>
                        <a:t>quality </a:t>
                      </a:r>
                      <a:r>
                        <a:rPr lang="en-US" sz="1800" dirty="0" smtClean="0">
                          <a:solidFill>
                            <a:srgbClr val="1E2A44"/>
                          </a:solidFill>
                          <a:latin typeface="+mn-lt"/>
                        </a:rPr>
                        <a:t>-&gt;</a:t>
                      </a:r>
                      <a:r>
                        <a:rPr sz="1800" dirty="0" smtClean="0">
                          <a:solidFill>
                            <a:srgbClr val="1E2A44"/>
                          </a:solidFill>
                          <a:latin typeface="Calibri"/>
                        </a:rPr>
                        <a:t> </a:t>
                      </a:r>
                      <a:r>
                        <a:rPr sz="1800" dirty="0">
                          <a:solidFill>
                            <a:srgbClr val="1E2A44"/>
                          </a:solidFill>
                          <a:latin typeface="Calibri"/>
                        </a:rPr>
                        <a:t>determinism</a:t>
                      </a:r>
                    </a:p>
                  </a:txBody>
                  <a:tcPr marL="54864" marR="54864" marT="18288" marB="18288" anchor="ctr">
                    <a:solidFill>
                      <a:srgbClr val="EFF4FA"/>
                    </a:solidFill>
                  </a:tcPr>
                </a:tc>
                <a:tc>
                  <a:txBody>
                    <a:bodyPr/>
                    <a:lstStyle/>
                    <a:p>
                      <a:r>
                        <a:rPr sz="1800">
                          <a:solidFill>
                            <a:srgbClr val="1E2A44"/>
                          </a:solidFill>
                          <a:latin typeface="Calibri"/>
                        </a:rPr>
                        <a:t>blocked (needs noisy target)</a:t>
                      </a:r>
                    </a:p>
                  </a:txBody>
                  <a:tcPr marL="54864" marR="54864" marT="18288" marB="18288" anchor="ctr">
                    <a:solidFill>
                      <a:srgbClr val="EFF4FA"/>
                    </a:solidFill>
                  </a:tcPr>
                </a:tc>
                <a:extLst>
                  <a:ext uri="{0D108BD9-81ED-4DB2-BD59-A6C34878D82A}">
                    <a16:rowId xmlns:a16="http://schemas.microsoft.com/office/drawing/2014/main" val="10004"/>
                  </a:ext>
                </a:extLst>
              </a:tr>
              <a:tr h="454904">
                <a:tc>
                  <a:txBody>
                    <a:bodyPr/>
                    <a:lstStyle/>
                    <a:p>
                      <a:r>
                        <a:rPr sz="1800" dirty="0">
                          <a:solidFill>
                            <a:srgbClr val="1E2A44"/>
                          </a:solidFill>
                          <a:latin typeface="Calibri"/>
                        </a:rPr>
                        <a:t>H5 (#16285)</a:t>
                      </a:r>
                    </a:p>
                  </a:txBody>
                  <a:tcPr marL="54864" marR="54864" marT="18288" marB="18288" anchor="ctr">
                    <a:solidFill>
                      <a:srgbClr val="FFFFFF"/>
                    </a:solidFill>
                  </a:tcPr>
                </a:tc>
                <a:tc>
                  <a:txBody>
                    <a:bodyPr/>
                    <a:lstStyle/>
                    <a:p>
                      <a:r>
                        <a:rPr sz="1800">
                          <a:solidFill>
                            <a:srgbClr val="1E2A44"/>
                          </a:solidFill>
                          <a:latin typeface="Calibri"/>
                        </a:rPr>
                        <a:t>fix_boundary</a:t>
                      </a:r>
                    </a:p>
                  </a:txBody>
                  <a:tcPr marL="54864" marR="54864" marT="18288" marB="18288" anchor="ctr">
                    <a:solidFill>
                      <a:srgbClr val="FFFFFF"/>
                    </a:solidFill>
                  </a:tcPr>
                </a:tc>
                <a:tc>
                  <a:txBody>
                    <a:bodyPr/>
                    <a:lstStyle/>
                    <a:p>
                      <a:r>
                        <a:rPr sz="1800" dirty="0">
                          <a:solidFill>
                            <a:srgbClr val="1E2A44"/>
                          </a:solidFill>
                          <a:latin typeface="Calibri"/>
                        </a:rPr>
                        <a:t>functional </a:t>
                      </a:r>
                      <a:r>
                        <a:rPr lang="en-US" sz="1800" dirty="0" smtClean="0">
                          <a:solidFill>
                            <a:srgbClr val="1E2A44"/>
                          </a:solidFill>
                          <a:latin typeface="+mn-lt"/>
                        </a:rPr>
                        <a:t>-&gt;</a:t>
                      </a:r>
                      <a:r>
                        <a:rPr sz="1800" dirty="0" smtClean="0">
                          <a:solidFill>
                            <a:srgbClr val="1E2A44"/>
                          </a:solidFill>
                          <a:latin typeface="Calibri"/>
                        </a:rPr>
                        <a:t> </a:t>
                      </a:r>
                      <a:r>
                        <a:rPr sz="1800" dirty="0" err="1">
                          <a:solidFill>
                            <a:srgbClr val="1E2A44"/>
                          </a:solidFill>
                          <a:latin typeface="Calibri"/>
                        </a:rPr>
                        <a:t>compilation_failure</a:t>
                      </a:r>
                      <a:endParaRPr sz="1800" dirty="0">
                        <a:solidFill>
                          <a:srgbClr val="1E2A44"/>
                        </a:solidFill>
                        <a:latin typeface="Calibri"/>
                      </a:endParaRPr>
                    </a:p>
                  </a:txBody>
                  <a:tcPr marL="54864" marR="54864" marT="18288" marB="18288" anchor="ctr">
                    <a:solidFill>
                      <a:srgbClr val="FFFFFF"/>
                    </a:solidFill>
                  </a:tcPr>
                </a:tc>
                <a:tc>
                  <a:txBody>
                    <a:bodyPr/>
                    <a:lstStyle/>
                    <a:p>
                      <a:r>
                        <a:rPr sz="1800" dirty="0">
                          <a:solidFill>
                            <a:srgbClr val="1E2A44"/>
                          </a:solidFill>
                          <a:latin typeface="Calibri"/>
                        </a:rPr>
                        <a:t>not run (input-specific crash)</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40080" y="6473952"/>
            <a:ext cx="9692640" cy="190821"/>
          </a:xfrm>
          <a:prstGeom prst="rect">
            <a:avLst/>
          </a:prstGeom>
          <a:noFill/>
        </p:spPr>
        <p:txBody>
          <a:bodyPr wrap="square" lIns="36576" tIns="18288" rIns="36576" bIns="18288">
            <a:spAutoFit/>
          </a:bodyPr>
          <a:lstStyle/>
          <a:p>
            <a:r>
              <a:rPr sz="1000" b="0" i="0">
                <a:solidFill>
                  <a:srgbClr val="64748C"/>
                </a:solidFill>
                <a:latin typeface="Calibri"/>
              </a:rPr>
              <a:t>PhD Synopsis  ·  A Leakage-Safe Framework for Observability-Aware Regression Testing of Quantum Compilers</a:t>
            </a:r>
          </a:p>
        </p:txBody>
      </p:sp>
      <p:sp>
        <p:nvSpPr>
          <p:cNvPr id="7" name="TextBox 6"/>
          <p:cNvSpPr txBox="1"/>
          <p:nvPr/>
        </p:nvSpPr>
        <p:spPr>
          <a:xfrm>
            <a:off x="11155680" y="6473952"/>
            <a:ext cx="822960" cy="190821"/>
          </a:xfrm>
          <a:prstGeom prst="rect">
            <a:avLst/>
          </a:prstGeom>
          <a:noFill/>
        </p:spPr>
        <p:txBody>
          <a:bodyPr wrap="square" lIns="36576" tIns="18288" rIns="36576" bIns="18288">
            <a:spAutoFit/>
          </a:bodyPr>
          <a:lstStyle/>
          <a:p>
            <a:pPr algn="r"/>
            <a:r>
              <a:rPr sz="1000" b="1" i="0">
                <a:solidFill>
                  <a:srgbClr val="64748C"/>
                </a:solidFill>
                <a:latin typeface="Calibri"/>
              </a:rPr>
              <a:t>15</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INITIAL RESULTS</a:t>
            </a:r>
          </a:p>
        </p:txBody>
      </p:sp>
      <p:sp>
        <p:nvSpPr>
          <p:cNvPr id="4" name="TextBox 3"/>
          <p:cNvSpPr txBox="1"/>
          <p:nvPr/>
        </p:nvSpPr>
        <p:spPr>
          <a:xfrm>
            <a:off x="640080" y="694944"/>
            <a:ext cx="11155680" cy="467820"/>
          </a:xfrm>
          <a:prstGeom prst="rect">
            <a:avLst/>
          </a:prstGeom>
          <a:noFill/>
        </p:spPr>
        <p:txBody>
          <a:bodyPr wrap="square" lIns="36576" tIns="18288" rIns="36576" bIns="18288">
            <a:spAutoFit/>
          </a:bodyPr>
          <a:lstStyle/>
          <a:p>
            <a:r>
              <a:rPr sz="2800" b="1">
                <a:solidFill>
                  <a:srgbClr val="1E2A44"/>
                </a:solidFill>
                <a:latin typeface="Cambria"/>
              </a:rPr>
              <a:t>H4 — A Verified Performance Regression</a:t>
            </a:r>
            <a:endParaRPr sz="2800" b="1" i="0" dirty="0">
              <a:solidFill>
                <a:srgbClr val="1E2A44"/>
              </a:solidFill>
              <a:latin typeface="Cambria"/>
            </a:endParaRPr>
          </a:p>
        </p:txBody>
      </p:sp>
      <p:pic>
        <p:nvPicPr>
          <p:cNvPr id="5" name="Picture 4" descr="fig_h4_slowdown.png"/>
          <p:cNvPicPr>
            <a:picLocks noChangeAspect="1"/>
          </p:cNvPicPr>
          <p:nvPr/>
        </p:nvPicPr>
        <p:blipFill>
          <a:blip r:embed="rId3"/>
          <a:stretch>
            <a:fillRect/>
          </a:stretch>
        </p:blipFill>
        <p:spPr>
          <a:xfrm>
            <a:off x="2317573" y="1536192"/>
            <a:ext cx="7556547" cy="4114800"/>
          </a:xfrm>
          <a:prstGeom prst="rect">
            <a:avLst/>
          </a:prstGeom>
        </p:spPr>
      </p:pic>
      <p:sp>
        <p:nvSpPr>
          <p:cNvPr id="6" name="TextBox 5"/>
          <p:cNvSpPr txBox="1"/>
          <p:nvPr/>
        </p:nvSpPr>
        <p:spPr>
          <a:xfrm>
            <a:off x="822960" y="5989320"/>
            <a:ext cx="10515600" cy="313932"/>
          </a:xfrm>
          <a:prstGeom prst="rect">
            <a:avLst/>
          </a:prstGeom>
          <a:noFill/>
        </p:spPr>
        <p:txBody>
          <a:bodyPr wrap="square" lIns="36576" tIns="18288" rIns="36576" bIns="18288">
            <a:spAutoFit/>
          </a:bodyPr>
          <a:lstStyle/>
          <a:p>
            <a:pPr algn="ctr"/>
            <a:r>
              <a:rPr b="0" i="1" dirty="0">
                <a:solidFill>
                  <a:srgbClr val="64748C"/>
                </a:solidFill>
                <a:latin typeface="Calibri"/>
              </a:rPr>
              <a:t>H4’s width-extended run (16–27 qubits) is a separate regime from the primary corpus (≤ 8 qubits).</a:t>
            </a:r>
          </a:p>
        </p:txBody>
      </p:sp>
      <p:sp>
        <p:nvSpPr>
          <p:cNvPr id="7" name="TextBox 6"/>
          <p:cNvSpPr txBox="1"/>
          <p:nvPr/>
        </p:nvSpPr>
        <p:spPr>
          <a:xfrm>
            <a:off x="640080" y="6522720"/>
            <a:ext cx="9692640" cy="206210"/>
          </a:xfrm>
          <a:prstGeom prst="rect">
            <a:avLst/>
          </a:prstGeom>
          <a:noFill/>
        </p:spPr>
        <p:txBody>
          <a:bodyPr wrap="square" lIns="36576" tIns="18288" rIns="36576" bIns="18288">
            <a:spAutoFit/>
          </a:bodyPr>
          <a:lstStyle/>
          <a:p>
            <a:r>
              <a:rPr sz="1100" b="0" i="0">
                <a:solidFill>
                  <a:srgbClr val="64748C"/>
                </a:solidFill>
                <a:latin typeface="Calibri"/>
              </a:rPr>
              <a:t>PhD Synopsis  ·  A Leakage-Safe Framework for Observability-Aware Regression Testing of Quantum Compilers</a:t>
            </a:r>
          </a:p>
        </p:txBody>
      </p:sp>
      <p:sp>
        <p:nvSpPr>
          <p:cNvPr id="8" name="TextBox 7"/>
          <p:cNvSpPr txBox="1"/>
          <p:nvPr/>
        </p:nvSpPr>
        <p:spPr>
          <a:xfrm>
            <a:off x="11155680" y="6473952"/>
            <a:ext cx="822960" cy="274320"/>
          </a:xfrm>
          <a:prstGeom prst="rect">
            <a:avLst/>
          </a:prstGeom>
          <a:noFill/>
        </p:spPr>
        <p:txBody>
          <a:bodyPr wrap="square" lIns="36576" tIns="18288" rIns="36576" bIns="18288">
            <a:spAutoFit/>
          </a:bodyPr>
          <a:lstStyle/>
          <a:p>
            <a:pPr algn="r"/>
            <a:r>
              <a:rPr sz="850" b="1" i="0">
                <a:solidFill>
                  <a:srgbClr val="64748C"/>
                </a:solidFill>
                <a:latin typeface="Calibri"/>
              </a:rPr>
              <a:t>16</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INITIAL RESULTS</a:t>
            </a:r>
          </a:p>
        </p:txBody>
      </p:sp>
      <p:sp>
        <p:nvSpPr>
          <p:cNvPr id="4" name="TextBox 3"/>
          <p:cNvSpPr txBox="1"/>
          <p:nvPr/>
        </p:nvSpPr>
        <p:spPr>
          <a:xfrm>
            <a:off x="640080" y="694944"/>
            <a:ext cx="11155680" cy="590931"/>
          </a:xfrm>
          <a:prstGeom prst="rect">
            <a:avLst/>
          </a:prstGeom>
          <a:noFill/>
        </p:spPr>
        <p:txBody>
          <a:bodyPr wrap="square" lIns="36576" tIns="18288" rIns="36576" bIns="18288">
            <a:spAutoFit/>
          </a:bodyPr>
          <a:lstStyle/>
          <a:p>
            <a:r>
              <a:rPr sz="3600" b="1">
                <a:solidFill>
                  <a:srgbClr val="1E2A44"/>
                </a:solidFill>
                <a:latin typeface="Cambria"/>
              </a:rPr>
              <a:t>H1 — The Observability Gap on a Real Regression</a:t>
            </a:r>
            <a:endParaRPr sz="3600" b="1" i="0" dirty="0">
              <a:solidFill>
                <a:srgbClr val="1E2A44"/>
              </a:solidFill>
              <a:latin typeface="Cambria"/>
            </a:endParaRPr>
          </a:p>
        </p:txBody>
      </p:sp>
      <p:graphicFrame>
        <p:nvGraphicFramePr>
          <p:cNvPr id="5" name="Table 4"/>
          <p:cNvGraphicFramePr>
            <a:graphicFrameLocks noGrp="1"/>
          </p:cNvGraphicFramePr>
          <p:nvPr>
            <p:extLst>
              <p:ext uri="{D42A27DB-BD31-4B8C-83A1-F6EECF244321}">
                <p14:modId xmlns:p14="http://schemas.microsoft.com/office/powerpoint/2010/main" val="3262102592"/>
              </p:ext>
            </p:extLst>
          </p:nvPr>
        </p:nvGraphicFramePr>
        <p:xfrm>
          <a:off x="603504" y="1554480"/>
          <a:ext cx="10972800" cy="1874520"/>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624840">
                <a:tc>
                  <a:txBody>
                    <a:bodyPr/>
                    <a:lstStyle/>
                    <a:p>
                      <a:r>
                        <a:rPr sz="1800" b="1">
                          <a:solidFill>
                            <a:srgbClr val="FFFFFF"/>
                          </a:solidFill>
                          <a:latin typeface="Calibri"/>
                        </a:rPr>
                        <a:t>Oracle</a:t>
                      </a:r>
                    </a:p>
                  </a:txBody>
                  <a:tcPr marL="54864" marR="54864" marT="18288" marB="18288" anchor="ctr">
                    <a:solidFill>
                      <a:srgbClr val="14264F"/>
                    </a:solidFill>
                  </a:tcPr>
                </a:tc>
                <a:tc>
                  <a:txBody>
                    <a:bodyPr/>
                    <a:lstStyle/>
                    <a:p>
                      <a:r>
                        <a:rPr sz="1800" b="1">
                          <a:solidFill>
                            <a:srgbClr val="FFFFFF"/>
                          </a:solidFill>
                          <a:latin typeface="Calibri"/>
                        </a:rPr>
                        <a:t>Result on the buggy build</a:t>
                      </a:r>
                    </a:p>
                  </a:txBody>
                  <a:tcPr marL="54864" marR="54864" marT="18288" marB="18288" anchor="ctr">
                    <a:solidFill>
                      <a:srgbClr val="14264F"/>
                    </a:solidFill>
                  </a:tcPr>
                </a:tc>
                <a:extLst>
                  <a:ext uri="{0D108BD9-81ED-4DB2-BD59-A6C34878D82A}">
                    <a16:rowId xmlns:a16="http://schemas.microsoft.com/office/drawing/2014/main" val="10000"/>
                  </a:ext>
                </a:extLst>
              </a:tr>
              <a:tr h="624840">
                <a:tc>
                  <a:txBody>
                    <a:bodyPr/>
                    <a:lstStyle/>
                    <a:p>
                      <a:r>
                        <a:rPr sz="1800">
                          <a:solidFill>
                            <a:srgbClr val="1E2A44"/>
                          </a:solidFill>
                          <a:latin typeface="Calibri"/>
                        </a:rPr>
                        <a:t>Black-box output-equivalence</a:t>
                      </a:r>
                    </a:p>
                  </a:txBody>
                  <a:tcPr marL="54864" marR="54864" marT="18288" marB="18288" anchor="ctr">
                    <a:solidFill>
                      <a:srgbClr val="FFFFFF"/>
                    </a:solidFill>
                  </a:tcPr>
                </a:tc>
                <a:tc>
                  <a:txBody>
                    <a:bodyPr/>
                    <a:lstStyle/>
                    <a:p>
                      <a:r>
                        <a:rPr sz="1800">
                          <a:solidFill>
                            <a:srgbClr val="1E2A44"/>
                          </a:solidFill>
                          <a:latin typeface="Calibri"/>
                        </a:rPr>
                        <a:t>EQUIVALENT  (fault missed)</a:t>
                      </a:r>
                    </a:p>
                  </a:txBody>
                  <a:tcPr marL="54864" marR="54864" marT="18288" marB="18288" anchor="ctr">
                    <a:solidFill>
                      <a:srgbClr val="FFFFFF"/>
                    </a:solidFill>
                  </a:tcPr>
                </a:tc>
                <a:extLst>
                  <a:ext uri="{0D108BD9-81ED-4DB2-BD59-A6C34878D82A}">
                    <a16:rowId xmlns:a16="http://schemas.microsoft.com/office/drawing/2014/main" val="10001"/>
                  </a:ext>
                </a:extLst>
              </a:tr>
              <a:tr h="624840">
                <a:tc>
                  <a:txBody>
                    <a:bodyPr/>
                    <a:lstStyle/>
                    <a:p>
                      <a:r>
                        <a:rPr sz="1800" dirty="0">
                          <a:solidFill>
                            <a:srgbClr val="1E2A44"/>
                          </a:solidFill>
                          <a:latin typeface="Calibri"/>
                        </a:rPr>
                        <a:t>Property / isolated-pass (matched)</a:t>
                      </a:r>
                    </a:p>
                  </a:txBody>
                  <a:tcPr marL="54864" marR="54864" marT="18288" marB="18288" anchor="ctr">
                    <a:solidFill>
                      <a:srgbClr val="EFF4FA"/>
                    </a:solidFill>
                  </a:tcPr>
                </a:tc>
                <a:tc>
                  <a:txBody>
                    <a:bodyPr/>
                    <a:lstStyle/>
                    <a:p>
                      <a:r>
                        <a:rPr sz="1800" dirty="0" err="1">
                          <a:solidFill>
                            <a:srgbClr val="1E2A44"/>
                          </a:solidFill>
                          <a:latin typeface="Calibri"/>
                        </a:rPr>
                        <a:t>contract_metadata_fail</a:t>
                      </a:r>
                      <a:r>
                        <a:rPr sz="1800" dirty="0">
                          <a:solidFill>
                            <a:srgbClr val="1E2A44"/>
                          </a:solidFill>
                          <a:latin typeface="Calibri"/>
                        </a:rPr>
                        <a:t>  (fault detected)</a:t>
                      </a:r>
                    </a:p>
                  </a:txBody>
                  <a:tcPr marL="54864" marR="54864" marT="18288" marB="18288" anchor="ctr">
                    <a:solidFill>
                      <a:srgbClr val="EFF4FA"/>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640080" y="6473952"/>
            <a:ext cx="9692640" cy="190821"/>
          </a:xfrm>
          <a:prstGeom prst="rect">
            <a:avLst/>
          </a:prstGeom>
          <a:noFill/>
        </p:spPr>
        <p:txBody>
          <a:bodyPr wrap="square" lIns="36576" tIns="18288" rIns="36576" bIns="18288">
            <a:spAutoFit/>
          </a:bodyPr>
          <a:lstStyle/>
          <a:p>
            <a:r>
              <a:rPr sz="1000" b="0" i="0">
                <a:solidFill>
                  <a:srgbClr val="64748C"/>
                </a:solidFill>
                <a:latin typeface="Calibri"/>
              </a:rPr>
              <a:t>PhD Synopsis  ·  A Leakage-Safe Framework for Observability-Aware Regression Testing of Quantum Compilers</a:t>
            </a:r>
          </a:p>
        </p:txBody>
      </p:sp>
      <p:sp>
        <p:nvSpPr>
          <p:cNvPr id="7" name="TextBox 6"/>
          <p:cNvSpPr txBox="1"/>
          <p:nvPr/>
        </p:nvSpPr>
        <p:spPr>
          <a:xfrm>
            <a:off x="11155680" y="6473952"/>
            <a:ext cx="822960" cy="190821"/>
          </a:xfrm>
          <a:prstGeom prst="rect">
            <a:avLst/>
          </a:prstGeom>
          <a:noFill/>
        </p:spPr>
        <p:txBody>
          <a:bodyPr wrap="square" lIns="36576" tIns="18288" rIns="36576" bIns="18288">
            <a:spAutoFit/>
          </a:bodyPr>
          <a:lstStyle/>
          <a:p>
            <a:pPr algn="r"/>
            <a:r>
              <a:rPr sz="1000" b="1" i="0">
                <a:solidFill>
                  <a:srgbClr val="64748C"/>
                </a:solidFill>
                <a:latin typeface="Calibri"/>
              </a:rPr>
              <a:t>17</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INITIAL RESULTS</a:t>
            </a:r>
          </a:p>
        </p:txBody>
      </p:sp>
      <p:sp>
        <p:nvSpPr>
          <p:cNvPr id="4" name="TextBox 3"/>
          <p:cNvSpPr txBox="1"/>
          <p:nvPr/>
        </p:nvSpPr>
        <p:spPr>
          <a:xfrm>
            <a:off x="640080" y="694944"/>
            <a:ext cx="11155680" cy="467820"/>
          </a:xfrm>
          <a:prstGeom prst="rect">
            <a:avLst/>
          </a:prstGeom>
          <a:noFill/>
        </p:spPr>
        <p:txBody>
          <a:bodyPr wrap="square" lIns="36576" tIns="18288" rIns="36576" bIns="18288">
            <a:spAutoFit/>
          </a:bodyPr>
          <a:lstStyle/>
          <a:p>
            <a:r>
              <a:rPr sz="2200" b="1">
                <a:solidFill>
                  <a:srgbClr val="1E2A44"/>
                </a:solidFill>
                <a:latin typeface="Cambria"/>
              </a:rPr>
              <a:t>Preliminary Oracle-Observability Gap in the 26-Fix Seed</a:t>
            </a:r>
          </a:p>
        </p:txBody>
      </p:sp>
      <p:pic>
        <p:nvPicPr>
          <p:cNvPr id="5" name="Picture 4" descr="fig_prevalence.png"/>
          <p:cNvPicPr>
            <a:picLocks noChangeAspect="1"/>
          </p:cNvPicPr>
          <p:nvPr/>
        </p:nvPicPr>
        <p:blipFill>
          <a:blip r:embed="rId3"/>
          <a:stretch>
            <a:fillRect/>
          </a:stretch>
        </p:blipFill>
        <p:spPr>
          <a:xfrm>
            <a:off x="1443018" y="1536192"/>
            <a:ext cx="8483918" cy="4657344"/>
          </a:xfrm>
          <a:prstGeom prst="rect">
            <a:avLst/>
          </a:prstGeom>
        </p:spPr>
      </p:pic>
      <p:sp>
        <p:nvSpPr>
          <p:cNvPr id="6" name="TextBox 5"/>
          <p:cNvSpPr txBox="1"/>
          <p:nvPr/>
        </p:nvSpPr>
        <p:spPr>
          <a:xfrm>
            <a:off x="640080" y="6473952"/>
            <a:ext cx="9692640" cy="206210"/>
          </a:xfrm>
          <a:prstGeom prst="rect">
            <a:avLst/>
          </a:prstGeom>
          <a:noFill/>
        </p:spPr>
        <p:txBody>
          <a:bodyPr wrap="square" lIns="36576" tIns="18288" rIns="36576" bIns="18288">
            <a:spAutoFit/>
          </a:bodyPr>
          <a:lstStyle/>
          <a:p>
            <a:r>
              <a:rPr sz="1100" b="0" i="0" dirty="0">
                <a:solidFill>
                  <a:srgbClr val="64748C"/>
                </a:solidFill>
                <a:latin typeface="Calibri"/>
              </a:rPr>
              <a:t>PhD Synopsis  ·  A Leakage-Safe Framework for Observability-Aware Regression Testing of Quantum Compilers</a:t>
            </a:r>
          </a:p>
        </p:txBody>
      </p:sp>
      <p:sp>
        <p:nvSpPr>
          <p:cNvPr id="7" name="TextBox 6"/>
          <p:cNvSpPr txBox="1"/>
          <p:nvPr/>
        </p:nvSpPr>
        <p:spPr>
          <a:xfrm>
            <a:off x="11155680" y="6473952"/>
            <a:ext cx="822960" cy="274320"/>
          </a:xfrm>
          <a:prstGeom prst="rect">
            <a:avLst/>
          </a:prstGeom>
          <a:noFill/>
        </p:spPr>
        <p:txBody>
          <a:bodyPr wrap="square" lIns="36576" tIns="18288" rIns="36576" bIns="18288">
            <a:spAutoFit/>
          </a:bodyPr>
          <a:lstStyle/>
          <a:p>
            <a:pPr algn="r"/>
            <a:r>
              <a:rPr sz="850" b="1" i="0">
                <a:solidFill>
                  <a:srgbClr val="64748C"/>
                </a:solidFill>
                <a:latin typeface="Calibri"/>
              </a:rPr>
              <a:t>18</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ONE YEAR TO COMPLETION</a:t>
            </a:r>
          </a:p>
        </p:txBody>
      </p:sp>
      <p:sp>
        <p:nvSpPr>
          <p:cNvPr id="4" name="TextBox 3"/>
          <p:cNvSpPr txBox="1"/>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rPr>
              <a:t>Work Plan</a:t>
            </a:r>
          </a:p>
        </p:txBody>
      </p:sp>
      <p:sp>
        <p:nvSpPr>
          <p:cNvPr id="5" name="Rounded Rectangle 4"/>
          <p:cNvSpPr/>
          <p:nvPr/>
        </p:nvSpPr>
        <p:spPr>
          <a:xfrm>
            <a:off x="640080" y="1691640"/>
            <a:ext cx="11064240" cy="822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TextBox 5"/>
          <p:cNvSpPr txBox="1"/>
          <p:nvPr/>
        </p:nvSpPr>
        <p:spPr>
          <a:xfrm>
            <a:off x="868680" y="1930765"/>
            <a:ext cx="1371600" cy="344710"/>
          </a:xfrm>
          <a:prstGeom prst="rect">
            <a:avLst/>
          </a:prstGeom>
          <a:noFill/>
        </p:spPr>
        <p:txBody>
          <a:bodyPr wrap="square" lIns="36576" tIns="18288" rIns="36576" bIns="18288" anchor="ctr">
            <a:spAutoFit/>
          </a:bodyPr>
          <a:lstStyle/>
          <a:p>
            <a:r>
              <a:rPr sz="2000" b="1" i="0">
                <a:solidFill>
                  <a:srgbClr val="1E2A44"/>
                </a:solidFill>
                <a:latin typeface="Calibri"/>
              </a:rPr>
              <a:t>Phase 1</a:t>
            </a:r>
          </a:p>
        </p:txBody>
      </p:sp>
      <p:sp>
        <p:nvSpPr>
          <p:cNvPr id="7" name="TextBox 6"/>
          <p:cNvSpPr txBox="1"/>
          <p:nvPr/>
        </p:nvSpPr>
        <p:spPr>
          <a:xfrm>
            <a:off x="2194560" y="1715322"/>
            <a:ext cx="6583680" cy="775597"/>
          </a:xfrm>
          <a:prstGeom prst="rect">
            <a:avLst/>
          </a:prstGeom>
          <a:noFill/>
        </p:spPr>
        <p:txBody>
          <a:bodyPr wrap="square" lIns="36576" tIns="18288" rIns="36576" bIns="18288" anchor="ctr">
            <a:spAutoFit/>
          </a:bodyPr>
          <a:lstStyle/>
          <a:p>
            <a:r>
              <a:rPr sz="2400" b="0" i="0">
                <a:solidFill>
                  <a:srgbClr val="1E2A44"/>
                </a:solidFill>
                <a:latin typeface="Calibri"/>
              </a:rPr>
              <a:t>Feasibility study (methodology, prototype, initial results)</a:t>
            </a:r>
          </a:p>
        </p:txBody>
      </p:sp>
      <p:sp>
        <p:nvSpPr>
          <p:cNvPr id="8" name="Rounded Rectangle 7"/>
          <p:cNvSpPr/>
          <p:nvPr/>
        </p:nvSpPr>
        <p:spPr>
          <a:xfrm>
            <a:off x="9646920" y="1892808"/>
            <a:ext cx="1737360" cy="420624"/>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2000" b="1" i="0">
                <a:solidFill>
                  <a:srgbClr val="FFFFFF"/>
                </a:solidFill>
                <a:latin typeface="Calibri"/>
              </a:rPr>
              <a:t>Completed</a:t>
            </a:r>
          </a:p>
        </p:txBody>
      </p:sp>
      <p:sp>
        <p:nvSpPr>
          <p:cNvPr id="9" name="Rounded Rectangle 8"/>
          <p:cNvSpPr/>
          <p:nvPr/>
        </p:nvSpPr>
        <p:spPr>
          <a:xfrm>
            <a:off x="640080" y="2633472"/>
            <a:ext cx="11064240" cy="822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868680" y="2872597"/>
            <a:ext cx="1371600" cy="344710"/>
          </a:xfrm>
          <a:prstGeom prst="rect">
            <a:avLst/>
          </a:prstGeom>
          <a:noFill/>
        </p:spPr>
        <p:txBody>
          <a:bodyPr wrap="square" lIns="36576" tIns="18288" rIns="36576" bIns="18288" anchor="ctr">
            <a:spAutoFit/>
          </a:bodyPr>
          <a:lstStyle/>
          <a:p>
            <a:r>
              <a:rPr sz="2000" b="1" i="0">
                <a:solidFill>
                  <a:srgbClr val="1E2A44"/>
                </a:solidFill>
                <a:latin typeface="Calibri"/>
              </a:rPr>
              <a:t>Phase 2</a:t>
            </a:r>
          </a:p>
        </p:txBody>
      </p:sp>
      <p:sp>
        <p:nvSpPr>
          <p:cNvPr id="11" name="TextBox 10"/>
          <p:cNvSpPr txBox="1"/>
          <p:nvPr/>
        </p:nvSpPr>
        <p:spPr>
          <a:xfrm>
            <a:off x="2194560" y="2657154"/>
            <a:ext cx="6583680" cy="775597"/>
          </a:xfrm>
          <a:prstGeom prst="rect">
            <a:avLst/>
          </a:prstGeom>
          <a:noFill/>
        </p:spPr>
        <p:txBody>
          <a:bodyPr wrap="square" lIns="36576" tIns="18288" rIns="36576" bIns="18288" anchor="ctr">
            <a:spAutoFit/>
          </a:bodyPr>
          <a:lstStyle/>
          <a:p>
            <a:r>
              <a:rPr sz="2400" b="0" i="0">
                <a:solidFill>
                  <a:srgbClr val="1E2A44"/>
                </a:solidFill>
                <a:latin typeface="Calibri"/>
              </a:rPr>
              <a:t>Scale-up: verify ≥ 3 forward regressions, expand mining</a:t>
            </a:r>
          </a:p>
        </p:txBody>
      </p:sp>
      <p:sp>
        <p:nvSpPr>
          <p:cNvPr id="12" name="Rounded Rectangle 11"/>
          <p:cNvSpPr/>
          <p:nvPr/>
        </p:nvSpPr>
        <p:spPr>
          <a:xfrm>
            <a:off x="9646920" y="2834640"/>
            <a:ext cx="1737360" cy="420624"/>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2000" b="1" i="0">
                <a:solidFill>
                  <a:srgbClr val="FFFFFF"/>
                </a:solidFill>
                <a:latin typeface="Calibri"/>
              </a:rPr>
              <a:t>2026 Q3</a:t>
            </a:r>
          </a:p>
        </p:txBody>
      </p:sp>
      <p:sp>
        <p:nvSpPr>
          <p:cNvPr id="13" name="Rounded Rectangle 12"/>
          <p:cNvSpPr/>
          <p:nvPr/>
        </p:nvSpPr>
        <p:spPr>
          <a:xfrm>
            <a:off x="640080" y="3575304"/>
            <a:ext cx="11064240" cy="822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4" name="TextBox 13"/>
          <p:cNvSpPr txBox="1"/>
          <p:nvPr/>
        </p:nvSpPr>
        <p:spPr>
          <a:xfrm>
            <a:off x="868680" y="3814429"/>
            <a:ext cx="1371600" cy="344710"/>
          </a:xfrm>
          <a:prstGeom prst="rect">
            <a:avLst/>
          </a:prstGeom>
          <a:noFill/>
        </p:spPr>
        <p:txBody>
          <a:bodyPr wrap="square" lIns="36576" tIns="18288" rIns="36576" bIns="18288" anchor="ctr">
            <a:spAutoFit/>
          </a:bodyPr>
          <a:lstStyle/>
          <a:p>
            <a:r>
              <a:rPr sz="2000" b="1" i="0">
                <a:solidFill>
                  <a:srgbClr val="1E2A44"/>
                </a:solidFill>
                <a:latin typeface="Calibri"/>
              </a:rPr>
              <a:t>Phase 3</a:t>
            </a:r>
          </a:p>
        </p:txBody>
      </p:sp>
      <p:sp>
        <p:nvSpPr>
          <p:cNvPr id="15" name="TextBox 14"/>
          <p:cNvSpPr txBox="1"/>
          <p:nvPr/>
        </p:nvSpPr>
        <p:spPr>
          <a:xfrm>
            <a:off x="2194560" y="3783652"/>
            <a:ext cx="6583680" cy="406265"/>
          </a:xfrm>
          <a:prstGeom prst="rect">
            <a:avLst/>
          </a:prstGeom>
          <a:noFill/>
        </p:spPr>
        <p:txBody>
          <a:bodyPr wrap="square" lIns="36576" tIns="18288" rIns="36576" bIns="18288" anchor="ctr">
            <a:spAutoFit/>
          </a:bodyPr>
          <a:lstStyle/>
          <a:p>
            <a:r>
              <a:rPr sz="2400" b="0" i="0">
                <a:solidFill>
                  <a:srgbClr val="1E2A44"/>
                </a:solidFill>
                <a:latin typeface="Calibri"/>
              </a:rPr>
              <a:t>Comparison: selector vs baselines</a:t>
            </a:r>
          </a:p>
        </p:txBody>
      </p:sp>
      <p:sp>
        <p:nvSpPr>
          <p:cNvPr id="16" name="Rounded Rectangle 15"/>
          <p:cNvSpPr/>
          <p:nvPr/>
        </p:nvSpPr>
        <p:spPr>
          <a:xfrm>
            <a:off x="9646920" y="3776472"/>
            <a:ext cx="1737360" cy="420624"/>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2000" b="1" i="0">
                <a:solidFill>
                  <a:srgbClr val="FFFFFF"/>
                </a:solidFill>
                <a:latin typeface="Calibri"/>
              </a:rPr>
              <a:t>2026 Q4</a:t>
            </a:r>
          </a:p>
        </p:txBody>
      </p:sp>
      <p:sp>
        <p:nvSpPr>
          <p:cNvPr id="17" name="Rounded Rectangle 16"/>
          <p:cNvSpPr/>
          <p:nvPr/>
        </p:nvSpPr>
        <p:spPr>
          <a:xfrm>
            <a:off x="640080" y="4517136"/>
            <a:ext cx="11064240" cy="822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8" name="TextBox 17"/>
          <p:cNvSpPr txBox="1"/>
          <p:nvPr/>
        </p:nvSpPr>
        <p:spPr>
          <a:xfrm>
            <a:off x="868680" y="4756261"/>
            <a:ext cx="1371600" cy="344710"/>
          </a:xfrm>
          <a:prstGeom prst="rect">
            <a:avLst/>
          </a:prstGeom>
          <a:noFill/>
        </p:spPr>
        <p:txBody>
          <a:bodyPr wrap="square" lIns="36576" tIns="18288" rIns="36576" bIns="18288" anchor="ctr">
            <a:spAutoFit/>
          </a:bodyPr>
          <a:lstStyle/>
          <a:p>
            <a:r>
              <a:rPr sz="2000" b="1" i="0">
                <a:solidFill>
                  <a:srgbClr val="1E2A44"/>
                </a:solidFill>
                <a:latin typeface="Calibri"/>
              </a:rPr>
              <a:t>Phase 4</a:t>
            </a:r>
          </a:p>
        </p:txBody>
      </p:sp>
      <p:sp>
        <p:nvSpPr>
          <p:cNvPr id="19" name="TextBox 18"/>
          <p:cNvSpPr txBox="1"/>
          <p:nvPr/>
        </p:nvSpPr>
        <p:spPr>
          <a:xfrm>
            <a:off x="2194560" y="4725484"/>
            <a:ext cx="6583680" cy="406265"/>
          </a:xfrm>
          <a:prstGeom prst="rect">
            <a:avLst/>
          </a:prstGeom>
          <a:noFill/>
        </p:spPr>
        <p:txBody>
          <a:bodyPr wrap="square" lIns="36576" tIns="18288" rIns="36576" bIns="18288" anchor="ctr">
            <a:spAutoFit/>
          </a:bodyPr>
          <a:lstStyle/>
          <a:p>
            <a:r>
              <a:rPr sz="2400" b="0" i="0">
                <a:solidFill>
                  <a:srgbClr val="1E2A44"/>
                </a:solidFill>
                <a:latin typeface="Calibri"/>
              </a:rPr>
              <a:t>Validation and cross-SDK generalisation</a:t>
            </a:r>
          </a:p>
        </p:txBody>
      </p:sp>
      <p:sp>
        <p:nvSpPr>
          <p:cNvPr id="20" name="Rounded Rectangle 19"/>
          <p:cNvSpPr/>
          <p:nvPr/>
        </p:nvSpPr>
        <p:spPr>
          <a:xfrm>
            <a:off x="9646920" y="4718304"/>
            <a:ext cx="1737360" cy="420624"/>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2000" b="1" i="0">
                <a:solidFill>
                  <a:srgbClr val="FFFFFF"/>
                </a:solidFill>
                <a:latin typeface="Calibri"/>
              </a:rPr>
              <a:t>2027 Q1</a:t>
            </a:r>
          </a:p>
        </p:txBody>
      </p:sp>
      <p:sp>
        <p:nvSpPr>
          <p:cNvPr id="21" name="Rounded Rectangle 20"/>
          <p:cNvSpPr/>
          <p:nvPr/>
        </p:nvSpPr>
        <p:spPr>
          <a:xfrm>
            <a:off x="640080" y="5458968"/>
            <a:ext cx="11064240" cy="822960"/>
          </a:xfrm>
          <a:prstGeom prst="roundRect">
            <a:avLst>
              <a:gd name="adj" fmla="val 6000"/>
            </a:avLst>
          </a:prstGeom>
          <a:solidFill>
            <a:srgbClr val="F1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2" name="TextBox 21"/>
          <p:cNvSpPr txBox="1"/>
          <p:nvPr/>
        </p:nvSpPr>
        <p:spPr>
          <a:xfrm>
            <a:off x="868680" y="5698093"/>
            <a:ext cx="1371600" cy="344710"/>
          </a:xfrm>
          <a:prstGeom prst="rect">
            <a:avLst/>
          </a:prstGeom>
          <a:noFill/>
        </p:spPr>
        <p:txBody>
          <a:bodyPr wrap="square" lIns="36576" tIns="18288" rIns="36576" bIns="18288" anchor="ctr">
            <a:spAutoFit/>
          </a:bodyPr>
          <a:lstStyle/>
          <a:p>
            <a:r>
              <a:rPr sz="2000" b="1" i="0">
                <a:solidFill>
                  <a:srgbClr val="1E2A44"/>
                </a:solidFill>
                <a:latin typeface="Calibri"/>
              </a:rPr>
              <a:t>Phase 5</a:t>
            </a:r>
          </a:p>
        </p:txBody>
      </p:sp>
      <p:sp>
        <p:nvSpPr>
          <p:cNvPr id="23" name="TextBox 22"/>
          <p:cNvSpPr txBox="1"/>
          <p:nvPr/>
        </p:nvSpPr>
        <p:spPr>
          <a:xfrm>
            <a:off x="2194560" y="5667316"/>
            <a:ext cx="6583680" cy="406265"/>
          </a:xfrm>
          <a:prstGeom prst="rect">
            <a:avLst/>
          </a:prstGeom>
          <a:noFill/>
        </p:spPr>
        <p:txBody>
          <a:bodyPr wrap="square" lIns="36576" tIns="18288" rIns="36576" bIns="18288" anchor="ctr">
            <a:spAutoFit/>
          </a:bodyPr>
          <a:lstStyle/>
          <a:p>
            <a:r>
              <a:rPr sz="2400" b="0" i="0">
                <a:solidFill>
                  <a:srgbClr val="1E2A44"/>
                </a:solidFill>
                <a:latin typeface="Calibri"/>
              </a:rPr>
              <a:t>Thesis write-up and defence</a:t>
            </a:r>
          </a:p>
        </p:txBody>
      </p:sp>
      <p:sp>
        <p:nvSpPr>
          <p:cNvPr id="24" name="Rounded Rectangle 23"/>
          <p:cNvSpPr/>
          <p:nvPr/>
        </p:nvSpPr>
        <p:spPr>
          <a:xfrm>
            <a:off x="9646920" y="5660136"/>
            <a:ext cx="1737360" cy="420624"/>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2000" b="1" i="0">
                <a:solidFill>
                  <a:srgbClr val="FFFFFF"/>
                </a:solidFill>
                <a:latin typeface="Calibri"/>
              </a:rPr>
              <a:t>2027 Q2</a:t>
            </a:r>
          </a:p>
        </p:txBody>
      </p:sp>
      <p:sp>
        <p:nvSpPr>
          <p:cNvPr id="25" name="TextBox 24"/>
          <p:cNvSpPr txBox="1"/>
          <p:nvPr/>
        </p:nvSpPr>
        <p:spPr>
          <a:xfrm>
            <a:off x="640080" y="6473952"/>
            <a:ext cx="9692640" cy="206210"/>
          </a:xfrm>
          <a:prstGeom prst="rect">
            <a:avLst/>
          </a:prstGeom>
          <a:noFill/>
        </p:spPr>
        <p:txBody>
          <a:bodyPr wrap="square" lIns="36576" tIns="18288" rIns="36576" bIns="18288">
            <a:spAutoFit/>
          </a:bodyPr>
          <a:lstStyle/>
          <a:p>
            <a:r>
              <a:rPr sz="1100" b="0" i="0">
                <a:solidFill>
                  <a:srgbClr val="64748C"/>
                </a:solidFill>
                <a:latin typeface="Calibri"/>
              </a:rPr>
              <a:t>PhD Synopsis  ·  A Leakage-Safe Framework for Observability-Aware Regression Testing of Quantum Compilers</a:t>
            </a:r>
          </a:p>
        </p:txBody>
      </p:sp>
      <p:sp>
        <p:nvSpPr>
          <p:cNvPr id="26" name="TextBox 25"/>
          <p:cNvSpPr txBox="1"/>
          <p:nvPr/>
        </p:nvSpPr>
        <p:spPr>
          <a:xfrm>
            <a:off x="11155680" y="6473952"/>
            <a:ext cx="822960" cy="206210"/>
          </a:xfrm>
          <a:prstGeom prst="rect">
            <a:avLst/>
          </a:prstGeom>
          <a:noFill/>
        </p:spPr>
        <p:txBody>
          <a:bodyPr wrap="square" lIns="36576" tIns="18288" rIns="36576" bIns="18288">
            <a:spAutoFit/>
          </a:bodyPr>
          <a:lstStyle/>
          <a:p>
            <a:pPr algn="r"/>
            <a:r>
              <a:rPr sz="1100" b="1" i="0">
                <a:solidFill>
                  <a:srgbClr val="64748C"/>
                </a:solidFill>
                <a:latin typeface="Calibri"/>
              </a:rPr>
              <a:t>19</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TextBox 3"/>
          <p:cNvSpPr txBox="1"/>
          <p:nvPr/>
        </p:nvSpPr>
        <p:spPr>
          <a:xfrm>
            <a:off x="822960" y="822960"/>
            <a:ext cx="10058400" cy="283154"/>
          </a:xfrm>
          <a:prstGeom prst="rect">
            <a:avLst/>
          </a:prstGeom>
          <a:noFill/>
        </p:spPr>
        <p:txBody>
          <a:bodyPr wrap="square" lIns="36576" tIns="18288" rIns="36576" bIns="18288">
            <a:spAutoFit/>
          </a:bodyPr>
          <a:lstStyle/>
          <a:p>
            <a:r>
              <a:rPr sz="1600" b="1" i="0" dirty="0">
                <a:solidFill>
                  <a:srgbClr val="14B8A6"/>
                </a:solidFill>
                <a:latin typeface="Calibri"/>
              </a:rPr>
              <a:t>SUMMARY</a:t>
            </a:r>
          </a:p>
        </p:txBody>
      </p:sp>
      <p:sp>
        <p:nvSpPr>
          <p:cNvPr id="5" name="TextBox 4"/>
          <p:cNvSpPr txBox="1"/>
          <p:nvPr/>
        </p:nvSpPr>
        <p:spPr>
          <a:xfrm>
            <a:off x="822960" y="1234440"/>
            <a:ext cx="10424160" cy="652486"/>
          </a:xfrm>
          <a:prstGeom prst="rect">
            <a:avLst/>
          </a:prstGeom>
          <a:noFill/>
        </p:spPr>
        <p:txBody>
          <a:bodyPr wrap="square" lIns="36576" tIns="18288" rIns="36576" bIns="18288">
            <a:spAutoFit/>
          </a:bodyPr>
          <a:lstStyle/>
          <a:p>
            <a:r>
              <a:rPr sz="4000" b="1" i="0">
                <a:solidFill>
                  <a:srgbClr val="FFFFFF"/>
                </a:solidFill>
                <a:latin typeface="Cambria"/>
              </a:rPr>
              <a:t>Where We Stand</a:t>
            </a:r>
          </a:p>
        </p:txBody>
      </p:sp>
      <p:sp>
        <p:nvSpPr>
          <p:cNvPr id="6" name="TextBox 5"/>
          <p:cNvSpPr txBox="1"/>
          <p:nvPr/>
        </p:nvSpPr>
        <p:spPr>
          <a:xfrm>
            <a:off x="868680" y="2286000"/>
            <a:ext cx="10607040" cy="3032625"/>
          </a:xfrm>
          <a:prstGeom prst="rect">
            <a:avLst/>
          </a:prstGeom>
          <a:noFill/>
        </p:spPr>
        <p:txBody>
          <a:bodyPr wrap="square" lIns="36576" tIns="18288" rIns="36576" bIns="18288">
            <a:spAutoFit/>
          </a:bodyPr>
          <a:lstStyle/>
          <a:p>
            <a:pPr>
              <a:spcAft>
                <a:spcPts val="1600"/>
              </a:spcAft>
            </a:pPr>
            <a:r>
              <a:rPr sz="2800" b="1" i="0">
                <a:solidFill>
                  <a:srgbClr val="14B8A6"/>
                </a:solidFill>
                <a:latin typeface="Calibri"/>
              </a:rPr>
              <a:t>▪  </a:t>
            </a:r>
            <a:r>
              <a:rPr sz="2800" b="0" i="0">
                <a:solidFill>
                  <a:srgbClr val="D5E3F7"/>
                </a:solidFill>
                <a:latin typeface="Calibri"/>
              </a:rPr>
              <a:t>The prototype is feasible and has produced usable evidence on two real historical regression events.</a:t>
            </a:r>
          </a:p>
          <a:p>
            <a:pPr>
              <a:spcAft>
                <a:spcPts val="1600"/>
              </a:spcAft>
            </a:pPr>
            <a:r>
              <a:rPr sz="2800" b="1" i="0">
                <a:solidFill>
                  <a:srgbClr val="14B8A6"/>
                </a:solidFill>
                <a:latin typeface="Calibri"/>
              </a:rPr>
              <a:t>▪  </a:t>
            </a:r>
            <a:r>
              <a:rPr sz="2800" b="0" i="0">
                <a:solidFill>
                  <a:srgbClr val="D5E3F7"/>
                </a:solidFill>
                <a:latin typeface="Calibri"/>
              </a:rPr>
              <a:t>One real contract regression (H1) shows the reference screen can miss a fault a matched oracle detects.</a:t>
            </a:r>
          </a:p>
          <a:p>
            <a:pPr>
              <a:spcAft>
                <a:spcPts val="1600"/>
              </a:spcAft>
            </a:pPr>
            <a:r>
              <a:rPr sz="2800" b="1" i="0">
                <a:solidFill>
                  <a:srgbClr val="14B8A6"/>
                </a:solidFill>
                <a:latin typeface="Calibri"/>
              </a:rPr>
              <a:t>▪  </a:t>
            </a:r>
            <a:r>
              <a:rPr sz="2800" b="0" i="0">
                <a:solidFill>
                  <a:srgbClr val="D5E3F7"/>
                </a:solidFill>
                <a:latin typeface="Calibri"/>
              </a:rPr>
              <a:t>The 26-fix seed indicates a potentially material gap. Full mining and the comparative selector evaluation remain future work.</a:t>
            </a:r>
          </a:p>
        </p:txBody>
      </p:sp>
      <p:sp>
        <p:nvSpPr>
          <p:cNvPr id="7" name="TextBox 6"/>
          <p:cNvSpPr txBox="1"/>
          <p:nvPr/>
        </p:nvSpPr>
        <p:spPr>
          <a:xfrm>
            <a:off x="822960" y="5529644"/>
            <a:ext cx="10515600" cy="344710"/>
          </a:xfrm>
          <a:prstGeom prst="rect">
            <a:avLst/>
          </a:prstGeom>
          <a:noFill/>
        </p:spPr>
        <p:txBody>
          <a:bodyPr wrap="square" lIns="36576" tIns="18288" rIns="36576" bIns="18288">
            <a:spAutoFit/>
          </a:bodyPr>
          <a:lstStyle/>
          <a:p>
            <a:r>
              <a:rPr sz="2000" b="1" i="0" dirty="0">
                <a:solidFill>
                  <a:srgbClr val="14B8A6"/>
                </a:solidFill>
                <a:latin typeface="Calibri"/>
              </a:rPr>
              <a:t>Thank you  —  Questions &amp; discussion</a:t>
            </a:r>
          </a:p>
        </p:txBody>
      </p:sp>
      <p:sp>
        <p:nvSpPr>
          <p:cNvPr id="8" name="TextBox 7"/>
          <p:cNvSpPr txBox="1"/>
          <p:nvPr/>
        </p:nvSpPr>
        <p:spPr>
          <a:xfrm>
            <a:off x="11656115" y="6473952"/>
            <a:ext cx="322525" cy="253916"/>
          </a:xfrm>
          <a:prstGeom prst="rect">
            <a:avLst/>
          </a:prstGeom>
          <a:noFill/>
        </p:spPr>
        <p:txBody>
          <a:bodyPr wrap="none">
            <a:spAutoFit/>
          </a:bodyPr>
          <a:lstStyle/>
          <a:p>
            <a:pPr algn="r"/>
            <a:r>
              <a:rPr sz="1050" b="1">
                <a:solidFill>
                  <a:srgbClr val="64748C"/>
                </a:solidFill>
                <a:latin typeface="Calibri"/>
              </a:rPr>
              <a:t>20</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TextBox 2"/>
          <p:cNvSpPr txBox="1"/>
          <p:nvPr/>
        </p:nvSpPr>
        <p:spPr>
          <a:xfrm>
            <a:off x="640080" y="457200"/>
            <a:ext cx="1247073" cy="338554"/>
          </a:xfrm>
          <a:prstGeom prst="rect">
            <a:avLst/>
          </a:prstGeom>
          <a:noFill/>
        </p:spPr>
        <p:txBody>
          <a:bodyPr wrap="none">
            <a:spAutoFit/>
          </a:bodyPr>
          <a:lstStyle/>
          <a:p>
            <a:r>
              <a:rPr sz="1600" b="1" dirty="0">
                <a:solidFill>
                  <a:srgbClr val="14B8A6"/>
                </a:solidFill>
                <a:latin typeface="Calibri"/>
              </a:rPr>
              <a:t>REFERENCES</a:t>
            </a:r>
          </a:p>
        </p:txBody>
      </p:sp>
      <p:sp>
        <p:nvSpPr>
          <p:cNvPr id="4" name="TextBox 3"/>
          <p:cNvSpPr txBox="1"/>
          <p:nvPr/>
        </p:nvSpPr>
        <p:spPr>
          <a:xfrm>
            <a:off x="640080" y="777240"/>
            <a:ext cx="4398897" cy="646331"/>
          </a:xfrm>
          <a:prstGeom prst="rect">
            <a:avLst/>
          </a:prstGeom>
          <a:noFill/>
        </p:spPr>
        <p:txBody>
          <a:bodyPr wrap="none">
            <a:spAutoFit/>
          </a:bodyPr>
          <a:lstStyle/>
          <a:p>
            <a:r>
              <a:rPr sz="3600" b="1">
                <a:solidFill>
                  <a:srgbClr val="1E2A44"/>
                </a:solidFill>
                <a:latin typeface="Cambria"/>
              </a:rPr>
              <a:t>Selected References</a:t>
            </a:r>
          </a:p>
        </p:txBody>
      </p:sp>
      <p:sp>
        <p:nvSpPr>
          <p:cNvPr id="5" name="TextBox 4"/>
          <p:cNvSpPr txBox="1"/>
          <p:nvPr/>
        </p:nvSpPr>
        <p:spPr>
          <a:xfrm>
            <a:off x="640080" y="1600200"/>
            <a:ext cx="5486400" cy="4724370"/>
          </a:xfrm>
          <a:prstGeom prst="rect">
            <a:avLst/>
          </a:prstGeom>
          <a:noFill/>
        </p:spPr>
        <p:txBody>
          <a:bodyPr wrap="square">
            <a:spAutoFit/>
          </a:bodyPr>
          <a:lstStyle/>
          <a:p>
            <a:pPr>
              <a:spcAft>
                <a:spcPts val="700"/>
              </a:spcAft>
            </a:pPr>
            <a:r>
              <a:rPr sz="1100" dirty="0">
                <a:solidFill>
                  <a:srgbClr val="1E2A44"/>
                </a:solidFill>
                <a:latin typeface="Calibri"/>
              </a:rPr>
              <a:t>[1] </a:t>
            </a:r>
            <a:r>
              <a:rPr sz="1100" dirty="0" err="1">
                <a:solidFill>
                  <a:srgbClr val="1E2A44"/>
                </a:solidFill>
                <a:latin typeface="Calibri"/>
              </a:rPr>
              <a:t>Paltenghi</a:t>
            </a:r>
            <a:r>
              <a:rPr sz="1100" dirty="0">
                <a:solidFill>
                  <a:srgbClr val="1E2A44"/>
                </a:solidFill>
                <a:latin typeface="Calibri"/>
              </a:rPr>
              <a:t> &amp; </a:t>
            </a:r>
            <a:r>
              <a:rPr sz="1100" dirty="0" err="1">
                <a:solidFill>
                  <a:srgbClr val="1E2A44"/>
                </a:solidFill>
                <a:latin typeface="Calibri"/>
              </a:rPr>
              <a:t>Pradel</a:t>
            </a:r>
            <a:r>
              <a:rPr sz="1100" dirty="0">
                <a:solidFill>
                  <a:srgbClr val="1E2A44"/>
                </a:solidFill>
                <a:latin typeface="Calibri"/>
              </a:rPr>
              <a:t>. Bugs in quantum computing platforms: an empirical study. OOPSLA, 2022. arXiv:2110.14560</a:t>
            </a:r>
          </a:p>
          <a:p>
            <a:pPr>
              <a:spcAft>
                <a:spcPts val="700"/>
              </a:spcAft>
            </a:pPr>
            <a:r>
              <a:rPr sz="1100" dirty="0">
                <a:solidFill>
                  <a:srgbClr val="1E2A44"/>
                </a:solidFill>
                <a:latin typeface="Calibri"/>
              </a:rPr>
              <a:t>[3] </a:t>
            </a:r>
            <a:r>
              <a:rPr sz="1100" dirty="0" err="1">
                <a:solidFill>
                  <a:srgbClr val="1E2A44"/>
                </a:solidFill>
                <a:latin typeface="Calibri"/>
              </a:rPr>
              <a:t>Yoo</a:t>
            </a:r>
            <a:r>
              <a:rPr sz="1100" dirty="0">
                <a:solidFill>
                  <a:srgbClr val="1E2A44"/>
                </a:solidFill>
                <a:latin typeface="Calibri"/>
              </a:rPr>
              <a:t> &amp; Harman. Regression testing minimization, selection and </a:t>
            </a:r>
            <a:r>
              <a:rPr sz="1100" dirty="0" err="1">
                <a:solidFill>
                  <a:srgbClr val="1E2A44"/>
                </a:solidFill>
                <a:latin typeface="Calibri"/>
              </a:rPr>
              <a:t>prioritisation</a:t>
            </a:r>
            <a:r>
              <a:rPr sz="1100" dirty="0">
                <a:solidFill>
                  <a:srgbClr val="1E2A44"/>
                </a:solidFill>
                <a:latin typeface="Calibri"/>
              </a:rPr>
              <a:t>: a survey. STVR, 2012. doi:10.1002/stvr.430</a:t>
            </a:r>
          </a:p>
          <a:p>
            <a:pPr>
              <a:spcAft>
                <a:spcPts val="700"/>
              </a:spcAft>
            </a:pPr>
            <a:r>
              <a:rPr sz="1100" dirty="0">
                <a:solidFill>
                  <a:srgbClr val="1E2A44"/>
                </a:solidFill>
                <a:latin typeface="Calibri"/>
              </a:rPr>
              <a:t>[4] </a:t>
            </a:r>
            <a:r>
              <a:rPr sz="1100" dirty="0" err="1">
                <a:solidFill>
                  <a:srgbClr val="1E2A44"/>
                </a:solidFill>
                <a:latin typeface="Calibri"/>
              </a:rPr>
              <a:t>Machalica</a:t>
            </a:r>
            <a:r>
              <a:rPr sz="1100" dirty="0">
                <a:solidFill>
                  <a:srgbClr val="1E2A44"/>
                </a:solidFill>
                <a:latin typeface="Calibri"/>
              </a:rPr>
              <a:t> et al. Predictive test selection. ICSE-SEIP, 2019. arXiv:1810.05286</a:t>
            </a:r>
          </a:p>
          <a:p>
            <a:pPr>
              <a:spcAft>
                <a:spcPts val="700"/>
              </a:spcAft>
            </a:pPr>
            <a:r>
              <a:rPr sz="1100" dirty="0">
                <a:solidFill>
                  <a:srgbClr val="1E2A44"/>
                </a:solidFill>
                <a:latin typeface="Calibri"/>
              </a:rPr>
              <a:t>[5] </a:t>
            </a:r>
            <a:r>
              <a:rPr sz="1100" dirty="0" err="1">
                <a:solidFill>
                  <a:srgbClr val="1E2A44"/>
                </a:solidFill>
                <a:latin typeface="Calibri"/>
              </a:rPr>
              <a:t>Paltenghi</a:t>
            </a:r>
            <a:r>
              <a:rPr sz="1100" dirty="0">
                <a:solidFill>
                  <a:srgbClr val="1E2A44"/>
                </a:solidFill>
                <a:latin typeface="Calibri"/>
              </a:rPr>
              <a:t> &amp; </a:t>
            </a:r>
            <a:r>
              <a:rPr sz="1100" dirty="0" err="1">
                <a:solidFill>
                  <a:srgbClr val="1E2A44"/>
                </a:solidFill>
                <a:latin typeface="Calibri"/>
              </a:rPr>
              <a:t>Pradel</a:t>
            </a:r>
            <a:r>
              <a:rPr sz="1100" dirty="0">
                <a:solidFill>
                  <a:srgbClr val="1E2A44"/>
                </a:solidFill>
                <a:latin typeface="Calibri"/>
              </a:rPr>
              <a:t>. A survey on testing and analysis of quantum software. arXiv:2410.00650, 2024.</a:t>
            </a:r>
          </a:p>
          <a:p>
            <a:pPr>
              <a:spcAft>
                <a:spcPts val="700"/>
              </a:spcAft>
            </a:pPr>
            <a:r>
              <a:rPr sz="1100" dirty="0">
                <a:solidFill>
                  <a:srgbClr val="1E2A44"/>
                </a:solidFill>
                <a:latin typeface="Calibri"/>
              </a:rPr>
              <a:t>[6] </a:t>
            </a:r>
            <a:r>
              <a:rPr sz="1100" dirty="0" err="1">
                <a:solidFill>
                  <a:srgbClr val="1E2A44"/>
                </a:solidFill>
                <a:latin typeface="Calibri"/>
              </a:rPr>
              <a:t>Burgholzer</a:t>
            </a:r>
            <a:r>
              <a:rPr sz="1100" dirty="0">
                <a:solidFill>
                  <a:srgbClr val="1E2A44"/>
                </a:solidFill>
                <a:latin typeface="Calibri"/>
              </a:rPr>
              <a:t> &amp; </a:t>
            </a:r>
            <a:r>
              <a:rPr sz="1100" dirty="0" err="1">
                <a:solidFill>
                  <a:srgbClr val="1E2A44"/>
                </a:solidFill>
                <a:latin typeface="Calibri"/>
              </a:rPr>
              <a:t>Wille</a:t>
            </a:r>
            <a:r>
              <a:rPr sz="1100" dirty="0">
                <a:solidFill>
                  <a:srgbClr val="1E2A44"/>
                </a:solidFill>
                <a:latin typeface="Calibri"/>
              </a:rPr>
              <a:t>. Advanced equivalence checking for quantum circuits. IEEE TCAD, 2021. doi:10.1109/TCAD.2020.3032630</a:t>
            </a:r>
          </a:p>
          <a:p>
            <a:pPr>
              <a:spcAft>
                <a:spcPts val="700"/>
              </a:spcAft>
            </a:pPr>
            <a:r>
              <a:rPr sz="1100" dirty="0">
                <a:solidFill>
                  <a:srgbClr val="1E2A44"/>
                </a:solidFill>
                <a:latin typeface="Calibri"/>
              </a:rPr>
              <a:t>[7] </a:t>
            </a:r>
            <a:r>
              <a:rPr sz="1100" dirty="0" err="1">
                <a:solidFill>
                  <a:srgbClr val="1E2A44"/>
                </a:solidFill>
                <a:latin typeface="Calibri"/>
              </a:rPr>
              <a:t>Paltenghi</a:t>
            </a:r>
            <a:r>
              <a:rPr sz="1100" dirty="0">
                <a:solidFill>
                  <a:srgbClr val="1E2A44"/>
                </a:solidFill>
                <a:latin typeface="Calibri"/>
              </a:rPr>
              <a:t> &amp; </a:t>
            </a:r>
            <a:r>
              <a:rPr sz="1100" dirty="0" err="1">
                <a:solidFill>
                  <a:srgbClr val="1E2A44"/>
                </a:solidFill>
                <a:latin typeface="Calibri"/>
              </a:rPr>
              <a:t>Pradel</a:t>
            </a:r>
            <a:r>
              <a:rPr sz="1100" dirty="0">
                <a:solidFill>
                  <a:srgbClr val="1E2A44"/>
                </a:solidFill>
                <a:latin typeface="Calibri"/>
              </a:rPr>
              <a:t>. </a:t>
            </a:r>
            <a:r>
              <a:rPr sz="1100" dirty="0" err="1">
                <a:solidFill>
                  <a:srgbClr val="1E2A44"/>
                </a:solidFill>
                <a:latin typeface="Calibri"/>
              </a:rPr>
              <a:t>MorphQ</a:t>
            </a:r>
            <a:r>
              <a:rPr sz="1100" dirty="0">
                <a:solidFill>
                  <a:srgbClr val="1E2A44"/>
                </a:solidFill>
                <a:latin typeface="Calibri"/>
              </a:rPr>
              <a:t>: metamorphic testing of the </a:t>
            </a:r>
            <a:r>
              <a:rPr sz="1100" dirty="0" err="1">
                <a:solidFill>
                  <a:srgbClr val="1E2A44"/>
                </a:solidFill>
                <a:latin typeface="Calibri"/>
              </a:rPr>
              <a:t>Qiskit</a:t>
            </a:r>
            <a:r>
              <a:rPr sz="1100" dirty="0">
                <a:solidFill>
                  <a:srgbClr val="1E2A44"/>
                </a:solidFill>
                <a:latin typeface="Calibri"/>
              </a:rPr>
              <a:t> platform. ICSE, 2023. doi:10.1109/ICSE48619.2023.00202</a:t>
            </a:r>
          </a:p>
          <a:p>
            <a:pPr>
              <a:spcAft>
                <a:spcPts val="700"/>
              </a:spcAft>
            </a:pPr>
            <a:r>
              <a:rPr sz="1100" dirty="0">
                <a:solidFill>
                  <a:srgbClr val="1E2A44"/>
                </a:solidFill>
                <a:latin typeface="Calibri"/>
              </a:rPr>
              <a:t>[8] </a:t>
            </a:r>
            <a:r>
              <a:rPr sz="1100" dirty="0" err="1">
                <a:solidFill>
                  <a:srgbClr val="1E2A44"/>
                </a:solidFill>
                <a:latin typeface="Calibri"/>
              </a:rPr>
              <a:t>Javadi-Abhari</a:t>
            </a:r>
            <a:r>
              <a:rPr sz="1100" dirty="0">
                <a:solidFill>
                  <a:srgbClr val="1E2A44"/>
                </a:solidFill>
                <a:latin typeface="Calibri"/>
              </a:rPr>
              <a:t> et al. Quantum computing with </a:t>
            </a:r>
            <a:r>
              <a:rPr sz="1100" dirty="0" err="1">
                <a:solidFill>
                  <a:srgbClr val="1E2A44"/>
                </a:solidFill>
                <a:latin typeface="Calibri"/>
              </a:rPr>
              <a:t>Qiskit</a:t>
            </a:r>
            <a:r>
              <a:rPr sz="1100" dirty="0">
                <a:solidFill>
                  <a:srgbClr val="1E2A44"/>
                </a:solidFill>
                <a:latin typeface="Calibri"/>
              </a:rPr>
              <a:t>. arXiv:2405.08810, 2024.</a:t>
            </a:r>
          </a:p>
          <a:p>
            <a:pPr>
              <a:spcAft>
                <a:spcPts val="700"/>
              </a:spcAft>
            </a:pPr>
            <a:r>
              <a:rPr sz="1100" dirty="0">
                <a:solidFill>
                  <a:srgbClr val="1E2A44"/>
                </a:solidFill>
                <a:latin typeface="Calibri"/>
              </a:rPr>
              <a:t>[14] </a:t>
            </a:r>
            <a:r>
              <a:rPr sz="1100" dirty="0" err="1">
                <a:solidFill>
                  <a:srgbClr val="1E2A44"/>
                </a:solidFill>
                <a:latin typeface="Calibri"/>
              </a:rPr>
              <a:t>Elsner</a:t>
            </a:r>
            <a:r>
              <a:rPr sz="1100" dirty="0">
                <a:solidFill>
                  <a:srgbClr val="1E2A44"/>
                </a:solidFill>
                <a:latin typeface="Calibri"/>
              </a:rPr>
              <a:t> et al. Readily available information for regression test optimization in CI. ISSTA, 2021. </a:t>
            </a:r>
            <a:r>
              <a:rPr sz="1100" dirty="0" smtClean="0">
                <a:solidFill>
                  <a:srgbClr val="1E2A44"/>
                </a:solidFill>
                <a:latin typeface="Calibri"/>
              </a:rPr>
              <a:t>doi:10.1145/3460319.3464834</a:t>
            </a:r>
            <a:endParaRPr lang="en-US" sz="1100" dirty="0" smtClean="0">
              <a:solidFill>
                <a:srgbClr val="1E2A44"/>
              </a:solidFill>
              <a:latin typeface="Calibri"/>
            </a:endParaRPr>
          </a:p>
          <a:p>
            <a:pPr>
              <a:spcAft>
                <a:spcPts val="700"/>
              </a:spcAft>
            </a:pPr>
            <a:r>
              <a:rPr lang="en-US" sz="1100" dirty="0">
                <a:solidFill>
                  <a:srgbClr val="1E2A44"/>
                </a:solidFill>
              </a:rPr>
              <a:t>[22] </a:t>
            </a:r>
            <a:r>
              <a:rPr lang="en-US" sz="1100" dirty="0" err="1">
                <a:solidFill>
                  <a:srgbClr val="1E2A44"/>
                </a:solidFill>
              </a:rPr>
              <a:t>Pontolillo</a:t>
            </a:r>
            <a:r>
              <a:rPr lang="en-US" sz="1100" dirty="0">
                <a:solidFill>
                  <a:srgbClr val="1E2A44"/>
                </a:solidFill>
              </a:rPr>
              <a:t> et al. </a:t>
            </a:r>
            <a:r>
              <a:rPr lang="en-US" sz="1100" dirty="0" err="1">
                <a:solidFill>
                  <a:srgbClr val="1E2A44"/>
                </a:solidFill>
              </a:rPr>
              <a:t>QuCheck</a:t>
            </a:r>
            <a:r>
              <a:rPr lang="en-US" sz="1100" dirty="0">
                <a:solidFill>
                  <a:srgbClr val="1E2A44"/>
                </a:solidFill>
              </a:rPr>
              <a:t>: property-based testing for </a:t>
            </a:r>
            <a:r>
              <a:rPr lang="en-US" sz="1100" dirty="0" err="1">
                <a:solidFill>
                  <a:srgbClr val="1E2A44"/>
                </a:solidFill>
              </a:rPr>
              <a:t>Qiskit</a:t>
            </a:r>
            <a:r>
              <a:rPr lang="en-US" sz="1100" dirty="0">
                <a:solidFill>
                  <a:srgbClr val="1E2A44"/>
                </a:solidFill>
              </a:rPr>
              <a:t>. arXiv:2503.22641, 2025.</a:t>
            </a:r>
          </a:p>
          <a:p>
            <a:pPr>
              <a:spcAft>
                <a:spcPts val="700"/>
              </a:spcAft>
            </a:pPr>
            <a:r>
              <a:rPr lang="en-US" sz="1100" dirty="0">
                <a:solidFill>
                  <a:srgbClr val="1E2A44"/>
                </a:solidFill>
              </a:rPr>
              <a:t>[23] Luo et al. QEMI: testing quantum stacks via equivalence modulo inputs. FASE, 2026. arXiv:2602.09942</a:t>
            </a:r>
          </a:p>
          <a:p>
            <a:pPr>
              <a:spcAft>
                <a:spcPts val="700"/>
              </a:spcAft>
            </a:pPr>
            <a:r>
              <a:rPr lang="en-US" sz="1100" dirty="0">
                <a:solidFill>
                  <a:srgbClr val="1E2A44"/>
                </a:solidFill>
              </a:rPr>
              <a:t>[24] Wang et al. </a:t>
            </a:r>
            <a:r>
              <a:rPr lang="en-US" sz="1100" dirty="0" err="1">
                <a:solidFill>
                  <a:srgbClr val="1E2A44"/>
                </a:solidFill>
              </a:rPr>
              <a:t>QDiff</a:t>
            </a:r>
            <a:r>
              <a:rPr lang="en-US" sz="1100" dirty="0">
                <a:solidFill>
                  <a:srgbClr val="1E2A44"/>
                </a:solidFill>
              </a:rPr>
              <a:t>: differential testing of quantum software stacks. ASE, 2021. doi:10.1109/ASE51524.2021.9678792</a:t>
            </a:r>
          </a:p>
          <a:p>
            <a:pPr>
              <a:spcAft>
                <a:spcPts val="700"/>
              </a:spcAft>
            </a:pPr>
            <a:r>
              <a:rPr lang="en-US" sz="1100" dirty="0">
                <a:solidFill>
                  <a:srgbClr val="1E2A44"/>
                </a:solidFill>
              </a:rPr>
              <a:t>[25] Ye et al. QSPE: enumerating skeletal quantum programs. arXiv:2602.00024, 2026.</a:t>
            </a:r>
          </a:p>
          <a:p>
            <a:pPr>
              <a:spcAft>
                <a:spcPts val="700"/>
              </a:spcAft>
            </a:pPr>
            <a:r>
              <a:rPr lang="en-US" sz="1100" dirty="0">
                <a:solidFill>
                  <a:srgbClr val="1E2A44"/>
                </a:solidFill>
              </a:rPr>
              <a:t>[26] Choudhury et al. </a:t>
            </a:r>
            <a:r>
              <a:rPr lang="en-US" sz="1100" dirty="0" err="1">
                <a:solidFill>
                  <a:srgbClr val="1E2A44"/>
                </a:solidFill>
              </a:rPr>
              <a:t>Concolic</a:t>
            </a:r>
            <a:r>
              <a:rPr lang="en-US" sz="1100" dirty="0">
                <a:solidFill>
                  <a:srgbClr val="1E2A44"/>
                </a:solidFill>
              </a:rPr>
              <a:t> testing for quantum compilers. IEEE ICCD, 2025.</a:t>
            </a:r>
            <a:endParaRPr sz="1100" dirty="0">
              <a:solidFill>
                <a:srgbClr val="1E2A44"/>
              </a:solidFill>
              <a:latin typeface="Calibri"/>
            </a:endParaRPr>
          </a:p>
        </p:txBody>
      </p:sp>
      <p:sp>
        <p:nvSpPr>
          <p:cNvPr id="6" name="TextBox 5"/>
          <p:cNvSpPr txBox="1"/>
          <p:nvPr/>
        </p:nvSpPr>
        <p:spPr>
          <a:xfrm>
            <a:off x="6263640" y="1600200"/>
            <a:ext cx="5486400" cy="4909036"/>
          </a:xfrm>
          <a:prstGeom prst="rect">
            <a:avLst/>
          </a:prstGeom>
          <a:noFill/>
        </p:spPr>
        <p:txBody>
          <a:bodyPr wrap="square">
            <a:spAutoFit/>
          </a:bodyPr>
          <a:lstStyle/>
          <a:p>
            <a:pPr>
              <a:spcAft>
                <a:spcPts val="700"/>
              </a:spcAft>
            </a:pPr>
            <a:r>
              <a:rPr sz="1100" dirty="0" smtClean="0">
                <a:solidFill>
                  <a:srgbClr val="1E2A44"/>
                </a:solidFill>
                <a:latin typeface="Calibri"/>
              </a:rPr>
              <a:t>doi:10.1109/ICCD65941.2025.00057</a:t>
            </a:r>
            <a:endParaRPr sz="1100" dirty="0">
              <a:solidFill>
                <a:srgbClr val="1E2A44"/>
              </a:solidFill>
              <a:latin typeface="Calibri"/>
            </a:endParaRPr>
          </a:p>
          <a:p>
            <a:pPr>
              <a:spcAft>
                <a:spcPts val="700"/>
              </a:spcAft>
            </a:pPr>
            <a:r>
              <a:rPr sz="1100" dirty="0">
                <a:solidFill>
                  <a:srgbClr val="1E2A44"/>
                </a:solidFill>
                <a:latin typeface="Calibri"/>
              </a:rPr>
              <a:t>[27] Tao et al. </a:t>
            </a:r>
            <a:r>
              <a:rPr sz="1100" dirty="0" err="1">
                <a:solidFill>
                  <a:srgbClr val="1E2A44"/>
                </a:solidFill>
                <a:latin typeface="Calibri"/>
              </a:rPr>
              <a:t>Giallar</a:t>
            </a:r>
            <a:r>
              <a:rPr sz="1100" dirty="0">
                <a:solidFill>
                  <a:srgbClr val="1E2A44"/>
                </a:solidFill>
                <a:latin typeface="Calibri"/>
              </a:rPr>
              <a:t>: push-button verification for the </a:t>
            </a:r>
            <a:r>
              <a:rPr sz="1100" dirty="0" err="1">
                <a:solidFill>
                  <a:srgbClr val="1E2A44"/>
                </a:solidFill>
                <a:latin typeface="Calibri"/>
              </a:rPr>
              <a:t>Qiskit</a:t>
            </a:r>
            <a:r>
              <a:rPr sz="1100" dirty="0">
                <a:solidFill>
                  <a:srgbClr val="1E2A44"/>
                </a:solidFill>
                <a:latin typeface="Calibri"/>
              </a:rPr>
              <a:t> compiler. PLDI, 2022. doi:10.1145/3519939.3523431</a:t>
            </a:r>
          </a:p>
          <a:p>
            <a:pPr>
              <a:spcAft>
                <a:spcPts val="700"/>
              </a:spcAft>
            </a:pPr>
            <a:r>
              <a:rPr sz="1100" dirty="0">
                <a:solidFill>
                  <a:srgbClr val="1E2A44"/>
                </a:solidFill>
                <a:latin typeface="Calibri"/>
              </a:rPr>
              <a:t>[42] Shi et al. Contract-based verification of a realistic quantum compiler (</a:t>
            </a:r>
            <a:r>
              <a:rPr sz="1100" dirty="0" err="1">
                <a:solidFill>
                  <a:srgbClr val="1E2A44"/>
                </a:solidFill>
                <a:latin typeface="Calibri"/>
              </a:rPr>
              <a:t>CertiQ</a:t>
            </a:r>
            <a:r>
              <a:rPr sz="1100" dirty="0">
                <a:solidFill>
                  <a:srgbClr val="1E2A44"/>
                </a:solidFill>
                <a:latin typeface="Calibri"/>
              </a:rPr>
              <a:t>). arXiv:1908.08963, 2019.</a:t>
            </a:r>
          </a:p>
          <a:p>
            <a:pPr>
              <a:spcAft>
                <a:spcPts val="700"/>
              </a:spcAft>
            </a:pPr>
            <a:r>
              <a:rPr sz="1100" dirty="0">
                <a:solidFill>
                  <a:srgbClr val="1E2A44"/>
                </a:solidFill>
                <a:latin typeface="Calibri"/>
              </a:rPr>
              <a:t>[46] Oldfield et al. Faster &amp; better quantum software testing. ACM TOSEM, 2025. doi:10.1145/3714468</a:t>
            </a:r>
          </a:p>
          <a:p>
            <a:pPr>
              <a:spcAft>
                <a:spcPts val="700"/>
              </a:spcAft>
            </a:pPr>
            <a:r>
              <a:rPr sz="1100" dirty="0">
                <a:solidFill>
                  <a:srgbClr val="1E2A44"/>
                </a:solidFill>
                <a:latin typeface="Calibri"/>
              </a:rPr>
              <a:t>[47] Kang, Lee &amp; Oh. Statistical testing of quantum programs. OOPSLA, 2024. doi:10.1145/3689716</a:t>
            </a:r>
          </a:p>
          <a:p>
            <a:pPr>
              <a:spcAft>
                <a:spcPts val="700"/>
              </a:spcAft>
            </a:pPr>
            <a:r>
              <a:rPr sz="1100" dirty="0">
                <a:solidFill>
                  <a:srgbClr val="1E2A44"/>
                </a:solidFill>
                <a:latin typeface="Calibri"/>
              </a:rPr>
              <a:t>[48] Lee, Hong &amp; </a:t>
            </a:r>
            <a:r>
              <a:rPr sz="1100" dirty="0" err="1">
                <a:solidFill>
                  <a:srgbClr val="1E2A44"/>
                </a:solidFill>
                <a:latin typeface="Calibri"/>
              </a:rPr>
              <a:t>Ryu</a:t>
            </a:r>
            <a:r>
              <a:rPr sz="1100" dirty="0">
                <a:solidFill>
                  <a:srgbClr val="1E2A44"/>
                </a:solidFill>
                <a:latin typeface="Calibri"/>
              </a:rPr>
              <a:t>. Exact inference for quantum circuits. ASE, 2025. doi:10.1109/ASE63991.2025.00203</a:t>
            </a:r>
          </a:p>
          <a:p>
            <a:pPr>
              <a:spcAft>
                <a:spcPts val="600"/>
              </a:spcAft>
            </a:pPr>
            <a:r>
              <a:rPr sz="1100" dirty="0">
                <a:solidFill>
                  <a:srgbClr val="1E2A44"/>
                </a:solidFill>
                <a:latin typeface="Calibri"/>
              </a:rPr>
              <a:t>[50] </a:t>
            </a:r>
            <a:r>
              <a:rPr sz="1100" dirty="0" err="1">
                <a:solidFill>
                  <a:srgbClr val="1E2A44"/>
                </a:solidFill>
                <a:latin typeface="Calibri"/>
              </a:rPr>
              <a:t>Burgholzer</a:t>
            </a:r>
            <a:r>
              <a:rPr sz="1100" dirty="0">
                <a:solidFill>
                  <a:srgbClr val="1E2A44"/>
                </a:solidFill>
                <a:latin typeface="Calibri"/>
              </a:rPr>
              <a:t>, Raymond &amp; </a:t>
            </a:r>
            <a:r>
              <a:rPr sz="1100" dirty="0" err="1">
                <a:solidFill>
                  <a:srgbClr val="1E2A44"/>
                </a:solidFill>
                <a:latin typeface="Calibri"/>
              </a:rPr>
              <a:t>Wille</a:t>
            </a:r>
            <a:r>
              <a:rPr sz="1100" dirty="0">
                <a:solidFill>
                  <a:srgbClr val="1E2A44"/>
                </a:solidFill>
                <a:latin typeface="Calibri"/>
              </a:rPr>
              <a:t>. Verifying results of the IBM </a:t>
            </a:r>
            <a:r>
              <a:rPr sz="1100" dirty="0" err="1">
                <a:solidFill>
                  <a:srgbClr val="1E2A44"/>
                </a:solidFill>
                <a:latin typeface="Calibri"/>
              </a:rPr>
              <a:t>Qiskit</a:t>
            </a:r>
            <a:r>
              <a:rPr sz="1100" dirty="0">
                <a:solidFill>
                  <a:srgbClr val="1E2A44"/>
                </a:solidFill>
                <a:latin typeface="Calibri"/>
              </a:rPr>
              <a:t> compilation flow. QCE, 2020. doi:10.1109/QCE49297.2020.00051</a:t>
            </a:r>
          </a:p>
          <a:p>
            <a:pPr>
              <a:spcAft>
                <a:spcPts val="600"/>
              </a:spcAft>
            </a:pPr>
            <a:r>
              <a:rPr sz="1100" dirty="0">
                <a:solidFill>
                  <a:srgbClr val="1E2A44"/>
                </a:solidFill>
                <a:latin typeface="Calibri"/>
              </a:rPr>
              <a:t>[51] Ali et al. Input/output coverage criteria for testing quantum programs. ICST, 2021. doi:10.1109/ICST49551.2021.00014</a:t>
            </a:r>
          </a:p>
          <a:p>
            <a:pPr>
              <a:spcAft>
                <a:spcPts val="600"/>
              </a:spcAft>
            </a:pPr>
            <a:r>
              <a:rPr sz="1100" dirty="0">
                <a:solidFill>
                  <a:srgbClr val="1E2A44"/>
                </a:solidFill>
                <a:latin typeface="Calibri"/>
              </a:rPr>
              <a:t>[52] Wang et al. </a:t>
            </a:r>
            <a:r>
              <a:rPr sz="1100" dirty="0" err="1">
                <a:solidFill>
                  <a:srgbClr val="1E2A44"/>
                </a:solidFill>
                <a:latin typeface="Calibri"/>
              </a:rPr>
              <a:t>QuSBT</a:t>
            </a:r>
            <a:r>
              <a:rPr sz="1100" dirty="0">
                <a:solidFill>
                  <a:srgbClr val="1E2A44"/>
                </a:solidFill>
                <a:latin typeface="Calibri"/>
              </a:rPr>
              <a:t>: search-based testing of quantum programs. ICSE-C, 2022. doi:10.1145/3510454.3516839</a:t>
            </a:r>
          </a:p>
          <a:p>
            <a:pPr>
              <a:spcAft>
                <a:spcPts val="600"/>
              </a:spcAft>
            </a:pPr>
            <a:r>
              <a:rPr sz="1100" dirty="0">
                <a:solidFill>
                  <a:srgbClr val="1E2A44"/>
                </a:solidFill>
                <a:latin typeface="Calibri"/>
              </a:rPr>
              <a:t>[53] </a:t>
            </a:r>
            <a:r>
              <a:rPr sz="1100" dirty="0" err="1">
                <a:solidFill>
                  <a:srgbClr val="1E2A44"/>
                </a:solidFill>
                <a:latin typeface="Calibri"/>
              </a:rPr>
              <a:t>Klimis</a:t>
            </a:r>
            <a:r>
              <a:rPr sz="1100" dirty="0">
                <a:solidFill>
                  <a:srgbClr val="1E2A44"/>
                </a:solidFill>
                <a:latin typeface="Calibri"/>
              </a:rPr>
              <a:t> et al. Shaking up quantum simulators with fuzzing and </a:t>
            </a:r>
            <a:r>
              <a:rPr sz="1100" dirty="0" err="1">
                <a:solidFill>
                  <a:srgbClr val="1E2A44"/>
                </a:solidFill>
                <a:latin typeface="Calibri"/>
              </a:rPr>
              <a:t>rigour</a:t>
            </a:r>
            <a:r>
              <a:rPr sz="1100" dirty="0">
                <a:solidFill>
                  <a:srgbClr val="1E2A44"/>
                </a:solidFill>
                <a:latin typeface="Calibri"/>
              </a:rPr>
              <a:t>. OOPSLA, 2025. doi:10.1145/3763100</a:t>
            </a:r>
          </a:p>
          <a:p>
            <a:pPr>
              <a:spcAft>
                <a:spcPts val="600"/>
              </a:spcAft>
            </a:pPr>
            <a:r>
              <a:rPr sz="1100" dirty="0">
                <a:solidFill>
                  <a:srgbClr val="1E2A44"/>
                </a:solidFill>
                <a:latin typeface="Calibri"/>
              </a:rPr>
              <a:t>[54] Mei et al. Equivalence checking via path-sum &amp; weighted model counting. TACAS, 2026. doi:10.1007/978-3-032-22749-2_21</a:t>
            </a:r>
          </a:p>
          <a:p>
            <a:pPr>
              <a:spcAft>
                <a:spcPts val="600"/>
              </a:spcAft>
            </a:pPr>
            <a:r>
              <a:rPr sz="1100" dirty="0">
                <a:solidFill>
                  <a:srgbClr val="1E2A44"/>
                </a:solidFill>
                <a:latin typeface="Calibri"/>
              </a:rPr>
              <a:t>[55] Ye et al. Is measurement enough? Rethinking output validation in quantum program testing. ASE (NIER), 2025. arXiv:2509.16595</a:t>
            </a:r>
          </a:p>
        </p:txBody>
      </p:sp>
      <p:sp>
        <p:nvSpPr>
          <p:cNvPr id="7" name="TextBox 6"/>
          <p:cNvSpPr txBox="1"/>
          <p:nvPr/>
        </p:nvSpPr>
        <p:spPr>
          <a:xfrm>
            <a:off x="640080" y="6446520"/>
            <a:ext cx="2898550" cy="261610"/>
          </a:xfrm>
          <a:prstGeom prst="rect">
            <a:avLst/>
          </a:prstGeom>
          <a:noFill/>
        </p:spPr>
        <p:txBody>
          <a:bodyPr wrap="none">
            <a:spAutoFit/>
          </a:bodyPr>
          <a:lstStyle/>
          <a:p>
            <a:r>
              <a:rPr sz="1100" i="1">
                <a:solidFill>
                  <a:srgbClr val="64748C"/>
                </a:solidFill>
                <a:latin typeface="Calibri"/>
              </a:rPr>
              <a:t>Numbering follows the proposal's reference list.</a:t>
            </a:r>
          </a:p>
        </p:txBody>
      </p:sp>
      <p:sp>
        <p:nvSpPr>
          <p:cNvPr id="8" name="TextBox 7"/>
          <p:cNvSpPr txBox="1"/>
          <p:nvPr/>
        </p:nvSpPr>
        <p:spPr>
          <a:xfrm>
            <a:off x="11656115" y="6473952"/>
            <a:ext cx="322525" cy="253916"/>
          </a:xfrm>
          <a:prstGeom prst="rect">
            <a:avLst/>
          </a:prstGeom>
          <a:noFill/>
        </p:spPr>
        <p:txBody>
          <a:bodyPr wrap="none">
            <a:spAutoFit/>
          </a:bodyPr>
          <a:lstStyle/>
          <a:p>
            <a:pPr algn="r"/>
            <a:r>
              <a:rPr sz="1050" b="1">
                <a:solidFill>
                  <a:srgbClr val="64748C"/>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70688"/>
            <a:ext cx="305306" cy="6684907"/>
          </a:xfrm>
          <a:prstGeom prst="rect">
            <a:avLst/>
          </a:prstGeom>
          <a:noFill/>
        </p:spPr>
        <p:txBody>
          <a:bodyPr wrap="square" lIns="36576" tIns="18288" rIns="36576" bIns="18288">
            <a:spAutoFit/>
          </a:bodyPr>
          <a:lstStyle/>
          <a:p>
            <a:r>
              <a:rPr sz="2400" b="1" i="0" dirty="0" smtClean="0">
                <a:solidFill>
                  <a:srgbClr val="1E2A44"/>
                </a:solidFill>
                <a:latin typeface="Cambria"/>
              </a:rPr>
              <a:t>Research</a:t>
            </a:r>
            <a:endParaRPr lang="en-US" sz="2400" b="1" i="0" dirty="0" smtClean="0">
              <a:solidFill>
                <a:srgbClr val="1E2A44"/>
              </a:solidFill>
              <a:latin typeface="Cambria"/>
            </a:endParaRPr>
          </a:p>
          <a:p>
            <a:r>
              <a:rPr sz="2400" b="1" i="0" dirty="0" smtClean="0">
                <a:solidFill>
                  <a:srgbClr val="1E2A44"/>
                </a:solidFill>
                <a:latin typeface="Cambria"/>
              </a:rPr>
              <a:t> </a:t>
            </a:r>
            <a:r>
              <a:rPr sz="2400" b="1" i="0" dirty="0" smtClean="0">
                <a:solidFill>
                  <a:srgbClr val="1E2A44"/>
                </a:solidFill>
                <a:latin typeface="Cambria"/>
              </a:rPr>
              <a:t>Framework</a:t>
            </a:r>
            <a:endParaRPr sz="2400" b="1" i="0" dirty="0">
              <a:solidFill>
                <a:srgbClr val="1E2A44"/>
              </a:solidFill>
              <a:latin typeface="Cambria"/>
            </a:endParaRPr>
          </a:p>
        </p:txBody>
      </p:sp>
      <p:sp>
        <p:nvSpPr>
          <p:cNvPr id="7" name="TextBox 6"/>
          <p:cNvSpPr txBox="1"/>
          <p:nvPr/>
        </p:nvSpPr>
        <p:spPr>
          <a:xfrm>
            <a:off x="11155680" y="6473952"/>
            <a:ext cx="822960" cy="274320"/>
          </a:xfrm>
          <a:prstGeom prst="rect">
            <a:avLst/>
          </a:prstGeom>
          <a:noFill/>
        </p:spPr>
        <p:txBody>
          <a:bodyPr wrap="square" lIns="36576" tIns="18288" rIns="36576" bIns="18288">
            <a:spAutoFit/>
          </a:bodyPr>
          <a:lstStyle/>
          <a:p>
            <a:pPr algn="r"/>
            <a:r>
              <a:rPr sz="850" b="1" i="0">
                <a:solidFill>
                  <a:srgbClr val="64748C"/>
                </a:solidFill>
                <a:latin typeface="Calibri"/>
              </a:rPr>
              <a:t>22</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5386" y="0"/>
            <a:ext cx="10301228" cy="685800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283154"/>
          </a:xfrm>
          <a:prstGeom prst="rect">
            <a:avLst/>
          </a:prstGeom>
          <a:noFill/>
        </p:spPr>
        <p:txBody>
          <a:bodyPr wrap="square" lIns="36576" tIns="18288" rIns="36576" bIns="18288">
            <a:spAutoFit/>
          </a:bodyPr>
          <a:lstStyle/>
          <a:p>
            <a:r>
              <a:rPr sz="1600" b="1" i="0" dirty="0">
                <a:solidFill>
                  <a:srgbClr val="14B8A6"/>
                </a:solidFill>
                <a:latin typeface="Calibri"/>
              </a:rPr>
              <a:t>BACKUP — FOR QUESTIONS</a:t>
            </a:r>
          </a:p>
        </p:txBody>
      </p:sp>
      <p:sp>
        <p:nvSpPr>
          <p:cNvPr id="4" name="TextBox 3"/>
          <p:cNvSpPr txBox="1"/>
          <p:nvPr/>
        </p:nvSpPr>
        <p:spPr>
          <a:xfrm>
            <a:off x="640080" y="694944"/>
            <a:ext cx="11155680" cy="590931"/>
          </a:xfrm>
          <a:prstGeom prst="rect">
            <a:avLst/>
          </a:prstGeom>
          <a:noFill/>
        </p:spPr>
        <p:txBody>
          <a:bodyPr wrap="square" lIns="36576" tIns="18288" rIns="36576" bIns="18288">
            <a:spAutoFit/>
          </a:bodyPr>
          <a:lstStyle/>
          <a:p>
            <a:r>
              <a:rPr sz="3600" b="1" i="0" dirty="0">
                <a:solidFill>
                  <a:srgbClr val="1E2A44"/>
                </a:solidFill>
                <a:latin typeface="Cambria"/>
              </a:rPr>
              <a:t>Pipeline Feasibility: Validity </a:t>
            </a:r>
            <a:r>
              <a:rPr sz="3600" b="1" i="0" dirty="0" smtClean="0">
                <a:solidFill>
                  <a:srgbClr val="1E2A44"/>
                </a:solidFill>
                <a:latin typeface="Cambria"/>
              </a:rPr>
              <a:t>Gates</a:t>
            </a:r>
            <a:endParaRPr sz="3600" b="1" i="0" dirty="0">
              <a:solidFill>
                <a:srgbClr val="1E2A44"/>
              </a:solidFill>
              <a:latin typeface="Cambria"/>
            </a:endParaRPr>
          </a:p>
        </p:txBody>
      </p:sp>
      <p:graphicFrame>
        <p:nvGraphicFramePr>
          <p:cNvPr id="5" name="Table 4"/>
          <p:cNvGraphicFramePr>
            <a:graphicFrameLocks noGrp="1"/>
          </p:cNvGraphicFramePr>
          <p:nvPr>
            <p:extLst>
              <p:ext uri="{D42A27DB-BD31-4B8C-83A1-F6EECF244321}">
                <p14:modId xmlns:p14="http://schemas.microsoft.com/office/powerpoint/2010/main" val="383326520"/>
              </p:ext>
            </p:extLst>
          </p:nvPr>
        </p:nvGraphicFramePr>
        <p:xfrm>
          <a:off x="603504" y="1554480"/>
          <a:ext cx="10972800" cy="3030048"/>
        </p:xfrm>
        <a:graphic>
          <a:graphicData uri="http://schemas.openxmlformats.org/drawingml/2006/table">
            <a:tbl>
              <a:tblPr>
                <a:tableStyleId>{5C22544A-7EE6-4342-B048-85BDC9FD1C3A}</a:tableStyleId>
              </a:tblPr>
              <a:tblGrid>
                <a:gridCol w="7315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32864">
                <a:tc>
                  <a:txBody>
                    <a:bodyPr/>
                    <a:lstStyle/>
                    <a:p>
                      <a:r>
                        <a:rPr sz="1800" b="1">
                          <a:solidFill>
                            <a:srgbClr val="FFFFFF"/>
                          </a:solidFill>
                          <a:latin typeface="Calibri"/>
                        </a:rPr>
                        <a:t>Implementation-validity gate</a:t>
                      </a:r>
                    </a:p>
                  </a:txBody>
                  <a:tcPr marL="54864" marR="54864" marT="18288" marB="18288" anchor="ctr">
                    <a:solidFill>
                      <a:srgbClr val="14264F"/>
                    </a:solidFill>
                  </a:tcPr>
                </a:tc>
                <a:tc>
                  <a:txBody>
                    <a:bodyPr/>
                    <a:lstStyle/>
                    <a:p>
                      <a:r>
                        <a:rPr sz="1800" b="1">
                          <a:solidFill>
                            <a:srgbClr val="FFFFFF"/>
                          </a:solidFill>
                          <a:latin typeface="Calibri"/>
                        </a:rPr>
                        <a:t>Result</a:t>
                      </a:r>
                    </a:p>
                  </a:txBody>
                  <a:tcPr marL="54864" marR="54864" marT="18288" marB="18288" anchor="ctr">
                    <a:solidFill>
                      <a:srgbClr val="14264F"/>
                    </a:solidFill>
                  </a:tcPr>
                </a:tc>
                <a:extLst>
                  <a:ext uri="{0D108BD9-81ED-4DB2-BD59-A6C34878D82A}">
                    <a16:rowId xmlns:a16="http://schemas.microsoft.com/office/drawing/2014/main" val="10000"/>
                  </a:ext>
                </a:extLst>
              </a:tr>
              <a:tr h="432864">
                <a:tc>
                  <a:txBody>
                    <a:bodyPr/>
                    <a:lstStyle/>
                    <a:p>
                      <a:r>
                        <a:rPr sz="1800">
                          <a:solidFill>
                            <a:srgbClr val="1E2A44"/>
                          </a:solidFill>
                          <a:latin typeface="Calibri"/>
                        </a:rPr>
                        <a:t>Budget compliance</a:t>
                      </a:r>
                    </a:p>
                  </a:txBody>
                  <a:tcPr marL="54864" marR="54864" marT="18288" marB="18288" anchor="ctr">
                    <a:solidFill>
                      <a:srgbClr val="FFFFFF"/>
                    </a:solidFill>
                  </a:tcPr>
                </a:tc>
                <a:tc>
                  <a:txBody>
                    <a:bodyPr/>
                    <a:lstStyle/>
                    <a:p>
                      <a:r>
                        <a:rPr sz="1800">
                          <a:solidFill>
                            <a:srgbClr val="1E2A44"/>
                          </a:solidFill>
                          <a:latin typeface="Calibri"/>
                        </a:rPr>
                        <a:t>PASS</a:t>
                      </a:r>
                    </a:p>
                  </a:txBody>
                  <a:tcPr marL="54864" marR="54864" marT="18288" marB="18288" anchor="ctr">
                    <a:solidFill>
                      <a:srgbClr val="FFFFFF"/>
                    </a:solidFill>
                  </a:tcPr>
                </a:tc>
                <a:extLst>
                  <a:ext uri="{0D108BD9-81ED-4DB2-BD59-A6C34878D82A}">
                    <a16:rowId xmlns:a16="http://schemas.microsoft.com/office/drawing/2014/main" val="10001"/>
                  </a:ext>
                </a:extLst>
              </a:tr>
              <a:tr h="432864">
                <a:tc>
                  <a:txBody>
                    <a:bodyPr/>
                    <a:lstStyle/>
                    <a:p>
                      <a:r>
                        <a:rPr sz="1800">
                          <a:solidFill>
                            <a:srgbClr val="1E2A44"/>
                          </a:solidFill>
                          <a:latin typeface="Calibri"/>
                        </a:rPr>
                        <a:t>Reproducibility (same seed ⇒ same ranking)</a:t>
                      </a:r>
                    </a:p>
                  </a:txBody>
                  <a:tcPr marL="54864" marR="54864" marT="18288" marB="18288" anchor="ctr">
                    <a:solidFill>
                      <a:srgbClr val="EFF4FA"/>
                    </a:solidFill>
                  </a:tcPr>
                </a:tc>
                <a:tc>
                  <a:txBody>
                    <a:bodyPr/>
                    <a:lstStyle/>
                    <a:p>
                      <a:r>
                        <a:rPr sz="1800">
                          <a:solidFill>
                            <a:srgbClr val="1E2A44"/>
                          </a:solidFill>
                          <a:latin typeface="Calibri"/>
                        </a:rPr>
                        <a:t>PASS</a:t>
                      </a:r>
                    </a:p>
                  </a:txBody>
                  <a:tcPr marL="54864" marR="54864" marT="18288" marB="18288" anchor="ctr">
                    <a:solidFill>
                      <a:srgbClr val="EFF4FA"/>
                    </a:solidFill>
                  </a:tcPr>
                </a:tc>
                <a:extLst>
                  <a:ext uri="{0D108BD9-81ED-4DB2-BD59-A6C34878D82A}">
                    <a16:rowId xmlns:a16="http://schemas.microsoft.com/office/drawing/2014/main" val="10002"/>
                  </a:ext>
                </a:extLst>
              </a:tr>
              <a:tr h="432864">
                <a:tc>
                  <a:txBody>
                    <a:bodyPr/>
                    <a:lstStyle/>
                    <a:p>
                      <a:r>
                        <a:rPr sz="1800" dirty="0">
                          <a:solidFill>
                            <a:srgbClr val="1E2A44"/>
                          </a:solidFill>
                          <a:latin typeface="Calibri"/>
                        </a:rPr>
                        <a:t>Leakage absence (current-event outcome cannot change ranking)</a:t>
                      </a:r>
                    </a:p>
                  </a:txBody>
                  <a:tcPr marL="54864" marR="54864" marT="18288" marB="18288" anchor="ctr">
                    <a:solidFill>
                      <a:srgbClr val="FFFFFF"/>
                    </a:solidFill>
                  </a:tcPr>
                </a:tc>
                <a:tc>
                  <a:txBody>
                    <a:bodyPr/>
                    <a:lstStyle/>
                    <a:p>
                      <a:r>
                        <a:rPr sz="1800">
                          <a:solidFill>
                            <a:srgbClr val="1E2A44"/>
                          </a:solidFill>
                          <a:latin typeface="Calibri"/>
                        </a:rPr>
                        <a:t>PASS</a:t>
                      </a:r>
                    </a:p>
                  </a:txBody>
                  <a:tcPr marL="54864" marR="54864" marT="18288" marB="18288" anchor="ctr">
                    <a:solidFill>
                      <a:srgbClr val="FFFFFF"/>
                    </a:solidFill>
                  </a:tcPr>
                </a:tc>
                <a:extLst>
                  <a:ext uri="{0D108BD9-81ED-4DB2-BD59-A6C34878D82A}">
                    <a16:rowId xmlns:a16="http://schemas.microsoft.com/office/drawing/2014/main" val="10003"/>
                  </a:ext>
                </a:extLst>
              </a:tr>
              <a:tr h="432864">
                <a:tc>
                  <a:txBody>
                    <a:bodyPr/>
                    <a:lstStyle/>
                    <a:p>
                      <a:r>
                        <a:rPr sz="1800">
                          <a:solidFill>
                            <a:srgbClr val="1E2A44"/>
                          </a:solidFill>
                          <a:latin typeface="Calibri"/>
                        </a:rPr>
                        <a:t>Label reproducibility from write-once artifacts</a:t>
                      </a:r>
                    </a:p>
                  </a:txBody>
                  <a:tcPr marL="54864" marR="54864" marT="18288" marB="18288" anchor="ctr">
                    <a:solidFill>
                      <a:srgbClr val="EFF4FA"/>
                    </a:solidFill>
                  </a:tcPr>
                </a:tc>
                <a:tc>
                  <a:txBody>
                    <a:bodyPr/>
                    <a:lstStyle/>
                    <a:p>
                      <a:r>
                        <a:rPr sz="1800">
                          <a:solidFill>
                            <a:srgbClr val="1E2A44"/>
                          </a:solidFill>
                          <a:latin typeface="Calibri"/>
                        </a:rPr>
                        <a:t>PASS</a:t>
                      </a:r>
                    </a:p>
                  </a:txBody>
                  <a:tcPr marL="54864" marR="54864" marT="18288" marB="18288" anchor="ctr">
                    <a:solidFill>
                      <a:srgbClr val="EFF4FA"/>
                    </a:solidFill>
                  </a:tcPr>
                </a:tc>
                <a:extLst>
                  <a:ext uri="{0D108BD9-81ED-4DB2-BD59-A6C34878D82A}">
                    <a16:rowId xmlns:a16="http://schemas.microsoft.com/office/drawing/2014/main" val="10004"/>
                  </a:ext>
                </a:extLst>
              </a:tr>
              <a:tr h="432864">
                <a:tc>
                  <a:txBody>
                    <a:bodyPr/>
                    <a:lstStyle/>
                    <a:p>
                      <a:r>
                        <a:rPr sz="1800">
                          <a:solidFill>
                            <a:srgbClr val="1E2A44"/>
                          </a:solidFill>
                          <a:latin typeface="Calibri"/>
                        </a:rPr>
                        <a:t>Metric correctness vs hand-computed cases</a:t>
                      </a:r>
                    </a:p>
                  </a:txBody>
                  <a:tcPr marL="54864" marR="54864" marT="18288" marB="18288" anchor="ctr">
                    <a:solidFill>
                      <a:srgbClr val="FFFFFF"/>
                    </a:solidFill>
                  </a:tcPr>
                </a:tc>
                <a:tc>
                  <a:txBody>
                    <a:bodyPr/>
                    <a:lstStyle/>
                    <a:p>
                      <a:r>
                        <a:rPr sz="1800">
                          <a:solidFill>
                            <a:srgbClr val="1E2A44"/>
                          </a:solidFill>
                          <a:latin typeface="Calibri"/>
                        </a:rPr>
                        <a:t>PASS</a:t>
                      </a:r>
                    </a:p>
                  </a:txBody>
                  <a:tcPr marL="54864" marR="54864" marT="18288" marB="18288" anchor="ctr">
                    <a:solidFill>
                      <a:srgbClr val="FFFFFF"/>
                    </a:solidFill>
                  </a:tcPr>
                </a:tc>
                <a:extLst>
                  <a:ext uri="{0D108BD9-81ED-4DB2-BD59-A6C34878D82A}">
                    <a16:rowId xmlns:a16="http://schemas.microsoft.com/office/drawing/2014/main" val="10005"/>
                  </a:ext>
                </a:extLst>
              </a:tr>
              <a:tr h="432864">
                <a:tc>
                  <a:txBody>
                    <a:bodyPr/>
                    <a:lstStyle/>
                    <a:p>
                      <a:r>
                        <a:rPr sz="1800">
                          <a:solidFill>
                            <a:srgbClr val="1E2A44"/>
                          </a:solidFill>
                          <a:latin typeface="Calibri"/>
                        </a:rPr>
                        <a:t>Oracle coverage</a:t>
                      </a:r>
                    </a:p>
                  </a:txBody>
                  <a:tcPr marL="54864" marR="54864" marT="18288" marB="18288" anchor="ctr">
                    <a:solidFill>
                      <a:srgbClr val="EFF4FA"/>
                    </a:solidFill>
                  </a:tcPr>
                </a:tc>
                <a:tc>
                  <a:txBody>
                    <a:bodyPr/>
                    <a:lstStyle/>
                    <a:p>
                      <a:r>
                        <a:rPr sz="1800" dirty="0">
                          <a:solidFill>
                            <a:srgbClr val="1E2A44"/>
                          </a:solidFill>
                          <a:latin typeface="Calibri"/>
                        </a:rPr>
                        <a:t>PASS</a:t>
                      </a:r>
                    </a:p>
                  </a:txBody>
                  <a:tcPr marL="54864" marR="54864" marT="18288" marB="18288" anchor="ctr">
                    <a:solidFill>
                      <a:srgbClr val="EFF4FA"/>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40080" y="6473952"/>
            <a:ext cx="9692640" cy="190821"/>
          </a:xfrm>
          <a:prstGeom prst="rect">
            <a:avLst/>
          </a:prstGeom>
          <a:noFill/>
        </p:spPr>
        <p:txBody>
          <a:bodyPr wrap="square" lIns="36576" tIns="18288" rIns="36576" bIns="18288">
            <a:spAutoFit/>
          </a:bodyPr>
          <a:lstStyle/>
          <a:p>
            <a:r>
              <a:rPr sz="1000" b="0" i="0">
                <a:solidFill>
                  <a:srgbClr val="64748C"/>
                </a:solidFill>
                <a:latin typeface="Calibri"/>
              </a:rPr>
              <a:t>PhD Synopsis  ·  A Leakage-Safe Framework for Observability-Aware Regression Testing of Quantum Compilers</a:t>
            </a:r>
          </a:p>
        </p:txBody>
      </p:sp>
      <p:sp>
        <p:nvSpPr>
          <p:cNvPr id="7" name="TextBox 6"/>
          <p:cNvSpPr txBox="1"/>
          <p:nvPr/>
        </p:nvSpPr>
        <p:spPr>
          <a:xfrm>
            <a:off x="11155680" y="6473952"/>
            <a:ext cx="822960" cy="190821"/>
          </a:xfrm>
          <a:prstGeom prst="rect">
            <a:avLst/>
          </a:prstGeom>
          <a:noFill/>
        </p:spPr>
        <p:txBody>
          <a:bodyPr wrap="square" lIns="36576" tIns="18288" rIns="36576" bIns="18288">
            <a:spAutoFit/>
          </a:bodyPr>
          <a:lstStyle/>
          <a:p>
            <a:pPr algn="r"/>
            <a:r>
              <a:rPr sz="1000" b="1" i="0">
                <a:solidFill>
                  <a:srgbClr val="64748C"/>
                </a:solidFill>
                <a:latin typeface="Calibri"/>
              </a:rPr>
              <a:t>23</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339773"/>
          </a:xfrm>
          <a:prstGeom prst="rect">
            <a:avLst/>
          </a:prstGeom>
          <a:noFill/>
        </p:spPr>
        <p:txBody>
          <a:bodyPr wrap="square" lIns="36576" tIns="36576" rIns="36576" bIns="36576" anchor="t">
            <a:spAutoFit/>
          </a:bodyPr>
          <a:lstStyle/>
          <a:p>
            <a:pPr algn="l">
              <a:lnSpc>
                <a:spcPct val="108000"/>
              </a:lnSpc>
              <a:spcAft>
                <a:spcPts val="400"/>
              </a:spcAft>
            </a:pPr>
            <a:r>
              <a:rPr sz="1600" b="1" i="0" dirty="0">
                <a:solidFill>
                  <a:srgbClr val="14B8A6"/>
                </a:solidFill>
                <a:latin typeface="Calibri"/>
              </a:rPr>
              <a:t>BACKUP — FOR QUESTIONS</a:t>
            </a:r>
          </a:p>
        </p:txBody>
      </p:sp>
      <p:sp>
        <p:nvSpPr>
          <p:cNvPr id="4" name="TextBox 3"/>
          <p:cNvSpPr txBox="1"/>
          <p:nvPr/>
        </p:nvSpPr>
        <p:spPr>
          <a:xfrm>
            <a:off x="640080" y="694944"/>
            <a:ext cx="11155680" cy="605679"/>
          </a:xfrm>
          <a:prstGeom prst="rect">
            <a:avLst/>
          </a:prstGeom>
          <a:noFill/>
        </p:spPr>
        <p:txBody>
          <a:bodyPr wrap="square" lIns="36576" tIns="36576" rIns="36576" bIns="36576" anchor="t">
            <a:spAutoFit/>
          </a:bodyPr>
          <a:lstStyle/>
          <a:p>
            <a:pPr algn="l">
              <a:lnSpc>
                <a:spcPct val="108000"/>
              </a:lnSpc>
              <a:spcAft>
                <a:spcPts val="400"/>
              </a:spcAft>
            </a:pPr>
            <a:r>
              <a:rPr sz="3200" b="1" i="0">
                <a:solidFill>
                  <a:srgbClr val="1E2A44"/>
                </a:solidFill>
                <a:latin typeface="Cambria"/>
              </a:rPr>
              <a:t>risk_score — the Formal Definition</a:t>
            </a:r>
          </a:p>
        </p:txBody>
      </p:sp>
      <p:sp>
        <p:nvSpPr>
          <p:cNvPr id="5" name="TextBox 4"/>
          <p:cNvSpPr txBox="1"/>
          <p:nvPr/>
        </p:nvSpPr>
        <p:spPr>
          <a:xfrm>
            <a:off x="640080" y="6473952"/>
            <a:ext cx="9692640" cy="248401"/>
          </a:xfrm>
          <a:prstGeom prst="rect">
            <a:avLst/>
          </a:prstGeom>
          <a:noFill/>
        </p:spPr>
        <p:txBody>
          <a:bodyPr wrap="square" lIns="36576" tIns="36576" rIns="36576" bIns="36576" anchor="t">
            <a:spAutoFit/>
          </a:bodyPr>
          <a:lstStyle/>
          <a:p>
            <a:pPr algn="l">
              <a:lnSpc>
                <a:spcPct val="108000"/>
              </a:lnSpc>
              <a:spcAft>
                <a:spcPts val="400"/>
              </a:spcAft>
            </a:pPr>
            <a:r>
              <a:rPr sz="1000" b="0" i="0">
                <a:solidFill>
                  <a:srgbClr val="64748C"/>
                </a:solidFill>
                <a:latin typeface="Calibri"/>
              </a:rPr>
              <a:t>PhD Synopsis  ·  A Leakage-Safe Framework for Observability-Aware Regression Testing of Quantum Compilers</a:t>
            </a:r>
          </a:p>
        </p:txBody>
      </p:sp>
      <p:sp>
        <p:nvSpPr>
          <p:cNvPr id="6" name="TextBox 5"/>
          <p:cNvSpPr txBox="1"/>
          <p:nvPr/>
        </p:nvSpPr>
        <p:spPr>
          <a:xfrm>
            <a:off x="11155680" y="6473952"/>
            <a:ext cx="822960" cy="248401"/>
          </a:xfrm>
          <a:prstGeom prst="rect">
            <a:avLst/>
          </a:prstGeom>
          <a:noFill/>
        </p:spPr>
        <p:txBody>
          <a:bodyPr wrap="square" lIns="36576" tIns="36576" rIns="36576" bIns="36576" anchor="t">
            <a:spAutoFit/>
          </a:bodyPr>
          <a:lstStyle/>
          <a:p>
            <a:pPr algn="r">
              <a:lnSpc>
                <a:spcPct val="108000"/>
              </a:lnSpc>
              <a:spcAft>
                <a:spcPts val="400"/>
              </a:spcAft>
            </a:pPr>
            <a:r>
              <a:rPr sz="1000" b="1" i="0">
                <a:solidFill>
                  <a:srgbClr val="64748C"/>
                </a:solidFill>
                <a:latin typeface="Calibri"/>
              </a:rPr>
              <a:t>24</a:t>
            </a:r>
          </a:p>
        </p:txBody>
      </p:sp>
      <p:sp>
        <p:nvSpPr>
          <p:cNvPr id="7" name="Rounded Rectangle 6"/>
          <p:cNvSpPr/>
          <p:nvPr/>
        </p:nvSpPr>
        <p:spPr>
          <a:xfrm>
            <a:off x="640080" y="1600200"/>
            <a:ext cx="10927080" cy="1234440"/>
          </a:xfrm>
          <a:prstGeom prst="roundRect">
            <a:avLst/>
          </a:prstGeom>
          <a:solidFill>
            <a:srgbClr val="14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868680" y="1981041"/>
            <a:ext cx="10515600" cy="472758"/>
          </a:xfrm>
          <a:prstGeom prst="rect">
            <a:avLst/>
          </a:prstGeom>
          <a:noFill/>
        </p:spPr>
        <p:txBody>
          <a:bodyPr wrap="square" lIns="36576" tIns="36576" rIns="36576" bIns="36576" anchor="ctr">
            <a:spAutoFit/>
          </a:bodyPr>
          <a:lstStyle/>
          <a:p>
            <a:pPr algn="l">
              <a:lnSpc>
                <a:spcPct val="108000"/>
              </a:lnSpc>
              <a:spcAft>
                <a:spcPts val="400"/>
              </a:spcAft>
            </a:pPr>
            <a:r>
              <a:rPr sz="2400" b="1" i="0">
                <a:solidFill>
                  <a:srgbClr val="D5E3F7"/>
                </a:solidFill>
                <a:latin typeface="Consolas"/>
              </a:rPr>
              <a:t>risk_score  =  ( ε + CSM ) × CBS × IP × HR × OC × NM  ÷  EC</a:t>
            </a:r>
          </a:p>
        </p:txBody>
      </p:sp>
      <p:sp>
        <p:nvSpPr>
          <p:cNvPr id="9" name="TextBox 8"/>
          <p:cNvSpPr txBox="1"/>
          <p:nvPr/>
        </p:nvSpPr>
        <p:spPr>
          <a:xfrm>
            <a:off x="640080" y="3063240"/>
            <a:ext cx="11064240" cy="339773"/>
          </a:xfrm>
          <a:prstGeom prst="rect">
            <a:avLst/>
          </a:prstGeom>
          <a:noFill/>
        </p:spPr>
        <p:txBody>
          <a:bodyPr wrap="square" lIns="36576" tIns="36576" rIns="36576" bIns="36576" anchor="t">
            <a:spAutoFit/>
          </a:bodyPr>
          <a:lstStyle/>
          <a:p>
            <a:pPr algn="l">
              <a:lnSpc>
                <a:spcPct val="108000"/>
              </a:lnSpc>
              <a:spcAft>
                <a:spcPts val="400"/>
              </a:spcAft>
            </a:pPr>
            <a:r>
              <a:rPr sz="1600" b="0" i="1">
                <a:solidFill>
                  <a:srgbClr val="1E2A44"/>
                </a:solidFill>
                <a:latin typeface="Calibri"/>
              </a:rPr>
              <a:t>A transparent, hand-set heuristic — an interpretable score, not a calibrated probability.</a:t>
            </a:r>
          </a:p>
        </p:txBody>
      </p:sp>
      <p:sp>
        <p:nvSpPr>
          <p:cNvPr id="10" name="TextBox 9"/>
          <p:cNvSpPr txBox="1"/>
          <p:nvPr/>
        </p:nvSpPr>
        <p:spPr>
          <a:xfrm>
            <a:off x="868680" y="3611880"/>
            <a:ext cx="10607040" cy="2818720"/>
          </a:xfrm>
          <a:prstGeom prst="rect">
            <a:avLst/>
          </a:prstGeom>
          <a:noFill/>
        </p:spPr>
        <p:txBody>
          <a:bodyPr wrap="square" lIns="36576" tIns="36576" rIns="36576" bIns="36576" anchor="t">
            <a:spAutoFit/>
          </a:bodyPr>
          <a:lstStyle/>
          <a:p>
            <a:pPr algn="l">
              <a:lnSpc>
                <a:spcPct val="112000"/>
              </a:lnSpc>
              <a:spcAft>
                <a:spcPts val="600"/>
              </a:spcAft>
            </a:pPr>
            <a:r>
              <a:rPr sz="1600" b="1" i="0">
                <a:solidFill>
                  <a:srgbClr val="0E7C7B"/>
                </a:solidFill>
                <a:latin typeface="Consolas"/>
              </a:rPr>
              <a:t>ε  </a:t>
            </a:r>
            <a:r>
              <a:rPr sz="1600" b="0" i="0">
                <a:solidFill>
                  <a:srgbClr val="1E2A44"/>
                </a:solidFill>
                <a:latin typeface="Calibri"/>
              </a:rPr>
              <a:t>= small additive smoothing constant</a:t>
            </a:r>
          </a:p>
          <a:p>
            <a:pPr algn="l">
              <a:lnSpc>
                <a:spcPct val="112000"/>
              </a:lnSpc>
              <a:spcAft>
                <a:spcPts val="600"/>
              </a:spcAft>
            </a:pPr>
            <a:r>
              <a:rPr sz="1600" b="1" i="0">
                <a:solidFill>
                  <a:srgbClr val="0E7C7B"/>
                </a:solidFill>
                <a:latin typeface="Consolas"/>
              </a:rPr>
              <a:t>CSM  </a:t>
            </a:r>
            <a:r>
              <a:rPr sz="1600" b="0" i="0">
                <a:solidFill>
                  <a:srgbClr val="1E2A44"/>
                </a:solidFill>
                <a:latin typeface="Calibri"/>
              </a:rPr>
              <a:t>= change-stage match (1 if the modified stage is exercised, else 0)</a:t>
            </a:r>
          </a:p>
          <a:p>
            <a:pPr algn="l">
              <a:lnSpc>
                <a:spcPct val="112000"/>
              </a:lnSpc>
              <a:spcAft>
                <a:spcPts val="600"/>
              </a:spcAft>
            </a:pPr>
            <a:r>
              <a:rPr sz="1600" b="1" i="0">
                <a:solidFill>
                  <a:srgbClr val="0E7C7B"/>
                </a:solidFill>
                <a:latin typeface="Consolas"/>
              </a:rPr>
              <a:t>CBS  </a:t>
            </a:r>
            <a:r>
              <a:rPr sz="1600" b="0" i="0">
                <a:solidFill>
                  <a:srgbClr val="1E2A44"/>
                </a:solidFill>
                <a:latin typeface="Calibri"/>
              </a:rPr>
              <a:t>= circuit-backend sensitivity</a:t>
            </a:r>
          </a:p>
          <a:p>
            <a:pPr algn="l">
              <a:lnSpc>
                <a:spcPct val="112000"/>
              </a:lnSpc>
              <a:spcAft>
                <a:spcPts val="600"/>
              </a:spcAft>
            </a:pPr>
            <a:r>
              <a:rPr sz="1600" b="1" i="0">
                <a:solidFill>
                  <a:srgbClr val="0E7C7B"/>
                </a:solidFill>
                <a:latin typeface="Consolas"/>
              </a:rPr>
              <a:t>IP  </a:t>
            </a:r>
            <a:r>
              <a:rPr sz="1600" b="0" i="0">
                <a:solidFill>
                  <a:srgbClr val="1E2A44"/>
                </a:solidFill>
                <a:latin typeface="Calibri"/>
              </a:rPr>
              <a:t>= impact prior (circuit criticality)</a:t>
            </a:r>
          </a:p>
          <a:p>
            <a:pPr algn="l">
              <a:lnSpc>
                <a:spcPct val="112000"/>
              </a:lnSpc>
              <a:spcAft>
                <a:spcPts val="600"/>
              </a:spcAft>
            </a:pPr>
            <a:r>
              <a:rPr sz="1600" b="1" i="0">
                <a:solidFill>
                  <a:srgbClr val="0E7C7B"/>
                </a:solidFill>
                <a:latin typeface="Consolas"/>
              </a:rPr>
              <a:t>HR  </a:t>
            </a:r>
            <a:r>
              <a:rPr sz="1600" b="0" i="0">
                <a:solidFill>
                  <a:srgbClr val="1E2A44"/>
                </a:solidFill>
                <a:latin typeface="Calibri"/>
              </a:rPr>
              <a:t>= historical risk (1 + prior-failure-rate)</a:t>
            </a:r>
          </a:p>
          <a:p>
            <a:pPr algn="l">
              <a:lnSpc>
                <a:spcPct val="112000"/>
              </a:lnSpc>
              <a:spcAft>
                <a:spcPts val="600"/>
              </a:spcAft>
            </a:pPr>
            <a:r>
              <a:rPr sz="1600" b="1" i="0">
                <a:solidFill>
                  <a:srgbClr val="0E7C7B"/>
                </a:solidFill>
                <a:latin typeface="Consolas"/>
              </a:rPr>
              <a:t>OC  </a:t>
            </a:r>
            <a:r>
              <a:rPr sz="1600" b="0" i="0">
                <a:solidFill>
                  <a:srgbClr val="1E2A44"/>
                </a:solidFill>
                <a:latin typeface="Calibri"/>
              </a:rPr>
              <a:t>= oracle confidence</a:t>
            </a:r>
          </a:p>
          <a:p>
            <a:pPr algn="l">
              <a:lnSpc>
                <a:spcPct val="112000"/>
              </a:lnSpc>
              <a:spcAft>
                <a:spcPts val="600"/>
              </a:spcAft>
            </a:pPr>
            <a:r>
              <a:rPr sz="1600" b="1" i="0">
                <a:solidFill>
                  <a:srgbClr val="0E7C7B"/>
                </a:solidFill>
                <a:latin typeface="Consolas"/>
              </a:rPr>
              <a:t>NM  </a:t>
            </a:r>
            <a:r>
              <a:rPr sz="1600" b="0" i="0">
                <a:solidFill>
                  <a:srgbClr val="1E2A44"/>
                </a:solidFill>
                <a:latin typeface="Calibri"/>
              </a:rPr>
              <a:t>= novelty multiplier (down-weights repeats)</a:t>
            </a:r>
          </a:p>
          <a:p>
            <a:pPr algn="l">
              <a:lnSpc>
                <a:spcPct val="112000"/>
              </a:lnSpc>
              <a:spcAft>
                <a:spcPts val="600"/>
              </a:spcAft>
            </a:pPr>
            <a:r>
              <a:rPr sz="1600" b="1" i="0">
                <a:solidFill>
                  <a:srgbClr val="0E7C7B"/>
                </a:solidFill>
                <a:latin typeface="Consolas"/>
              </a:rPr>
              <a:t>EC  </a:t>
            </a:r>
            <a:r>
              <a:rPr sz="1600" b="0" i="0">
                <a:solidFill>
                  <a:srgbClr val="1E2A44"/>
                </a:solidFill>
                <a:latin typeface="Calibri"/>
              </a:rPr>
              <a:t>= expected cost (transpilation + oracle time)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rPr>
              <a:t>BACKUP — FOR QUESTIONS</a:t>
            </a:r>
          </a:p>
        </p:txBody>
      </p:sp>
      <p:sp>
        <p:nvSpPr>
          <p:cNvPr id="4" name="TextBox 3"/>
          <p:cNvSpPr txBox="1"/>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rPr>
              <a:t>Classical Foundation vs. Quantum-Specific Need</a:t>
            </a:r>
          </a:p>
        </p:txBody>
      </p:sp>
      <p:graphicFrame>
        <p:nvGraphicFramePr>
          <p:cNvPr id="5" name="Table 4"/>
          <p:cNvGraphicFramePr>
            <a:graphicFrameLocks noGrp="1"/>
          </p:cNvGraphicFramePr>
          <p:nvPr>
            <p:extLst>
              <p:ext uri="{D42A27DB-BD31-4B8C-83A1-F6EECF244321}">
                <p14:modId xmlns:p14="http://schemas.microsoft.com/office/powerpoint/2010/main" val="2822113941"/>
              </p:ext>
            </p:extLst>
          </p:nvPr>
        </p:nvGraphicFramePr>
        <p:xfrm>
          <a:off x="731520" y="1499618"/>
          <a:ext cx="10789920" cy="3450770"/>
        </p:xfrm>
        <a:graphic>
          <a:graphicData uri="http://schemas.openxmlformats.org/drawingml/2006/table">
            <a:tbl>
              <a:tblPr firstRow="1" bandRow="1">
                <a:tableStyleId>{5C22544A-7EE6-4342-B048-85BDC9FD1C3A}</a:tableStyleId>
              </a:tblPr>
              <a:tblGrid>
                <a:gridCol w="1994775">
                  <a:extLst>
                    <a:ext uri="{9D8B030D-6E8A-4147-A177-3AD203B41FA5}">
                      <a16:colId xmlns:a16="http://schemas.microsoft.com/office/drawing/2014/main" val="20000"/>
                    </a:ext>
                  </a:extLst>
                </a:gridCol>
                <a:gridCol w="3898879">
                  <a:extLst>
                    <a:ext uri="{9D8B030D-6E8A-4147-A177-3AD203B41FA5}">
                      <a16:colId xmlns:a16="http://schemas.microsoft.com/office/drawing/2014/main" val="20001"/>
                    </a:ext>
                  </a:extLst>
                </a:gridCol>
                <a:gridCol w="4896266">
                  <a:extLst>
                    <a:ext uri="{9D8B030D-6E8A-4147-A177-3AD203B41FA5}">
                      <a16:colId xmlns:a16="http://schemas.microsoft.com/office/drawing/2014/main" val="20002"/>
                    </a:ext>
                  </a:extLst>
                </a:gridCol>
              </a:tblGrid>
              <a:tr h="458506">
                <a:tc>
                  <a:txBody>
                    <a:bodyPr/>
                    <a:lstStyle/>
                    <a:p>
                      <a:r>
                        <a:rPr sz="1600" b="1" dirty="0">
                          <a:solidFill>
                            <a:srgbClr val="FFFFFF"/>
                          </a:solidFill>
                          <a:latin typeface="Calibri"/>
                        </a:rPr>
                        <a:t>Dimension</a:t>
                      </a:r>
                    </a:p>
                  </a:txBody>
                  <a:tcPr marL="54864" marR="54864" anchor="ctr">
                    <a:solidFill>
                      <a:srgbClr val="14264F"/>
                    </a:solidFill>
                  </a:tcPr>
                </a:tc>
                <a:tc>
                  <a:txBody>
                    <a:bodyPr/>
                    <a:lstStyle/>
                    <a:p>
                      <a:r>
                        <a:rPr sz="1600" b="1">
                          <a:solidFill>
                            <a:srgbClr val="FFFFFF"/>
                          </a:solidFill>
                          <a:latin typeface="Calibri"/>
                        </a:rPr>
                        <a:t>Classical testing</a:t>
                      </a:r>
                    </a:p>
                  </a:txBody>
                  <a:tcPr marL="54864" marR="54864" anchor="ctr">
                    <a:solidFill>
                      <a:srgbClr val="14264F"/>
                    </a:solidFill>
                  </a:tcPr>
                </a:tc>
                <a:tc>
                  <a:txBody>
                    <a:bodyPr/>
                    <a:lstStyle/>
                    <a:p>
                      <a:r>
                        <a:rPr sz="1600" b="1">
                          <a:solidFill>
                            <a:srgbClr val="FFFFFF"/>
                          </a:solidFill>
                          <a:latin typeface="Calibri"/>
                        </a:rPr>
                        <a:t>Quantum transpiler</a:t>
                      </a:r>
                    </a:p>
                  </a:txBody>
                  <a:tcPr marL="54864" marR="54864" anchor="ctr">
                    <a:solidFill>
                      <a:srgbClr val="14264F"/>
                    </a:solidFill>
                  </a:tcPr>
                </a:tc>
                <a:extLst>
                  <a:ext uri="{0D108BD9-81ED-4DB2-BD59-A6C34878D82A}">
                    <a16:rowId xmlns:a16="http://schemas.microsoft.com/office/drawing/2014/main" val="10000"/>
                  </a:ext>
                </a:extLst>
              </a:tr>
              <a:tr h="458506">
                <a:tc>
                  <a:txBody>
                    <a:bodyPr/>
                    <a:lstStyle/>
                    <a:p>
                      <a:r>
                        <a:rPr sz="1600" b="1">
                          <a:solidFill>
                            <a:srgbClr val="1E2A44"/>
                          </a:solidFill>
                          <a:latin typeface="Calibri"/>
                        </a:rPr>
                        <a:t>Observed result</a:t>
                      </a:r>
                    </a:p>
                  </a:txBody>
                  <a:tcPr marL="54864" marR="54864" anchor="ctr">
                    <a:solidFill>
                      <a:srgbClr val="EFF4FA"/>
                    </a:solidFill>
                  </a:tcPr>
                </a:tc>
                <a:tc>
                  <a:txBody>
                    <a:bodyPr/>
                    <a:lstStyle/>
                    <a:p>
                      <a:r>
                        <a:rPr sz="1600">
                          <a:solidFill>
                            <a:srgbClr val="1E2A44"/>
                          </a:solidFill>
                          <a:latin typeface="Calibri"/>
                        </a:rPr>
                        <a:t>Deterministic, directly inspectable</a:t>
                      </a:r>
                    </a:p>
                  </a:txBody>
                  <a:tcPr marL="54864" marR="54864" anchor="ctr">
                    <a:solidFill>
                      <a:srgbClr val="FFFFFF"/>
                    </a:solidFill>
                  </a:tcPr>
                </a:tc>
                <a:tc>
                  <a:txBody>
                    <a:bodyPr/>
                    <a:lstStyle/>
                    <a:p>
                      <a:r>
                        <a:rPr sz="1600">
                          <a:solidFill>
                            <a:srgbClr val="1E2A44"/>
                          </a:solidFill>
                          <a:latin typeface="Calibri"/>
                        </a:rPr>
                        <a:t>Probabilistic samples, internal state not directly observable</a:t>
                      </a:r>
                    </a:p>
                  </a:txBody>
                  <a:tcPr marL="54864" marR="54864" anchor="ctr">
                    <a:solidFill>
                      <a:srgbClr val="FFFFFF"/>
                    </a:solidFill>
                  </a:tcPr>
                </a:tc>
                <a:extLst>
                  <a:ext uri="{0D108BD9-81ED-4DB2-BD59-A6C34878D82A}">
                    <a16:rowId xmlns:a16="http://schemas.microsoft.com/office/drawing/2014/main" val="10001"/>
                  </a:ext>
                </a:extLst>
              </a:tr>
              <a:tr h="458506">
                <a:tc>
                  <a:txBody>
                    <a:bodyPr/>
                    <a:lstStyle/>
                    <a:p>
                      <a:r>
                        <a:rPr sz="1600" b="1">
                          <a:solidFill>
                            <a:srgbClr val="1E2A44"/>
                          </a:solidFill>
                          <a:latin typeface="Calibri"/>
                        </a:rPr>
                        <a:t>Correctness</a:t>
                      </a:r>
                    </a:p>
                  </a:txBody>
                  <a:tcPr marL="54864" marR="54864" anchor="ctr">
                    <a:solidFill>
                      <a:srgbClr val="EFF4FA"/>
                    </a:solidFill>
                  </a:tcPr>
                </a:tc>
                <a:tc>
                  <a:txBody>
                    <a:bodyPr/>
                    <a:lstStyle/>
                    <a:p>
                      <a:r>
                        <a:rPr sz="1600">
                          <a:solidFill>
                            <a:srgbClr val="1E2A44"/>
                          </a:solidFill>
                          <a:latin typeface="Calibri"/>
                        </a:rPr>
                        <a:t>Equality / observational equivalence</a:t>
                      </a:r>
                    </a:p>
                  </a:txBody>
                  <a:tcPr marL="54864" marR="54864" anchor="ctr">
                    <a:solidFill>
                      <a:srgbClr val="F2F5FA"/>
                    </a:solidFill>
                  </a:tcPr>
                </a:tc>
                <a:tc>
                  <a:txBody>
                    <a:bodyPr/>
                    <a:lstStyle/>
                    <a:p>
                      <a:r>
                        <a:rPr sz="1600">
                          <a:solidFill>
                            <a:srgbClr val="1E2A44"/>
                          </a:solidFill>
                          <a:latin typeface="Calibri"/>
                        </a:rPr>
                        <a:t>Up to global phase &amp; qubit/layout permutation</a:t>
                      </a:r>
                    </a:p>
                  </a:txBody>
                  <a:tcPr marL="54864" marR="54864" anchor="ctr">
                    <a:solidFill>
                      <a:srgbClr val="F2F5FA"/>
                    </a:solidFill>
                  </a:tcPr>
                </a:tc>
                <a:extLst>
                  <a:ext uri="{0D108BD9-81ED-4DB2-BD59-A6C34878D82A}">
                    <a16:rowId xmlns:a16="http://schemas.microsoft.com/office/drawing/2014/main" val="10002"/>
                  </a:ext>
                </a:extLst>
              </a:tr>
              <a:tr h="458506">
                <a:tc>
                  <a:txBody>
                    <a:bodyPr/>
                    <a:lstStyle/>
                    <a:p>
                      <a:r>
                        <a:rPr sz="1600" b="1">
                          <a:solidFill>
                            <a:srgbClr val="1E2A44"/>
                          </a:solidFill>
                          <a:latin typeface="Calibri"/>
                        </a:rPr>
                        <a:t>Fault model</a:t>
                      </a:r>
                    </a:p>
                  </a:txBody>
                  <a:tcPr marL="54864" marR="54864" anchor="ctr">
                    <a:solidFill>
                      <a:srgbClr val="EFF4FA"/>
                    </a:solidFill>
                  </a:tcPr>
                </a:tc>
                <a:tc>
                  <a:txBody>
                    <a:bodyPr/>
                    <a:lstStyle/>
                    <a:p>
                      <a:r>
                        <a:rPr sz="1600">
                          <a:solidFill>
                            <a:srgbClr val="1E2A44"/>
                          </a:solidFill>
                          <a:latin typeface="Calibri"/>
                        </a:rPr>
                        <a:t>Crashes, wrong values, performance</a:t>
                      </a:r>
                    </a:p>
                  </a:txBody>
                  <a:tcPr marL="54864" marR="54864" anchor="ctr">
                    <a:solidFill>
                      <a:srgbClr val="FFFFFF"/>
                    </a:solidFill>
                  </a:tcPr>
                </a:tc>
                <a:tc>
                  <a:txBody>
                    <a:bodyPr/>
                    <a:lstStyle/>
                    <a:p>
                      <a:r>
                        <a:rPr sz="1600">
                          <a:solidFill>
                            <a:srgbClr val="1E2A44"/>
                          </a:solidFill>
                          <a:latin typeface="Calibri"/>
                        </a:rPr>
                        <a:t>+ phase, entanglement, mapping/routing, backend/noise</a:t>
                      </a:r>
                    </a:p>
                  </a:txBody>
                  <a:tcPr marL="54864" marR="54864" anchor="ctr">
                    <a:solidFill>
                      <a:srgbClr val="FFFFFF"/>
                    </a:solidFill>
                  </a:tcPr>
                </a:tc>
                <a:extLst>
                  <a:ext uri="{0D108BD9-81ED-4DB2-BD59-A6C34878D82A}">
                    <a16:rowId xmlns:a16="http://schemas.microsoft.com/office/drawing/2014/main" val="10003"/>
                  </a:ext>
                </a:extLst>
              </a:tr>
              <a:tr h="458506">
                <a:tc>
                  <a:txBody>
                    <a:bodyPr/>
                    <a:lstStyle/>
                    <a:p>
                      <a:r>
                        <a:rPr sz="1600" b="1">
                          <a:solidFill>
                            <a:srgbClr val="1E2A44"/>
                          </a:solidFill>
                          <a:latin typeface="Calibri"/>
                        </a:rPr>
                        <a:t>Execution cost</a:t>
                      </a:r>
                    </a:p>
                  </a:txBody>
                  <a:tcPr marL="54864" marR="54864" anchor="ctr">
                    <a:solidFill>
                      <a:srgbClr val="EFF4FA"/>
                    </a:solidFill>
                  </a:tcPr>
                </a:tc>
                <a:tc>
                  <a:txBody>
                    <a:bodyPr/>
                    <a:lstStyle/>
                    <a:p>
                      <a:r>
                        <a:rPr sz="1600">
                          <a:solidFill>
                            <a:srgbClr val="1E2A44"/>
                          </a:solidFill>
                          <a:latin typeface="Calibri"/>
                        </a:rPr>
                        <a:t>Repeatable CPU time, one run</a:t>
                      </a:r>
                    </a:p>
                  </a:txBody>
                  <a:tcPr marL="54864" marR="54864" anchor="ctr">
                    <a:solidFill>
                      <a:srgbClr val="F2F5FA"/>
                    </a:solidFill>
                  </a:tcPr>
                </a:tc>
                <a:tc>
                  <a:txBody>
                    <a:bodyPr/>
                    <a:lstStyle/>
                    <a:p>
                      <a:r>
                        <a:rPr sz="1600">
                          <a:solidFill>
                            <a:srgbClr val="1E2A44"/>
                          </a:solidFill>
                          <a:latin typeface="Calibri"/>
                        </a:rPr>
                        <a:t>Repeated shots, simulation growth, oracle cost</a:t>
                      </a:r>
                    </a:p>
                  </a:txBody>
                  <a:tcPr marL="54864" marR="54864" anchor="ctr">
                    <a:solidFill>
                      <a:srgbClr val="F2F5FA"/>
                    </a:solidFill>
                  </a:tcPr>
                </a:tc>
                <a:extLst>
                  <a:ext uri="{0D108BD9-81ED-4DB2-BD59-A6C34878D82A}">
                    <a16:rowId xmlns:a16="http://schemas.microsoft.com/office/drawing/2014/main" val="10004"/>
                  </a:ext>
                </a:extLst>
              </a:tr>
              <a:tr h="458506">
                <a:tc>
                  <a:txBody>
                    <a:bodyPr/>
                    <a:lstStyle/>
                    <a:p>
                      <a:r>
                        <a:rPr sz="1600" b="1">
                          <a:solidFill>
                            <a:srgbClr val="1E2A44"/>
                          </a:solidFill>
                          <a:latin typeface="Calibri"/>
                        </a:rPr>
                        <a:t>Regression oracle</a:t>
                      </a:r>
                    </a:p>
                  </a:txBody>
                  <a:tcPr marL="54864" marR="54864" anchor="ctr">
                    <a:solidFill>
                      <a:srgbClr val="EFF4FA"/>
                    </a:solidFill>
                  </a:tcPr>
                </a:tc>
                <a:tc>
                  <a:txBody>
                    <a:bodyPr/>
                    <a:lstStyle/>
                    <a:p>
                      <a:r>
                        <a:rPr sz="1600">
                          <a:solidFill>
                            <a:srgbClr val="1E2A44"/>
                          </a:solidFill>
                          <a:latin typeface="Calibri"/>
                        </a:rPr>
                        <a:t>Expected output, assertions, logs</a:t>
                      </a:r>
                    </a:p>
                  </a:txBody>
                  <a:tcPr marL="54864" marR="54864" anchor="ctr">
                    <a:solidFill>
                      <a:srgbClr val="FFFFFF"/>
                    </a:solidFill>
                  </a:tcPr>
                </a:tc>
                <a:tc>
                  <a:txBody>
                    <a:bodyPr/>
                    <a:lstStyle/>
                    <a:p>
                      <a:r>
                        <a:rPr sz="1600">
                          <a:solidFill>
                            <a:srgbClr val="1E2A44"/>
                          </a:solidFill>
                          <a:latin typeface="Calibri"/>
                        </a:rPr>
                        <a:t>Output equivalence alone misses metadata/layout/quality</a:t>
                      </a:r>
                    </a:p>
                  </a:txBody>
                  <a:tcPr marL="54864" marR="54864" anchor="ctr">
                    <a:solidFill>
                      <a:srgbClr val="FFFFFF"/>
                    </a:solidFill>
                  </a:tcPr>
                </a:tc>
                <a:extLst>
                  <a:ext uri="{0D108BD9-81ED-4DB2-BD59-A6C34878D82A}">
                    <a16:rowId xmlns:a16="http://schemas.microsoft.com/office/drawing/2014/main" val="10005"/>
                  </a:ext>
                </a:extLst>
              </a:tr>
              <a:tr h="458506">
                <a:tc>
                  <a:txBody>
                    <a:bodyPr/>
                    <a:lstStyle/>
                    <a:p>
                      <a:r>
                        <a:rPr sz="1600" b="1">
                          <a:solidFill>
                            <a:srgbClr val="1E2A44"/>
                          </a:solidFill>
                          <a:latin typeface="Calibri"/>
                        </a:rPr>
                        <a:t>Foundation</a:t>
                      </a:r>
                    </a:p>
                  </a:txBody>
                  <a:tcPr marL="54864" marR="54864" anchor="ctr">
                    <a:solidFill>
                      <a:srgbClr val="EFF4FA"/>
                    </a:solidFill>
                  </a:tcPr>
                </a:tc>
                <a:tc>
                  <a:txBody>
                    <a:bodyPr/>
                    <a:lstStyle/>
                    <a:p>
                      <a:r>
                        <a:rPr sz="1600">
                          <a:solidFill>
                            <a:srgbClr val="1E2A44"/>
                          </a:solidFill>
                          <a:latin typeface="Calibri"/>
                        </a:rPr>
                        <a:t>Selection, prioritisation, cost, APFD/APFDc</a:t>
                      </a:r>
                    </a:p>
                  </a:txBody>
                  <a:tcPr marL="54864" marR="54864" anchor="ctr">
                    <a:solidFill>
                      <a:srgbClr val="F2F5FA"/>
                    </a:solidFill>
                  </a:tcPr>
                </a:tc>
                <a:tc>
                  <a:txBody>
                    <a:bodyPr/>
                    <a:lstStyle/>
                    <a:p>
                      <a:r>
                        <a:rPr sz="1600" dirty="0">
                          <a:solidFill>
                            <a:srgbClr val="1E2A44"/>
                          </a:solidFill>
                          <a:latin typeface="Calibri"/>
                        </a:rPr>
                        <a:t>Retained — but features, costs, oracles redefined</a:t>
                      </a:r>
                    </a:p>
                  </a:txBody>
                  <a:tcPr marL="54864" marR="54864" anchor="ctr">
                    <a:solidFill>
                      <a:srgbClr val="F2F5FA"/>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40080" y="5943600"/>
            <a:ext cx="10881360" cy="486287"/>
          </a:xfrm>
          <a:prstGeom prst="rect">
            <a:avLst/>
          </a:prstGeom>
          <a:noFill/>
        </p:spPr>
        <p:txBody>
          <a:bodyPr wrap="square" lIns="27432" tIns="27432" rIns="27432" bIns="27432">
            <a:spAutoFit/>
          </a:bodyPr>
          <a:lstStyle/>
          <a:p>
            <a:r>
              <a:rPr sz="1400" b="1" i="1">
                <a:solidFill>
                  <a:srgbClr val="0E7C7B"/>
                </a:solidFill>
                <a:latin typeface="Calibri"/>
              </a:rPr>
              <a:t>Classical principles are the foundation, but they do not transfer unchanged — this work is a quantum-specific adaptation and empirical validation, not the invention of regression testing.</a:t>
            </a:r>
          </a:p>
        </p:txBody>
      </p:sp>
      <p:sp>
        <p:nvSpPr>
          <p:cNvPr id="7" name="TextBox 6"/>
          <p:cNvSpPr txBox="1"/>
          <p:nvPr/>
        </p:nvSpPr>
        <p:spPr>
          <a:xfrm>
            <a:off x="640080" y="6473952"/>
            <a:ext cx="9692640" cy="216982"/>
          </a:xfrm>
          <a:prstGeom prst="rect">
            <a:avLst/>
          </a:prstGeom>
          <a:noFill/>
        </p:spPr>
        <p:txBody>
          <a:bodyPr wrap="square" lIns="27432" tIns="27432" rIns="27432" bIns="27432">
            <a:spAutoFit/>
          </a:bodyPr>
          <a:lstStyle/>
          <a:p>
            <a:r>
              <a:rPr sz="1000" b="0" i="0">
                <a:solidFill>
                  <a:srgbClr val="64748C"/>
                </a:solidFill>
                <a:latin typeface="Calibri"/>
              </a:rPr>
              <a:t>PhD Synopsis  ·  A Leakage-Safe Framework for Observability-Aware Regression Testing of Quantum Compilers</a:t>
            </a:r>
          </a:p>
        </p:txBody>
      </p:sp>
      <p:sp>
        <p:nvSpPr>
          <p:cNvPr id="8" name="TextBox 7"/>
          <p:cNvSpPr txBox="1"/>
          <p:nvPr/>
        </p:nvSpPr>
        <p:spPr>
          <a:xfrm>
            <a:off x="11155680" y="6473952"/>
            <a:ext cx="822960" cy="216982"/>
          </a:xfrm>
          <a:prstGeom prst="rect">
            <a:avLst/>
          </a:prstGeom>
          <a:noFill/>
        </p:spPr>
        <p:txBody>
          <a:bodyPr wrap="square" lIns="27432" tIns="27432" rIns="27432" bIns="27432">
            <a:spAutoFit/>
          </a:bodyPr>
          <a:lstStyle/>
          <a:p>
            <a:pPr algn="r"/>
            <a:r>
              <a:rPr sz="1000" b="1" i="0">
                <a:solidFill>
                  <a:srgbClr val="64748C"/>
                </a:solidFill>
                <a:latin typeface="Calibr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rPr>
              <a:t>BACKUP — FOR QUESTIONS</a:t>
            </a:r>
          </a:p>
        </p:txBody>
      </p:sp>
      <p:sp>
        <p:nvSpPr>
          <p:cNvPr id="4" name="TextBox 3"/>
          <p:cNvSpPr txBox="1"/>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rPr>
              <a:t>Evidence: Why Quantum Differs</a:t>
            </a:r>
          </a:p>
        </p:txBody>
      </p:sp>
      <p:sp>
        <p:nvSpPr>
          <p:cNvPr id="5" name="TextBox 4"/>
          <p:cNvSpPr txBox="1"/>
          <p:nvPr/>
        </p:nvSpPr>
        <p:spPr>
          <a:xfrm>
            <a:off x="640080" y="1600200"/>
            <a:ext cx="10972800" cy="3851311"/>
          </a:xfrm>
          <a:prstGeom prst="rect">
            <a:avLst/>
          </a:prstGeom>
          <a:noFill/>
        </p:spPr>
        <p:txBody>
          <a:bodyPr wrap="square" lIns="27432" tIns="27432" rIns="27432" bIns="27432">
            <a:spAutoFit/>
          </a:bodyPr>
          <a:lstStyle/>
          <a:p>
            <a:pPr>
              <a:spcAft>
                <a:spcPts val="1400"/>
              </a:spcAft>
            </a:pPr>
            <a:r>
              <a:rPr sz="2000" b="1" i="0">
                <a:solidFill>
                  <a:srgbClr val="14B8A6"/>
                </a:solidFill>
                <a:latin typeface="Calibri"/>
              </a:rPr>
              <a:t>▪  </a:t>
            </a:r>
            <a:r>
              <a:rPr sz="2000" b="1" i="0">
                <a:solidFill>
                  <a:srgbClr val="1E2A44"/>
                </a:solidFill>
                <a:latin typeface="Calibri"/>
              </a:rPr>
              <a:t>39.9% of real quantum-platform bugs are quantum-specific  </a:t>
            </a:r>
            <a:r>
              <a:rPr sz="2000" b="0" i="0">
                <a:solidFill>
                  <a:srgbClr val="1E2A44"/>
                </a:solidFill>
                <a:latin typeface="Calibri"/>
              </a:rPr>
              <a:t>— concentrated in compile/optimise components — a classical fault model is incomplete [1].</a:t>
            </a:r>
          </a:p>
          <a:p>
            <a:pPr>
              <a:spcAft>
                <a:spcPts val="1400"/>
              </a:spcAft>
            </a:pPr>
            <a:r>
              <a:rPr sz="2000" b="1" i="0">
                <a:solidFill>
                  <a:srgbClr val="14B8A6"/>
                </a:solidFill>
                <a:latin typeface="Calibri"/>
              </a:rPr>
              <a:t>▪  </a:t>
            </a:r>
            <a:r>
              <a:rPr sz="2000" b="1" i="0">
                <a:solidFill>
                  <a:srgbClr val="1E2A44"/>
                </a:solidFill>
                <a:latin typeface="Calibri"/>
              </a:rPr>
              <a:t>Quantum outputs are exponentially large distributions  </a:t>
            </a:r>
            <a:r>
              <a:rPr sz="2000" b="0" i="0">
                <a:solidFill>
                  <a:srgbClr val="1E2A44"/>
                </a:solidFill>
                <a:latin typeface="Calibri"/>
              </a:rPr>
              <a:t>— conventional distribution testing can miss phase-flip faults [46].</a:t>
            </a:r>
          </a:p>
          <a:p>
            <a:pPr>
              <a:spcAft>
                <a:spcPts val="1400"/>
              </a:spcAft>
            </a:pPr>
            <a:r>
              <a:rPr sz="2000" b="1" i="0">
                <a:solidFill>
                  <a:srgbClr val="14B8A6"/>
                </a:solidFill>
                <a:latin typeface="Calibri"/>
              </a:rPr>
              <a:t>▪  </a:t>
            </a:r>
            <a:r>
              <a:rPr sz="2000" b="1" i="0">
                <a:solidFill>
                  <a:srgbClr val="1E2A44"/>
                </a:solidFill>
                <a:latin typeface="Calibri"/>
              </a:rPr>
              <a:t>State equivalence can’t be read from one observation  </a:t>
            </a:r>
            <a:r>
              <a:rPr sz="2000" b="0" i="0">
                <a:solidFill>
                  <a:srgbClr val="1E2A44"/>
                </a:solidFill>
                <a:latin typeface="Calibri"/>
              </a:rPr>
              <a:t>— assurance needs repeated measurement, and specialised oracles expose non-crash bugs [47], [48].</a:t>
            </a:r>
          </a:p>
          <a:p>
            <a:pPr>
              <a:spcAft>
                <a:spcPts val="1400"/>
              </a:spcAft>
            </a:pPr>
            <a:r>
              <a:rPr sz="2000" b="1" i="0">
                <a:solidFill>
                  <a:srgbClr val="14B8A6"/>
                </a:solidFill>
                <a:latin typeface="Calibri"/>
              </a:rPr>
              <a:t>▪  </a:t>
            </a:r>
            <a:r>
              <a:rPr sz="2000" b="1" i="0">
                <a:solidFill>
                  <a:srgbClr val="1E2A44"/>
                </a:solidFill>
                <a:latin typeface="Calibri"/>
              </a:rPr>
              <a:t>Equivalence checking had to be redesigned  </a:t>
            </a:r>
            <a:r>
              <a:rPr sz="2000" b="0" i="0">
                <a:solidFill>
                  <a:srgbClr val="1E2A44"/>
                </a:solidFill>
                <a:latin typeface="Calibri"/>
              </a:rPr>
              <a:t>— for reversibility, superposition, entanglement — not reused from classical [6].</a:t>
            </a:r>
          </a:p>
          <a:p>
            <a:pPr>
              <a:spcAft>
                <a:spcPts val="1400"/>
              </a:spcAft>
            </a:pPr>
            <a:r>
              <a:rPr sz="2000" b="1" i="0">
                <a:solidFill>
                  <a:srgbClr val="14B8A6"/>
                </a:solidFill>
                <a:latin typeface="Calibri"/>
              </a:rPr>
              <a:t>▪  </a:t>
            </a:r>
            <a:r>
              <a:rPr sz="2000" b="1" i="0">
                <a:solidFill>
                  <a:srgbClr val="1E2A44"/>
                </a:solidFill>
                <a:latin typeface="Calibri"/>
              </a:rPr>
              <a:t>Compiler-pass reasoning must encode quantum semantics  </a:t>
            </a:r>
            <a:r>
              <a:rPr sz="2000" b="0" i="0">
                <a:solidFill>
                  <a:srgbClr val="1E2A44"/>
                </a:solidFill>
                <a:latin typeface="Calibri"/>
              </a:rPr>
              <a:t>— formal verification confirms this is necessary and feasible [27].</a:t>
            </a:r>
          </a:p>
        </p:txBody>
      </p:sp>
      <p:sp>
        <p:nvSpPr>
          <p:cNvPr id="6" name="TextBox 5"/>
          <p:cNvSpPr txBox="1"/>
          <p:nvPr/>
        </p:nvSpPr>
        <p:spPr>
          <a:xfrm>
            <a:off x="640080" y="5806440"/>
            <a:ext cx="10972800" cy="547842"/>
          </a:xfrm>
          <a:prstGeom prst="rect">
            <a:avLst/>
          </a:prstGeom>
          <a:noFill/>
        </p:spPr>
        <p:txBody>
          <a:bodyPr wrap="square" lIns="27432" tIns="27432" rIns="27432" bIns="27432">
            <a:spAutoFit/>
          </a:bodyPr>
          <a:lstStyle/>
          <a:p>
            <a:r>
              <a:rPr sz="1600" b="0" i="1">
                <a:solidFill>
                  <a:srgbClr val="64748C"/>
                </a:solidFill>
                <a:latin typeface="Calibri"/>
              </a:rPr>
              <a:t>Central claim: classical machinery does not directly solve quantum-transpiler regression testing — its observability, oracle, equivalence and cost models do not hold unchanged.</a:t>
            </a:r>
          </a:p>
        </p:txBody>
      </p:sp>
      <p:sp>
        <p:nvSpPr>
          <p:cNvPr id="7" name="TextBox 6"/>
          <p:cNvSpPr txBox="1"/>
          <p:nvPr/>
        </p:nvSpPr>
        <p:spPr>
          <a:xfrm>
            <a:off x="640080" y="6473952"/>
            <a:ext cx="9692640" cy="209288"/>
          </a:xfrm>
          <a:prstGeom prst="rect">
            <a:avLst/>
          </a:prstGeom>
          <a:noFill/>
        </p:spPr>
        <p:txBody>
          <a:bodyPr wrap="square" lIns="27432" tIns="27432" rIns="27432" bIns="27432">
            <a:spAutoFit/>
          </a:bodyPr>
          <a:lstStyle/>
          <a:p>
            <a:r>
              <a:rPr sz="1000" b="0" i="0">
                <a:solidFill>
                  <a:srgbClr val="64748C"/>
                </a:solidFill>
                <a:latin typeface="Calibri"/>
              </a:rPr>
              <a:t>PhD Synopsis  ·  A Leakage-Safe Framework for Observability-Aware Regression Testing of Quantum Compilers</a:t>
            </a:r>
          </a:p>
        </p:txBody>
      </p:sp>
      <p:sp>
        <p:nvSpPr>
          <p:cNvPr id="8" name="TextBox 7"/>
          <p:cNvSpPr txBox="1"/>
          <p:nvPr/>
        </p:nvSpPr>
        <p:spPr>
          <a:xfrm>
            <a:off x="11155680" y="6473952"/>
            <a:ext cx="822960" cy="209288"/>
          </a:xfrm>
          <a:prstGeom prst="rect">
            <a:avLst/>
          </a:prstGeom>
          <a:noFill/>
        </p:spPr>
        <p:txBody>
          <a:bodyPr wrap="square" lIns="27432" tIns="27432" rIns="27432" bIns="27432">
            <a:spAutoFit/>
          </a:bodyPr>
          <a:lstStyle/>
          <a:p>
            <a:pPr algn="r"/>
            <a:r>
              <a:rPr sz="1000" b="1" i="0">
                <a:solidFill>
                  <a:srgbClr val="64748C"/>
                </a:solidFill>
                <a:latin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rPr>
              <a:t>BACKUP — FOR QUESTIONS</a:t>
            </a:r>
          </a:p>
        </p:txBody>
      </p:sp>
      <p:sp>
        <p:nvSpPr>
          <p:cNvPr id="4" name="TextBox 3"/>
          <p:cNvSpPr txBox="1"/>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rPr>
              <a:t>How Do We Evaluate Something Novel?</a:t>
            </a:r>
          </a:p>
        </p:txBody>
      </p:sp>
      <p:sp>
        <p:nvSpPr>
          <p:cNvPr id="5" name="TextBox 4"/>
          <p:cNvSpPr txBox="1"/>
          <p:nvPr/>
        </p:nvSpPr>
        <p:spPr>
          <a:xfrm>
            <a:off x="640080" y="1463040"/>
            <a:ext cx="10972800" cy="547842"/>
          </a:xfrm>
          <a:prstGeom prst="rect">
            <a:avLst/>
          </a:prstGeom>
          <a:noFill/>
        </p:spPr>
        <p:txBody>
          <a:bodyPr wrap="square" lIns="27432" tIns="27432" rIns="27432" bIns="27432">
            <a:spAutoFit/>
          </a:bodyPr>
          <a:lstStyle/>
          <a:p>
            <a:r>
              <a:rPr sz="1600" b="0" i="1">
                <a:solidFill>
                  <a:srgbClr val="1E2A44"/>
                </a:solidFill>
                <a:latin typeface="Calibri"/>
              </a:rPr>
              <a:t>The method is new — the evaluation apparatus is entirely standard. We do not compare against a non-existent rival, so we do what every regression-testing study does:</a:t>
            </a:r>
          </a:p>
        </p:txBody>
      </p:sp>
      <p:sp>
        <p:nvSpPr>
          <p:cNvPr id="6" name="TextBox 5"/>
          <p:cNvSpPr txBox="1"/>
          <p:nvPr/>
        </p:nvSpPr>
        <p:spPr>
          <a:xfrm>
            <a:off x="640080" y="2057400"/>
            <a:ext cx="11064240" cy="4454040"/>
          </a:xfrm>
          <a:prstGeom prst="rect">
            <a:avLst/>
          </a:prstGeom>
          <a:noFill/>
        </p:spPr>
        <p:txBody>
          <a:bodyPr wrap="square" lIns="27432" tIns="27432" rIns="27432" bIns="27432">
            <a:spAutoFit/>
          </a:bodyPr>
          <a:lstStyle/>
          <a:p>
            <a:pPr>
              <a:spcAft>
                <a:spcPts val="1100"/>
              </a:spcAft>
            </a:pPr>
            <a:r>
              <a:rPr sz="2000" b="1" i="0" dirty="0">
                <a:solidFill>
                  <a:srgbClr val="14B8A6"/>
                </a:solidFill>
                <a:latin typeface="Calibri"/>
              </a:rPr>
              <a:t>▪  </a:t>
            </a:r>
            <a:r>
              <a:rPr sz="2000" b="1" i="0" dirty="0">
                <a:solidFill>
                  <a:srgbClr val="0E7C7B"/>
                </a:solidFill>
                <a:latin typeface="Calibri"/>
              </a:rPr>
              <a:t>Established baselines:  </a:t>
            </a:r>
            <a:r>
              <a:rPr sz="2000" b="0" i="0" dirty="0">
                <a:solidFill>
                  <a:srgbClr val="1E2A44"/>
                </a:solidFill>
                <a:latin typeface="Calibri"/>
              </a:rPr>
              <a:t>the selector is compared against random ordering plus cost-, history-, coverage/diversity- and change-based heuristics — the field-standard set [3], [10], [14].</a:t>
            </a:r>
          </a:p>
          <a:p>
            <a:pPr>
              <a:spcAft>
                <a:spcPts val="1100"/>
              </a:spcAft>
            </a:pPr>
            <a:r>
              <a:rPr sz="2000" b="1" i="0" dirty="0">
                <a:solidFill>
                  <a:srgbClr val="14B8A6"/>
                </a:solidFill>
                <a:latin typeface="Calibri"/>
              </a:rPr>
              <a:t>▪  </a:t>
            </a:r>
            <a:r>
              <a:rPr sz="2000" b="1" i="0" dirty="0">
                <a:solidFill>
                  <a:srgbClr val="0E7C7B"/>
                </a:solidFill>
                <a:latin typeface="Calibri"/>
              </a:rPr>
              <a:t>Standard metrics:  </a:t>
            </a:r>
            <a:r>
              <a:rPr sz="2000" b="0" i="0" dirty="0">
                <a:solidFill>
                  <a:srgbClr val="1E2A44"/>
                </a:solidFill>
                <a:latin typeface="Calibri"/>
              </a:rPr>
              <a:t>APFD and cost-cognizant </a:t>
            </a:r>
            <a:r>
              <a:rPr sz="2000" b="0" i="0" dirty="0" err="1">
                <a:solidFill>
                  <a:srgbClr val="1E2A44"/>
                </a:solidFill>
                <a:latin typeface="Calibri"/>
              </a:rPr>
              <a:t>APFDc</a:t>
            </a:r>
            <a:r>
              <a:rPr sz="2000" b="0" i="0" dirty="0">
                <a:solidFill>
                  <a:srgbClr val="1E2A44"/>
                </a:solidFill>
                <a:latin typeface="Calibri"/>
              </a:rPr>
              <a:t>, </a:t>
            </a:r>
            <a:r>
              <a:rPr sz="2000" b="0" i="0" dirty="0" err="1">
                <a:solidFill>
                  <a:srgbClr val="1E2A44"/>
                </a:solidFill>
                <a:latin typeface="Calibri"/>
              </a:rPr>
              <a:t>recall@budget</a:t>
            </a:r>
            <a:r>
              <a:rPr sz="2000" b="0" i="0" dirty="0">
                <a:solidFill>
                  <a:srgbClr val="1E2A44"/>
                </a:solidFill>
                <a:latin typeface="Calibri"/>
              </a:rPr>
              <a:t>, detection-vs-budget AUC, oracle false-positive rate, inter-rater κ — all from the literature [10], [12], [40], [41].</a:t>
            </a:r>
          </a:p>
          <a:p>
            <a:pPr>
              <a:spcAft>
                <a:spcPts val="1100"/>
              </a:spcAft>
            </a:pPr>
            <a:r>
              <a:rPr sz="2000" b="1" i="0" dirty="0">
                <a:solidFill>
                  <a:srgbClr val="14B8A6"/>
                </a:solidFill>
                <a:latin typeface="Calibri"/>
              </a:rPr>
              <a:t>▪  </a:t>
            </a:r>
            <a:r>
              <a:rPr sz="2000" b="1" i="0" dirty="0">
                <a:solidFill>
                  <a:srgbClr val="0E7C7B"/>
                </a:solidFill>
                <a:latin typeface="Calibri"/>
              </a:rPr>
              <a:t>Real ground truth:  </a:t>
            </a:r>
            <a:r>
              <a:rPr sz="2000" b="0" i="0" dirty="0">
                <a:solidFill>
                  <a:srgbClr val="1E2A44"/>
                </a:solidFill>
                <a:latin typeface="Calibri"/>
              </a:rPr>
              <a:t>evaluation on real, historical </a:t>
            </a:r>
            <a:r>
              <a:rPr sz="2000" b="0" i="0" dirty="0" err="1">
                <a:solidFill>
                  <a:srgbClr val="1E2A44"/>
                </a:solidFill>
                <a:latin typeface="Calibri"/>
              </a:rPr>
              <a:t>Qiskit</a:t>
            </a:r>
            <a:r>
              <a:rPr sz="2000" b="0" i="0" dirty="0">
                <a:solidFill>
                  <a:srgbClr val="1E2A44"/>
                </a:solidFill>
                <a:latin typeface="Calibri"/>
              </a:rPr>
              <a:t> regressions where the correct answer is known — e.g., a bug the output oracle passed but the matched oracle caught.</a:t>
            </a:r>
          </a:p>
          <a:p>
            <a:pPr>
              <a:spcAft>
                <a:spcPts val="1100"/>
              </a:spcAft>
            </a:pPr>
            <a:r>
              <a:rPr sz="2000" b="1" i="0" dirty="0">
                <a:solidFill>
                  <a:srgbClr val="14B8A6"/>
                </a:solidFill>
                <a:latin typeface="Calibri"/>
              </a:rPr>
              <a:t>▪  </a:t>
            </a:r>
            <a:r>
              <a:rPr sz="2000" b="1" i="0" dirty="0">
                <a:solidFill>
                  <a:srgbClr val="0E7C7B"/>
                </a:solidFill>
                <a:latin typeface="Calibri"/>
              </a:rPr>
              <a:t>Ablation:  </a:t>
            </a:r>
            <a:r>
              <a:rPr sz="2000" b="0" i="0" dirty="0">
                <a:solidFill>
                  <a:srgbClr val="1E2A44"/>
                </a:solidFill>
                <a:latin typeface="Calibri"/>
              </a:rPr>
              <a:t>quantum-specific components are switched off one at a time to show which actually carry the effect — the method is compared against reduced versions of itself.</a:t>
            </a:r>
          </a:p>
          <a:p>
            <a:pPr>
              <a:spcAft>
                <a:spcPts val="1100"/>
              </a:spcAft>
            </a:pPr>
            <a:r>
              <a:rPr sz="2000" b="1" i="0" dirty="0">
                <a:solidFill>
                  <a:srgbClr val="14B8A6"/>
                </a:solidFill>
                <a:latin typeface="Calibri"/>
              </a:rPr>
              <a:t>▪  </a:t>
            </a:r>
            <a:r>
              <a:rPr sz="2000" b="1" i="0" dirty="0">
                <a:solidFill>
                  <a:srgbClr val="0E7C7B"/>
                </a:solidFill>
                <a:latin typeface="Calibri"/>
              </a:rPr>
              <a:t>Self-audit:  </a:t>
            </a:r>
            <a:r>
              <a:rPr sz="2000" b="0" i="0" dirty="0">
                <a:solidFill>
                  <a:srgbClr val="1E2A44"/>
                </a:solidFill>
                <a:latin typeface="Calibri"/>
              </a:rPr>
              <a:t>six leakage-safe validity gates make every result reproducible and trustworthy, independent of any competitor.</a:t>
            </a:r>
          </a:p>
          <a:p>
            <a:pPr>
              <a:spcAft>
                <a:spcPts val="1100"/>
              </a:spcAft>
            </a:pPr>
            <a:r>
              <a:rPr sz="2000" b="1" dirty="0">
                <a:solidFill>
                  <a:srgbClr val="14B8A6"/>
                </a:solidFill>
                <a:latin typeface="Calibri"/>
              </a:rPr>
              <a:t>▪  </a:t>
            </a:r>
            <a:r>
              <a:rPr sz="2000" b="1" dirty="0">
                <a:solidFill>
                  <a:srgbClr val="0E7C7B"/>
                </a:solidFill>
                <a:latin typeface="Calibri"/>
              </a:rPr>
              <a:t>Unit of analysis:  </a:t>
            </a:r>
            <a:r>
              <a:rPr sz="2000" dirty="0">
                <a:solidFill>
                  <a:srgbClr val="1E2A44"/>
                </a:solidFill>
                <a:latin typeface="Calibri"/>
              </a:rPr>
              <a:t>the regression event is the independent unit, and test–oracle pairs are nested observations, not independent replications.</a:t>
            </a:r>
          </a:p>
        </p:txBody>
      </p:sp>
      <p:sp>
        <p:nvSpPr>
          <p:cNvPr id="8" name="TextBox 7"/>
          <p:cNvSpPr txBox="1"/>
          <p:nvPr/>
        </p:nvSpPr>
        <p:spPr>
          <a:xfrm>
            <a:off x="640080" y="6473952"/>
            <a:ext cx="9692640" cy="209288"/>
          </a:xfrm>
          <a:prstGeom prst="rect">
            <a:avLst/>
          </a:prstGeom>
          <a:noFill/>
        </p:spPr>
        <p:txBody>
          <a:bodyPr wrap="square" lIns="27432" tIns="27432" rIns="27432" bIns="27432">
            <a:spAutoFit/>
          </a:bodyPr>
          <a:lstStyle/>
          <a:p>
            <a:r>
              <a:rPr sz="1000" b="0" i="0">
                <a:solidFill>
                  <a:srgbClr val="64748C"/>
                </a:solidFill>
                <a:latin typeface="Calibri"/>
              </a:rPr>
              <a:t>PhD Synopsis  ·  A Leakage-Safe Framework for Observability-Aware Regression Testing of Quantum Compilers</a:t>
            </a:r>
          </a:p>
        </p:txBody>
      </p:sp>
      <p:sp>
        <p:nvSpPr>
          <p:cNvPr id="9" name="TextBox 8"/>
          <p:cNvSpPr txBox="1"/>
          <p:nvPr/>
        </p:nvSpPr>
        <p:spPr>
          <a:xfrm>
            <a:off x="11155680" y="6473952"/>
            <a:ext cx="822960" cy="209288"/>
          </a:xfrm>
          <a:prstGeom prst="rect">
            <a:avLst/>
          </a:prstGeom>
          <a:noFill/>
        </p:spPr>
        <p:txBody>
          <a:bodyPr wrap="square" lIns="27432" tIns="27432" rIns="27432" bIns="27432">
            <a:spAutoFit/>
          </a:bodyPr>
          <a:lstStyle/>
          <a:p>
            <a:pPr algn="r"/>
            <a:r>
              <a:rPr sz="1000" b="1" i="0">
                <a:solidFill>
                  <a:srgbClr val="64748C"/>
                </a:solidFill>
                <a:latin typeface="Calibri"/>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rPr>
              <a:t>BACKUP — FOR QUESTIONS</a:t>
            </a:r>
          </a:p>
        </p:txBody>
      </p:sp>
      <p:sp>
        <p:nvSpPr>
          <p:cNvPr id="4" name="TextBox 3"/>
          <p:cNvSpPr txBox="1"/>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rPr>
              <a:t>Where the Tested Regressions Come From</a:t>
            </a:r>
          </a:p>
        </p:txBody>
      </p:sp>
      <p:sp>
        <p:nvSpPr>
          <p:cNvPr id="5" name="TextBox 4"/>
          <p:cNvSpPr txBox="1"/>
          <p:nvPr/>
        </p:nvSpPr>
        <p:spPr>
          <a:xfrm>
            <a:off x="640080" y="1463040"/>
            <a:ext cx="11064240" cy="547842"/>
          </a:xfrm>
          <a:prstGeom prst="rect">
            <a:avLst/>
          </a:prstGeom>
          <a:noFill/>
        </p:spPr>
        <p:txBody>
          <a:bodyPr wrap="square" lIns="27432" tIns="27432" rIns="27432" bIns="27432">
            <a:spAutoFit/>
          </a:bodyPr>
          <a:lstStyle/>
          <a:p>
            <a:r>
              <a:rPr sz="1600" b="0" i="1">
                <a:solidFill>
                  <a:srgbClr val="1E2A44"/>
                </a:solidFill>
                <a:latin typeface="Calibri"/>
              </a:rPr>
              <a:t>The events (e.g., H1 = PR #14603, H4 = PR #14120) are not “just GitHub” — for an open-source SDK the repository IS the authoritative primary record.</a:t>
            </a:r>
          </a:p>
        </p:txBody>
      </p:sp>
      <p:sp>
        <p:nvSpPr>
          <p:cNvPr id="6" name="TextBox 5"/>
          <p:cNvSpPr txBox="1"/>
          <p:nvPr/>
        </p:nvSpPr>
        <p:spPr>
          <a:xfrm>
            <a:off x="640080" y="2057400"/>
            <a:ext cx="11064240" cy="3697422"/>
          </a:xfrm>
          <a:prstGeom prst="rect">
            <a:avLst/>
          </a:prstGeom>
          <a:noFill/>
        </p:spPr>
        <p:txBody>
          <a:bodyPr wrap="square" lIns="27432" tIns="27432" rIns="27432" bIns="27432">
            <a:spAutoFit/>
          </a:bodyPr>
          <a:lstStyle/>
          <a:p>
            <a:pPr>
              <a:spcAft>
                <a:spcPts val="1100"/>
              </a:spcAft>
            </a:pPr>
            <a:r>
              <a:rPr sz="2000" b="1" i="0">
                <a:solidFill>
                  <a:srgbClr val="14B8A6"/>
                </a:solidFill>
                <a:latin typeface="Calibri"/>
              </a:rPr>
              <a:t>▪  </a:t>
            </a:r>
            <a:r>
              <a:rPr sz="2000" b="1" i="0">
                <a:solidFill>
                  <a:srgbClr val="0E7C7B"/>
                </a:solidFill>
                <a:latin typeface="Calibri"/>
              </a:rPr>
              <a:t>Canonical primary source:  </a:t>
            </a:r>
            <a:r>
              <a:rPr sz="2000" b="0" i="0">
                <a:solidFill>
                  <a:srgbClr val="1E2A44"/>
                </a:solidFill>
                <a:latin typeface="Calibri"/>
              </a:rPr>
              <a:t>merged pull requests, their linked issues, and release notes are the official record of what changed and why — permanent and citable.</a:t>
            </a:r>
          </a:p>
          <a:p>
            <a:pPr>
              <a:spcAft>
                <a:spcPts val="1100"/>
              </a:spcAft>
            </a:pPr>
            <a:r>
              <a:rPr sz="2000" b="1" i="0">
                <a:solidFill>
                  <a:srgbClr val="14B8A6"/>
                </a:solidFill>
                <a:latin typeface="Calibri"/>
              </a:rPr>
              <a:t>▪  </a:t>
            </a:r>
            <a:r>
              <a:rPr sz="2000" b="1" i="0">
                <a:solidFill>
                  <a:srgbClr val="0E7C7B"/>
                </a:solidFill>
                <a:latin typeface="Calibri"/>
              </a:rPr>
              <a:t>Standard methodology:  </a:t>
            </a:r>
            <a:r>
              <a:rPr sz="2000" b="0" i="0">
                <a:solidFill>
                  <a:srgbClr val="1E2A44"/>
                </a:solidFill>
                <a:latin typeface="Calibri"/>
              </a:rPr>
              <a:t>mining merged bug-fix commits is established empirical-software-engineering practice [49] (the SZZ / Mining-Software-Repositories line).</a:t>
            </a:r>
          </a:p>
          <a:p>
            <a:pPr>
              <a:spcAft>
                <a:spcPts val="1100"/>
              </a:spcAft>
            </a:pPr>
            <a:r>
              <a:rPr sz="2000" b="1" i="0">
                <a:solidFill>
                  <a:srgbClr val="14B8A6"/>
                </a:solidFill>
                <a:latin typeface="Calibri"/>
              </a:rPr>
              <a:t>▪  </a:t>
            </a:r>
            <a:r>
              <a:rPr sz="2000" b="1" i="0">
                <a:solidFill>
                  <a:srgbClr val="0E7C7B"/>
                </a:solidFill>
                <a:latin typeface="Calibri"/>
              </a:rPr>
              <a:t>Same source as accepted benchmarks:  </a:t>
            </a:r>
            <a:r>
              <a:rPr sz="2000" b="0" i="0">
                <a:solidFill>
                  <a:srgbClr val="1E2A44"/>
                </a:solidFill>
                <a:latin typeface="Calibri"/>
              </a:rPr>
              <a:t>Bugs4Q curates real Qiskit bugs from this history [29], and Paltenghi &amp; Pradel mined 223 real platform bugs the same way [1].</a:t>
            </a:r>
          </a:p>
          <a:p>
            <a:pPr>
              <a:spcAft>
                <a:spcPts val="1100"/>
              </a:spcAft>
            </a:pPr>
            <a:r>
              <a:rPr sz="2000" b="1" i="0">
                <a:solidFill>
                  <a:srgbClr val="14B8A6"/>
                </a:solidFill>
                <a:latin typeface="Calibri"/>
              </a:rPr>
              <a:t>▪  </a:t>
            </a:r>
            <a:r>
              <a:rPr sz="2000" b="1" i="0">
                <a:solidFill>
                  <a:srgbClr val="0E7C7B"/>
                </a:solidFill>
                <a:latin typeface="Calibri"/>
              </a:rPr>
              <a:t>Full traceability:  </a:t>
            </a:r>
            <a:r>
              <a:rPr sz="2000" b="0" i="0">
                <a:solidFill>
                  <a:srgbClr val="1E2A44"/>
                </a:solidFill>
                <a:latin typeface="Calibri"/>
              </a:rPr>
              <a:t>each event → inducing/fixing PR + issue thread + release note. All IDs, revisions and build scripts released for reproduction.</a:t>
            </a:r>
          </a:p>
          <a:p>
            <a:pPr>
              <a:spcAft>
                <a:spcPts val="1100"/>
              </a:spcAft>
            </a:pPr>
            <a:r>
              <a:rPr sz="2000" b="1" i="0">
                <a:solidFill>
                  <a:srgbClr val="14B8A6"/>
                </a:solidFill>
                <a:latin typeface="Calibri"/>
              </a:rPr>
              <a:t>▪  </a:t>
            </a:r>
            <a:r>
              <a:rPr sz="2000" b="1" i="0">
                <a:solidFill>
                  <a:srgbClr val="0E7C7B"/>
                </a:solidFill>
                <a:latin typeface="Calibri"/>
              </a:rPr>
              <a:t>Why not RFCs:  </a:t>
            </a:r>
            <a:r>
              <a:rPr sz="2000" b="0" i="0">
                <a:solidFill>
                  <a:srgbClr val="1E2A44"/>
                </a:solidFill>
                <a:latin typeface="Calibri"/>
              </a:rPr>
              <a:t>Qiskit RFCs cover major design changes, not routine bug fixes — those live in the PR + release-note record, which is the correct provenance.</a:t>
            </a:r>
          </a:p>
        </p:txBody>
      </p:sp>
      <p:sp>
        <p:nvSpPr>
          <p:cNvPr id="7" name="TextBox 6"/>
          <p:cNvSpPr txBox="1"/>
          <p:nvPr/>
        </p:nvSpPr>
        <p:spPr>
          <a:xfrm>
            <a:off x="640080" y="5989320"/>
            <a:ext cx="11064240" cy="301621"/>
          </a:xfrm>
          <a:prstGeom prst="rect">
            <a:avLst/>
          </a:prstGeom>
          <a:noFill/>
        </p:spPr>
        <p:txBody>
          <a:bodyPr wrap="square" lIns="27432" tIns="27432" rIns="27432" bIns="27432">
            <a:spAutoFit/>
          </a:bodyPr>
          <a:lstStyle/>
          <a:p>
            <a:r>
              <a:rPr sz="1600" b="0" i="1">
                <a:solidFill>
                  <a:srgbClr val="64748C"/>
                </a:solidFill>
                <a:latin typeface="Calibri"/>
              </a:rPr>
              <a:t>Every tested regression is traceable to a permanent, verifiable record — more so than most secondary sources.</a:t>
            </a:r>
          </a:p>
        </p:txBody>
      </p:sp>
      <p:sp>
        <p:nvSpPr>
          <p:cNvPr id="8" name="TextBox 7"/>
          <p:cNvSpPr txBox="1"/>
          <p:nvPr/>
        </p:nvSpPr>
        <p:spPr>
          <a:xfrm>
            <a:off x="640080" y="6473952"/>
            <a:ext cx="9692640" cy="209288"/>
          </a:xfrm>
          <a:prstGeom prst="rect">
            <a:avLst/>
          </a:prstGeom>
          <a:noFill/>
        </p:spPr>
        <p:txBody>
          <a:bodyPr wrap="square" lIns="27432" tIns="27432" rIns="27432" bIns="27432">
            <a:spAutoFit/>
          </a:bodyPr>
          <a:lstStyle/>
          <a:p>
            <a:r>
              <a:rPr sz="1000" b="0" i="0">
                <a:solidFill>
                  <a:srgbClr val="64748C"/>
                </a:solidFill>
                <a:latin typeface="Calibri"/>
              </a:rPr>
              <a:t>PhD Synopsis  ·  A Leakage-Safe Framework for Observability-Aware Regression Testing of Quantum Compilers</a:t>
            </a:r>
          </a:p>
        </p:txBody>
      </p:sp>
      <p:sp>
        <p:nvSpPr>
          <p:cNvPr id="9" name="TextBox 8"/>
          <p:cNvSpPr txBox="1"/>
          <p:nvPr/>
        </p:nvSpPr>
        <p:spPr>
          <a:xfrm>
            <a:off x="11155680" y="6473952"/>
            <a:ext cx="822960" cy="209288"/>
          </a:xfrm>
          <a:prstGeom prst="rect">
            <a:avLst/>
          </a:prstGeom>
          <a:noFill/>
        </p:spPr>
        <p:txBody>
          <a:bodyPr wrap="square" lIns="27432" tIns="27432" rIns="27432" bIns="27432">
            <a:spAutoFit/>
          </a:bodyPr>
          <a:lstStyle/>
          <a:p>
            <a:pPr algn="r"/>
            <a:r>
              <a:rPr sz="1000" b="1" i="0">
                <a:solidFill>
                  <a:srgbClr val="64748C"/>
                </a:solidFill>
                <a:latin typeface="Calibri"/>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rPr>
              <a:t>BACKUP — FOR QUESTIONS</a:t>
            </a:r>
          </a:p>
        </p:txBody>
      </p:sp>
      <p:sp>
        <p:nvSpPr>
          <p:cNvPr id="4" name="TextBox 3"/>
          <p:cNvSpPr txBox="1"/>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rPr>
              <a:t>Do We Run Quantum Simulations? (No Hardware)</a:t>
            </a:r>
          </a:p>
        </p:txBody>
      </p:sp>
      <p:sp>
        <p:nvSpPr>
          <p:cNvPr id="5" name="TextBox 4"/>
          <p:cNvSpPr txBox="1"/>
          <p:nvPr/>
        </p:nvSpPr>
        <p:spPr>
          <a:xfrm>
            <a:off x="640080" y="1463040"/>
            <a:ext cx="11064240" cy="547842"/>
          </a:xfrm>
          <a:prstGeom prst="rect">
            <a:avLst/>
          </a:prstGeom>
          <a:noFill/>
        </p:spPr>
        <p:txBody>
          <a:bodyPr wrap="square" lIns="27432" tIns="27432" rIns="27432" bIns="27432">
            <a:spAutoFit/>
          </a:bodyPr>
          <a:lstStyle/>
          <a:p>
            <a:r>
              <a:rPr sz="1600" b="0" i="1">
                <a:solidFill>
                  <a:srgbClr val="1E2A44"/>
                </a:solidFill>
                <a:latin typeface="Calibri"/>
              </a:rPr>
              <a:t>Yes — classical simulation only, on the CPU. A simulator is classical software that computes what a quantum device would do, and it never needs a quantum device.</a:t>
            </a:r>
          </a:p>
        </p:txBody>
      </p:sp>
      <p:sp>
        <p:nvSpPr>
          <p:cNvPr id="6" name="TextBox 5"/>
          <p:cNvSpPr txBox="1"/>
          <p:nvPr/>
        </p:nvSpPr>
        <p:spPr>
          <a:xfrm>
            <a:off x="640080" y="2057400"/>
            <a:ext cx="11064240" cy="3338350"/>
          </a:xfrm>
          <a:prstGeom prst="rect">
            <a:avLst/>
          </a:prstGeom>
          <a:noFill/>
        </p:spPr>
        <p:txBody>
          <a:bodyPr wrap="square" lIns="27432" tIns="27432" rIns="27432" bIns="27432">
            <a:spAutoFit/>
          </a:bodyPr>
          <a:lstStyle/>
          <a:p>
            <a:pPr>
              <a:spcAft>
                <a:spcPts val="1000"/>
              </a:spcAft>
            </a:pPr>
            <a:r>
              <a:rPr b="1" i="0">
                <a:solidFill>
                  <a:srgbClr val="14B8A6"/>
                </a:solidFill>
                <a:latin typeface="Calibri"/>
              </a:rPr>
              <a:t>▪  </a:t>
            </a:r>
            <a:r>
              <a:rPr b="1" i="0">
                <a:solidFill>
                  <a:srgbClr val="0E7C7B"/>
                </a:solidFill>
                <a:latin typeface="Calibri"/>
              </a:rPr>
              <a:t>What we test is classical:  </a:t>
            </a:r>
            <a:r>
              <a:rPr b="0" i="0">
                <a:solidFill>
                  <a:srgbClr val="1E2A44"/>
                </a:solidFill>
                <a:latin typeface="Calibri"/>
              </a:rPr>
              <a:t>the transpiler is compiler software, so checking its output is a classical computation, not a physics experiment.</a:t>
            </a:r>
          </a:p>
          <a:p>
            <a:pPr>
              <a:spcAft>
                <a:spcPts val="1000"/>
              </a:spcAft>
            </a:pPr>
            <a:r>
              <a:rPr b="1" i="0">
                <a:solidFill>
                  <a:srgbClr val="14B8A6"/>
                </a:solidFill>
                <a:latin typeface="Calibri"/>
              </a:rPr>
              <a:t>▪  </a:t>
            </a:r>
            <a:r>
              <a:rPr b="1" i="0">
                <a:solidFill>
                  <a:srgbClr val="0E7C7B"/>
                </a:solidFill>
                <a:latin typeface="Calibri"/>
              </a:rPr>
              <a:t>How the check runs:  </a:t>
            </a:r>
            <a:r>
              <a:rPr b="0" i="0">
                <a:solidFill>
                  <a:srgbClr val="1E2A44"/>
                </a:solidFill>
                <a:latin typeface="Calibri"/>
              </a:rPr>
              <a:t>for small circuits (≤ 12 qubits) we compute the exact unitary with linear algebra (Qiskit’s classical simulator) and compare up to global phase [6].</a:t>
            </a:r>
          </a:p>
          <a:p>
            <a:pPr>
              <a:spcAft>
                <a:spcPts val="1000"/>
              </a:spcAft>
            </a:pPr>
            <a:r>
              <a:rPr b="1" i="0">
                <a:solidFill>
                  <a:srgbClr val="14B8A6"/>
                </a:solidFill>
                <a:latin typeface="Calibri"/>
              </a:rPr>
              <a:t>▪  </a:t>
            </a:r>
            <a:r>
              <a:rPr b="1" i="0">
                <a:solidFill>
                  <a:srgbClr val="0E7C7B"/>
                </a:solidFill>
                <a:latin typeface="Calibri"/>
              </a:rPr>
              <a:t>It runs on a laptop:  </a:t>
            </a:r>
            <a:r>
              <a:rPr b="0" i="0">
                <a:solidFill>
                  <a:srgbClr val="1E2A44"/>
                </a:solidFill>
                <a:latin typeface="Calibri"/>
              </a:rPr>
              <a:t>the corpus uses up to 8 qubits, so every semantic check simulates in milliseconds on a 32 GB CPU — no device, no queue, no noise.</a:t>
            </a:r>
          </a:p>
          <a:p>
            <a:pPr>
              <a:spcAft>
                <a:spcPts val="1000"/>
              </a:spcAft>
            </a:pPr>
            <a:r>
              <a:rPr b="1" i="0">
                <a:solidFill>
                  <a:srgbClr val="14B8A6"/>
                </a:solidFill>
                <a:latin typeface="Calibri"/>
              </a:rPr>
              <a:t>▪  </a:t>
            </a:r>
            <a:r>
              <a:rPr b="1" i="0">
                <a:solidFill>
                  <a:srgbClr val="0E7C7B"/>
                </a:solidFill>
                <a:latin typeface="Calibri"/>
              </a:rPr>
              <a:t>Where simulation would blow up:  </a:t>
            </a:r>
            <a:r>
              <a:rPr b="0" i="0">
                <a:solidFill>
                  <a:srgbClr val="1E2A44"/>
                </a:solidFill>
                <a:latin typeface="Calibri"/>
              </a:rPr>
              <a:t>above the cap we do NOT simulate — structural checks (basis + coupling-map) take over, and even the 27-qubit performance test only times the compiler, not the circuit's output.</a:t>
            </a:r>
          </a:p>
          <a:p>
            <a:pPr>
              <a:spcAft>
                <a:spcPts val="1000"/>
              </a:spcAft>
            </a:pPr>
            <a:r>
              <a:rPr b="1" i="0">
                <a:solidFill>
                  <a:srgbClr val="14B8A6"/>
                </a:solidFill>
                <a:latin typeface="Calibri"/>
              </a:rPr>
              <a:t>▪  </a:t>
            </a:r>
            <a:r>
              <a:rPr b="1" i="0">
                <a:solidFill>
                  <a:srgbClr val="0E7C7B"/>
                </a:solidFill>
                <a:latin typeface="Calibri"/>
              </a:rPr>
              <a:t>No hardware on the critical path:  </a:t>
            </a:r>
            <a:r>
              <a:rPr b="0" i="0">
                <a:solidFill>
                  <a:srgbClr val="1E2A44"/>
                </a:solidFill>
                <a:latin typeface="Calibri"/>
              </a:rPr>
              <a:t>our research validates the compiler transformation, not physical execution — it stops one step before hardware is needed. Physical-noise fidelity is a separate, downstream question, out of scope.</a:t>
            </a:r>
          </a:p>
        </p:txBody>
      </p:sp>
      <p:sp>
        <p:nvSpPr>
          <p:cNvPr id="7" name="TextBox 6"/>
          <p:cNvSpPr txBox="1"/>
          <p:nvPr/>
        </p:nvSpPr>
        <p:spPr>
          <a:xfrm>
            <a:off x="640080" y="5989320"/>
            <a:ext cx="11064240" cy="547842"/>
          </a:xfrm>
          <a:prstGeom prst="rect">
            <a:avLst/>
          </a:prstGeom>
          <a:noFill/>
        </p:spPr>
        <p:txBody>
          <a:bodyPr wrap="square" lIns="27432" tIns="27432" rIns="27432" bIns="27432">
            <a:spAutoFit/>
          </a:bodyPr>
          <a:lstStyle/>
          <a:p>
            <a:r>
              <a:rPr sz="1600" b="0" i="1">
                <a:solidFill>
                  <a:srgbClr val="64748C"/>
                </a:solidFill>
                <a:latin typeface="Calibri"/>
              </a:rPr>
              <a:t>Simulator ≠ hardware: it runs on an ordinary CPU. Exact simulation is exponential, so the design caps it and falls back — that is why no quantum device is needed.</a:t>
            </a:r>
          </a:p>
        </p:txBody>
      </p:sp>
      <p:sp>
        <p:nvSpPr>
          <p:cNvPr id="8" name="TextBox 7"/>
          <p:cNvSpPr txBox="1"/>
          <p:nvPr/>
        </p:nvSpPr>
        <p:spPr>
          <a:xfrm>
            <a:off x="640080" y="6473952"/>
            <a:ext cx="9692640" cy="209288"/>
          </a:xfrm>
          <a:prstGeom prst="rect">
            <a:avLst/>
          </a:prstGeom>
          <a:noFill/>
        </p:spPr>
        <p:txBody>
          <a:bodyPr wrap="square" lIns="27432" tIns="27432" rIns="27432" bIns="27432">
            <a:spAutoFit/>
          </a:bodyPr>
          <a:lstStyle/>
          <a:p>
            <a:r>
              <a:rPr sz="1000" b="0" i="0">
                <a:solidFill>
                  <a:srgbClr val="64748C"/>
                </a:solidFill>
                <a:latin typeface="Calibri"/>
              </a:rPr>
              <a:t>PhD Synopsis  ·  A Leakage-Safe Framework for Observability-Aware Regression Testing of Quantum Compilers</a:t>
            </a:r>
          </a:p>
        </p:txBody>
      </p:sp>
      <p:sp>
        <p:nvSpPr>
          <p:cNvPr id="9" name="TextBox 8"/>
          <p:cNvSpPr txBox="1"/>
          <p:nvPr/>
        </p:nvSpPr>
        <p:spPr>
          <a:xfrm>
            <a:off x="11155680" y="6473952"/>
            <a:ext cx="822960" cy="209288"/>
          </a:xfrm>
          <a:prstGeom prst="rect">
            <a:avLst/>
          </a:prstGeom>
          <a:noFill/>
        </p:spPr>
        <p:txBody>
          <a:bodyPr wrap="square" lIns="27432" tIns="27432" rIns="27432" bIns="27432">
            <a:spAutoFit/>
          </a:bodyPr>
          <a:lstStyle/>
          <a:p>
            <a:pPr algn="r"/>
            <a:r>
              <a:rPr sz="1000" b="1" i="0">
                <a:solidFill>
                  <a:srgbClr val="64748C"/>
                </a:solidFill>
                <a:latin typeface="Calibr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301621"/>
          </a:xfrm>
          <a:prstGeom prst="rect">
            <a:avLst/>
          </a:prstGeom>
          <a:noFill/>
        </p:spPr>
        <p:txBody>
          <a:bodyPr wrap="square" lIns="27432" tIns="27432" rIns="27432" bIns="27432">
            <a:spAutoFit/>
          </a:bodyPr>
          <a:lstStyle/>
          <a:p>
            <a:r>
              <a:rPr sz="1600" b="1" i="0">
                <a:solidFill>
                  <a:srgbClr val="14B8A6"/>
                </a:solidFill>
                <a:latin typeface="Calibri"/>
              </a:rPr>
              <a:t>BACKUP — FOR QUESTIONS</a:t>
            </a:r>
          </a:p>
        </p:txBody>
      </p:sp>
      <p:sp>
        <p:nvSpPr>
          <p:cNvPr id="4" name="TextBox 3"/>
          <p:cNvSpPr txBox="1"/>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rPr>
              <a:t>Precedent: Testing Quantum Compilers Without Hardware</a:t>
            </a:r>
          </a:p>
        </p:txBody>
      </p:sp>
      <p:sp>
        <p:nvSpPr>
          <p:cNvPr id="5" name="TextBox 4"/>
          <p:cNvSpPr txBox="1"/>
          <p:nvPr/>
        </p:nvSpPr>
        <p:spPr>
          <a:xfrm>
            <a:off x="640080" y="1225296"/>
            <a:ext cx="11064240" cy="547842"/>
          </a:xfrm>
          <a:prstGeom prst="rect">
            <a:avLst/>
          </a:prstGeom>
          <a:noFill/>
        </p:spPr>
        <p:txBody>
          <a:bodyPr wrap="square" lIns="27432" tIns="27432" rIns="27432" bIns="27432">
            <a:spAutoFit/>
          </a:bodyPr>
          <a:lstStyle/>
          <a:p>
            <a:r>
              <a:rPr sz="1600" b="0" i="1" dirty="0">
                <a:solidFill>
                  <a:srgbClr val="1E2A44"/>
                </a:solidFill>
                <a:latin typeface="Calibri"/>
              </a:rPr>
              <a:t>Top-venue studies evaluate quantum compilers and quantum-software testing in classical software or simulation — none required a QPU.</a:t>
            </a:r>
          </a:p>
        </p:txBody>
      </p:sp>
      <p:sp>
        <p:nvSpPr>
          <p:cNvPr id="7" name="TextBox 6"/>
          <p:cNvSpPr txBox="1"/>
          <p:nvPr/>
        </p:nvSpPr>
        <p:spPr>
          <a:xfrm>
            <a:off x="640080" y="6144768"/>
            <a:ext cx="11064240" cy="301621"/>
          </a:xfrm>
          <a:prstGeom prst="rect">
            <a:avLst/>
          </a:prstGeom>
          <a:noFill/>
        </p:spPr>
        <p:txBody>
          <a:bodyPr wrap="square" lIns="27432" tIns="27432" rIns="27432" bIns="27432">
            <a:spAutoFit/>
          </a:bodyPr>
          <a:lstStyle/>
          <a:p>
            <a:r>
              <a:rPr sz="1600" b="0" i="1">
                <a:solidFill>
                  <a:srgbClr val="64748C"/>
                </a:solidFill>
                <a:latin typeface="Calibri"/>
              </a:rPr>
              <a:t>Our study is in exactly this established, hardware-free mode — evaluating the compiler transformation, not physical execution.</a:t>
            </a:r>
          </a:p>
        </p:txBody>
      </p:sp>
      <p:sp>
        <p:nvSpPr>
          <p:cNvPr id="8" name="TextBox 7"/>
          <p:cNvSpPr txBox="1"/>
          <p:nvPr/>
        </p:nvSpPr>
        <p:spPr>
          <a:xfrm>
            <a:off x="640080" y="6473952"/>
            <a:ext cx="9692640" cy="209288"/>
          </a:xfrm>
          <a:prstGeom prst="rect">
            <a:avLst/>
          </a:prstGeom>
          <a:noFill/>
        </p:spPr>
        <p:txBody>
          <a:bodyPr wrap="square" lIns="27432" tIns="27432" rIns="27432" bIns="27432">
            <a:spAutoFit/>
          </a:bodyPr>
          <a:lstStyle/>
          <a:p>
            <a:r>
              <a:rPr sz="1000" b="0" i="0">
                <a:solidFill>
                  <a:srgbClr val="64748C"/>
                </a:solidFill>
                <a:latin typeface="Calibri"/>
              </a:rPr>
              <a:t>PhD Synopsis  ·  A Leakage-Safe Framework for Observability-Aware Regression Testing of Quantum Compilers</a:t>
            </a:r>
          </a:p>
        </p:txBody>
      </p:sp>
      <p:sp>
        <p:nvSpPr>
          <p:cNvPr id="9" name="TextBox 8"/>
          <p:cNvSpPr txBox="1"/>
          <p:nvPr/>
        </p:nvSpPr>
        <p:spPr>
          <a:xfrm>
            <a:off x="11155680" y="6473952"/>
            <a:ext cx="822960" cy="209288"/>
          </a:xfrm>
          <a:prstGeom prst="rect">
            <a:avLst/>
          </a:prstGeom>
          <a:noFill/>
        </p:spPr>
        <p:txBody>
          <a:bodyPr wrap="square" lIns="27432" tIns="27432" rIns="27432" bIns="27432">
            <a:spAutoFit/>
          </a:bodyPr>
          <a:lstStyle/>
          <a:p>
            <a:pPr algn="r"/>
            <a:r>
              <a:rPr sz="1000" b="1" i="0">
                <a:solidFill>
                  <a:srgbClr val="64748C"/>
                </a:solidFill>
                <a:latin typeface="Calibri"/>
              </a:rPr>
              <a:t>30</a:t>
            </a:r>
          </a:p>
        </p:txBody>
      </p:sp>
      <p:graphicFrame>
        <p:nvGraphicFramePr>
          <p:cNvPr id="10" name="Table 9"/>
          <p:cNvGraphicFramePr>
            <a:graphicFrameLocks noGrp="1"/>
          </p:cNvGraphicFramePr>
          <p:nvPr>
            <p:extLst>
              <p:ext uri="{D42A27DB-BD31-4B8C-83A1-F6EECF244321}">
                <p14:modId xmlns:p14="http://schemas.microsoft.com/office/powerpoint/2010/main" val="2147130813"/>
              </p:ext>
            </p:extLst>
          </p:nvPr>
        </p:nvGraphicFramePr>
        <p:xfrm>
          <a:off x="603504" y="1847088"/>
          <a:ext cx="10378440" cy="3675888"/>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48920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06324">
                <a:tc>
                  <a:txBody>
                    <a:bodyPr/>
                    <a:lstStyle/>
                    <a:p>
                      <a:r>
                        <a:rPr sz="1400" b="1" dirty="0">
                          <a:solidFill>
                            <a:srgbClr val="FFFFFF"/>
                          </a:solidFill>
                          <a:latin typeface="Calibri"/>
                        </a:rPr>
                        <a:t>Study</a:t>
                      </a:r>
                    </a:p>
                  </a:txBody>
                  <a:tcPr marL="54864" marR="45720" marT="9144" marB="9144" anchor="ctr">
                    <a:solidFill>
                      <a:srgbClr val="14264F"/>
                    </a:solidFill>
                  </a:tcPr>
                </a:tc>
                <a:tc>
                  <a:txBody>
                    <a:bodyPr/>
                    <a:lstStyle/>
                    <a:p>
                      <a:r>
                        <a:rPr sz="1400" b="1">
                          <a:solidFill>
                            <a:srgbClr val="FFFFFF"/>
                          </a:solidFill>
                          <a:latin typeface="Calibri"/>
                        </a:rPr>
                        <a:t>Venue (year)</a:t>
                      </a:r>
                    </a:p>
                  </a:txBody>
                  <a:tcPr marL="54864" marR="45720" marT="9144" marB="9144" anchor="ctr">
                    <a:solidFill>
                      <a:srgbClr val="14264F"/>
                    </a:solidFill>
                  </a:tcPr>
                </a:tc>
                <a:tc>
                  <a:txBody>
                    <a:bodyPr/>
                    <a:lstStyle/>
                    <a:p>
                      <a:pPr algn="ctr"/>
                      <a:r>
                        <a:rPr sz="1400" b="1">
                          <a:solidFill>
                            <a:srgbClr val="FFFFFF"/>
                          </a:solidFill>
                          <a:latin typeface="Calibri"/>
                        </a:rPr>
                        <a:t>Tier</a:t>
                      </a:r>
                    </a:p>
                  </a:txBody>
                  <a:tcPr marL="54864" marR="45720" marT="9144" marB="9144" anchor="ctr">
                    <a:solidFill>
                      <a:srgbClr val="14264F"/>
                    </a:solidFill>
                  </a:tcPr>
                </a:tc>
                <a:tc>
                  <a:txBody>
                    <a:bodyPr/>
                    <a:lstStyle/>
                    <a:p>
                      <a:r>
                        <a:rPr sz="1400" b="1">
                          <a:solidFill>
                            <a:srgbClr val="FFFFFF"/>
                          </a:solidFill>
                          <a:latin typeface="Calibri"/>
                        </a:rPr>
                        <a:t>Ran on</a:t>
                      </a:r>
                    </a:p>
                  </a:txBody>
                  <a:tcPr marL="54864" marR="45720" marT="9144" marB="9144" anchor="ctr">
                    <a:solidFill>
                      <a:srgbClr val="14264F"/>
                    </a:solidFill>
                  </a:tcPr>
                </a:tc>
                <a:tc>
                  <a:txBody>
                    <a:bodyPr/>
                    <a:lstStyle/>
                    <a:p>
                      <a:pPr algn="ctr"/>
                      <a:r>
                        <a:rPr sz="1400" b="1">
                          <a:solidFill>
                            <a:srgbClr val="FFFFFF"/>
                          </a:solidFill>
                          <a:latin typeface="Calibri"/>
                        </a:rPr>
                        <a:t>QPU?</a:t>
                      </a:r>
                    </a:p>
                  </a:txBody>
                  <a:tcPr marL="54864" marR="45720" marT="9144" marB="9144" anchor="ctr">
                    <a:solidFill>
                      <a:srgbClr val="14264F"/>
                    </a:solidFill>
                  </a:tcPr>
                </a:tc>
                <a:extLst>
                  <a:ext uri="{0D108BD9-81ED-4DB2-BD59-A6C34878D82A}">
                    <a16:rowId xmlns:a16="http://schemas.microsoft.com/office/drawing/2014/main" val="10000"/>
                  </a:ext>
                </a:extLst>
              </a:tr>
              <a:tr h="306324">
                <a:tc>
                  <a:txBody>
                    <a:bodyPr/>
                    <a:lstStyle/>
                    <a:p>
                      <a:r>
                        <a:rPr sz="1600">
                          <a:solidFill>
                            <a:srgbClr val="1E2A44"/>
                          </a:solidFill>
                          <a:latin typeface="Calibri"/>
                        </a:rPr>
                        <a:t>Giallar [27]</a:t>
                      </a:r>
                    </a:p>
                  </a:txBody>
                  <a:tcPr marL="54864" marR="45720" marT="9144" marB="9144" anchor="ctr">
                    <a:solidFill>
                      <a:srgbClr val="FFFFFF"/>
                    </a:solidFill>
                  </a:tcPr>
                </a:tc>
                <a:tc>
                  <a:txBody>
                    <a:bodyPr/>
                    <a:lstStyle/>
                    <a:p>
                      <a:r>
                        <a:rPr sz="1600">
                          <a:solidFill>
                            <a:srgbClr val="1E2A44"/>
                          </a:solidFill>
                          <a:latin typeface="Calibri"/>
                        </a:rPr>
                        <a:t>PLDI 2022</a:t>
                      </a:r>
                    </a:p>
                  </a:txBody>
                  <a:tcPr marL="54864" marR="45720" marT="9144" marB="9144" anchor="ctr">
                    <a:solidFill>
                      <a:srgbClr val="FFFFFF"/>
                    </a:solidFill>
                  </a:tcPr>
                </a:tc>
                <a:tc>
                  <a:txBody>
                    <a:bodyPr/>
                    <a:lstStyle/>
                    <a:p>
                      <a:pPr algn="ctr"/>
                      <a:r>
                        <a:rPr sz="1600" b="1">
                          <a:solidFill>
                            <a:srgbClr val="14264F"/>
                          </a:solidFill>
                          <a:latin typeface="Calibri"/>
                        </a:rPr>
                        <a:t>A*</a:t>
                      </a:r>
                    </a:p>
                  </a:txBody>
                  <a:tcPr marL="54864" marR="45720" marT="9144" marB="9144" anchor="ctr">
                    <a:solidFill>
                      <a:srgbClr val="FFFFFF"/>
                    </a:solidFill>
                  </a:tcPr>
                </a:tc>
                <a:tc>
                  <a:txBody>
                    <a:bodyPr/>
                    <a:lstStyle/>
                    <a:p>
                      <a:r>
                        <a:rPr sz="1600">
                          <a:solidFill>
                            <a:srgbClr val="1E2A44"/>
                          </a:solidFill>
                          <a:latin typeface="Calibri"/>
                        </a:rPr>
                        <a:t>symbolic pass verification (classical)</a:t>
                      </a:r>
                    </a:p>
                  </a:txBody>
                  <a:tcPr marL="54864" marR="45720" marT="9144" marB="9144" anchor="ctr">
                    <a:solidFill>
                      <a:srgbClr val="FFFFFF"/>
                    </a:solidFill>
                  </a:tcPr>
                </a:tc>
                <a:tc>
                  <a:txBody>
                    <a:bodyPr/>
                    <a:lstStyle/>
                    <a:p>
                      <a:pPr algn="ctr"/>
                      <a:r>
                        <a:rPr sz="1600" b="1">
                          <a:solidFill>
                            <a:srgbClr val="0E7C7B"/>
                          </a:solidFill>
                          <a:latin typeface="Calibri"/>
                        </a:rPr>
                        <a:t>No</a:t>
                      </a:r>
                    </a:p>
                  </a:txBody>
                  <a:tcPr marL="54864" marR="45720" marT="9144" marB="9144" anchor="ctr">
                    <a:solidFill>
                      <a:srgbClr val="FFFFFF"/>
                    </a:solidFill>
                  </a:tcPr>
                </a:tc>
                <a:extLst>
                  <a:ext uri="{0D108BD9-81ED-4DB2-BD59-A6C34878D82A}">
                    <a16:rowId xmlns:a16="http://schemas.microsoft.com/office/drawing/2014/main" val="10001"/>
                  </a:ext>
                </a:extLst>
              </a:tr>
              <a:tr h="306324">
                <a:tc>
                  <a:txBody>
                    <a:bodyPr/>
                    <a:lstStyle/>
                    <a:p>
                      <a:r>
                        <a:rPr sz="1600">
                          <a:solidFill>
                            <a:srgbClr val="1E2A44"/>
                          </a:solidFill>
                          <a:latin typeface="Calibri"/>
                        </a:rPr>
                        <a:t>VOQC [44]</a:t>
                      </a:r>
                    </a:p>
                  </a:txBody>
                  <a:tcPr marL="54864" marR="45720" marT="9144" marB="9144" anchor="ctr">
                    <a:solidFill>
                      <a:srgbClr val="F2F5FA"/>
                    </a:solidFill>
                  </a:tcPr>
                </a:tc>
                <a:tc>
                  <a:txBody>
                    <a:bodyPr/>
                    <a:lstStyle/>
                    <a:p>
                      <a:r>
                        <a:rPr sz="1600">
                          <a:solidFill>
                            <a:srgbClr val="1E2A44"/>
                          </a:solidFill>
                          <a:latin typeface="Calibri"/>
                        </a:rPr>
                        <a:t>POPL 2021</a:t>
                      </a:r>
                    </a:p>
                  </a:txBody>
                  <a:tcPr marL="54864" marR="45720" marT="9144" marB="9144" anchor="ctr">
                    <a:solidFill>
                      <a:srgbClr val="F2F5FA"/>
                    </a:solidFill>
                  </a:tcPr>
                </a:tc>
                <a:tc>
                  <a:txBody>
                    <a:bodyPr/>
                    <a:lstStyle/>
                    <a:p>
                      <a:pPr algn="ctr"/>
                      <a:r>
                        <a:rPr sz="1600" b="1">
                          <a:solidFill>
                            <a:srgbClr val="14264F"/>
                          </a:solidFill>
                          <a:latin typeface="Calibri"/>
                        </a:rPr>
                        <a:t>A*</a:t>
                      </a:r>
                    </a:p>
                  </a:txBody>
                  <a:tcPr marL="54864" marR="45720" marT="9144" marB="9144" anchor="ctr">
                    <a:solidFill>
                      <a:srgbClr val="F2F5FA"/>
                    </a:solidFill>
                  </a:tcPr>
                </a:tc>
                <a:tc>
                  <a:txBody>
                    <a:bodyPr/>
                    <a:lstStyle/>
                    <a:p>
                      <a:r>
                        <a:rPr sz="1600">
                          <a:solidFill>
                            <a:srgbClr val="1E2A44"/>
                          </a:solidFill>
                          <a:latin typeface="Calibri"/>
                        </a:rPr>
                        <a:t>Coq proofs over circuit semantics</a:t>
                      </a:r>
                    </a:p>
                  </a:txBody>
                  <a:tcPr marL="54864" marR="45720" marT="9144" marB="9144" anchor="ctr">
                    <a:solidFill>
                      <a:srgbClr val="F2F5FA"/>
                    </a:solidFill>
                  </a:tcPr>
                </a:tc>
                <a:tc>
                  <a:txBody>
                    <a:bodyPr/>
                    <a:lstStyle/>
                    <a:p>
                      <a:pPr algn="ctr"/>
                      <a:r>
                        <a:rPr sz="1600" b="1">
                          <a:solidFill>
                            <a:srgbClr val="0E7C7B"/>
                          </a:solidFill>
                          <a:latin typeface="Calibri"/>
                        </a:rPr>
                        <a:t>No</a:t>
                      </a:r>
                    </a:p>
                  </a:txBody>
                  <a:tcPr marL="54864" marR="45720" marT="9144" marB="9144" anchor="ctr">
                    <a:solidFill>
                      <a:srgbClr val="F2F5FA"/>
                    </a:solidFill>
                  </a:tcPr>
                </a:tc>
                <a:extLst>
                  <a:ext uri="{0D108BD9-81ED-4DB2-BD59-A6C34878D82A}">
                    <a16:rowId xmlns:a16="http://schemas.microsoft.com/office/drawing/2014/main" val="10002"/>
                  </a:ext>
                </a:extLst>
              </a:tr>
              <a:tr h="306324">
                <a:tc>
                  <a:txBody>
                    <a:bodyPr/>
                    <a:lstStyle/>
                    <a:p>
                      <a:r>
                        <a:rPr sz="1600">
                          <a:solidFill>
                            <a:srgbClr val="1E2A44"/>
                          </a:solidFill>
                          <a:latin typeface="Calibri"/>
                        </a:rPr>
                        <a:t>Burgholzer et al. [50]</a:t>
                      </a:r>
                    </a:p>
                  </a:txBody>
                  <a:tcPr marL="54864" marR="45720" marT="9144" marB="9144" anchor="ctr">
                    <a:solidFill>
                      <a:srgbClr val="FFFFFF"/>
                    </a:solidFill>
                  </a:tcPr>
                </a:tc>
                <a:tc>
                  <a:txBody>
                    <a:bodyPr/>
                    <a:lstStyle/>
                    <a:p>
                      <a:r>
                        <a:rPr sz="1600">
                          <a:solidFill>
                            <a:srgbClr val="1E2A44"/>
                          </a:solidFill>
                          <a:latin typeface="Calibri"/>
                        </a:rPr>
                        <a:t>IEEE QCE 2020</a:t>
                      </a:r>
                    </a:p>
                  </a:txBody>
                  <a:tcPr marL="54864" marR="45720" marT="9144" marB="9144" anchor="ctr">
                    <a:solidFill>
                      <a:srgbClr val="FFFFFF"/>
                    </a:solidFill>
                  </a:tcPr>
                </a:tc>
                <a:tc>
                  <a:txBody>
                    <a:bodyPr/>
                    <a:lstStyle/>
                    <a:p>
                      <a:pPr algn="ctr"/>
                      <a:r>
                        <a:rPr sz="1600" b="1">
                          <a:solidFill>
                            <a:srgbClr val="14264F"/>
                          </a:solidFill>
                          <a:latin typeface="Calibri"/>
                        </a:rPr>
                        <a:t>Nat.</a:t>
                      </a:r>
                    </a:p>
                  </a:txBody>
                  <a:tcPr marL="54864" marR="45720" marT="9144" marB="9144" anchor="ctr">
                    <a:solidFill>
                      <a:srgbClr val="FFFFFF"/>
                    </a:solidFill>
                  </a:tcPr>
                </a:tc>
                <a:tc>
                  <a:txBody>
                    <a:bodyPr/>
                    <a:lstStyle/>
                    <a:p>
                      <a:r>
                        <a:rPr sz="1600">
                          <a:solidFill>
                            <a:srgbClr val="1E2A44"/>
                          </a:solidFill>
                          <a:latin typeface="Calibri"/>
                        </a:rPr>
                        <a:t>equivalence checking of Qiskit compilation</a:t>
                      </a:r>
                    </a:p>
                  </a:txBody>
                  <a:tcPr marL="54864" marR="45720" marT="9144" marB="9144" anchor="ctr">
                    <a:solidFill>
                      <a:srgbClr val="FFFFFF"/>
                    </a:solidFill>
                  </a:tcPr>
                </a:tc>
                <a:tc>
                  <a:txBody>
                    <a:bodyPr/>
                    <a:lstStyle/>
                    <a:p>
                      <a:pPr algn="ctr"/>
                      <a:r>
                        <a:rPr sz="1600" b="1">
                          <a:solidFill>
                            <a:srgbClr val="0E7C7B"/>
                          </a:solidFill>
                          <a:latin typeface="Calibri"/>
                        </a:rPr>
                        <a:t>No</a:t>
                      </a:r>
                    </a:p>
                  </a:txBody>
                  <a:tcPr marL="54864" marR="45720" marT="9144" marB="9144" anchor="ctr">
                    <a:solidFill>
                      <a:srgbClr val="FFFFFF"/>
                    </a:solidFill>
                  </a:tcPr>
                </a:tc>
                <a:extLst>
                  <a:ext uri="{0D108BD9-81ED-4DB2-BD59-A6C34878D82A}">
                    <a16:rowId xmlns:a16="http://schemas.microsoft.com/office/drawing/2014/main" val="10003"/>
                  </a:ext>
                </a:extLst>
              </a:tr>
              <a:tr h="306324">
                <a:tc>
                  <a:txBody>
                    <a:bodyPr/>
                    <a:lstStyle/>
                    <a:p>
                      <a:r>
                        <a:rPr sz="1600">
                          <a:solidFill>
                            <a:srgbClr val="1E2A44"/>
                          </a:solidFill>
                          <a:latin typeface="Calibri"/>
                        </a:rPr>
                        <a:t>MorphQ [7]</a:t>
                      </a:r>
                    </a:p>
                  </a:txBody>
                  <a:tcPr marL="54864" marR="45720" marT="9144" marB="9144" anchor="ctr">
                    <a:solidFill>
                      <a:srgbClr val="F2F5FA"/>
                    </a:solidFill>
                  </a:tcPr>
                </a:tc>
                <a:tc>
                  <a:txBody>
                    <a:bodyPr/>
                    <a:lstStyle/>
                    <a:p>
                      <a:r>
                        <a:rPr sz="1600">
                          <a:solidFill>
                            <a:srgbClr val="1E2A44"/>
                          </a:solidFill>
                          <a:latin typeface="Calibri"/>
                        </a:rPr>
                        <a:t>ICSE 2023</a:t>
                      </a:r>
                    </a:p>
                  </a:txBody>
                  <a:tcPr marL="54864" marR="45720" marT="9144" marB="9144" anchor="ctr">
                    <a:solidFill>
                      <a:srgbClr val="F2F5FA"/>
                    </a:solidFill>
                  </a:tcPr>
                </a:tc>
                <a:tc>
                  <a:txBody>
                    <a:bodyPr/>
                    <a:lstStyle/>
                    <a:p>
                      <a:pPr algn="ctr"/>
                      <a:r>
                        <a:rPr sz="1600" b="1">
                          <a:solidFill>
                            <a:srgbClr val="14264F"/>
                          </a:solidFill>
                          <a:latin typeface="Calibri"/>
                        </a:rPr>
                        <a:t>A*</a:t>
                      </a:r>
                    </a:p>
                  </a:txBody>
                  <a:tcPr marL="54864" marR="45720" marT="9144" marB="9144" anchor="ctr">
                    <a:solidFill>
                      <a:srgbClr val="F2F5FA"/>
                    </a:solidFill>
                  </a:tcPr>
                </a:tc>
                <a:tc>
                  <a:txBody>
                    <a:bodyPr/>
                    <a:lstStyle/>
                    <a:p>
                      <a:r>
                        <a:rPr sz="1600">
                          <a:solidFill>
                            <a:srgbClr val="1E2A44"/>
                          </a:solidFill>
                          <a:latin typeface="Calibri"/>
                        </a:rPr>
                        <a:t>Qiskit simulator (8,000+ program pairs)</a:t>
                      </a:r>
                    </a:p>
                  </a:txBody>
                  <a:tcPr marL="54864" marR="45720" marT="9144" marB="9144" anchor="ctr">
                    <a:solidFill>
                      <a:srgbClr val="F2F5FA"/>
                    </a:solidFill>
                  </a:tcPr>
                </a:tc>
                <a:tc>
                  <a:txBody>
                    <a:bodyPr/>
                    <a:lstStyle/>
                    <a:p>
                      <a:pPr algn="ctr"/>
                      <a:r>
                        <a:rPr sz="1600" b="1">
                          <a:solidFill>
                            <a:srgbClr val="0E7C7B"/>
                          </a:solidFill>
                          <a:latin typeface="Calibri"/>
                        </a:rPr>
                        <a:t>No</a:t>
                      </a:r>
                    </a:p>
                  </a:txBody>
                  <a:tcPr marL="54864" marR="45720" marT="9144" marB="9144" anchor="ctr">
                    <a:solidFill>
                      <a:srgbClr val="F2F5FA"/>
                    </a:solidFill>
                  </a:tcPr>
                </a:tc>
                <a:extLst>
                  <a:ext uri="{0D108BD9-81ED-4DB2-BD59-A6C34878D82A}">
                    <a16:rowId xmlns:a16="http://schemas.microsoft.com/office/drawing/2014/main" val="10004"/>
                  </a:ext>
                </a:extLst>
              </a:tr>
              <a:tr h="306324">
                <a:tc>
                  <a:txBody>
                    <a:bodyPr/>
                    <a:lstStyle/>
                    <a:p>
                      <a:r>
                        <a:rPr sz="1600">
                          <a:solidFill>
                            <a:srgbClr val="1E2A44"/>
                          </a:solidFill>
                          <a:latin typeface="Calibri"/>
                        </a:rPr>
                        <a:t>Muskit [30]</a:t>
                      </a:r>
                    </a:p>
                  </a:txBody>
                  <a:tcPr marL="54864" marR="45720" marT="9144" marB="9144" anchor="ctr">
                    <a:solidFill>
                      <a:srgbClr val="FFFFFF"/>
                    </a:solidFill>
                  </a:tcPr>
                </a:tc>
                <a:tc>
                  <a:txBody>
                    <a:bodyPr/>
                    <a:lstStyle/>
                    <a:p>
                      <a:r>
                        <a:rPr sz="1600">
                          <a:solidFill>
                            <a:srgbClr val="1E2A44"/>
                          </a:solidFill>
                          <a:latin typeface="Calibri"/>
                        </a:rPr>
                        <a:t>ASE 2021</a:t>
                      </a:r>
                    </a:p>
                  </a:txBody>
                  <a:tcPr marL="54864" marR="45720" marT="9144" marB="9144" anchor="ctr">
                    <a:solidFill>
                      <a:srgbClr val="FFFFFF"/>
                    </a:solidFill>
                  </a:tcPr>
                </a:tc>
                <a:tc>
                  <a:txBody>
                    <a:bodyPr/>
                    <a:lstStyle/>
                    <a:p>
                      <a:pPr algn="ctr"/>
                      <a:r>
                        <a:rPr sz="1600" b="1">
                          <a:solidFill>
                            <a:srgbClr val="14264F"/>
                          </a:solidFill>
                          <a:latin typeface="Calibri"/>
                        </a:rPr>
                        <a:t>A*</a:t>
                      </a:r>
                    </a:p>
                  </a:txBody>
                  <a:tcPr marL="54864" marR="45720" marT="9144" marB="9144" anchor="ctr">
                    <a:solidFill>
                      <a:srgbClr val="FFFFFF"/>
                    </a:solidFill>
                  </a:tcPr>
                </a:tc>
                <a:tc>
                  <a:txBody>
                    <a:bodyPr/>
                    <a:lstStyle/>
                    <a:p>
                      <a:r>
                        <a:rPr sz="1600">
                          <a:solidFill>
                            <a:srgbClr val="1E2A44"/>
                          </a:solidFill>
                          <a:latin typeface="Calibri"/>
                        </a:rPr>
                        <a:t>Qiskit software (mutation analysis)</a:t>
                      </a:r>
                    </a:p>
                  </a:txBody>
                  <a:tcPr marL="54864" marR="45720" marT="9144" marB="9144" anchor="ctr">
                    <a:solidFill>
                      <a:srgbClr val="FFFFFF"/>
                    </a:solidFill>
                  </a:tcPr>
                </a:tc>
                <a:tc>
                  <a:txBody>
                    <a:bodyPr/>
                    <a:lstStyle/>
                    <a:p>
                      <a:pPr algn="ctr"/>
                      <a:r>
                        <a:rPr sz="1600" b="1">
                          <a:solidFill>
                            <a:srgbClr val="0E7C7B"/>
                          </a:solidFill>
                          <a:latin typeface="Calibri"/>
                        </a:rPr>
                        <a:t>No</a:t>
                      </a:r>
                    </a:p>
                  </a:txBody>
                  <a:tcPr marL="54864" marR="45720" marT="9144" marB="9144" anchor="ctr">
                    <a:solidFill>
                      <a:srgbClr val="FFFFFF"/>
                    </a:solidFill>
                  </a:tcPr>
                </a:tc>
                <a:extLst>
                  <a:ext uri="{0D108BD9-81ED-4DB2-BD59-A6C34878D82A}">
                    <a16:rowId xmlns:a16="http://schemas.microsoft.com/office/drawing/2014/main" val="10005"/>
                  </a:ext>
                </a:extLst>
              </a:tr>
              <a:tr h="306324">
                <a:tc>
                  <a:txBody>
                    <a:bodyPr/>
                    <a:lstStyle/>
                    <a:p>
                      <a:r>
                        <a:rPr sz="1600">
                          <a:solidFill>
                            <a:srgbClr val="1E2A44"/>
                          </a:solidFill>
                          <a:latin typeface="Calibri"/>
                        </a:rPr>
                        <a:t>Bugs4Q [29]</a:t>
                      </a:r>
                    </a:p>
                  </a:txBody>
                  <a:tcPr marL="54864" marR="45720" marT="9144" marB="9144" anchor="ctr">
                    <a:solidFill>
                      <a:srgbClr val="F2F5FA"/>
                    </a:solidFill>
                  </a:tcPr>
                </a:tc>
                <a:tc>
                  <a:txBody>
                    <a:bodyPr/>
                    <a:lstStyle/>
                    <a:p>
                      <a:r>
                        <a:rPr sz="1600">
                          <a:solidFill>
                            <a:srgbClr val="1E2A44"/>
                          </a:solidFill>
                          <a:latin typeface="Calibri"/>
                        </a:rPr>
                        <a:t>ASE 2021</a:t>
                      </a:r>
                    </a:p>
                  </a:txBody>
                  <a:tcPr marL="54864" marR="45720" marT="9144" marB="9144" anchor="ctr">
                    <a:solidFill>
                      <a:srgbClr val="F2F5FA"/>
                    </a:solidFill>
                  </a:tcPr>
                </a:tc>
                <a:tc>
                  <a:txBody>
                    <a:bodyPr/>
                    <a:lstStyle/>
                    <a:p>
                      <a:pPr algn="ctr"/>
                      <a:r>
                        <a:rPr sz="1600" b="1">
                          <a:solidFill>
                            <a:srgbClr val="14264F"/>
                          </a:solidFill>
                          <a:latin typeface="Calibri"/>
                        </a:rPr>
                        <a:t>A*</a:t>
                      </a:r>
                    </a:p>
                  </a:txBody>
                  <a:tcPr marL="54864" marR="45720" marT="9144" marB="9144" anchor="ctr">
                    <a:solidFill>
                      <a:srgbClr val="F2F5FA"/>
                    </a:solidFill>
                  </a:tcPr>
                </a:tc>
                <a:tc>
                  <a:txBody>
                    <a:bodyPr/>
                    <a:lstStyle/>
                    <a:p>
                      <a:r>
                        <a:rPr sz="1600">
                          <a:solidFill>
                            <a:srgbClr val="1E2A44"/>
                          </a:solidFill>
                          <a:latin typeface="Calibri"/>
                        </a:rPr>
                        <a:t>Qiskit buggy/fixed revisions</a:t>
                      </a:r>
                    </a:p>
                  </a:txBody>
                  <a:tcPr marL="54864" marR="45720" marT="9144" marB="9144" anchor="ctr">
                    <a:solidFill>
                      <a:srgbClr val="F2F5FA"/>
                    </a:solidFill>
                  </a:tcPr>
                </a:tc>
                <a:tc>
                  <a:txBody>
                    <a:bodyPr/>
                    <a:lstStyle/>
                    <a:p>
                      <a:pPr algn="ctr"/>
                      <a:r>
                        <a:rPr sz="1600" b="1">
                          <a:solidFill>
                            <a:srgbClr val="0E7C7B"/>
                          </a:solidFill>
                          <a:latin typeface="Calibri"/>
                        </a:rPr>
                        <a:t>No</a:t>
                      </a:r>
                    </a:p>
                  </a:txBody>
                  <a:tcPr marL="54864" marR="45720" marT="9144" marB="9144" anchor="ctr">
                    <a:solidFill>
                      <a:srgbClr val="F2F5FA"/>
                    </a:solidFill>
                  </a:tcPr>
                </a:tc>
                <a:extLst>
                  <a:ext uri="{0D108BD9-81ED-4DB2-BD59-A6C34878D82A}">
                    <a16:rowId xmlns:a16="http://schemas.microsoft.com/office/drawing/2014/main" val="10006"/>
                  </a:ext>
                </a:extLst>
              </a:tr>
              <a:tr h="306324">
                <a:tc>
                  <a:txBody>
                    <a:bodyPr/>
                    <a:lstStyle/>
                    <a:p>
                      <a:r>
                        <a:rPr sz="1600">
                          <a:solidFill>
                            <a:srgbClr val="1E2A44"/>
                          </a:solidFill>
                          <a:latin typeface="Calibri"/>
                        </a:rPr>
                        <a:t>QMutPy [31]</a:t>
                      </a:r>
                    </a:p>
                  </a:txBody>
                  <a:tcPr marL="54864" marR="45720" marT="9144" marB="9144" anchor="ctr">
                    <a:solidFill>
                      <a:srgbClr val="FFFFFF"/>
                    </a:solidFill>
                  </a:tcPr>
                </a:tc>
                <a:tc>
                  <a:txBody>
                    <a:bodyPr/>
                    <a:lstStyle/>
                    <a:p>
                      <a:r>
                        <a:rPr sz="1600">
                          <a:solidFill>
                            <a:srgbClr val="1E2A44"/>
                          </a:solidFill>
                          <a:latin typeface="Calibri"/>
                        </a:rPr>
                        <a:t>IEEE TQE 2022</a:t>
                      </a:r>
                    </a:p>
                  </a:txBody>
                  <a:tcPr marL="54864" marR="45720" marT="9144" marB="9144" anchor="ctr">
                    <a:solidFill>
                      <a:srgbClr val="FFFFFF"/>
                    </a:solidFill>
                  </a:tcPr>
                </a:tc>
                <a:tc>
                  <a:txBody>
                    <a:bodyPr/>
                    <a:lstStyle/>
                    <a:p>
                      <a:pPr algn="ctr"/>
                      <a:r>
                        <a:rPr sz="1600" b="1">
                          <a:solidFill>
                            <a:srgbClr val="14264F"/>
                          </a:solidFill>
                          <a:latin typeface="Calibri"/>
                        </a:rPr>
                        <a:t>Q1</a:t>
                      </a:r>
                    </a:p>
                  </a:txBody>
                  <a:tcPr marL="54864" marR="45720" marT="9144" marB="9144" anchor="ctr">
                    <a:solidFill>
                      <a:srgbClr val="FFFFFF"/>
                    </a:solidFill>
                  </a:tcPr>
                </a:tc>
                <a:tc>
                  <a:txBody>
                    <a:bodyPr/>
                    <a:lstStyle/>
                    <a:p>
                      <a:r>
                        <a:rPr sz="1600">
                          <a:solidFill>
                            <a:srgbClr val="1E2A44"/>
                          </a:solidFill>
                          <a:latin typeface="Calibri"/>
                        </a:rPr>
                        <a:t>Qiskit software (24 programs)</a:t>
                      </a:r>
                    </a:p>
                  </a:txBody>
                  <a:tcPr marL="54864" marR="45720" marT="9144" marB="9144" anchor="ctr">
                    <a:solidFill>
                      <a:srgbClr val="FFFFFF"/>
                    </a:solidFill>
                  </a:tcPr>
                </a:tc>
                <a:tc>
                  <a:txBody>
                    <a:bodyPr/>
                    <a:lstStyle/>
                    <a:p>
                      <a:pPr algn="ctr"/>
                      <a:r>
                        <a:rPr sz="1600" b="1">
                          <a:solidFill>
                            <a:srgbClr val="0E7C7B"/>
                          </a:solidFill>
                          <a:latin typeface="Calibri"/>
                        </a:rPr>
                        <a:t>No</a:t>
                      </a:r>
                    </a:p>
                  </a:txBody>
                  <a:tcPr marL="54864" marR="45720" marT="9144" marB="9144" anchor="ctr">
                    <a:solidFill>
                      <a:srgbClr val="FFFFFF"/>
                    </a:solidFill>
                  </a:tcPr>
                </a:tc>
                <a:extLst>
                  <a:ext uri="{0D108BD9-81ED-4DB2-BD59-A6C34878D82A}">
                    <a16:rowId xmlns:a16="http://schemas.microsoft.com/office/drawing/2014/main" val="10007"/>
                  </a:ext>
                </a:extLst>
              </a:tr>
              <a:tr h="306324">
                <a:tc>
                  <a:txBody>
                    <a:bodyPr/>
                    <a:lstStyle/>
                    <a:p>
                      <a:r>
                        <a:rPr sz="1600">
                          <a:solidFill>
                            <a:srgbClr val="1E2A44"/>
                          </a:solidFill>
                          <a:latin typeface="Calibri"/>
                        </a:rPr>
                        <a:t>Coverage criteria [51]</a:t>
                      </a:r>
                    </a:p>
                  </a:txBody>
                  <a:tcPr marL="54864" marR="45720" marT="9144" marB="9144" anchor="ctr">
                    <a:solidFill>
                      <a:srgbClr val="F2F5FA"/>
                    </a:solidFill>
                  </a:tcPr>
                </a:tc>
                <a:tc>
                  <a:txBody>
                    <a:bodyPr/>
                    <a:lstStyle/>
                    <a:p>
                      <a:r>
                        <a:rPr sz="1600">
                          <a:solidFill>
                            <a:srgbClr val="1E2A44"/>
                          </a:solidFill>
                          <a:latin typeface="Calibri"/>
                        </a:rPr>
                        <a:t>ICST 2021</a:t>
                      </a:r>
                    </a:p>
                  </a:txBody>
                  <a:tcPr marL="54864" marR="45720" marT="9144" marB="9144" anchor="ctr">
                    <a:solidFill>
                      <a:srgbClr val="F2F5FA"/>
                    </a:solidFill>
                  </a:tcPr>
                </a:tc>
                <a:tc>
                  <a:txBody>
                    <a:bodyPr/>
                    <a:lstStyle/>
                    <a:p>
                      <a:pPr algn="ctr"/>
                      <a:r>
                        <a:rPr sz="1600" b="1">
                          <a:solidFill>
                            <a:srgbClr val="14264F"/>
                          </a:solidFill>
                          <a:latin typeface="Calibri"/>
                        </a:rPr>
                        <a:t>A</a:t>
                      </a:r>
                    </a:p>
                  </a:txBody>
                  <a:tcPr marL="54864" marR="45720" marT="9144" marB="9144" anchor="ctr">
                    <a:solidFill>
                      <a:srgbClr val="F2F5FA"/>
                    </a:solidFill>
                  </a:tcPr>
                </a:tc>
                <a:tc>
                  <a:txBody>
                    <a:bodyPr/>
                    <a:lstStyle/>
                    <a:p>
                      <a:r>
                        <a:rPr sz="1600">
                          <a:solidFill>
                            <a:srgbClr val="1E2A44"/>
                          </a:solidFill>
                          <a:latin typeface="Calibri"/>
                        </a:rPr>
                        <a:t>simulator + statistical oracles</a:t>
                      </a:r>
                    </a:p>
                  </a:txBody>
                  <a:tcPr marL="54864" marR="45720" marT="9144" marB="9144" anchor="ctr">
                    <a:solidFill>
                      <a:srgbClr val="F2F5FA"/>
                    </a:solidFill>
                  </a:tcPr>
                </a:tc>
                <a:tc>
                  <a:txBody>
                    <a:bodyPr/>
                    <a:lstStyle/>
                    <a:p>
                      <a:pPr algn="ctr"/>
                      <a:r>
                        <a:rPr sz="1600" b="1">
                          <a:solidFill>
                            <a:srgbClr val="0E7C7B"/>
                          </a:solidFill>
                          <a:latin typeface="Calibri"/>
                        </a:rPr>
                        <a:t>No</a:t>
                      </a:r>
                    </a:p>
                  </a:txBody>
                  <a:tcPr marL="54864" marR="45720" marT="9144" marB="9144" anchor="ctr">
                    <a:solidFill>
                      <a:srgbClr val="F2F5FA"/>
                    </a:solidFill>
                  </a:tcPr>
                </a:tc>
                <a:extLst>
                  <a:ext uri="{0D108BD9-81ED-4DB2-BD59-A6C34878D82A}">
                    <a16:rowId xmlns:a16="http://schemas.microsoft.com/office/drawing/2014/main" val="10008"/>
                  </a:ext>
                </a:extLst>
              </a:tr>
              <a:tr h="306324">
                <a:tc>
                  <a:txBody>
                    <a:bodyPr/>
                    <a:lstStyle/>
                    <a:p>
                      <a:r>
                        <a:rPr sz="1600">
                          <a:solidFill>
                            <a:srgbClr val="1E2A44"/>
                          </a:solidFill>
                          <a:latin typeface="Calibri"/>
                        </a:rPr>
                        <a:t>QuSBT [52]</a:t>
                      </a:r>
                    </a:p>
                  </a:txBody>
                  <a:tcPr marL="54864" marR="45720" marT="9144" marB="9144" anchor="ctr">
                    <a:solidFill>
                      <a:srgbClr val="FFFFFF"/>
                    </a:solidFill>
                  </a:tcPr>
                </a:tc>
                <a:tc>
                  <a:txBody>
                    <a:bodyPr/>
                    <a:lstStyle/>
                    <a:p>
                      <a:r>
                        <a:rPr sz="1600">
                          <a:solidFill>
                            <a:srgbClr val="1E2A44"/>
                          </a:solidFill>
                          <a:latin typeface="Calibri"/>
                        </a:rPr>
                        <a:t>ICSE-C 2022</a:t>
                      </a:r>
                    </a:p>
                  </a:txBody>
                  <a:tcPr marL="54864" marR="45720" marT="9144" marB="9144" anchor="ctr">
                    <a:solidFill>
                      <a:srgbClr val="FFFFFF"/>
                    </a:solidFill>
                  </a:tcPr>
                </a:tc>
                <a:tc>
                  <a:txBody>
                    <a:bodyPr/>
                    <a:lstStyle/>
                    <a:p>
                      <a:pPr algn="ctr"/>
                      <a:r>
                        <a:rPr sz="1600" b="1">
                          <a:solidFill>
                            <a:srgbClr val="14264F"/>
                          </a:solidFill>
                          <a:latin typeface="Calibri"/>
                        </a:rPr>
                        <a:t>A*</a:t>
                      </a:r>
                    </a:p>
                  </a:txBody>
                  <a:tcPr marL="54864" marR="45720" marT="9144" marB="9144" anchor="ctr">
                    <a:solidFill>
                      <a:srgbClr val="FFFFFF"/>
                    </a:solidFill>
                  </a:tcPr>
                </a:tc>
                <a:tc>
                  <a:txBody>
                    <a:bodyPr/>
                    <a:lstStyle/>
                    <a:p>
                      <a:r>
                        <a:rPr sz="1600">
                          <a:solidFill>
                            <a:srgbClr val="1E2A44"/>
                          </a:solidFill>
                          <a:latin typeface="Calibri"/>
                        </a:rPr>
                        <a:t>Qiskit as the simulation framework</a:t>
                      </a:r>
                    </a:p>
                  </a:txBody>
                  <a:tcPr marL="54864" marR="45720" marT="9144" marB="9144" anchor="ctr">
                    <a:solidFill>
                      <a:srgbClr val="FFFFFF"/>
                    </a:solidFill>
                  </a:tcPr>
                </a:tc>
                <a:tc>
                  <a:txBody>
                    <a:bodyPr/>
                    <a:lstStyle/>
                    <a:p>
                      <a:pPr algn="ctr"/>
                      <a:r>
                        <a:rPr sz="1600" b="1">
                          <a:solidFill>
                            <a:srgbClr val="0E7C7B"/>
                          </a:solidFill>
                          <a:latin typeface="Calibri"/>
                        </a:rPr>
                        <a:t>No</a:t>
                      </a:r>
                    </a:p>
                  </a:txBody>
                  <a:tcPr marL="54864" marR="45720" marT="9144" marB="9144" anchor="ctr">
                    <a:solidFill>
                      <a:srgbClr val="FFFFFF"/>
                    </a:solidFill>
                  </a:tcPr>
                </a:tc>
                <a:extLst>
                  <a:ext uri="{0D108BD9-81ED-4DB2-BD59-A6C34878D82A}">
                    <a16:rowId xmlns:a16="http://schemas.microsoft.com/office/drawing/2014/main" val="10009"/>
                  </a:ext>
                </a:extLst>
              </a:tr>
              <a:tr h="306324">
                <a:tc>
                  <a:txBody>
                    <a:bodyPr/>
                    <a:lstStyle/>
                    <a:p>
                      <a:r>
                        <a:rPr sz="1600">
                          <a:solidFill>
                            <a:srgbClr val="1E2A44"/>
                          </a:solidFill>
                          <a:latin typeface="Calibri"/>
                        </a:rPr>
                        <a:t>Simulator fuzzing [53]</a:t>
                      </a:r>
                    </a:p>
                  </a:txBody>
                  <a:tcPr marL="54864" marR="45720" marT="9144" marB="9144" anchor="ctr">
                    <a:solidFill>
                      <a:srgbClr val="F2F5FA"/>
                    </a:solidFill>
                  </a:tcPr>
                </a:tc>
                <a:tc>
                  <a:txBody>
                    <a:bodyPr/>
                    <a:lstStyle/>
                    <a:p>
                      <a:r>
                        <a:rPr sz="1600">
                          <a:solidFill>
                            <a:srgbClr val="1E2A44"/>
                          </a:solidFill>
                          <a:latin typeface="Calibri"/>
                        </a:rPr>
                        <a:t>OOPSLA 2025</a:t>
                      </a:r>
                    </a:p>
                  </a:txBody>
                  <a:tcPr marL="54864" marR="45720" marT="9144" marB="9144" anchor="ctr">
                    <a:solidFill>
                      <a:srgbClr val="F2F5FA"/>
                    </a:solidFill>
                  </a:tcPr>
                </a:tc>
                <a:tc>
                  <a:txBody>
                    <a:bodyPr/>
                    <a:lstStyle/>
                    <a:p>
                      <a:pPr algn="ctr"/>
                      <a:r>
                        <a:rPr sz="1600" b="1">
                          <a:solidFill>
                            <a:srgbClr val="14264F"/>
                          </a:solidFill>
                          <a:latin typeface="Calibri"/>
                        </a:rPr>
                        <a:t>A*</a:t>
                      </a:r>
                    </a:p>
                  </a:txBody>
                  <a:tcPr marL="54864" marR="45720" marT="9144" marB="9144" anchor="ctr">
                    <a:solidFill>
                      <a:srgbClr val="F2F5FA"/>
                    </a:solidFill>
                  </a:tcPr>
                </a:tc>
                <a:tc>
                  <a:txBody>
                    <a:bodyPr/>
                    <a:lstStyle/>
                    <a:p>
                      <a:r>
                        <a:rPr sz="1600">
                          <a:solidFill>
                            <a:srgbClr val="1E2A44"/>
                          </a:solidFill>
                          <a:latin typeface="Calibri"/>
                        </a:rPr>
                        <a:t>Qiskit/Cirq simulators (800,000+ circuits)</a:t>
                      </a:r>
                    </a:p>
                  </a:txBody>
                  <a:tcPr marL="54864" marR="45720" marT="9144" marB="9144" anchor="ctr">
                    <a:solidFill>
                      <a:srgbClr val="F2F5FA"/>
                    </a:solidFill>
                  </a:tcPr>
                </a:tc>
                <a:tc>
                  <a:txBody>
                    <a:bodyPr/>
                    <a:lstStyle/>
                    <a:p>
                      <a:pPr algn="ctr"/>
                      <a:r>
                        <a:rPr sz="1600" b="1">
                          <a:solidFill>
                            <a:srgbClr val="0E7C7B"/>
                          </a:solidFill>
                          <a:latin typeface="Calibri"/>
                        </a:rPr>
                        <a:t>No</a:t>
                      </a:r>
                    </a:p>
                  </a:txBody>
                  <a:tcPr marL="54864" marR="45720" marT="9144" marB="9144" anchor="ctr">
                    <a:solidFill>
                      <a:srgbClr val="F2F5FA"/>
                    </a:solidFill>
                  </a:tcPr>
                </a:tc>
                <a:extLst>
                  <a:ext uri="{0D108BD9-81ED-4DB2-BD59-A6C34878D82A}">
                    <a16:rowId xmlns:a16="http://schemas.microsoft.com/office/drawing/2014/main" val="10010"/>
                  </a:ext>
                </a:extLst>
              </a:tr>
              <a:tr h="306324">
                <a:tc>
                  <a:txBody>
                    <a:bodyPr/>
                    <a:lstStyle/>
                    <a:p>
                      <a:r>
                        <a:rPr sz="1600">
                          <a:solidFill>
                            <a:srgbClr val="1E2A44"/>
                          </a:solidFill>
                          <a:latin typeface="Calibri"/>
                        </a:rPr>
                        <a:t>Exact inference [48]</a:t>
                      </a:r>
                    </a:p>
                  </a:txBody>
                  <a:tcPr marL="54864" marR="45720" marT="9144" marB="9144" anchor="ctr">
                    <a:solidFill>
                      <a:srgbClr val="FFFFFF"/>
                    </a:solidFill>
                  </a:tcPr>
                </a:tc>
                <a:tc>
                  <a:txBody>
                    <a:bodyPr/>
                    <a:lstStyle/>
                    <a:p>
                      <a:r>
                        <a:rPr sz="1600">
                          <a:solidFill>
                            <a:srgbClr val="1E2A44"/>
                          </a:solidFill>
                          <a:latin typeface="Calibri"/>
                        </a:rPr>
                        <a:t>ASE 2025</a:t>
                      </a:r>
                    </a:p>
                  </a:txBody>
                  <a:tcPr marL="54864" marR="45720" marT="9144" marB="9144" anchor="ctr">
                    <a:solidFill>
                      <a:srgbClr val="FFFFFF"/>
                    </a:solidFill>
                  </a:tcPr>
                </a:tc>
                <a:tc>
                  <a:txBody>
                    <a:bodyPr/>
                    <a:lstStyle/>
                    <a:p>
                      <a:pPr algn="ctr"/>
                      <a:r>
                        <a:rPr sz="1600" b="1">
                          <a:solidFill>
                            <a:srgbClr val="14264F"/>
                          </a:solidFill>
                          <a:latin typeface="Calibri"/>
                        </a:rPr>
                        <a:t>A*</a:t>
                      </a:r>
                    </a:p>
                  </a:txBody>
                  <a:tcPr marL="54864" marR="45720" marT="9144" marB="9144" anchor="ctr">
                    <a:solidFill>
                      <a:srgbClr val="FFFFFF"/>
                    </a:solidFill>
                  </a:tcPr>
                </a:tc>
                <a:tc>
                  <a:txBody>
                    <a:bodyPr/>
                    <a:lstStyle/>
                    <a:p>
                      <a:r>
                        <a:rPr sz="1600">
                          <a:solidFill>
                            <a:srgbClr val="1E2A44"/>
                          </a:solidFill>
                          <a:latin typeface="Calibri"/>
                        </a:rPr>
                        <a:t>classical exact inference oracle</a:t>
                      </a:r>
                    </a:p>
                  </a:txBody>
                  <a:tcPr marL="54864" marR="45720" marT="9144" marB="9144" anchor="ctr">
                    <a:solidFill>
                      <a:srgbClr val="FFFFFF"/>
                    </a:solidFill>
                  </a:tcPr>
                </a:tc>
                <a:tc>
                  <a:txBody>
                    <a:bodyPr/>
                    <a:lstStyle/>
                    <a:p>
                      <a:pPr algn="ctr"/>
                      <a:r>
                        <a:rPr sz="1600" b="1" dirty="0">
                          <a:solidFill>
                            <a:srgbClr val="0E7C7B"/>
                          </a:solidFill>
                          <a:latin typeface="Calibri"/>
                        </a:rPr>
                        <a:t>No</a:t>
                      </a:r>
                    </a:p>
                  </a:txBody>
                  <a:tcPr marL="54864" marR="45720" marT="9144" marB="9144" anchor="ctr">
                    <a:solidFill>
                      <a:srgbClr val="FFFFFF"/>
                    </a:solidFill>
                  </a:tcPr>
                </a:tc>
                <a:extLst>
                  <a:ext uri="{0D108BD9-81ED-4DB2-BD59-A6C34878D82A}">
                    <a16:rowId xmlns:a16="http://schemas.microsoft.com/office/drawing/2014/main" val="10011"/>
                  </a:ext>
                </a:extLst>
              </a:tr>
            </a:tbl>
          </a:graphicData>
        </a:graphic>
      </p:graphicFrame>
      <p:sp>
        <p:nvSpPr>
          <p:cNvPr id="11" name="TextBox 10"/>
          <p:cNvSpPr txBox="1"/>
          <p:nvPr/>
        </p:nvSpPr>
        <p:spPr>
          <a:xfrm>
            <a:off x="640080" y="5742432"/>
            <a:ext cx="11064240" cy="253916"/>
          </a:xfrm>
          <a:prstGeom prst="rect">
            <a:avLst/>
          </a:prstGeom>
          <a:noFill/>
        </p:spPr>
        <p:txBody>
          <a:bodyPr wrap="square">
            <a:spAutoFit/>
          </a:bodyPr>
          <a:lstStyle/>
          <a:p>
            <a:r>
              <a:rPr sz="1050" i="1">
                <a:solidFill>
                  <a:srgbClr val="64748C"/>
                </a:solidFill>
                <a:latin typeface="Calibri"/>
              </a:rPr>
              <a:t>Tier — conferences: CORE 2023 (A* = top tier, A = strong). Journals: Scimago quartile (Q1 = top 25%). IEEE QCE is a specialised quantum venue (CORE national tier).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40080" y="384048"/>
            <a:ext cx="10972800" cy="358240"/>
          </a:xfrm>
          <a:prstGeom prst="rect">
            <a:avLst/>
          </a:prstGeom>
          <a:noFill/>
        </p:spPr>
        <p:txBody>
          <a:bodyPr wrap="square" lIns="45720" rIns="45720" anchor="t">
            <a:spAutoFit/>
          </a:bodyPr>
          <a:lstStyle/>
          <a:p>
            <a:pPr algn="l">
              <a:lnSpc>
                <a:spcPct val="108000"/>
              </a:lnSpc>
              <a:spcAft>
                <a:spcPts val="400"/>
              </a:spcAft>
            </a:pPr>
            <a:r>
              <a:rPr sz="1600" b="1" i="0">
                <a:solidFill>
                  <a:srgbClr val="14B8A6"/>
                </a:solidFill>
                <a:latin typeface="Calibri"/>
              </a:rPr>
              <a:t>BACKUP — FOR QUESTIONS</a:t>
            </a:r>
          </a:p>
        </p:txBody>
      </p:sp>
      <p:sp>
        <p:nvSpPr>
          <p:cNvPr id="4" name="TextBox 3"/>
          <p:cNvSpPr txBox="1"/>
          <p:nvPr/>
        </p:nvSpPr>
        <p:spPr>
          <a:xfrm>
            <a:off x="640080" y="694944"/>
            <a:ext cx="11155680" cy="624145"/>
          </a:xfrm>
          <a:prstGeom prst="rect">
            <a:avLst/>
          </a:prstGeom>
          <a:noFill/>
        </p:spPr>
        <p:txBody>
          <a:bodyPr wrap="square" lIns="45720" rIns="45720" anchor="t">
            <a:spAutoFit/>
          </a:bodyPr>
          <a:lstStyle/>
          <a:p>
            <a:pPr algn="l">
              <a:lnSpc>
                <a:spcPct val="108000"/>
              </a:lnSpc>
              <a:spcAft>
                <a:spcPts val="400"/>
              </a:spcAft>
            </a:pPr>
            <a:r>
              <a:rPr sz="3200" b="1" i="0">
                <a:solidFill>
                  <a:srgbClr val="1E2A44"/>
                </a:solidFill>
                <a:latin typeface="Cambria"/>
              </a:rPr>
              <a:t>Why Qiskit? A Fast-Moving Transpiler</a:t>
            </a:r>
          </a:p>
        </p:txBody>
      </p:sp>
      <p:sp>
        <p:nvSpPr>
          <p:cNvPr id="5" name="Rounded Rectangle 4"/>
          <p:cNvSpPr/>
          <p:nvPr/>
        </p:nvSpPr>
        <p:spPr>
          <a:xfrm>
            <a:off x="640080" y="1481328"/>
            <a:ext cx="10927080" cy="749808"/>
          </a:xfrm>
          <a:prstGeom prst="roundRect">
            <a:avLst/>
          </a:prstGeom>
          <a:solidFill>
            <a:srgbClr val="EAF4F3"/>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22960" y="1660474"/>
            <a:ext cx="10561320" cy="391517"/>
          </a:xfrm>
          <a:prstGeom prst="rect">
            <a:avLst/>
          </a:prstGeom>
          <a:noFill/>
        </p:spPr>
        <p:txBody>
          <a:bodyPr wrap="square" lIns="45720" rIns="45720" anchor="ctr">
            <a:spAutoFit/>
          </a:bodyPr>
          <a:lstStyle/>
          <a:p>
            <a:pPr algn="l">
              <a:lnSpc>
                <a:spcPct val="108000"/>
              </a:lnSpc>
              <a:spcAft>
                <a:spcPts val="400"/>
              </a:spcAft>
            </a:pPr>
            <a:r>
              <a:rPr b="1" i="0">
                <a:solidFill>
                  <a:srgbClr val="0E7C7B"/>
                </a:solidFill>
                <a:latin typeface="Calibri"/>
              </a:rPr>
              <a:t>Qiskit ships a new minor version about every three months — and almost every release changes the transpiler.</a:t>
            </a:r>
          </a:p>
        </p:txBody>
      </p:sp>
      <p:sp>
        <p:nvSpPr>
          <p:cNvPr id="7" name="Rounded Rectangle 6"/>
          <p:cNvSpPr/>
          <p:nvPr/>
        </p:nvSpPr>
        <p:spPr>
          <a:xfrm>
            <a:off x="640080" y="2450592"/>
            <a:ext cx="5440680" cy="2697480"/>
          </a:xfrm>
          <a:prstGeom prst="roundRect">
            <a:avLst/>
          </a:prstGeom>
          <a:solidFill>
            <a:srgbClr val="F2F5FA"/>
          </a:solidFill>
          <a:ln w="1587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868680" y="2578608"/>
            <a:ext cx="5029200" cy="358240"/>
          </a:xfrm>
          <a:prstGeom prst="rect">
            <a:avLst/>
          </a:prstGeom>
          <a:noFill/>
        </p:spPr>
        <p:txBody>
          <a:bodyPr wrap="square" lIns="45720" rIns="45720" anchor="t">
            <a:spAutoFit/>
          </a:bodyPr>
          <a:lstStyle/>
          <a:p>
            <a:pPr algn="l">
              <a:lnSpc>
                <a:spcPct val="108000"/>
              </a:lnSpc>
              <a:spcAft>
                <a:spcPts val="400"/>
              </a:spcAft>
            </a:pPr>
            <a:r>
              <a:rPr sz="1600" b="1" i="0">
                <a:solidFill>
                  <a:srgbClr val="0E7C7B"/>
                </a:solidFill>
                <a:latin typeface="Calibri"/>
              </a:rPr>
              <a:t>RELEASE VELOCITY (2.x series)</a:t>
            </a:r>
          </a:p>
        </p:txBody>
      </p:sp>
      <p:sp>
        <p:nvSpPr>
          <p:cNvPr id="9" name="TextBox 8"/>
          <p:cNvSpPr txBox="1"/>
          <p:nvPr/>
        </p:nvSpPr>
        <p:spPr>
          <a:xfrm>
            <a:off x="868680" y="3017520"/>
            <a:ext cx="5074920" cy="1580882"/>
          </a:xfrm>
          <a:prstGeom prst="rect">
            <a:avLst/>
          </a:prstGeom>
          <a:noFill/>
        </p:spPr>
        <p:txBody>
          <a:bodyPr wrap="square" lIns="45720" rIns="45720" anchor="t">
            <a:spAutoFit/>
          </a:bodyPr>
          <a:lstStyle/>
          <a:p>
            <a:pPr algn="l">
              <a:lnSpc>
                <a:spcPct val="112000"/>
              </a:lnSpc>
              <a:spcAft>
                <a:spcPts val="1100"/>
              </a:spcAft>
            </a:pPr>
            <a:r>
              <a:rPr b="1" i="0">
                <a:solidFill>
                  <a:srgbClr val="14B8A6"/>
                </a:solidFill>
                <a:latin typeface="Calibri"/>
              </a:rPr>
              <a:t>▪  </a:t>
            </a:r>
            <a:r>
              <a:rPr sz="1600" b="1" i="0">
                <a:solidFill>
                  <a:srgbClr val="0E7C7B"/>
                </a:solidFill>
                <a:latin typeface="Calibri"/>
              </a:rPr>
              <a:t>~3-month cadence:  </a:t>
            </a:r>
            <a:r>
              <a:rPr sz="1600" b="0" i="0">
                <a:solidFill>
                  <a:srgbClr val="1E2A44"/>
                </a:solidFill>
                <a:latin typeface="Calibri"/>
              </a:rPr>
              <a:t>a new minor version on a roughly quarterly schedule (official policy).</a:t>
            </a:r>
          </a:p>
          <a:p>
            <a:pPr algn="l">
              <a:lnSpc>
                <a:spcPct val="112000"/>
              </a:lnSpc>
              <a:spcAft>
                <a:spcPts val="1100"/>
              </a:spcAft>
            </a:pPr>
            <a:r>
              <a:rPr b="1" i="0">
                <a:solidFill>
                  <a:srgbClr val="14B8A6"/>
                </a:solidFill>
                <a:latin typeface="Calibri"/>
              </a:rPr>
              <a:t>▪  </a:t>
            </a:r>
            <a:r>
              <a:rPr sz="1600" b="1" i="0">
                <a:solidFill>
                  <a:srgbClr val="0E7C7B"/>
                </a:solidFill>
                <a:latin typeface="Calibri"/>
              </a:rPr>
              <a:t>2.0 → 2.4:  </a:t>
            </a:r>
            <a:r>
              <a:rPr sz="1600" b="0" i="0">
                <a:solidFill>
                  <a:srgbClr val="1E2A44"/>
                </a:solidFill>
                <a:latin typeface="Calibri"/>
              </a:rPr>
              <a:t>five minor versions across ~2025 to mid-2026.</a:t>
            </a:r>
          </a:p>
          <a:p>
            <a:pPr algn="l">
              <a:lnSpc>
                <a:spcPct val="112000"/>
              </a:lnSpc>
              <a:spcAft>
                <a:spcPts val="1100"/>
              </a:spcAft>
            </a:pPr>
            <a:r>
              <a:rPr b="1" i="0">
                <a:solidFill>
                  <a:srgbClr val="14B8A6"/>
                </a:solidFill>
                <a:latin typeface="Calibri"/>
              </a:rPr>
              <a:t>▪  </a:t>
            </a:r>
            <a:r>
              <a:rPr sz="1600" b="1" i="0">
                <a:solidFill>
                  <a:srgbClr val="0E7C7B"/>
                </a:solidFill>
                <a:latin typeface="Calibri"/>
              </a:rPr>
              <a:t>Plus patches:  </a:t>
            </a:r>
            <a:r>
              <a:rPr sz="1600" b="0" i="0">
                <a:solidFill>
                  <a:srgbClr val="1E2A44"/>
                </a:solidFill>
                <a:latin typeface="Calibri"/>
              </a:rPr>
              <a:t>2.4.0 → 2.4.1 → 2.4.2 in quick succession.</a:t>
            </a:r>
          </a:p>
        </p:txBody>
      </p:sp>
      <p:sp>
        <p:nvSpPr>
          <p:cNvPr id="10" name="Rounded Rectangle 9"/>
          <p:cNvSpPr/>
          <p:nvPr/>
        </p:nvSpPr>
        <p:spPr>
          <a:xfrm>
            <a:off x="6309360" y="2450592"/>
            <a:ext cx="5257800" cy="2697480"/>
          </a:xfrm>
          <a:prstGeom prst="roundRect">
            <a:avLst/>
          </a:prstGeom>
          <a:solidFill>
            <a:srgbClr val="F2F5FA"/>
          </a:solidFill>
          <a:ln w="15875">
            <a:solidFill>
              <a:srgbClr val="1426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537960" y="2578608"/>
            <a:ext cx="4846320" cy="358240"/>
          </a:xfrm>
          <a:prstGeom prst="rect">
            <a:avLst/>
          </a:prstGeom>
          <a:noFill/>
        </p:spPr>
        <p:txBody>
          <a:bodyPr wrap="square" lIns="45720" rIns="45720" anchor="t">
            <a:spAutoFit/>
          </a:bodyPr>
          <a:lstStyle/>
          <a:p>
            <a:pPr algn="l">
              <a:lnSpc>
                <a:spcPct val="108000"/>
              </a:lnSpc>
              <a:spcAft>
                <a:spcPts val="400"/>
              </a:spcAft>
            </a:pPr>
            <a:r>
              <a:rPr sz="1600" b="1" i="0">
                <a:solidFill>
                  <a:srgbClr val="14264F"/>
                </a:solidFill>
                <a:latin typeface="Calibri"/>
              </a:rPr>
              <a:t>NEARLY EVERY RELEASE TOUCHES THE TRANSPILER</a:t>
            </a:r>
          </a:p>
        </p:txBody>
      </p:sp>
      <p:sp>
        <p:nvSpPr>
          <p:cNvPr id="12" name="TextBox 11"/>
          <p:cNvSpPr txBox="1"/>
          <p:nvPr/>
        </p:nvSpPr>
        <p:spPr>
          <a:xfrm>
            <a:off x="6537960" y="3017520"/>
            <a:ext cx="4892040" cy="2098010"/>
          </a:xfrm>
          <a:prstGeom prst="rect">
            <a:avLst/>
          </a:prstGeom>
          <a:noFill/>
        </p:spPr>
        <p:txBody>
          <a:bodyPr wrap="square" lIns="45720" rIns="45720" anchor="t">
            <a:spAutoFit/>
          </a:bodyPr>
          <a:lstStyle/>
          <a:p>
            <a:pPr algn="l">
              <a:lnSpc>
                <a:spcPct val="112000"/>
              </a:lnSpc>
              <a:spcAft>
                <a:spcPts val="1100"/>
              </a:spcAft>
            </a:pPr>
            <a:r>
              <a:rPr sz="1600" b="1" i="0" dirty="0">
                <a:solidFill>
                  <a:srgbClr val="14B8A6"/>
                </a:solidFill>
                <a:latin typeface="Calibri"/>
              </a:rPr>
              <a:t>▪  </a:t>
            </a:r>
            <a:r>
              <a:rPr sz="1600" b="1" i="0" dirty="0">
                <a:solidFill>
                  <a:srgbClr val="14264F"/>
                </a:solidFill>
                <a:latin typeface="Calibri"/>
              </a:rPr>
              <a:t>v2.2:  </a:t>
            </a:r>
            <a:r>
              <a:rPr sz="1600" b="0" i="0" dirty="0" err="1">
                <a:solidFill>
                  <a:srgbClr val="1E2A44"/>
                </a:solidFill>
                <a:latin typeface="Calibri"/>
              </a:rPr>
              <a:t>transpilation</a:t>
            </a:r>
            <a:r>
              <a:rPr sz="1600" b="0" i="0" dirty="0">
                <a:solidFill>
                  <a:srgbClr val="1E2A44"/>
                </a:solidFill>
                <a:latin typeface="Calibri"/>
              </a:rPr>
              <a:t> 10–20% faster, standalone </a:t>
            </a:r>
            <a:r>
              <a:rPr sz="1600" b="0" i="0" dirty="0" err="1">
                <a:solidFill>
                  <a:srgbClr val="1E2A44"/>
                </a:solidFill>
                <a:latin typeface="Calibri"/>
              </a:rPr>
              <a:t>transpiler</a:t>
            </a:r>
            <a:r>
              <a:rPr sz="1600" b="0" i="0" dirty="0">
                <a:solidFill>
                  <a:srgbClr val="1E2A44"/>
                </a:solidFill>
                <a:latin typeface="Calibri"/>
              </a:rPr>
              <a:t> in C.</a:t>
            </a:r>
          </a:p>
          <a:p>
            <a:pPr algn="l">
              <a:lnSpc>
                <a:spcPct val="112000"/>
              </a:lnSpc>
              <a:spcAft>
                <a:spcPts val="1100"/>
              </a:spcAft>
            </a:pPr>
            <a:r>
              <a:rPr sz="1600" b="1" i="0" dirty="0">
                <a:solidFill>
                  <a:srgbClr val="14B8A6"/>
                </a:solidFill>
                <a:latin typeface="Calibri"/>
              </a:rPr>
              <a:t>▪  </a:t>
            </a:r>
            <a:r>
              <a:rPr sz="1600" b="1" i="0" dirty="0">
                <a:solidFill>
                  <a:srgbClr val="14264F"/>
                </a:solidFill>
                <a:latin typeface="Calibri"/>
              </a:rPr>
              <a:t>v2.3:  </a:t>
            </a:r>
            <a:r>
              <a:rPr sz="1600" b="0" i="0" dirty="0">
                <a:solidFill>
                  <a:srgbClr val="1E2A44"/>
                </a:solidFill>
                <a:latin typeface="Calibri"/>
              </a:rPr>
              <a:t>VF2Layout and VF2PostLayout reworked, custom </a:t>
            </a:r>
            <a:r>
              <a:rPr sz="1600" b="0" i="0" dirty="0" err="1">
                <a:solidFill>
                  <a:srgbClr val="1E2A44"/>
                </a:solidFill>
                <a:latin typeface="Calibri"/>
              </a:rPr>
              <a:t>transpiler</a:t>
            </a:r>
            <a:r>
              <a:rPr sz="1600" b="0" i="0" dirty="0">
                <a:solidFill>
                  <a:srgbClr val="1E2A44"/>
                </a:solidFill>
                <a:latin typeface="Calibri"/>
              </a:rPr>
              <a:t> passes in C.</a:t>
            </a:r>
          </a:p>
          <a:p>
            <a:pPr algn="l">
              <a:lnSpc>
                <a:spcPct val="112000"/>
              </a:lnSpc>
              <a:spcAft>
                <a:spcPts val="1100"/>
              </a:spcAft>
            </a:pPr>
            <a:r>
              <a:rPr sz="1600" b="1" i="0" dirty="0">
                <a:solidFill>
                  <a:srgbClr val="14B8A6"/>
                </a:solidFill>
                <a:latin typeface="Calibri"/>
              </a:rPr>
              <a:t>▪  </a:t>
            </a:r>
            <a:r>
              <a:rPr sz="1600" b="1" i="0" dirty="0">
                <a:solidFill>
                  <a:srgbClr val="14264F"/>
                </a:solidFill>
                <a:latin typeface="Calibri"/>
              </a:rPr>
              <a:t>v2.4:  </a:t>
            </a:r>
            <a:r>
              <a:rPr sz="1600" b="0" i="0" dirty="0">
                <a:solidFill>
                  <a:srgbClr val="1E2A44"/>
                </a:solidFill>
                <a:latin typeface="Calibri"/>
              </a:rPr>
              <a:t>faster fault-tolerant </a:t>
            </a:r>
            <a:r>
              <a:rPr sz="1600" b="0" i="0" dirty="0" err="1">
                <a:solidFill>
                  <a:srgbClr val="1E2A44"/>
                </a:solidFill>
                <a:latin typeface="Calibri"/>
              </a:rPr>
              <a:t>transpilation</a:t>
            </a:r>
            <a:r>
              <a:rPr sz="1600" b="0" i="0" dirty="0">
                <a:solidFill>
                  <a:srgbClr val="1E2A44"/>
                </a:solidFill>
                <a:latin typeface="Calibri"/>
              </a:rPr>
              <a:t> pipeline, DAG-level </a:t>
            </a:r>
            <a:r>
              <a:rPr sz="1600" b="0" i="0" dirty="0" err="1">
                <a:solidFill>
                  <a:srgbClr val="1E2A44"/>
                </a:solidFill>
                <a:latin typeface="Calibri"/>
              </a:rPr>
              <a:t>transpiler</a:t>
            </a:r>
            <a:r>
              <a:rPr sz="1600" b="0" i="0" dirty="0">
                <a:solidFill>
                  <a:srgbClr val="1E2A44"/>
                </a:solidFill>
                <a:latin typeface="Calibri"/>
              </a:rPr>
              <a:t> passes.</a:t>
            </a:r>
          </a:p>
        </p:txBody>
      </p:sp>
      <p:sp>
        <p:nvSpPr>
          <p:cNvPr id="13" name="Rounded Rectangle 12"/>
          <p:cNvSpPr/>
          <p:nvPr/>
        </p:nvSpPr>
        <p:spPr>
          <a:xfrm>
            <a:off x="640080" y="5321808"/>
            <a:ext cx="10927080" cy="932688"/>
          </a:xfrm>
          <a:prstGeom prst="roundRect">
            <a:avLst/>
          </a:prstGeom>
          <a:solidFill>
            <a:srgbClr val="14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868680" y="5350693"/>
            <a:ext cx="10515600" cy="874920"/>
          </a:xfrm>
          <a:prstGeom prst="rect">
            <a:avLst/>
          </a:prstGeom>
          <a:noFill/>
        </p:spPr>
        <p:txBody>
          <a:bodyPr wrap="square" lIns="45720" rIns="45720" anchor="ctr">
            <a:spAutoFit/>
          </a:bodyPr>
          <a:lstStyle/>
          <a:p>
            <a:pPr algn="l">
              <a:lnSpc>
                <a:spcPct val="108000"/>
              </a:lnSpc>
              <a:spcAft>
                <a:spcPts val="400"/>
              </a:spcAft>
            </a:pPr>
            <a:r>
              <a:rPr sz="1600" b="1" i="0">
                <a:solidFill>
                  <a:srgbClr val="9FE7DE"/>
                </a:solidFill>
                <a:latin typeface="Calibri"/>
              </a:rPr>
              <a:t>The passes we study are live targets: </a:t>
            </a:r>
            <a:r>
              <a:rPr sz="1600" b="0" i="0">
                <a:solidFill>
                  <a:srgbClr val="FFFFFF"/>
                </a:solidFill>
                <a:latin typeface="Calibri"/>
              </a:rPr>
              <a:t>VF2PostLayout — the site of our H4 regression — was itself reworked in v2.3.</a:t>
            </a:r>
          </a:p>
          <a:p>
            <a:pPr algn="l">
              <a:lnSpc>
                <a:spcPct val="108000"/>
              </a:lnSpc>
              <a:spcAft>
                <a:spcPts val="400"/>
              </a:spcAft>
            </a:pPr>
            <a:r>
              <a:rPr sz="1400" b="0" i="0">
                <a:solidFill>
                  <a:srgbClr val="D5E3F7"/>
                </a:solidFill>
                <a:latin typeface="Calibri"/>
              </a:rPr>
              <a:t>A high-churn transpiler makes every release a fresh regression opportunity, which is exactly why Qiskit — the most actively developed quantum compiler, with the richest public record of real fixes to mine — is the right subject.</a:t>
            </a:r>
          </a:p>
        </p:txBody>
      </p:sp>
      <p:sp>
        <p:nvSpPr>
          <p:cNvPr id="15" name="TextBox 14"/>
          <p:cNvSpPr txBox="1"/>
          <p:nvPr/>
        </p:nvSpPr>
        <p:spPr>
          <a:xfrm>
            <a:off x="640080" y="6473952"/>
            <a:ext cx="9692640" cy="266868"/>
          </a:xfrm>
          <a:prstGeom prst="rect">
            <a:avLst/>
          </a:prstGeom>
          <a:noFill/>
        </p:spPr>
        <p:txBody>
          <a:bodyPr wrap="square" lIns="45720" rIns="45720" anchor="t">
            <a:spAutoFit/>
          </a:bodyPr>
          <a:lstStyle/>
          <a:p>
            <a:pPr algn="l">
              <a:lnSpc>
                <a:spcPct val="108000"/>
              </a:lnSpc>
              <a:spcAft>
                <a:spcPts val="400"/>
              </a:spcAft>
            </a:pPr>
            <a:r>
              <a:rPr sz="1000" b="0" i="0">
                <a:solidFill>
                  <a:srgbClr val="64748C"/>
                </a:solidFill>
                <a:latin typeface="Calibri"/>
              </a:rPr>
              <a:t>PhD Synopsis  ·  A Leakage-Safe Framework for Observability-Aware Regression Testing of Quantum Compilers</a:t>
            </a:r>
          </a:p>
        </p:txBody>
      </p:sp>
      <p:sp>
        <p:nvSpPr>
          <p:cNvPr id="16" name="TextBox 15"/>
          <p:cNvSpPr txBox="1"/>
          <p:nvPr/>
        </p:nvSpPr>
        <p:spPr>
          <a:xfrm>
            <a:off x="11155680" y="6473952"/>
            <a:ext cx="822960" cy="266868"/>
          </a:xfrm>
          <a:prstGeom prst="rect">
            <a:avLst/>
          </a:prstGeom>
          <a:noFill/>
        </p:spPr>
        <p:txBody>
          <a:bodyPr wrap="square" lIns="45720" rIns="45720" anchor="t">
            <a:spAutoFit/>
          </a:bodyPr>
          <a:lstStyle/>
          <a:p>
            <a:pPr algn="r">
              <a:lnSpc>
                <a:spcPct val="108000"/>
              </a:lnSpc>
              <a:spcAft>
                <a:spcPts val="400"/>
              </a:spcAft>
            </a:pPr>
            <a:r>
              <a:rPr sz="1000" b="1" i="0">
                <a:solidFill>
                  <a:srgbClr val="64748C"/>
                </a:solidFill>
                <a:latin typeface="Calibri"/>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1528</TotalTime>
  <Words>5055</Words>
  <Application>Microsoft Office PowerPoint</Application>
  <PresentationFormat>Widescreen</PresentationFormat>
  <Paragraphs>596</Paragraphs>
  <Slides>31</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Furqan Nasir</dc:creator>
  <cp:keywords/>
  <dc:description>generated using python-pptx</dc:description>
  <cp:lastModifiedBy>Furqan Nasir</cp:lastModifiedBy>
  <cp:revision>32</cp:revision>
  <dcterms:created xsi:type="dcterms:W3CDTF">2013-01-27T09:14:16Z</dcterms:created>
  <dcterms:modified xsi:type="dcterms:W3CDTF">2026-08-25T10:46:24Z</dcterms:modified>
  <cp:category/>
</cp:coreProperties>
</file>