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sldIdLst>
    <p:sldId id="256" r:id="rId2"/>
    <p:sldId id="257" r:id="rId3"/>
    <p:sldId id="287" r:id="rId4"/>
    <p:sldId id="258" r:id="rId5"/>
    <p:sldId id="294" r:id="rId6"/>
    <p:sldId id="264" r:id="rId7"/>
    <p:sldId id="265" r:id="rId8"/>
    <p:sldId id="295" r:id="rId9"/>
    <p:sldId id="298" r:id="rId10"/>
    <p:sldId id="297" r:id="rId11"/>
    <p:sldId id="288" r:id="rId12"/>
    <p:sldId id="261" r:id="rId13"/>
    <p:sldId id="262" r:id="rId14"/>
    <p:sldId id="267" r:id="rId15"/>
    <p:sldId id="266" r:id="rId16"/>
    <p:sldId id="289" r:id="rId17"/>
    <p:sldId id="290" r:id="rId18"/>
    <p:sldId id="291" r:id="rId19"/>
    <p:sldId id="292" r:id="rId20"/>
    <p:sldId id="268" r:id="rId21"/>
    <p:sldId id="293" r:id="rId22"/>
    <p:sldId id="269" r:id="rId23"/>
    <p:sldId id="270" r:id="rId24"/>
    <p:sldId id="271" r:id="rId25"/>
    <p:sldId id="272" r:id="rId26"/>
    <p:sldId id="273" r:id="rId27"/>
    <p:sldId id="274" r:id="rId28"/>
    <p:sldId id="275" r:id="rId29"/>
    <p:sldId id="276" r:id="rId30"/>
    <p:sldId id="299" r:id="rId31"/>
    <p:sldId id="277" r:id="rId32"/>
    <p:sldId id="280" r:id="rId33"/>
    <p:sldId id="281" r:id="rId34"/>
    <p:sldId id="278" r:id="rId35"/>
    <p:sldId id="279" r:id="rId36"/>
    <p:sldId id="282" r:id="rId37"/>
    <p:sldId id="283" r:id="rId38"/>
    <p:sldId id="286" r:id="rId39"/>
    <p:sldId id="296" r:id="rId40"/>
    <p:sldId id="284" r:id="rId41"/>
    <p:sldId id="285"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741" autoAdjust="0"/>
  </p:normalViewPr>
  <p:slideViewPr>
    <p:cSldViewPr snapToGrid="0" snapToObjects="1">
      <p:cViewPr varScale="1">
        <p:scale>
          <a:sx n="66" d="100"/>
          <a:sy n="66" d="100"/>
        </p:scale>
        <p:origin x="130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Assalam-o-Alaikum. Mera naam Furqan Nasir hai, main Computer Science mein PhD scholar hoon. Aaj main apna PhD synopsis present karunga, jiska title hai: 'A Leakage-Safe Framework for Observability-Aware Regression Testing of Quantum Compilers'. Ye research mere supervisor Prof. Dr. Muhammad Arif Shah aur co-supervisor Dr. Iftikhar Alam ki guidance mein ho rahi hai.</a:t>
            </a:r>
          </a:p>
          <a:p>
            <a:endParaRPr/>
          </a:p>
          <a:p>
            <a:r>
              <a:t>Mumkin examiner sawalat:</a:t>
            </a:r>
          </a:p>
          <a:p>
            <a:r>
              <a:t>S1: Is title mein 'leakage-safe' ko sabse pehle kyun rakha gaya, 'cost-aware' ya 'regression testing' ki jagah?</a:t>
            </a:r>
          </a:p>
          <a:p>
            <a:r>
              <a:t>J1: Kyunki hamari methodology ka core contribution hi ye hai ke evaluation is tarah design ki gayi hai ke koi bhi current ya future information ranking ko pehle se affect na kare — isi ko 'leakage-safe' kehte hain, aur ye poori thesis ka sabse distinguishing feature hai, isi liye title mein sabse aage hai.</a:t>
            </a:r>
          </a:p>
          <a:p>
            <a:endParaRPr/>
          </a:p>
          <a:p>
            <a:r>
              <a:t>Agar koi critic phasane ki koshish kare (tanqidi sawal):</a:t>
            </a:r>
          </a:p>
          <a:p>
            <a:r>
              <a:t>S: Aap khud kehte hain ye ek 'feasibility study' hai, phir title itna confident kyun hai — 'A Leakage-Safe Framework', jaise koi fully-solved system ho?</a:t>
            </a:r>
          </a:p>
          <a:p>
            <a:r>
              <a:t>J: Title framework ke design-goal ko describe karta hai, uske mukammal ho jaane ka claim nahi karta. Poori thesis mein hum explicitly kehte hain ke ye ek feasibility-stage kaam hai, framework abhi validate ho raha hai.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Ye meri presentation ka outline hai. Pehle Introduction, phir Literature Review, uske baad Problem Statement, phir Research Questions aur Objectives, phir Proposed Methodology, Initial Results, Work Plan, aur aakhir mein Summary aur Q&amp;A.</a:t>
            </a:r>
          </a:p>
          <a:p>
            <a:endParaRPr/>
          </a:p>
          <a:p>
            <a:r>
              <a:t>Mumkin examiner sawalat:</a:t>
            </a:r>
          </a:p>
          <a:p>
            <a:r>
              <a:t>S1: Literature Review ko Problem Statement se pehle kyun rakha gaya hai?</a:t>
            </a:r>
          </a:p>
          <a:p>
            <a:r>
              <a:t>J1: Kyunki problem statement ka har sentence directly literature ke gap se nikalta hai — pehle hum dikhate hain ke existing kaam mein kya complete hai aur kya nahi, phir usi bunyad par problem statement bayan karte hain, taake audience ko pata ho ke ye problem kahan se aa raha hai.</a:t>
            </a:r>
          </a:p>
          <a:p>
            <a:endParaRPr/>
          </a:p>
          <a:p>
            <a:r>
              <a:t>Agar koi critic phasane ki koshish kare (tanqidi sawal):</a:t>
            </a:r>
          </a:p>
          <a:p>
            <a:r>
              <a:t>S: Aap ne 'Initial Results' section rakha hai lekin usmein teen mein se do regressions run hi nahi ho sakein — kya ye outline misleading nahi lagta, jaise sab kaam mukammal ho?</a:t>
            </a:r>
          </a:p>
          <a:p>
            <a:r>
              <a:t>J: Outline sirf structure dikhata hai. Results section mein hum khud transparently likhte hain ke kaunse events verified hain aur kaunse pending hain — koi cheez chupai nahi gayi.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“Classical computers work with bits, where each bit has a definite value of either zero or one. Quantum computers, however, work with qubits. A qubit can exist in a combination of zero and one, which is called superposition. When we measure the qubit, we obtain a definite outcome, either zero or one, according to the probabilities defined by its quantum state.</a:t>
            </a:r>
          </a:p>
          <a:p>
            <a:r>
              <a:rPr lang="en-US" dirty="0" smtClean="0"/>
              <a:t>Another important property is entanglement. Two or more qubits can become entangled, which means their quantum states become correlated and need to be considered jointly rather than independently.</a:t>
            </a:r>
          </a:p>
          <a:p>
            <a:r>
              <a:rPr lang="en-US" dirty="0" smtClean="0"/>
              <a:t>To perform a quantum computation, we apply quantum gates to qubits in a particular sequence. This sequence of gates forms a quantum circuit, which represents the quantum computation.</a:t>
            </a:r>
          </a:p>
          <a:p>
            <a:r>
              <a:rPr lang="en-US" dirty="0" smtClean="0"/>
              <a:t>At the logical circuit level, we may specify gates between different qubits. However, real quantum hardware has limitations. It supports only a particular set of native gates, and not every physical qubit is directly connected to every other qubit.</a:t>
            </a:r>
          </a:p>
          <a:p>
            <a:r>
              <a:rPr lang="en-US" dirty="0" smtClean="0"/>
              <a:t>Therefore, we need a quantum compiler, or in </a:t>
            </a:r>
            <a:r>
              <a:rPr lang="en-US" dirty="0" err="1" smtClean="0"/>
              <a:t>Qiskit</a:t>
            </a:r>
            <a:r>
              <a:rPr lang="en-US" dirty="0" smtClean="0"/>
              <a:t>, a </a:t>
            </a:r>
            <a:r>
              <a:rPr lang="en-US" dirty="0" err="1" smtClean="0"/>
              <a:t>transpiler</a:t>
            </a:r>
            <a:r>
              <a:rPr lang="en-US" dirty="0" smtClean="0"/>
              <a:t>. The </a:t>
            </a:r>
            <a:r>
              <a:rPr lang="en-US" dirty="0" err="1" smtClean="0"/>
              <a:t>transpiler</a:t>
            </a:r>
            <a:r>
              <a:rPr lang="en-US" dirty="0" smtClean="0"/>
              <a:t> transforms the logical quantum circuit so that it satisfies the gate-set and connectivity constraints of the selected quantum hardware.”</a:t>
            </a:r>
          </a:p>
          <a:p>
            <a:endParaRPr lang="en-US" b="1" dirty="0" smtClean="0"/>
          </a:p>
          <a:p>
            <a:r>
              <a:rPr lang="en-US" b="1" dirty="0" smtClean="0"/>
              <a:t>“So the programmer describes what computation is required, while the </a:t>
            </a:r>
            <a:r>
              <a:rPr lang="en-US" b="1" dirty="0" err="1" smtClean="0"/>
              <a:t>transpiler</a:t>
            </a:r>
            <a:r>
              <a:rPr lang="en-US" b="1" dirty="0" smtClean="0"/>
              <a:t> determines how that computation can be implemented on a particular quantum device.”</a:t>
            </a:r>
            <a:endParaRPr lang="en-US" dirty="0" smtClean="0"/>
          </a:p>
          <a:p>
            <a:endParaRPr dirty="0"/>
          </a:p>
          <a:p>
            <a:r>
              <a:rPr dirty="0" err="1"/>
              <a:t>Mumkin</a:t>
            </a:r>
            <a:r>
              <a:rPr dirty="0"/>
              <a:t> examiner </a:t>
            </a:r>
            <a:r>
              <a:rPr dirty="0" err="1"/>
              <a:t>sawalat</a:t>
            </a:r>
            <a:r>
              <a:rPr dirty="0"/>
              <a:t>:</a:t>
            </a:r>
          </a:p>
          <a:p>
            <a:r>
              <a:rPr dirty="0"/>
              <a:t>S1: Simple </a:t>
            </a:r>
            <a:r>
              <a:rPr dirty="0" err="1"/>
              <a:t>lafzon</a:t>
            </a:r>
            <a:r>
              <a:rPr dirty="0"/>
              <a:t> </a:t>
            </a:r>
            <a:r>
              <a:rPr dirty="0" err="1"/>
              <a:t>mein</a:t>
            </a:r>
            <a:r>
              <a:rPr dirty="0"/>
              <a:t>, classical bit qubit </a:t>
            </a:r>
            <a:r>
              <a:rPr dirty="0" err="1"/>
              <a:t>ka</a:t>
            </a:r>
            <a:r>
              <a:rPr dirty="0"/>
              <a:t> </a:t>
            </a:r>
            <a:r>
              <a:rPr dirty="0" err="1"/>
              <a:t>kaam</a:t>
            </a:r>
            <a:r>
              <a:rPr dirty="0"/>
              <a:t> </a:t>
            </a:r>
            <a:r>
              <a:rPr dirty="0" err="1"/>
              <a:t>kyun</a:t>
            </a:r>
            <a:r>
              <a:rPr dirty="0"/>
              <a:t> </a:t>
            </a:r>
            <a:r>
              <a:rPr dirty="0" err="1"/>
              <a:t>nahi</a:t>
            </a:r>
            <a:r>
              <a:rPr dirty="0"/>
              <a:t> </a:t>
            </a:r>
            <a:r>
              <a:rPr dirty="0" err="1"/>
              <a:t>kar</a:t>
            </a:r>
            <a:r>
              <a:rPr dirty="0"/>
              <a:t> </a:t>
            </a:r>
            <a:r>
              <a:rPr dirty="0" err="1"/>
              <a:t>sakti</a:t>
            </a:r>
            <a:r>
              <a:rPr dirty="0"/>
              <a:t>?</a:t>
            </a:r>
          </a:p>
          <a:p>
            <a:r>
              <a:rPr dirty="0"/>
              <a:t>J1: Classical bit </a:t>
            </a:r>
            <a:r>
              <a:rPr dirty="0" err="1"/>
              <a:t>hamesha</a:t>
            </a:r>
            <a:r>
              <a:rPr dirty="0"/>
              <a:t> </a:t>
            </a:r>
            <a:r>
              <a:rPr dirty="0" err="1"/>
              <a:t>ek</a:t>
            </a:r>
            <a:r>
              <a:rPr dirty="0"/>
              <a:t> fixed value (0 </a:t>
            </a:r>
            <a:r>
              <a:rPr dirty="0" err="1"/>
              <a:t>ya</a:t>
            </a:r>
            <a:r>
              <a:rPr dirty="0"/>
              <a:t> 1) </a:t>
            </a:r>
            <a:r>
              <a:rPr dirty="0" err="1"/>
              <a:t>rakhti</a:t>
            </a:r>
            <a:r>
              <a:rPr dirty="0"/>
              <a:t> </a:t>
            </a:r>
            <a:r>
              <a:rPr dirty="0" err="1"/>
              <a:t>hai</a:t>
            </a:r>
            <a:r>
              <a:rPr dirty="0"/>
              <a:t>, jab </a:t>
            </a:r>
            <a:r>
              <a:rPr dirty="0" err="1"/>
              <a:t>ke</a:t>
            </a:r>
            <a:r>
              <a:rPr dirty="0"/>
              <a:t> qubit </a:t>
            </a:r>
            <a:r>
              <a:rPr dirty="0" err="1"/>
              <a:t>dono</a:t>
            </a:r>
            <a:r>
              <a:rPr dirty="0"/>
              <a:t> states </a:t>
            </a:r>
            <a:r>
              <a:rPr dirty="0" err="1"/>
              <a:t>ka</a:t>
            </a:r>
            <a:r>
              <a:rPr dirty="0"/>
              <a:t> combination (superposition) </a:t>
            </a:r>
            <a:r>
              <a:rPr dirty="0" err="1"/>
              <a:t>rakh</a:t>
            </a:r>
            <a:r>
              <a:rPr dirty="0"/>
              <a:t> </a:t>
            </a:r>
            <a:r>
              <a:rPr dirty="0" err="1"/>
              <a:t>sakti</a:t>
            </a:r>
            <a:r>
              <a:rPr dirty="0"/>
              <a:t> </a:t>
            </a:r>
            <a:r>
              <a:rPr dirty="0" err="1"/>
              <a:t>hai</a:t>
            </a:r>
            <a:r>
              <a:rPr dirty="0"/>
              <a:t> jab </a:t>
            </a:r>
            <a:r>
              <a:rPr dirty="0" err="1"/>
              <a:t>tak</a:t>
            </a:r>
            <a:r>
              <a:rPr dirty="0"/>
              <a:t> measure </a:t>
            </a:r>
            <a:r>
              <a:rPr dirty="0" err="1"/>
              <a:t>na</a:t>
            </a:r>
            <a:r>
              <a:rPr dirty="0"/>
              <a:t> ho. Isi </a:t>
            </a:r>
            <a:r>
              <a:rPr dirty="0" err="1"/>
              <a:t>wajah</a:t>
            </a:r>
            <a:r>
              <a:rPr dirty="0"/>
              <a:t> se quantum information classical bits se fundamentally different </a:t>
            </a:r>
            <a:r>
              <a:rPr dirty="0" err="1"/>
              <a:t>hoti</a:t>
            </a:r>
            <a:r>
              <a:rPr dirty="0"/>
              <a:t> </a:t>
            </a:r>
            <a:r>
              <a:rPr dirty="0" err="1"/>
              <a:t>hai</a:t>
            </a:r>
            <a:r>
              <a:rPr dirty="0"/>
              <a:t>.</a:t>
            </a:r>
          </a:p>
          <a:p>
            <a:r>
              <a:rPr dirty="0"/>
              <a:t>S2: Limited qubit connectivity </a:t>
            </a:r>
            <a:r>
              <a:rPr dirty="0" err="1"/>
              <a:t>ki</a:t>
            </a:r>
            <a:r>
              <a:rPr dirty="0"/>
              <a:t> </a:t>
            </a:r>
            <a:r>
              <a:rPr dirty="0" err="1"/>
              <a:t>wajah</a:t>
            </a:r>
            <a:r>
              <a:rPr dirty="0"/>
              <a:t> se compiler </a:t>
            </a:r>
            <a:r>
              <a:rPr dirty="0" err="1"/>
              <a:t>kyun</a:t>
            </a:r>
            <a:r>
              <a:rPr dirty="0"/>
              <a:t> </a:t>
            </a:r>
            <a:r>
              <a:rPr dirty="0" err="1"/>
              <a:t>zaroori</a:t>
            </a:r>
            <a:r>
              <a:rPr dirty="0"/>
              <a:t> </a:t>
            </a:r>
            <a:r>
              <a:rPr dirty="0" err="1"/>
              <a:t>hai</a:t>
            </a:r>
            <a:r>
              <a:rPr dirty="0"/>
              <a:t> — circuit </a:t>
            </a:r>
            <a:r>
              <a:rPr dirty="0" err="1"/>
              <a:t>jaisa</a:t>
            </a:r>
            <a:r>
              <a:rPr dirty="0"/>
              <a:t> </a:t>
            </a:r>
            <a:r>
              <a:rPr dirty="0" err="1"/>
              <a:t>likha</a:t>
            </a:r>
            <a:r>
              <a:rPr dirty="0"/>
              <a:t> </a:t>
            </a:r>
            <a:r>
              <a:rPr dirty="0" err="1"/>
              <a:t>gaya</a:t>
            </a:r>
            <a:r>
              <a:rPr dirty="0"/>
              <a:t> </a:t>
            </a:r>
            <a:r>
              <a:rPr dirty="0" err="1"/>
              <a:t>hai</a:t>
            </a:r>
            <a:r>
              <a:rPr dirty="0"/>
              <a:t> </a:t>
            </a:r>
            <a:r>
              <a:rPr dirty="0" err="1"/>
              <a:t>waisa</a:t>
            </a:r>
            <a:r>
              <a:rPr dirty="0"/>
              <a:t> hi </a:t>
            </a:r>
            <a:r>
              <a:rPr dirty="0" err="1"/>
              <a:t>kyun</a:t>
            </a:r>
            <a:r>
              <a:rPr dirty="0"/>
              <a:t> </a:t>
            </a:r>
            <a:r>
              <a:rPr dirty="0" err="1"/>
              <a:t>nahi</a:t>
            </a:r>
            <a:r>
              <a:rPr dirty="0"/>
              <a:t> </a:t>
            </a:r>
            <a:r>
              <a:rPr dirty="0" err="1"/>
              <a:t>chal</a:t>
            </a:r>
            <a:r>
              <a:rPr dirty="0"/>
              <a:t> </a:t>
            </a:r>
            <a:r>
              <a:rPr dirty="0" err="1"/>
              <a:t>sakta</a:t>
            </a:r>
            <a:r>
              <a:rPr dirty="0"/>
              <a:t>?</a:t>
            </a:r>
          </a:p>
          <a:p>
            <a:r>
              <a:rPr dirty="0"/>
              <a:t>J2: </a:t>
            </a:r>
            <a:r>
              <a:rPr dirty="0" err="1"/>
              <a:t>Har</a:t>
            </a:r>
            <a:r>
              <a:rPr dirty="0"/>
              <a:t> circuit </a:t>
            </a:r>
            <a:r>
              <a:rPr dirty="0" err="1"/>
              <a:t>likhte</a:t>
            </a:r>
            <a:r>
              <a:rPr dirty="0"/>
              <a:t> </a:t>
            </a:r>
            <a:r>
              <a:rPr dirty="0" err="1"/>
              <a:t>waqt</a:t>
            </a:r>
            <a:r>
              <a:rPr dirty="0"/>
              <a:t> hum </a:t>
            </a:r>
            <a:r>
              <a:rPr dirty="0" err="1"/>
              <a:t>kisi</a:t>
            </a:r>
            <a:r>
              <a:rPr dirty="0"/>
              <a:t> </a:t>
            </a:r>
            <a:r>
              <a:rPr dirty="0" err="1"/>
              <a:t>bhi</a:t>
            </a:r>
            <a:r>
              <a:rPr dirty="0"/>
              <a:t> do qubits </a:t>
            </a:r>
            <a:r>
              <a:rPr dirty="0" err="1"/>
              <a:t>ke</a:t>
            </a:r>
            <a:r>
              <a:rPr dirty="0"/>
              <a:t> </a:t>
            </a:r>
            <a:r>
              <a:rPr dirty="0" err="1"/>
              <a:t>darmiyan</a:t>
            </a:r>
            <a:r>
              <a:rPr dirty="0"/>
              <a:t> gate </a:t>
            </a:r>
            <a:r>
              <a:rPr dirty="0" err="1"/>
              <a:t>laga</a:t>
            </a:r>
            <a:r>
              <a:rPr dirty="0"/>
              <a:t> </a:t>
            </a:r>
            <a:r>
              <a:rPr dirty="0" err="1"/>
              <a:t>dete</a:t>
            </a:r>
            <a:r>
              <a:rPr dirty="0"/>
              <a:t> </a:t>
            </a:r>
            <a:r>
              <a:rPr dirty="0" err="1"/>
              <a:t>hain</a:t>
            </a:r>
            <a:r>
              <a:rPr dirty="0"/>
              <a:t>, </a:t>
            </a:r>
            <a:r>
              <a:rPr dirty="0" err="1"/>
              <a:t>lekin</a:t>
            </a:r>
            <a:r>
              <a:rPr dirty="0"/>
              <a:t> real hardware </a:t>
            </a:r>
            <a:r>
              <a:rPr dirty="0" err="1"/>
              <a:t>mein</a:t>
            </a:r>
            <a:r>
              <a:rPr dirty="0"/>
              <a:t> </a:t>
            </a:r>
            <a:r>
              <a:rPr dirty="0" err="1"/>
              <a:t>sirf</a:t>
            </a:r>
            <a:r>
              <a:rPr dirty="0"/>
              <a:t> </a:t>
            </a:r>
            <a:r>
              <a:rPr dirty="0" err="1"/>
              <a:t>kuch</a:t>
            </a:r>
            <a:r>
              <a:rPr dirty="0"/>
              <a:t> specific qubits hi </a:t>
            </a:r>
            <a:r>
              <a:rPr dirty="0" err="1"/>
              <a:t>seedha</a:t>
            </a:r>
            <a:r>
              <a:rPr dirty="0"/>
              <a:t> connected </a:t>
            </a:r>
            <a:r>
              <a:rPr dirty="0" err="1"/>
              <a:t>hote</a:t>
            </a:r>
            <a:r>
              <a:rPr dirty="0"/>
              <a:t> </a:t>
            </a:r>
            <a:r>
              <a:rPr dirty="0" err="1"/>
              <a:t>hain</a:t>
            </a:r>
            <a:r>
              <a:rPr dirty="0"/>
              <a:t>. </a:t>
            </a:r>
            <a:r>
              <a:rPr dirty="0" err="1"/>
              <a:t>Transpiler</a:t>
            </a:r>
            <a:r>
              <a:rPr dirty="0"/>
              <a:t> circuit </a:t>
            </a:r>
            <a:r>
              <a:rPr dirty="0" err="1"/>
              <a:t>ko</a:t>
            </a:r>
            <a:r>
              <a:rPr dirty="0"/>
              <a:t> is </a:t>
            </a:r>
            <a:r>
              <a:rPr dirty="0" err="1"/>
              <a:t>tarah</a:t>
            </a:r>
            <a:r>
              <a:rPr dirty="0"/>
              <a:t> rewrite </a:t>
            </a:r>
            <a:r>
              <a:rPr dirty="0" err="1"/>
              <a:t>karta</a:t>
            </a:r>
            <a:r>
              <a:rPr dirty="0"/>
              <a:t> </a:t>
            </a:r>
            <a:r>
              <a:rPr dirty="0" err="1"/>
              <a:t>hai</a:t>
            </a:r>
            <a:r>
              <a:rPr dirty="0"/>
              <a:t> </a:t>
            </a:r>
            <a:r>
              <a:rPr dirty="0" err="1"/>
              <a:t>ke</a:t>
            </a:r>
            <a:r>
              <a:rPr dirty="0"/>
              <a:t> wo hardware </a:t>
            </a:r>
            <a:r>
              <a:rPr dirty="0" err="1"/>
              <a:t>ki</a:t>
            </a:r>
            <a:r>
              <a:rPr dirty="0"/>
              <a:t> actual connectivity </a:t>
            </a:r>
            <a:r>
              <a:rPr dirty="0" err="1"/>
              <a:t>aur</a:t>
            </a:r>
            <a:r>
              <a:rPr dirty="0"/>
              <a:t> gate set </a:t>
            </a:r>
            <a:r>
              <a:rPr dirty="0" err="1"/>
              <a:t>ke</a:t>
            </a:r>
            <a:r>
              <a:rPr dirty="0"/>
              <a:t> </a:t>
            </a:r>
            <a:r>
              <a:rPr dirty="0" err="1"/>
              <a:t>mutabiq</a:t>
            </a:r>
            <a:r>
              <a:rPr dirty="0"/>
              <a:t> ho </a:t>
            </a:r>
            <a:r>
              <a:rPr dirty="0" err="1"/>
              <a:t>jaye</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a:t>
            </a:r>
            <a:r>
              <a:rPr dirty="0" err="1"/>
              <a:t>Itni</a:t>
            </a:r>
            <a:r>
              <a:rPr dirty="0"/>
              <a:t> basic quantum concepts (bit vs qubit) — </a:t>
            </a:r>
            <a:r>
              <a:rPr dirty="0" err="1"/>
              <a:t>kya</a:t>
            </a:r>
            <a:r>
              <a:rPr dirty="0"/>
              <a:t> ye PhD-level committee </a:t>
            </a:r>
            <a:r>
              <a:rPr dirty="0" err="1"/>
              <a:t>ke</a:t>
            </a:r>
            <a:r>
              <a:rPr dirty="0"/>
              <a:t> </a:t>
            </a:r>
            <a:r>
              <a:rPr dirty="0" err="1"/>
              <a:t>liye</a:t>
            </a:r>
            <a:r>
              <a:rPr dirty="0"/>
              <a:t> </a:t>
            </a:r>
            <a:r>
              <a:rPr dirty="0" err="1"/>
              <a:t>zaroori</a:t>
            </a:r>
            <a:r>
              <a:rPr dirty="0"/>
              <a:t> </a:t>
            </a:r>
            <a:r>
              <a:rPr dirty="0" err="1"/>
              <a:t>hain</a:t>
            </a:r>
            <a:r>
              <a:rPr dirty="0"/>
              <a:t>, </a:t>
            </a:r>
            <a:r>
              <a:rPr dirty="0" err="1"/>
              <a:t>ya</a:t>
            </a:r>
            <a:r>
              <a:rPr dirty="0"/>
              <a:t> ye </a:t>
            </a:r>
            <a:r>
              <a:rPr dirty="0" err="1"/>
              <a:t>sirf</a:t>
            </a:r>
            <a:r>
              <a:rPr dirty="0"/>
              <a:t> time waste </a:t>
            </a:r>
            <a:r>
              <a:rPr dirty="0" err="1"/>
              <a:t>hai</a:t>
            </a:r>
            <a:r>
              <a:rPr dirty="0"/>
              <a:t>?</a:t>
            </a:r>
          </a:p>
          <a:p>
            <a:r>
              <a:rPr dirty="0"/>
              <a:t>J: BASR committee </a:t>
            </a:r>
            <a:r>
              <a:rPr dirty="0" err="1"/>
              <a:t>mein</a:t>
            </a:r>
            <a:r>
              <a:rPr dirty="0"/>
              <a:t> </a:t>
            </a:r>
            <a:r>
              <a:rPr dirty="0" err="1"/>
              <a:t>alag</a:t>
            </a:r>
            <a:r>
              <a:rPr dirty="0"/>
              <a:t> departments </a:t>
            </a:r>
            <a:r>
              <a:rPr dirty="0" err="1"/>
              <a:t>ke</a:t>
            </a:r>
            <a:r>
              <a:rPr dirty="0"/>
              <a:t> members </a:t>
            </a:r>
            <a:r>
              <a:rPr dirty="0" err="1"/>
              <a:t>hote</a:t>
            </a:r>
            <a:r>
              <a:rPr dirty="0"/>
              <a:t> </a:t>
            </a:r>
            <a:r>
              <a:rPr dirty="0" err="1"/>
              <a:t>hain</a:t>
            </a:r>
            <a:r>
              <a:rPr dirty="0"/>
              <a:t> jo quantum computing se familiar </a:t>
            </a:r>
            <a:r>
              <a:rPr dirty="0" err="1"/>
              <a:t>nahi</a:t>
            </a:r>
            <a:r>
              <a:rPr dirty="0"/>
              <a:t> </a:t>
            </a:r>
            <a:r>
              <a:rPr dirty="0" err="1"/>
              <a:t>hote</a:t>
            </a:r>
            <a:r>
              <a:rPr dirty="0"/>
              <a:t> — is </a:t>
            </a:r>
            <a:r>
              <a:rPr dirty="0" err="1"/>
              <a:t>liye</a:t>
            </a:r>
            <a:r>
              <a:rPr dirty="0"/>
              <a:t> ye slide </a:t>
            </a:r>
            <a:r>
              <a:rPr dirty="0" err="1"/>
              <a:t>zaroori</a:t>
            </a:r>
            <a:r>
              <a:rPr dirty="0"/>
              <a:t> </a:t>
            </a:r>
            <a:r>
              <a:rPr dirty="0" err="1"/>
              <a:t>hai</a:t>
            </a:r>
            <a:r>
              <a:rPr dirty="0"/>
              <a:t> </a:t>
            </a:r>
            <a:r>
              <a:rPr dirty="0" err="1"/>
              <a:t>taake</a:t>
            </a:r>
            <a:r>
              <a:rPr dirty="0"/>
              <a:t> </a:t>
            </a:r>
            <a:r>
              <a:rPr dirty="0" err="1"/>
              <a:t>baaki</a:t>
            </a:r>
            <a:r>
              <a:rPr dirty="0"/>
              <a:t> </a:t>
            </a:r>
            <a:r>
              <a:rPr dirty="0" err="1"/>
              <a:t>poori</a:t>
            </a:r>
            <a:r>
              <a:rPr dirty="0"/>
              <a:t> presentation </a:t>
            </a:r>
            <a:r>
              <a:rPr dirty="0" err="1"/>
              <a:t>samajh</a:t>
            </a:r>
            <a:r>
              <a:rPr dirty="0"/>
              <a:t> aa sake.</a:t>
            </a:r>
          </a:p>
        </p:txBody>
      </p:sp>
      <p:sp>
        <p:nvSpPr>
          <p:cNvPr id="4" name="Slide Number Placeholder 3"/>
          <p:cNvSpPr>
            <a:spLocks noGrp="1"/>
          </p:cNvSpPr>
          <p:nvPr>
            <p:ph type="sldNum" sz="quarter" idx="10"/>
          </p:nvPr>
        </p:nvSpPr>
        <p:spPr/>
        <p:txBody>
          <a:bodyPr/>
          <a:lstStyle/>
          <a:p>
            <a:endParaRPr lang="en-US"/>
          </a:p>
        </p:txBody>
      </p:sp>
    </p:spTree>
    <p:extLst>
      <p:ext uri="{BB962C8B-B14F-4D97-AF65-F5344CB8AC3E}">
        <p14:creationId xmlns:p14="http://schemas.microsoft.com/office/powerpoint/2010/main" val="23404207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“Now, we focus on </a:t>
            </a:r>
            <a:r>
              <a:rPr lang="en-US" dirty="0" err="1" smtClean="0"/>
              <a:t>Qiskit</a:t>
            </a:r>
            <a:r>
              <a:rPr lang="en-US" dirty="0" smtClean="0"/>
              <a:t>, which is a widely used quantum SDK. In </a:t>
            </a:r>
            <a:r>
              <a:rPr lang="en-US" dirty="0" err="1" smtClean="0"/>
              <a:t>Qiskit</a:t>
            </a:r>
            <a:r>
              <a:rPr lang="en-US" dirty="0" smtClean="0"/>
              <a:t>, the compiler is called the </a:t>
            </a:r>
            <a:r>
              <a:rPr lang="en-US" dirty="0" err="1" smtClean="0"/>
              <a:t>transpiler</a:t>
            </a:r>
            <a:r>
              <a:rPr lang="en-US" dirty="0" smtClean="0"/>
              <a:t>. Because the </a:t>
            </a:r>
            <a:r>
              <a:rPr lang="en-US" dirty="0" err="1" smtClean="0"/>
              <a:t>transpiler</a:t>
            </a:r>
            <a:r>
              <a:rPr lang="en-US" dirty="0" smtClean="0"/>
              <a:t> changes frequently, new changes can sometimes introduce regressions. A regression means that something that worked correctly before becomes worse—for example, we may get a wrong result, a poorer-quality circuit, or a slower compilation time. So, we need an affordable testing approach that can catch these problems early.”</a:t>
            </a:r>
          </a:p>
          <a:p>
            <a:endParaRPr lang="en-US" dirty="0" smtClean="0"/>
          </a:p>
          <a:p>
            <a:r>
              <a:rPr lang="en-US" dirty="0" smtClean="0"/>
              <a:t>On the right, this Python code is executed on a classical computer and constructs a </a:t>
            </a:r>
            <a:r>
              <a:rPr lang="en-US" dirty="0" err="1" smtClean="0"/>
              <a:t>QuantumCircuit</a:t>
            </a:r>
            <a:r>
              <a:rPr lang="en-US" dirty="0" smtClean="0"/>
              <a:t> object in </a:t>
            </a:r>
            <a:r>
              <a:rPr lang="en-US" dirty="0" err="1" smtClean="0"/>
              <a:t>Qiskit</a:t>
            </a:r>
            <a:r>
              <a:rPr lang="en-US" dirty="0" smtClean="0"/>
              <a:t>. That logical circuit becomes the input to the </a:t>
            </a:r>
            <a:r>
              <a:rPr lang="en-US" dirty="0" err="1" smtClean="0"/>
              <a:t>transpiler</a:t>
            </a:r>
            <a:r>
              <a:rPr lang="en-US" dirty="0" smtClean="0"/>
              <a:t>. The </a:t>
            </a:r>
            <a:r>
              <a:rPr lang="en-US" dirty="0" err="1" smtClean="0"/>
              <a:t>transpiler</a:t>
            </a:r>
            <a:r>
              <a:rPr lang="en-US" dirty="0" smtClean="0"/>
              <a:t> also takes information about the target quantum device, such as its native gate set and qubit connectivity. It then transforms, maps, and routes the logical circuit so that it can run on that particular hardware. The output is the hardware-compatible circuit shown at the bottom right.</a:t>
            </a:r>
          </a:p>
          <a:p>
            <a:endParaRPr lang="en-US" dirty="0" smtClean="0"/>
          </a:p>
          <a:p>
            <a:r>
              <a:rPr dirty="0" smtClean="0"/>
              <a:t>Is </a:t>
            </a:r>
            <a:r>
              <a:rPr dirty="0"/>
              <a:t>research </a:t>
            </a:r>
            <a:r>
              <a:rPr dirty="0" err="1"/>
              <a:t>mein</a:t>
            </a:r>
            <a:r>
              <a:rPr dirty="0"/>
              <a:t> hum </a:t>
            </a:r>
            <a:r>
              <a:rPr dirty="0" err="1"/>
              <a:t>Qiskit</a:t>
            </a:r>
            <a:r>
              <a:rPr dirty="0"/>
              <a:t> use </a:t>
            </a:r>
            <a:r>
              <a:rPr dirty="0" err="1"/>
              <a:t>kar</a:t>
            </a:r>
            <a:r>
              <a:rPr dirty="0"/>
              <a:t> </a:t>
            </a:r>
            <a:r>
              <a:rPr dirty="0" err="1"/>
              <a:t>rahe</a:t>
            </a:r>
            <a:r>
              <a:rPr dirty="0"/>
              <a:t> </a:t>
            </a:r>
            <a:r>
              <a:rPr dirty="0" err="1"/>
              <a:t>hain</a:t>
            </a:r>
            <a:r>
              <a:rPr dirty="0"/>
              <a:t>, </a:t>
            </a:r>
            <a:r>
              <a:rPr dirty="0" err="1"/>
              <a:t>kyunki</a:t>
            </a:r>
            <a:r>
              <a:rPr dirty="0"/>
              <a:t> ye sab se </a:t>
            </a:r>
            <a:r>
              <a:rPr dirty="0" err="1"/>
              <a:t>zyada</a:t>
            </a:r>
            <a:r>
              <a:rPr dirty="0"/>
              <a:t> active </a:t>
            </a:r>
            <a:r>
              <a:rPr dirty="0" err="1"/>
              <a:t>aur</a:t>
            </a:r>
            <a:r>
              <a:rPr dirty="0"/>
              <a:t> widely-used quantum SDK </a:t>
            </a:r>
            <a:r>
              <a:rPr dirty="0" err="1"/>
              <a:t>hai</a:t>
            </a:r>
            <a:r>
              <a:rPr dirty="0"/>
              <a:t>, </a:t>
            </a:r>
            <a:r>
              <a:rPr dirty="0" err="1"/>
              <a:t>aur</a:t>
            </a:r>
            <a:r>
              <a:rPr dirty="0"/>
              <a:t> is </a:t>
            </a:r>
            <a:r>
              <a:rPr dirty="0" err="1"/>
              <a:t>mein</a:t>
            </a:r>
            <a:r>
              <a:rPr dirty="0"/>
              <a:t> </a:t>
            </a:r>
            <a:r>
              <a:rPr dirty="0" err="1"/>
              <a:t>transpiler</a:t>
            </a:r>
            <a:r>
              <a:rPr dirty="0"/>
              <a:t> </a:t>
            </a:r>
            <a:r>
              <a:rPr dirty="0" err="1"/>
              <a:t>ki</a:t>
            </a:r>
            <a:r>
              <a:rPr dirty="0"/>
              <a:t> </a:t>
            </a:r>
            <a:r>
              <a:rPr dirty="0" err="1"/>
              <a:t>asli</a:t>
            </a:r>
            <a:r>
              <a:rPr dirty="0"/>
              <a:t> changes </a:t>
            </a:r>
            <a:r>
              <a:rPr dirty="0" err="1"/>
              <a:t>ka</a:t>
            </a:r>
            <a:r>
              <a:rPr dirty="0"/>
              <a:t> sab se </a:t>
            </a:r>
            <a:r>
              <a:rPr dirty="0" err="1"/>
              <a:t>acha</a:t>
            </a:r>
            <a:r>
              <a:rPr dirty="0"/>
              <a:t> record </a:t>
            </a:r>
            <a:r>
              <a:rPr dirty="0" err="1"/>
              <a:t>milta</a:t>
            </a:r>
            <a:r>
              <a:rPr dirty="0"/>
              <a:t> </a:t>
            </a:r>
            <a:r>
              <a:rPr dirty="0" err="1"/>
              <a:t>hai</a:t>
            </a:r>
            <a:r>
              <a:rPr dirty="0"/>
              <a:t>. </a:t>
            </a:r>
            <a:r>
              <a:rPr dirty="0" err="1"/>
              <a:t>Qiskit</a:t>
            </a:r>
            <a:r>
              <a:rPr dirty="0"/>
              <a:t> </a:t>
            </a:r>
            <a:r>
              <a:rPr dirty="0" err="1"/>
              <a:t>mein</a:t>
            </a:r>
            <a:r>
              <a:rPr dirty="0"/>
              <a:t> is compiler </a:t>
            </a:r>
            <a:r>
              <a:rPr dirty="0" err="1"/>
              <a:t>ko</a:t>
            </a:r>
            <a:r>
              <a:rPr dirty="0"/>
              <a:t> '</a:t>
            </a:r>
            <a:r>
              <a:rPr dirty="0" err="1"/>
              <a:t>transpiler</a:t>
            </a:r>
            <a:r>
              <a:rPr dirty="0"/>
              <a:t>' </a:t>
            </a:r>
            <a:r>
              <a:rPr dirty="0" err="1"/>
              <a:t>kehte</a:t>
            </a:r>
            <a:r>
              <a:rPr dirty="0"/>
              <a:t> </a:t>
            </a:r>
            <a:r>
              <a:rPr dirty="0" err="1"/>
              <a:t>hain</a:t>
            </a:r>
            <a:r>
              <a:rPr dirty="0"/>
              <a:t>. Ye </a:t>
            </a:r>
            <a:r>
              <a:rPr dirty="0" err="1"/>
              <a:t>baar</a:t>
            </a:r>
            <a:r>
              <a:rPr dirty="0"/>
              <a:t> </a:t>
            </a:r>
            <a:r>
              <a:rPr dirty="0" err="1"/>
              <a:t>baar</a:t>
            </a:r>
            <a:r>
              <a:rPr dirty="0"/>
              <a:t> update </a:t>
            </a:r>
            <a:r>
              <a:rPr dirty="0" err="1"/>
              <a:t>hota</a:t>
            </a:r>
            <a:r>
              <a:rPr dirty="0"/>
              <a:t> </a:t>
            </a:r>
            <a:r>
              <a:rPr dirty="0" err="1"/>
              <a:t>hai</a:t>
            </a:r>
            <a:r>
              <a:rPr dirty="0"/>
              <a:t>, </a:t>
            </a:r>
            <a:r>
              <a:rPr dirty="0" err="1"/>
              <a:t>aur</a:t>
            </a:r>
            <a:r>
              <a:rPr dirty="0"/>
              <a:t> </a:t>
            </a:r>
            <a:r>
              <a:rPr dirty="0" err="1"/>
              <a:t>har</a:t>
            </a:r>
            <a:r>
              <a:rPr dirty="0"/>
              <a:t> change </a:t>
            </a:r>
            <a:r>
              <a:rPr dirty="0" err="1"/>
              <a:t>ke</a:t>
            </a:r>
            <a:r>
              <a:rPr dirty="0"/>
              <a:t> </a:t>
            </a:r>
            <a:r>
              <a:rPr dirty="0" err="1"/>
              <a:t>sath</a:t>
            </a:r>
            <a:r>
              <a:rPr dirty="0"/>
              <a:t> 'regression' </a:t>
            </a:r>
            <a:r>
              <a:rPr dirty="0" err="1"/>
              <a:t>aane</a:t>
            </a:r>
            <a:r>
              <a:rPr dirty="0"/>
              <a:t> </a:t>
            </a:r>
            <a:r>
              <a:rPr dirty="0" err="1"/>
              <a:t>ka</a:t>
            </a:r>
            <a:r>
              <a:rPr dirty="0"/>
              <a:t> </a:t>
            </a:r>
            <a:r>
              <a:rPr dirty="0" err="1"/>
              <a:t>khatra</a:t>
            </a:r>
            <a:r>
              <a:rPr dirty="0"/>
              <a:t> </a:t>
            </a:r>
            <a:r>
              <a:rPr dirty="0" err="1"/>
              <a:t>hota</a:t>
            </a:r>
            <a:r>
              <a:rPr dirty="0"/>
              <a:t> </a:t>
            </a:r>
            <a:r>
              <a:rPr dirty="0" err="1"/>
              <a:t>hai</a:t>
            </a:r>
            <a:r>
              <a:rPr dirty="0"/>
              <a:t> — </a:t>
            </a:r>
            <a:r>
              <a:rPr dirty="0" err="1"/>
              <a:t>yani</a:t>
            </a:r>
            <a:r>
              <a:rPr dirty="0"/>
              <a:t> </a:t>
            </a:r>
            <a:r>
              <a:rPr dirty="0" err="1"/>
              <a:t>ek</a:t>
            </a:r>
            <a:r>
              <a:rPr dirty="0"/>
              <a:t> </a:t>
            </a:r>
            <a:r>
              <a:rPr dirty="0" err="1"/>
              <a:t>naya</a:t>
            </a:r>
            <a:r>
              <a:rPr dirty="0"/>
              <a:t> bug jo </a:t>
            </a:r>
            <a:r>
              <a:rPr dirty="0" err="1"/>
              <a:t>pehle</a:t>
            </a:r>
            <a:r>
              <a:rPr dirty="0"/>
              <a:t> se </a:t>
            </a:r>
            <a:r>
              <a:rPr dirty="0" err="1"/>
              <a:t>sahi</a:t>
            </a:r>
            <a:r>
              <a:rPr dirty="0"/>
              <a:t> </a:t>
            </a:r>
            <a:r>
              <a:rPr dirty="0" err="1"/>
              <a:t>chal</a:t>
            </a:r>
            <a:r>
              <a:rPr dirty="0"/>
              <a:t> </a:t>
            </a:r>
            <a:r>
              <a:rPr dirty="0" err="1"/>
              <a:t>rahe</a:t>
            </a:r>
            <a:r>
              <a:rPr dirty="0"/>
              <a:t> </a:t>
            </a:r>
            <a:r>
              <a:rPr dirty="0" err="1"/>
              <a:t>kaam</a:t>
            </a:r>
            <a:r>
              <a:rPr dirty="0"/>
              <a:t> </a:t>
            </a:r>
            <a:r>
              <a:rPr dirty="0" err="1"/>
              <a:t>ko</a:t>
            </a:r>
            <a:r>
              <a:rPr dirty="0"/>
              <a:t> </a:t>
            </a:r>
            <a:r>
              <a:rPr dirty="0" err="1"/>
              <a:t>kharab</a:t>
            </a:r>
            <a:r>
              <a:rPr dirty="0"/>
              <a:t> </a:t>
            </a:r>
            <a:r>
              <a:rPr dirty="0" err="1"/>
              <a:t>kar</a:t>
            </a:r>
            <a:r>
              <a:rPr dirty="0"/>
              <a:t> de. Regression </a:t>
            </a:r>
            <a:r>
              <a:rPr dirty="0" err="1"/>
              <a:t>ka</a:t>
            </a:r>
            <a:r>
              <a:rPr dirty="0"/>
              <a:t> </a:t>
            </a:r>
            <a:r>
              <a:rPr dirty="0" err="1"/>
              <a:t>matlab</a:t>
            </a:r>
            <a:r>
              <a:rPr dirty="0"/>
              <a:t> </a:t>
            </a:r>
            <a:r>
              <a:rPr dirty="0" err="1"/>
              <a:t>hai</a:t>
            </a:r>
            <a:r>
              <a:rPr dirty="0"/>
              <a:t>: </a:t>
            </a:r>
            <a:r>
              <a:rPr dirty="0" err="1"/>
              <a:t>galat</a:t>
            </a:r>
            <a:r>
              <a:rPr dirty="0"/>
              <a:t> result </a:t>
            </a:r>
            <a:r>
              <a:rPr dirty="0" err="1"/>
              <a:t>aana</a:t>
            </a:r>
            <a:r>
              <a:rPr dirty="0"/>
              <a:t>, circuit </a:t>
            </a:r>
            <a:r>
              <a:rPr dirty="0" err="1"/>
              <a:t>ka</a:t>
            </a:r>
            <a:r>
              <a:rPr dirty="0"/>
              <a:t> </a:t>
            </a:r>
            <a:r>
              <a:rPr dirty="0" err="1"/>
              <a:t>kharab</a:t>
            </a:r>
            <a:r>
              <a:rPr dirty="0"/>
              <a:t> ho </a:t>
            </a:r>
            <a:r>
              <a:rPr dirty="0" err="1"/>
              <a:t>jana</a:t>
            </a:r>
            <a:r>
              <a:rPr dirty="0"/>
              <a:t>, </a:t>
            </a:r>
            <a:r>
              <a:rPr dirty="0" err="1"/>
              <a:t>ya</a:t>
            </a:r>
            <a:r>
              <a:rPr dirty="0"/>
              <a:t> compilation </a:t>
            </a:r>
            <a:r>
              <a:rPr dirty="0" err="1"/>
              <a:t>ka</a:t>
            </a:r>
            <a:r>
              <a:rPr dirty="0"/>
              <a:t> slow ho </a:t>
            </a:r>
            <a:r>
              <a:rPr dirty="0" err="1"/>
              <a:t>jana</a:t>
            </a:r>
            <a:r>
              <a:rPr dirty="0"/>
              <a:t>. Slide par diagram </a:t>
            </a:r>
            <a:r>
              <a:rPr dirty="0" err="1"/>
              <a:t>dikhata</a:t>
            </a:r>
            <a:r>
              <a:rPr dirty="0"/>
              <a:t> </a:t>
            </a:r>
            <a:r>
              <a:rPr dirty="0" err="1"/>
              <a:t>hai</a:t>
            </a:r>
            <a:r>
              <a:rPr dirty="0"/>
              <a:t> </a:t>
            </a:r>
            <a:r>
              <a:rPr dirty="0" err="1"/>
              <a:t>ke</a:t>
            </a:r>
            <a:r>
              <a:rPr dirty="0"/>
              <a:t> </a:t>
            </a:r>
            <a:r>
              <a:rPr dirty="0" err="1"/>
              <a:t>ek</a:t>
            </a:r>
            <a:r>
              <a:rPr dirty="0"/>
              <a:t> simple circuit </a:t>
            </a:r>
            <a:r>
              <a:rPr dirty="0" err="1"/>
              <a:t>transpile</a:t>
            </a:r>
            <a:r>
              <a:rPr dirty="0"/>
              <a:t> hone </a:t>
            </a:r>
            <a:r>
              <a:rPr dirty="0" err="1"/>
              <a:t>ke</a:t>
            </a:r>
            <a:r>
              <a:rPr dirty="0"/>
              <a:t> </a:t>
            </a:r>
            <a:r>
              <a:rPr dirty="0" err="1"/>
              <a:t>baad</a:t>
            </a:r>
            <a:r>
              <a:rPr dirty="0"/>
              <a:t> </a:t>
            </a:r>
            <a:r>
              <a:rPr dirty="0" err="1"/>
              <a:t>kaise</a:t>
            </a:r>
            <a:r>
              <a:rPr dirty="0"/>
              <a:t> hardware-native gates </a:t>
            </a:r>
            <a:r>
              <a:rPr dirty="0" err="1"/>
              <a:t>mein</a:t>
            </a:r>
            <a:r>
              <a:rPr dirty="0"/>
              <a:t> </a:t>
            </a:r>
            <a:r>
              <a:rPr dirty="0" err="1"/>
              <a:t>badal</a:t>
            </a:r>
            <a:r>
              <a:rPr dirty="0"/>
              <a:t> </a:t>
            </a:r>
            <a:r>
              <a:rPr dirty="0" err="1"/>
              <a:t>jata</a:t>
            </a:r>
            <a:r>
              <a:rPr dirty="0"/>
              <a:t> </a:t>
            </a:r>
            <a:r>
              <a:rPr dirty="0" err="1"/>
              <a:t>hai</a:t>
            </a:r>
            <a:r>
              <a:rPr dirty="0"/>
              <a:t>. Isi </a:t>
            </a:r>
            <a:r>
              <a:rPr dirty="0" err="1"/>
              <a:t>liye</a:t>
            </a:r>
            <a:r>
              <a:rPr dirty="0"/>
              <a:t> </a:t>
            </a:r>
            <a:r>
              <a:rPr dirty="0" err="1"/>
              <a:t>hamein</a:t>
            </a:r>
            <a:r>
              <a:rPr dirty="0"/>
              <a:t> </a:t>
            </a:r>
            <a:r>
              <a:rPr dirty="0" err="1"/>
              <a:t>aisi</a:t>
            </a:r>
            <a:r>
              <a:rPr dirty="0"/>
              <a:t> testing </a:t>
            </a:r>
            <a:r>
              <a:rPr dirty="0" err="1"/>
              <a:t>chahiye</a:t>
            </a:r>
            <a:r>
              <a:rPr dirty="0"/>
              <a:t> jo trustworthy </a:t>
            </a:r>
            <a:r>
              <a:rPr dirty="0" err="1"/>
              <a:t>bhi</a:t>
            </a:r>
            <a:r>
              <a:rPr dirty="0"/>
              <a:t> ho </a:t>
            </a:r>
            <a:r>
              <a:rPr dirty="0" err="1"/>
              <a:t>aur</a:t>
            </a:r>
            <a:r>
              <a:rPr dirty="0"/>
              <a:t> affordable </a:t>
            </a:r>
            <a:r>
              <a:rPr dirty="0" err="1"/>
              <a:t>bhi</a:t>
            </a:r>
            <a:r>
              <a:rPr dirty="0"/>
              <a:t>. Agar koi </a:t>
            </a:r>
            <a:r>
              <a:rPr dirty="0" err="1"/>
              <a:t>puchein</a:t>
            </a:r>
            <a:r>
              <a:rPr dirty="0"/>
              <a:t> </a:t>
            </a:r>
            <a:r>
              <a:rPr dirty="0" err="1"/>
              <a:t>ke</a:t>
            </a:r>
            <a:r>
              <a:rPr dirty="0"/>
              <a:t> 'affordable' testing </a:t>
            </a:r>
            <a:r>
              <a:rPr dirty="0" err="1"/>
              <a:t>ka</a:t>
            </a:r>
            <a:r>
              <a:rPr dirty="0"/>
              <a:t> </a:t>
            </a:r>
            <a:r>
              <a:rPr dirty="0" err="1"/>
              <a:t>matlab</a:t>
            </a:r>
            <a:r>
              <a:rPr dirty="0"/>
              <a:t> </a:t>
            </a:r>
            <a:r>
              <a:rPr dirty="0" err="1"/>
              <a:t>kya</a:t>
            </a:r>
            <a:r>
              <a:rPr dirty="0"/>
              <a:t> </a:t>
            </a:r>
            <a:r>
              <a:rPr dirty="0" err="1"/>
              <a:t>hai</a:t>
            </a:r>
            <a:r>
              <a:rPr dirty="0"/>
              <a:t>: </a:t>
            </a:r>
            <a:r>
              <a:rPr dirty="0" err="1"/>
              <a:t>risk_score</a:t>
            </a:r>
            <a:r>
              <a:rPr dirty="0"/>
              <a:t> </a:t>
            </a:r>
            <a:r>
              <a:rPr dirty="0" err="1"/>
              <a:t>mein</a:t>
            </a:r>
            <a:r>
              <a:rPr dirty="0"/>
              <a:t> </a:t>
            </a:r>
            <a:r>
              <a:rPr dirty="0" err="1"/>
              <a:t>ek</a:t>
            </a:r>
            <a:r>
              <a:rPr dirty="0"/>
              <a:t> explicit cost term (EC) </a:t>
            </a:r>
            <a:r>
              <a:rPr dirty="0" err="1"/>
              <a:t>hai</a:t>
            </a:r>
            <a:r>
              <a:rPr dirty="0"/>
              <a:t> jo </a:t>
            </a:r>
            <a:r>
              <a:rPr dirty="0" err="1"/>
              <a:t>transpilation</a:t>
            </a:r>
            <a:r>
              <a:rPr dirty="0"/>
              <a:t> </a:t>
            </a:r>
            <a:r>
              <a:rPr dirty="0" err="1"/>
              <a:t>aur</a:t>
            </a:r>
            <a:r>
              <a:rPr dirty="0"/>
              <a:t> oracle time measure </a:t>
            </a:r>
            <a:r>
              <a:rPr dirty="0" err="1"/>
              <a:t>karta</a:t>
            </a:r>
            <a:r>
              <a:rPr dirty="0"/>
              <a:t> </a:t>
            </a:r>
            <a:r>
              <a:rPr dirty="0" err="1"/>
              <a:t>hai</a:t>
            </a:r>
            <a:r>
              <a:rPr dirty="0"/>
              <a:t>, </a:t>
            </a:r>
            <a:r>
              <a:rPr dirty="0" err="1"/>
              <a:t>aur</a:t>
            </a:r>
            <a:r>
              <a:rPr dirty="0"/>
              <a:t> Stage 4/5 </a:t>
            </a:r>
            <a:r>
              <a:rPr dirty="0" err="1"/>
              <a:t>mein</a:t>
            </a:r>
            <a:r>
              <a:rPr dirty="0"/>
              <a:t> selector </a:t>
            </a:r>
            <a:r>
              <a:rPr dirty="0" err="1"/>
              <a:t>ko</a:t>
            </a:r>
            <a:r>
              <a:rPr dirty="0"/>
              <a:t> </a:t>
            </a:r>
            <a:r>
              <a:rPr dirty="0" err="1"/>
              <a:t>ek</a:t>
            </a:r>
            <a:r>
              <a:rPr dirty="0"/>
              <a:t> fixed CPU-time budget </a:t>
            </a:r>
            <a:r>
              <a:rPr dirty="0" err="1"/>
              <a:t>ke</a:t>
            </a:r>
            <a:r>
              <a:rPr dirty="0"/>
              <a:t> </a:t>
            </a:r>
            <a:r>
              <a:rPr dirty="0" err="1"/>
              <a:t>andar</a:t>
            </a:r>
            <a:r>
              <a:rPr dirty="0"/>
              <a:t> hi evaluate </a:t>
            </a:r>
            <a:r>
              <a:rPr dirty="0" err="1"/>
              <a:t>kiya</a:t>
            </a:r>
            <a:r>
              <a:rPr dirty="0"/>
              <a:t> </a:t>
            </a:r>
            <a:r>
              <a:rPr dirty="0" err="1"/>
              <a:t>jata</a:t>
            </a:r>
            <a:r>
              <a:rPr dirty="0"/>
              <a:t> </a:t>
            </a:r>
            <a:r>
              <a:rPr dirty="0" err="1"/>
              <a:t>hai</a:t>
            </a:r>
            <a:r>
              <a:rPr dirty="0"/>
              <a:t> — </a:t>
            </a:r>
            <a:r>
              <a:rPr dirty="0" err="1"/>
              <a:t>yehi</a:t>
            </a:r>
            <a:r>
              <a:rPr dirty="0"/>
              <a:t> 'affordable' </a:t>
            </a:r>
            <a:r>
              <a:rPr dirty="0" err="1"/>
              <a:t>ka</a:t>
            </a:r>
            <a:r>
              <a:rPr dirty="0"/>
              <a:t> operational meaning </a:t>
            </a:r>
            <a:r>
              <a:rPr dirty="0" err="1"/>
              <a:t>hai</a:t>
            </a:r>
            <a:r>
              <a:rPr dirty="0"/>
              <a:t>. </a:t>
            </a:r>
            <a:r>
              <a:rPr dirty="0" err="1"/>
              <a:t>Aur</a:t>
            </a:r>
            <a:r>
              <a:rPr dirty="0"/>
              <a:t> 'most active, widely-used SDK' </a:t>
            </a:r>
            <a:r>
              <a:rPr dirty="0" err="1"/>
              <a:t>ka</a:t>
            </a:r>
            <a:r>
              <a:rPr dirty="0"/>
              <a:t> evidence slide 37 (backup) </a:t>
            </a:r>
            <a:r>
              <a:rPr dirty="0" err="1"/>
              <a:t>mein</a:t>
            </a:r>
            <a:r>
              <a:rPr dirty="0"/>
              <a:t> </a:t>
            </a:r>
            <a:r>
              <a:rPr dirty="0" err="1"/>
              <a:t>hai</a:t>
            </a:r>
            <a:r>
              <a:rPr dirty="0"/>
              <a:t>, </a:t>
            </a:r>
            <a:r>
              <a:rPr dirty="0" err="1"/>
              <a:t>jahan</a:t>
            </a:r>
            <a:r>
              <a:rPr dirty="0"/>
              <a:t> </a:t>
            </a:r>
            <a:r>
              <a:rPr dirty="0" err="1"/>
              <a:t>Qiskit</a:t>
            </a:r>
            <a:r>
              <a:rPr dirty="0"/>
              <a:t> </a:t>
            </a:r>
            <a:r>
              <a:rPr dirty="0" err="1"/>
              <a:t>ki</a:t>
            </a:r>
            <a:r>
              <a:rPr dirty="0"/>
              <a:t> release velocity </a:t>
            </a:r>
            <a:r>
              <a:rPr dirty="0" err="1"/>
              <a:t>aur</a:t>
            </a:r>
            <a:r>
              <a:rPr dirty="0"/>
              <a:t> </a:t>
            </a:r>
            <a:r>
              <a:rPr dirty="0" err="1"/>
              <a:t>har</a:t>
            </a:r>
            <a:r>
              <a:rPr dirty="0"/>
              <a:t> release </a:t>
            </a:r>
            <a:r>
              <a:rPr dirty="0" err="1"/>
              <a:t>transpiler</a:t>
            </a:r>
            <a:r>
              <a:rPr dirty="0"/>
              <a:t> </a:t>
            </a:r>
            <a:r>
              <a:rPr dirty="0" err="1"/>
              <a:t>ko</a:t>
            </a:r>
            <a:r>
              <a:rPr dirty="0"/>
              <a:t> touch </a:t>
            </a:r>
            <a:r>
              <a:rPr dirty="0" err="1"/>
              <a:t>karne</a:t>
            </a:r>
            <a:r>
              <a:rPr dirty="0"/>
              <a:t> </a:t>
            </a:r>
            <a:r>
              <a:rPr dirty="0" err="1"/>
              <a:t>ka</a:t>
            </a:r>
            <a:r>
              <a:rPr dirty="0"/>
              <a:t> data </a:t>
            </a:r>
            <a:r>
              <a:rPr dirty="0" err="1"/>
              <a:t>diya</a:t>
            </a:r>
            <a:r>
              <a:rPr dirty="0"/>
              <a:t> </a:t>
            </a:r>
            <a:r>
              <a:rPr dirty="0" err="1"/>
              <a:t>gaya</a:t>
            </a:r>
            <a:r>
              <a:rPr dirty="0"/>
              <a:t> </a:t>
            </a:r>
            <a:r>
              <a:rPr dirty="0" err="1"/>
              <a:t>hai</a:t>
            </a:r>
            <a:r>
              <a:rPr dirty="0" smtClean="0"/>
              <a:t>.</a:t>
            </a:r>
            <a:endParaRPr lang="en-US" dirty="0" smtClean="0"/>
          </a:p>
          <a:p>
            <a:endParaRPr lang="en-US" dirty="0" smtClean="0"/>
          </a:p>
          <a:p>
            <a:r>
              <a:rPr lang="en-US" dirty="0" smtClean="0"/>
              <a:t>“The Python code is executed on the classical computer to construct the logical quantum circuit. The quantum </a:t>
            </a:r>
            <a:r>
              <a:rPr lang="en-US" dirty="0" err="1" smtClean="0"/>
              <a:t>transpiler</a:t>
            </a:r>
            <a:r>
              <a:rPr lang="en-US" dirty="0" smtClean="0"/>
              <a:t> then takes that circuit and converts it into a form compatible with the target quantum hardware.”</a:t>
            </a:r>
            <a:endParaRPr dirty="0"/>
          </a:p>
          <a:p>
            <a:endParaRPr dirty="0"/>
          </a:p>
          <a:p>
            <a:r>
              <a:rPr dirty="0" err="1"/>
              <a:t>Mumkin</a:t>
            </a:r>
            <a:r>
              <a:rPr dirty="0"/>
              <a:t> examiner </a:t>
            </a:r>
            <a:r>
              <a:rPr dirty="0" err="1"/>
              <a:t>sawalat</a:t>
            </a:r>
            <a:r>
              <a:rPr dirty="0"/>
              <a:t>:</a:t>
            </a:r>
          </a:p>
          <a:p>
            <a:r>
              <a:rPr dirty="0"/>
              <a:t>S1: </a:t>
            </a:r>
            <a:r>
              <a:rPr dirty="0" err="1"/>
              <a:t>Cirq</a:t>
            </a:r>
            <a:r>
              <a:rPr dirty="0"/>
              <a:t> </a:t>
            </a:r>
            <a:r>
              <a:rPr dirty="0" err="1"/>
              <a:t>ya</a:t>
            </a:r>
            <a:r>
              <a:rPr dirty="0"/>
              <a:t> </a:t>
            </a:r>
            <a:r>
              <a:rPr dirty="0" err="1"/>
              <a:t>PennyLane</a:t>
            </a:r>
            <a:r>
              <a:rPr dirty="0"/>
              <a:t> </a:t>
            </a:r>
            <a:r>
              <a:rPr dirty="0" err="1"/>
              <a:t>ki</a:t>
            </a:r>
            <a:r>
              <a:rPr dirty="0"/>
              <a:t> </a:t>
            </a:r>
            <a:r>
              <a:rPr dirty="0" err="1"/>
              <a:t>jagah</a:t>
            </a:r>
            <a:r>
              <a:rPr dirty="0"/>
              <a:t> </a:t>
            </a:r>
            <a:r>
              <a:rPr dirty="0" err="1"/>
              <a:t>Qiskit</a:t>
            </a:r>
            <a:r>
              <a:rPr dirty="0"/>
              <a:t> hi </a:t>
            </a:r>
            <a:r>
              <a:rPr dirty="0" err="1"/>
              <a:t>kyun</a:t>
            </a:r>
            <a:r>
              <a:rPr dirty="0"/>
              <a:t> choose </a:t>
            </a:r>
            <a:r>
              <a:rPr dirty="0" err="1"/>
              <a:t>kiya</a:t>
            </a:r>
            <a:r>
              <a:rPr dirty="0"/>
              <a:t>?</a:t>
            </a:r>
          </a:p>
          <a:p>
            <a:r>
              <a:rPr dirty="0"/>
              <a:t>J1: </a:t>
            </a:r>
            <a:r>
              <a:rPr dirty="0" err="1"/>
              <a:t>Qiskit</a:t>
            </a:r>
            <a:r>
              <a:rPr dirty="0"/>
              <a:t> sab se </a:t>
            </a:r>
            <a:r>
              <a:rPr dirty="0" err="1"/>
              <a:t>zyada</a:t>
            </a:r>
            <a:r>
              <a:rPr dirty="0"/>
              <a:t> actively developed </a:t>
            </a:r>
            <a:r>
              <a:rPr dirty="0" err="1"/>
              <a:t>aur</a:t>
            </a:r>
            <a:r>
              <a:rPr dirty="0"/>
              <a:t> widely-used SDK </a:t>
            </a:r>
            <a:r>
              <a:rPr dirty="0" err="1"/>
              <a:t>hai</a:t>
            </a:r>
            <a:r>
              <a:rPr dirty="0"/>
              <a:t>, </a:t>
            </a:r>
            <a:r>
              <a:rPr dirty="0" err="1"/>
              <a:t>aur</a:t>
            </a:r>
            <a:r>
              <a:rPr dirty="0"/>
              <a:t> is </a:t>
            </a:r>
            <a:r>
              <a:rPr dirty="0" err="1"/>
              <a:t>ki</a:t>
            </a:r>
            <a:r>
              <a:rPr dirty="0"/>
              <a:t> </a:t>
            </a:r>
            <a:r>
              <a:rPr dirty="0" err="1"/>
              <a:t>transpiler</a:t>
            </a:r>
            <a:r>
              <a:rPr dirty="0"/>
              <a:t> changes </a:t>
            </a:r>
            <a:r>
              <a:rPr dirty="0" err="1"/>
              <a:t>ka</a:t>
            </a:r>
            <a:r>
              <a:rPr dirty="0"/>
              <a:t> public record sab se rich </a:t>
            </a:r>
            <a:r>
              <a:rPr dirty="0" err="1"/>
              <a:t>hai</a:t>
            </a:r>
            <a:r>
              <a:rPr dirty="0"/>
              <a:t> — </a:t>
            </a:r>
            <a:r>
              <a:rPr dirty="0" err="1"/>
              <a:t>isi</a:t>
            </a:r>
            <a:r>
              <a:rPr dirty="0"/>
              <a:t> </a:t>
            </a:r>
            <a:r>
              <a:rPr dirty="0" err="1"/>
              <a:t>liye</a:t>
            </a:r>
            <a:r>
              <a:rPr dirty="0"/>
              <a:t> real regressions study </a:t>
            </a:r>
            <a:r>
              <a:rPr dirty="0" err="1"/>
              <a:t>karne</a:t>
            </a:r>
            <a:r>
              <a:rPr dirty="0"/>
              <a:t> </a:t>
            </a:r>
            <a:r>
              <a:rPr dirty="0" err="1"/>
              <a:t>ke</a:t>
            </a:r>
            <a:r>
              <a:rPr dirty="0"/>
              <a:t> </a:t>
            </a:r>
            <a:r>
              <a:rPr dirty="0" err="1"/>
              <a:t>liye</a:t>
            </a:r>
            <a:r>
              <a:rPr dirty="0"/>
              <a:t> ye sab se </a:t>
            </a:r>
            <a:r>
              <a:rPr dirty="0" err="1"/>
              <a:t>acha</a:t>
            </a:r>
            <a:r>
              <a:rPr dirty="0"/>
              <a:t> subject </a:t>
            </a:r>
            <a:r>
              <a:rPr dirty="0" err="1"/>
              <a:t>hai</a:t>
            </a:r>
            <a:r>
              <a:rPr dirty="0"/>
              <a:t>. </a:t>
            </a:r>
            <a:r>
              <a:rPr dirty="0" err="1"/>
              <a:t>Iska</a:t>
            </a:r>
            <a:r>
              <a:rPr dirty="0"/>
              <a:t> evidence slide 38 (backup) </a:t>
            </a:r>
            <a:r>
              <a:rPr dirty="0" err="1"/>
              <a:t>mein</a:t>
            </a:r>
            <a:r>
              <a:rPr dirty="0"/>
              <a:t> </a:t>
            </a:r>
            <a:r>
              <a:rPr dirty="0" err="1"/>
              <a:t>hai</a:t>
            </a:r>
            <a:r>
              <a:rPr dirty="0"/>
              <a:t>.</a:t>
            </a:r>
          </a:p>
          <a:p>
            <a:r>
              <a:rPr dirty="0"/>
              <a:t>S2: 'Regression' se </a:t>
            </a:r>
            <a:r>
              <a:rPr dirty="0" err="1"/>
              <a:t>yahan</a:t>
            </a:r>
            <a:r>
              <a:rPr dirty="0"/>
              <a:t> exactly </a:t>
            </a:r>
            <a:r>
              <a:rPr dirty="0" err="1"/>
              <a:t>kya</a:t>
            </a:r>
            <a:r>
              <a:rPr dirty="0"/>
              <a:t> </a:t>
            </a:r>
            <a:r>
              <a:rPr dirty="0" err="1"/>
              <a:t>murad</a:t>
            </a:r>
            <a:r>
              <a:rPr dirty="0"/>
              <a:t> </a:t>
            </a:r>
            <a:r>
              <a:rPr dirty="0" err="1"/>
              <a:t>hai</a:t>
            </a:r>
            <a:r>
              <a:rPr dirty="0"/>
              <a:t> — </a:t>
            </a:r>
            <a:r>
              <a:rPr dirty="0" err="1"/>
              <a:t>kya</a:t>
            </a:r>
            <a:r>
              <a:rPr dirty="0"/>
              <a:t> ye </a:t>
            </a:r>
            <a:r>
              <a:rPr dirty="0" err="1"/>
              <a:t>hamesha</a:t>
            </a:r>
            <a:r>
              <a:rPr dirty="0"/>
              <a:t> </a:t>
            </a:r>
            <a:r>
              <a:rPr dirty="0" err="1"/>
              <a:t>ek</a:t>
            </a:r>
            <a:r>
              <a:rPr dirty="0"/>
              <a:t> functional bug </a:t>
            </a:r>
            <a:r>
              <a:rPr dirty="0" err="1"/>
              <a:t>hoti</a:t>
            </a:r>
            <a:r>
              <a:rPr dirty="0"/>
              <a:t> </a:t>
            </a:r>
            <a:r>
              <a:rPr dirty="0" err="1"/>
              <a:t>hai</a:t>
            </a:r>
            <a:r>
              <a:rPr dirty="0"/>
              <a:t>?</a:t>
            </a:r>
          </a:p>
          <a:p>
            <a:r>
              <a:rPr dirty="0"/>
              <a:t>J2: </a:t>
            </a:r>
            <a:r>
              <a:rPr dirty="0" err="1"/>
              <a:t>Nahi</a:t>
            </a:r>
            <a:r>
              <a:rPr dirty="0"/>
              <a:t>, regression teen </a:t>
            </a:r>
            <a:r>
              <a:rPr dirty="0" err="1"/>
              <a:t>tarah</a:t>
            </a:r>
            <a:r>
              <a:rPr dirty="0"/>
              <a:t> </a:t>
            </a:r>
            <a:r>
              <a:rPr dirty="0" err="1"/>
              <a:t>ki</a:t>
            </a:r>
            <a:r>
              <a:rPr dirty="0"/>
              <a:t> ho </a:t>
            </a:r>
            <a:r>
              <a:rPr dirty="0" err="1"/>
              <a:t>sakti</a:t>
            </a:r>
            <a:r>
              <a:rPr dirty="0"/>
              <a:t> </a:t>
            </a:r>
            <a:r>
              <a:rPr dirty="0" err="1"/>
              <a:t>hai</a:t>
            </a:r>
            <a:r>
              <a:rPr dirty="0"/>
              <a:t>: </a:t>
            </a:r>
            <a:r>
              <a:rPr dirty="0" err="1"/>
              <a:t>galat</a:t>
            </a:r>
            <a:r>
              <a:rPr dirty="0"/>
              <a:t> result (semantic), circuit quality </a:t>
            </a:r>
            <a:r>
              <a:rPr dirty="0" err="1"/>
              <a:t>ka</a:t>
            </a:r>
            <a:r>
              <a:rPr dirty="0"/>
              <a:t> </a:t>
            </a:r>
            <a:r>
              <a:rPr dirty="0" err="1"/>
              <a:t>kharab</a:t>
            </a:r>
            <a:r>
              <a:rPr dirty="0"/>
              <a:t> </a:t>
            </a:r>
            <a:r>
              <a:rPr dirty="0" err="1"/>
              <a:t>hona</a:t>
            </a:r>
            <a:r>
              <a:rPr dirty="0"/>
              <a:t> (</a:t>
            </a:r>
            <a:r>
              <a:rPr dirty="0" err="1"/>
              <a:t>zyada</a:t>
            </a:r>
            <a:r>
              <a:rPr dirty="0"/>
              <a:t> gates </a:t>
            </a:r>
            <a:r>
              <a:rPr dirty="0" err="1"/>
              <a:t>ya</a:t>
            </a:r>
            <a:r>
              <a:rPr dirty="0"/>
              <a:t> depth), </a:t>
            </a:r>
            <a:r>
              <a:rPr dirty="0" err="1"/>
              <a:t>ya</a:t>
            </a:r>
            <a:r>
              <a:rPr dirty="0"/>
              <a:t> </a:t>
            </a:r>
            <a:r>
              <a:rPr dirty="0" err="1"/>
              <a:t>phir</a:t>
            </a:r>
            <a:r>
              <a:rPr dirty="0"/>
              <a:t> compilation </a:t>
            </a:r>
            <a:r>
              <a:rPr dirty="0" err="1"/>
              <a:t>ka</a:t>
            </a:r>
            <a:r>
              <a:rPr dirty="0"/>
              <a:t> slow ho </a:t>
            </a:r>
            <a:r>
              <a:rPr dirty="0" err="1"/>
              <a:t>jana</a:t>
            </a:r>
            <a:r>
              <a:rPr dirty="0"/>
              <a:t>. </a:t>
            </a:r>
            <a:r>
              <a:rPr dirty="0" err="1"/>
              <a:t>Teeno</a:t>
            </a:r>
            <a:r>
              <a:rPr dirty="0"/>
              <a:t> hi is thesis </a:t>
            </a:r>
            <a:r>
              <a:rPr dirty="0" err="1"/>
              <a:t>ke</a:t>
            </a:r>
            <a:r>
              <a:rPr dirty="0"/>
              <a:t> fault taxonomy (slide 9) </a:t>
            </a:r>
            <a:r>
              <a:rPr dirty="0" err="1"/>
              <a:t>mein</a:t>
            </a:r>
            <a:r>
              <a:rPr dirty="0"/>
              <a:t> cover </a:t>
            </a:r>
            <a:r>
              <a:rPr dirty="0" err="1"/>
              <a:t>hoti</a:t>
            </a:r>
            <a:r>
              <a:rPr dirty="0"/>
              <a:t> </a:t>
            </a:r>
            <a:r>
              <a:rPr dirty="0" err="1"/>
              <a:t>hain</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a:t>
            </a:r>
            <a:r>
              <a:rPr dirty="0" err="1"/>
              <a:t>Qiskit</a:t>
            </a:r>
            <a:r>
              <a:rPr dirty="0"/>
              <a:t> 'sab se rich record' </a:t>
            </a:r>
            <a:r>
              <a:rPr dirty="0" err="1"/>
              <a:t>deta</a:t>
            </a:r>
            <a:r>
              <a:rPr dirty="0"/>
              <a:t> </a:t>
            </a:r>
            <a:r>
              <a:rPr dirty="0" err="1"/>
              <a:t>hai</a:t>
            </a:r>
            <a:r>
              <a:rPr dirty="0"/>
              <a:t> — </a:t>
            </a:r>
            <a:r>
              <a:rPr dirty="0" err="1"/>
              <a:t>ya</a:t>
            </a:r>
            <a:r>
              <a:rPr dirty="0"/>
              <a:t> ye </a:t>
            </a:r>
            <a:r>
              <a:rPr dirty="0" err="1"/>
              <a:t>sirf</a:t>
            </a:r>
            <a:r>
              <a:rPr dirty="0"/>
              <a:t> convenience </a:t>
            </a:r>
            <a:r>
              <a:rPr dirty="0" err="1"/>
              <a:t>ka</a:t>
            </a:r>
            <a:r>
              <a:rPr dirty="0"/>
              <a:t> choice </a:t>
            </a:r>
            <a:r>
              <a:rPr dirty="0" err="1"/>
              <a:t>tha</a:t>
            </a:r>
            <a:r>
              <a:rPr dirty="0"/>
              <a:t>, </a:t>
            </a:r>
            <a:r>
              <a:rPr dirty="0" err="1"/>
              <a:t>kyunki</a:t>
            </a:r>
            <a:r>
              <a:rPr dirty="0"/>
              <a:t> </a:t>
            </a:r>
            <a:r>
              <a:rPr dirty="0" err="1"/>
              <a:t>Qiskit</a:t>
            </a:r>
            <a:r>
              <a:rPr dirty="0"/>
              <a:t> </a:t>
            </a:r>
            <a:r>
              <a:rPr dirty="0" err="1"/>
              <a:t>sabse</a:t>
            </a:r>
            <a:r>
              <a:rPr dirty="0"/>
              <a:t> </a:t>
            </a:r>
            <a:r>
              <a:rPr dirty="0" err="1"/>
              <a:t>aasani</a:t>
            </a:r>
            <a:r>
              <a:rPr dirty="0"/>
              <a:t> se available </a:t>
            </a:r>
            <a:r>
              <a:rPr dirty="0" err="1"/>
              <a:t>hai</a:t>
            </a:r>
            <a:r>
              <a:rPr dirty="0"/>
              <a:t>?</a:t>
            </a:r>
          </a:p>
          <a:p>
            <a:r>
              <a:rPr dirty="0"/>
              <a:t>J: Convenience </a:t>
            </a:r>
            <a:r>
              <a:rPr dirty="0" err="1"/>
              <a:t>aur</a:t>
            </a:r>
            <a:r>
              <a:rPr dirty="0"/>
              <a:t> richness </a:t>
            </a:r>
            <a:r>
              <a:rPr dirty="0" err="1"/>
              <a:t>dono</a:t>
            </a:r>
            <a:r>
              <a:rPr dirty="0"/>
              <a:t> overlap </a:t>
            </a:r>
            <a:r>
              <a:rPr dirty="0" err="1"/>
              <a:t>karte</a:t>
            </a:r>
            <a:r>
              <a:rPr dirty="0"/>
              <a:t> </a:t>
            </a:r>
            <a:r>
              <a:rPr dirty="0" err="1"/>
              <a:t>hain</a:t>
            </a:r>
            <a:r>
              <a:rPr dirty="0"/>
              <a:t>, </a:t>
            </a:r>
            <a:r>
              <a:rPr dirty="0" err="1"/>
              <a:t>lekin</a:t>
            </a:r>
            <a:r>
              <a:rPr dirty="0"/>
              <a:t> hum ne specific evidence </a:t>
            </a:r>
            <a:r>
              <a:rPr dirty="0" err="1"/>
              <a:t>diya</a:t>
            </a:r>
            <a:r>
              <a:rPr dirty="0"/>
              <a:t> </a:t>
            </a:r>
            <a:r>
              <a:rPr dirty="0" err="1"/>
              <a:t>hai</a:t>
            </a:r>
            <a:r>
              <a:rPr dirty="0"/>
              <a:t> (slide 38) </a:t>
            </a:r>
            <a:r>
              <a:rPr dirty="0" err="1"/>
              <a:t>ke</a:t>
            </a:r>
            <a:r>
              <a:rPr dirty="0"/>
              <a:t> </a:t>
            </a:r>
            <a:r>
              <a:rPr dirty="0" err="1"/>
              <a:t>Qiskit</a:t>
            </a:r>
            <a:r>
              <a:rPr dirty="0"/>
              <a:t> </a:t>
            </a:r>
            <a:r>
              <a:rPr dirty="0" err="1"/>
              <a:t>ki</a:t>
            </a:r>
            <a:r>
              <a:rPr dirty="0"/>
              <a:t> release velocity </a:t>
            </a:r>
            <a:r>
              <a:rPr dirty="0" err="1"/>
              <a:t>aur</a:t>
            </a:r>
            <a:r>
              <a:rPr dirty="0"/>
              <a:t> </a:t>
            </a:r>
            <a:r>
              <a:rPr dirty="0" err="1"/>
              <a:t>transpiler</a:t>
            </a:r>
            <a:r>
              <a:rPr dirty="0"/>
              <a:t> churn </a:t>
            </a:r>
            <a:r>
              <a:rPr dirty="0" err="1"/>
              <a:t>dusre</a:t>
            </a:r>
            <a:r>
              <a:rPr dirty="0"/>
              <a:t> SDKs se </a:t>
            </a:r>
            <a:r>
              <a:rPr dirty="0" err="1"/>
              <a:t>zyada</a:t>
            </a:r>
            <a:r>
              <a:rPr dirty="0"/>
              <a:t> </a:t>
            </a:r>
            <a:r>
              <a:rPr dirty="0" err="1"/>
              <a:t>hai</a:t>
            </a:r>
            <a:r>
              <a:rPr dirty="0"/>
              <a:t> — ye academically justified choice </a:t>
            </a:r>
            <a:r>
              <a:rPr dirty="0" err="1"/>
              <a:t>hai</a:t>
            </a:r>
            <a:r>
              <a:rPr dirty="0"/>
              <a:t>, </a:t>
            </a:r>
            <a:r>
              <a:rPr dirty="0" err="1"/>
              <a:t>sirf</a:t>
            </a:r>
            <a:r>
              <a:rPr dirty="0"/>
              <a:t> convenience </a:t>
            </a:r>
            <a:r>
              <a:rPr dirty="0" err="1"/>
              <a:t>nahi</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smtClean="0"/>
              <a:t>This slide compares a traditional compiler with a quantum compiler, or </a:t>
            </a:r>
            <a:r>
              <a:rPr lang="en-US" dirty="0" err="1" smtClean="0"/>
              <a:t>transpiler</a:t>
            </a:r>
            <a:r>
              <a:rPr lang="en-US" dirty="0" smtClean="0"/>
              <a:t>.</a:t>
            </a:r>
            <a:r>
              <a:rPr lang="en-US" baseline="0" dirty="0" smtClean="0"/>
              <a:t> </a:t>
            </a:r>
            <a:r>
              <a:rPr lang="en-US" dirty="0" smtClean="0"/>
              <a:t>A traditional compiler takes source code as input and translates it according to the instruction set of a classical CPU. In contrast, a quantum </a:t>
            </a:r>
            <a:r>
              <a:rPr lang="en-US" dirty="0" err="1" smtClean="0"/>
              <a:t>transpiler</a:t>
            </a:r>
            <a:r>
              <a:rPr lang="en-US" dirty="0" smtClean="0"/>
              <a:t> takes a quantum circuit as input. This circuit is basically a sequence of gates applied to specific qubits.</a:t>
            </a:r>
            <a:r>
              <a:rPr lang="en-US" baseline="0" dirty="0" smtClean="0"/>
              <a:t> </a:t>
            </a:r>
            <a:r>
              <a:rPr lang="en-US" dirty="0" smtClean="0"/>
              <a:t>The main difference is in the hardware constraints they must respect. A traditional compiler works with the CPU instruction set, while a quantum </a:t>
            </a:r>
            <a:r>
              <a:rPr lang="en-US" dirty="0" err="1" smtClean="0"/>
              <a:t>transpiler</a:t>
            </a:r>
            <a:r>
              <a:rPr lang="en-US" dirty="0" smtClean="0"/>
              <a:t> must consider the target quantum device’s native gate set and the connectivity between physical qubits.</a:t>
            </a:r>
            <a:r>
              <a:rPr lang="en-US" baseline="0" dirty="0" smtClean="0"/>
              <a:t> </a:t>
            </a:r>
            <a:r>
              <a:rPr lang="en-US" dirty="0" smtClean="0"/>
              <a:t>Because of this, the quantum </a:t>
            </a:r>
            <a:r>
              <a:rPr lang="en-US" dirty="0" err="1" smtClean="0"/>
              <a:t>transpiler</a:t>
            </a:r>
            <a:r>
              <a:rPr lang="en-US" dirty="0" smtClean="0"/>
              <a:t> performs operations such as gate decomposition, qubit routing, and layout mapping. Its goal is to transform the original logical circuit into a hardware-compatible circuit while preserving the same computation.</a:t>
            </a:r>
            <a:r>
              <a:rPr lang="en-US" baseline="0" dirty="0" smtClean="0"/>
              <a:t> </a:t>
            </a:r>
            <a:r>
              <a:rPr lang="en-US" dirty="0" smtClean="0"/>
              <a:t>One important point is that the </a:t>
            </a:r>
            <a:r>
              <a:rPr lang="en-US" dirty="0" err="1" smtClean="0"/>
              <a:t>transpiler</a:t>
            </a:r>
            <a:r>
              <a:rPr lang="en-US" dirty="0" smtClean="0"/>
              <a:t> does not execute the quantum program. Just like a traditional compiler, it only rewrites a symbolic description of the program. Therefore, both traditional compilers and quantum </a:t>
            </a:r>
            <a:r>
              <a:rPr lang="en-US" dirty="0" err="1" smtClean="0"/>
              <a:t>transpilers</a:t>
            </a:r>
            <a:r>
              <a:rPr lang="en-US" dirty="0" smtClean="0"/>
              <a:t> run on an ordinary classical CPU.</a:t>
            </a:r>
          </a:p>
          <a:p>
            <a:endParaRPr dirty="0"/>
          </a:p>
          <a:p>
            <a:r>
              <a:rPr dirty="0" err="1"/>
              <a:t>Mumkin</a:t>
            </a:r>
            <a:r>
              <a:rPr dirty="0"/>
              <a:t> examiner </a:t>
            </a:r>
            <a:r>
              <a:rPr dirty="0" err="1"/>
              <a:t>sawalat</a:t>
            </a:r>
            <a:r>
              <a:rPr dirty="0"/>
              <a:t>:</a:t>
            </a:r>
          </a:p>
          <a:p>
            <a:r>
              <a:rPr dirty="0"/>
              <a:t>S1: Agar quantum compiler </a:t>
            </a:r>
            <a:r>
              <a:rPr dirty="0" err="1"/>
              <a:t>kabhi</a:t>
            </a:r>
            <a:r>
              <a:rPr dirty="0"/>
              <a:t> real quantum state </a:t>
            </a:r>
            <a:r>
              <a:rPr dirty="0" err="1"/>
              <a:t>ko</a:t>
            </a:r>
            <a:r>
              <a:rPr dirty="0"/>
              <a:t> touch hi </a:t>
            </a:r>
            <a:r>
              <a:rPr dirty="0" err="1"/>
              <a:t>nahi</a:t>
            </a:r>
            <a:r>
              <a:rPr dirty="0"/>
              <a:t> </a:t>
            </a:r>
            <a:r>
              <a:rPr dirty="0" err="1"/>
              <a:t>karta</a:t>
            </a:r>
            <a:r>
              <a:rPr dirty="0"/>
              <a:t>, to </a:t>
            </a:r>
            <a:r>
              <a:rPr dirty="0" err="1"/>
              <a:t>ise</a:t>
            </a:r>
            <a:r>
              <a:rPr dirty="0"/>
              <a:t> 'quantum' testing </a:t>
            </a:r>
            <a:r>
              <a:rPr dirty="0" err="1"/>
              <a:t>kyun</a:t>
            </a:r>
            <a:r>
              <a:rPr dirty="0"/>
              <a:t> </a:t>
            </a:r>
            <a:r>
              <a:rPr dirty="0" err="1"/>
              <a:t>kaha</a:t>
            </a:r>
            <a:r>
              <a:rPr dirty="0"/>
              <a:t> ja </a:t>
            </a:r>
            <a:r>
              <a:rPr dirty="0" err="1"/>
              <a:t>raha</a:t>
            </a:r>
            <a:r>
              <a:rPr dirty="0"/>
              <a:t> </a:t>
            </a:r>
            <a:r>
              <a:rPr dirty="0" err="1"/>
              <a:t>hai</a:t>
            </a:r>
            <a:r>
              <a:rPr dirty="0"/>
              <a:t>?</a:t>
            </a:r>
          </a:p>
          <a:p>
            <a:r>
              <a:rPr dirty="0"/>
              <a:t>J1: </a:t>
            </a:r>
            <a:r>
              <a:rPr dirty="0" err="1"/>
              <a:t>Kyunki</a:t>
            </a:r>
            <a:r>
              <a:rPr dirty="0"/>
              <a:t> compiler jo circuit produce </a:t>
            </a:r>
            <a:r>
              <a:rPr dirty="0" err="1"/>
              <a:t>karta</a:t>
            </a:r>
            <a:r>
              <a:rPr dirty="0"/>
              <a:t> </a:t>
            </a:r>
            <a:r>
              <a:rPr dirty="0" err="1"/>
              <a:t>hai</a:t>
            </a:r>
            <a:r>
              <a:rPr dirty="0"/>
              <a:t>, </a:t>
            </a:r>
            <a:r>
              <a:rPr dirty="0" err="1"/>
              <a:t>uska</a:t>
            </a:r>
            <a:r>
              <a:rPr dirty="0"/>
              <a:t> correctness quantum semantics (unitary transformation, global phase, entanglement) </a:t>
            </a:r>
            <a:r>
              <a:rPr dirty="0" err="1"/>
              <a:t>ke</a:t>
            </a:r>
            <a:r>
              <a:rPr dirty="0"/>
              <a:t> against check </a:t>
            </a:r>
            <a:r>
              <a:rPr dirty="0" err="1"/>
              <a:t>hota</a:t>
            </a:r>
            <a:r>
              <a:rPr dirty="0"/>
              <a:t> </a:t>
            </a:r>
            <a:r>
              <a:rPr dirty="0" err="1"/>
              <a:t>hai</a:t>
            </a:r>
            <a:r>
              <a:rPr dirty="0"/>
              <a:t> — is </a:t>
            </a:r>
            <a:r>
              <a:rPr dirty="0" err="1"/>
              <a:t>liye</a:t>
            </a:r>
            <a:r>
              <a:rPr dirty="0"/>
              <a:t> checking process </a:t>
            </a:r>
            <a:r>
              <a:rPr dirty="0" err="1"/>
              <a:t>khud</a:t>
            </a:r>
            <a:r>
              <a:rPr dirty="0"/>
              <a:t> classical hone </a:t>
            </a:r>
            <a:r>
              <a:rPr dirty="0" err="1"/>
              <a:t>ke</a:t>
            </a:r>
            <a:r>
              <a:rPr dirty="0"/>
              <a:t> </a:t>
            </a:r>
            <a:r>
              <a:rPr dirty="0" err="1"/>
              <a:t>bawajood</a:t>
            </a:r>
            <a:r>
              <a:rPr dirty="0"/>
              <a:t>, </a:t>
            </a:r>
            <a:r>
              <a:rPr dirty="0" err="1"/>
              <a:t>jis</a:t>
            </a:r>
            <a:r>
              <a:rPr dirty="0"/>
              <a:t> property </a:t>
            </a:r>
            <a:r>
              <a:rPr dirty="0" err="1"/>
              <a:t>ko</a:t>
            </a:r>
            <a:r>
              <a:rPr dirty="0"/>
              <a:t> verify </a:t>
            </a:r>
            <a:r>
              <a:rPr dirty="0" err="1"/>
              <a:t>kiya</a:t>
            </a:r>
            <a:r>
              <a:rPr dirty="0"/>
              <a:t> ja </a:t>
            </a:r>
            <a:r>
              <a:rPr dirty="0" err="1"/>
              <a:t>raha</a:t>
            </a:r>
            <a:r>
              <a:rPr dirty="0"/>
              <a:t> </a:t>
            </a:r>
            <a:r>
              <a:rPr dirty="0" err="1"/>
              <a:t>hai</a:t>
            </a:r>
            <a:r>
              <a:rPr dirty="0"/>
              <a:t> wo quantum </a:t>
            </a:r>
            <a:r>
              <a:rPr dirty="0" err="1"/>
              <a:t>hai</a:t>
            </a:r>
            <a:r>
              <a:rPr dirty="0"/>
              <a:t>.</a:t>
            </a:r>
          </a:p>
          <a:p>
            <a:r>
              <a:rPr dirty="0"/>
              <a:t>S2: 'Same unitary transformation, up to global phase and permutation' </a:t>
            </a:r>
            <a:r>
              <a:rPr dirty="0" err="1"/>
              <a:t>ka</a:t>
            </a:r>
            <a:r>
              <a:rPr dirty="0"/>
              <a:t> simple </a:t>
            </a:r>
            <a:r>
              <a:rPr dirty="0" err="1"/>
              <a:t>matlab</a:t>
            </a:r>
            <a:r>
              <a:rPr dirty="0"/>
              <a:t> </a:t>
            </a:r>
            <a:r>
              <a:rPr dirty="0" err="1"/>
              <a:t>kya</a:t>
            </a:r>
            <a:r>
              <a:rPr dirty="0"/>
              <a:t> </a:t>
            </a:r>
            <a:r>
              <a:rPr dirty="0" err="1"/>
              <a:t>hai</a:t>
            </a:r>
            <a:r>
              <a:rPr dirty="0"/>
              <a:t>?</a:t>
            </a:r>
          </a:p>
          <a:p>
            <a:r>
              <a:rPr dirty="0"/>
              <a:t>J2: </a:t>
            </a:r>
            <a:r>
              <a:rPr dirty="0" err="1"/>
              <a:t>Iska</a:t>
            </a:r>
            <a:r>
              <a:rPr dirty="0"/>
              <a:t> </a:t>
            </a:r>
            <a:r>
              <a:rPr dirty="0" err="1"/>
              <a:t>matlab</a:t>
            </a:r>
            <a:r>
              <a:rPr dirty="0"/>
              <a:t> </a:t>
            </a:r>
            <a:r>
              <a:rPr dirty="0" err="1"/>
              <a:t>hai</a:t>
            </a:r>
            <a:r>
              <a:rPr dirty="0"/>
              <a:t> </a:t>
            </a:r>
            <a:r>
              <a:rPr dirty="0" err="1"/>
              <a:t>ke</a:t>
            </a:r>
            <a:r>
              <a:rPr dirty="0"/>
              <a:t> </a:t>
            </a:r>
            <a:r>
              <a:rPr dirty="0" err="1"/>
              <a:t>transpile</a:t>
            </a:r>
            <a:r>
              <a:rPr dirty="0"/>
              <a:t> hone </a:t>
            </a:r>
            <a:r>
              <a:rPr dirty="0" err="1"/>
              <a:t>ke</a:t>
            </a:r>
            <a:r>
              <a:rPr dirty="0"/>
              <a:t> </a:t>
            </a:r>
            <a:r>
              <a:rPr dirty="0" err="1"/>
              <a:t>baad</a:t>
            </a:r>
            <a:r>
              <a:rPr dirty="0"/>
              <a:t> circuit </a:t>
            </a:r>
            <a:r>
              <a:rPr dirty="0" err="1"/>
              <a:t>bilkul</a:t>
            </a:r>
            <a:r>
              <a:rPr dirty="0"/>
              <a:t> </a:t>
            </a:r>
            <a:r>
              <a:rPr dirty="0" err="1"/>
              <a:t>wahi</a:t>
            </a:r>
            <a:r>
              <a:rPr dirty="0"/>
              <a:t> operation perform </a:t>
            </a:r>
            <a:r>
              <a:rPr dirty="0" err="1"/>
              <a:t>kare</a:t>
            </a:r>
            <a:r>
              <a:rPr dirty="0"/>
              <a:t> jo original circuit </a:t>
            </a:r>
            <a:r>
              <a:rPr dirty="0" err="1"/>
              <a:t>karta</a:t>
            </a:r>
            <a:r>
              <a:rPr dirty="0"/>
              <a:t> </a:t>
            </a:r>
            <a:r>
              <a:rPr dirty="0" err="1"/>
              <a:t>tha</a:t>
            </a:r>
            <a:r>
              <a:rPr dirty="0"/>
              <a:t> — bas </a:t>
            </a:r>
            <a:r>
              <a:rPr dirty="0" err="1"/>
              <a:t>ek</a:t>
            </a:r>
            <a:r>
              <a:rPr dirty="0"/>
              <a:t> overall phase factor </a:t>
            </a:r>
            <a:r>
              <a:rPr dirty="0" err="1"/>
              <a:t>ya</a:t>
            </a:r>
            <a:r>
              <a:rPr dirty="0"/>
              <a:t> qubit labeling </a:t>
            </a:r>
            <a:r>
              <a:rPr dirty="0" err="1"/>
              <a:t>mein</a:t>
            </a:r>
            <a:r>
              <a:rPr dirty="0"/>
              <a:t> </a:t>
            </a:r>
            <a:r>
              <a:rPr dirty="0" err="1"/>
              <a:t>farq</a:t>
            </a:r>
            <a:r>
              <a:rPr dirty="0"/>
              <a:t> allowed </a:t>
            </a:r>
            <a:r>
              <a:rPr dirty="0" err="1"/>
              <a:t>hai</a:t>
            </a:r>
            <a:r>
              <a:rPr dirty="0"/>
              <a:t>, jo physically measurable result </a:t>
            </a:r>
            <a:r>
              <a:rPr dirty="0" err="1"/>
              <a:t>ko</a:t>
            </a:r>
            <a:r>
              <a:rPr dirty="0"/>
              <a:t> change </a:t>
            </a:r>
            <a:r>
              <a:rPr dirty="0" err="1"/>
              <a:t>nahi</a:t>
            </a:r>
            <a:r>
              <a:rPr dirty="0"/>
              <a:t> </a:t>
            </a:r>
            <a:r>
              <a:rPr dirty="0" err="1"/>
              <a:t>karta</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Agar sab </a:t>
            </a:r>
            <a:r>
              <a:rPr dirty="0" err="1"/>
              <a:t>kuch</a:t>
            </a:r>
            <a:r>
              <a:rPr dirty="0"/>
              <a:t> classical CPU par </a:t>
            </a:r>
            <a:r>
              <a:rPr dirty="0" err="1"/>
              <a:t>chalta</a:t>
            </a:r>
            <a:r>
              <a:rPr dirty="0"/>
              <a:t> </a:t>
            </a:r>
            <a:r>
              <a:rPr dirty="0" err="1"/>
              <a:t>hai</a:t>
            </a:r>
            <a:r>
              <a:rPr dirty="0"/>
              <a:t>, to 'quantum compiler testing' PhD-level </a:t>
            </a:r>
            <a:r>
              <a:rPr dirty="0" err="1"/>
              <a:t>naya</a:t>
            </a:r>
            <a:r>
              <a:rPr dirty="0"/>
              <a:t> contribution </a:t>
            </a:r>
            <a:r>
              <a:rPr dirty="0" err="1"/>
              <a:t>kaise</a:t>
            </a:r>
            <a:r>
              <a:rPr dirty="0"/>
              <a:t> ban </a:t>
            </a:r>
            <a:r>
              <a:rPr dirty="0" err="1"/>
              <a:t>jata</a:t>
            </a:r>
            <a:r>
              <a:rPr dirty="0"/>
              <a:t> </a:t>
            </a:r>
            <a:r>
              <a:rPr dirty="0" err="1"/>
              <a:t>hai</a:t>
            </a:r>
            <a:r>
              <a:rPr dirty="0"/>
              <a:t>?</a:t>
            </a:r>
          </a:p>
          <a:p>
            <a:r>
              <a:rPr dirty="0"/>
              <a:t>J: Novelty is </a:t>
            </a:r>
            <a:r>
              <a:rPr dirty="0" err="1"/>
              <a:t>baat</a:t>
            </a:r>
            <a:r>
              <a:rPr dirty="0"/>
              <a:t> </a:t>
            </a:r>
            <a:r>
              <a:rPr dirty="0" err="1"/>
              <a:t>mein</a:t>
            </a:r>
            <a:r>
              <a:rPr dirty="0"/>
              <a:t> </a:t>
            </a:r>
            <a:r>
              <a:rPr dirty="0" err="1"/>
              <a:t>hai</a:t>
            </a:r>
            <a:r>
              <a:rPr dirty="0"/>
              <a:t> </a:t>
            </a:r>
            <a:r>
              <a:rPr dirty="0" err="1"/>
              <a:t>ke</a:t>
            </a:r>
            <a:r>
              <a:rPr dirty="0"/>
              <a:t> compiler </a:t>
            </a:r>
            <a:r>
              <a:rPr dirty="0" err="1"/>
              <a:t>kahan</a:t>
            </a:r>
            <a:r>
              <a:rPr dirty="0"/>
              <a:t> </a:t>
            </a:r>
            <a:r>
              <a:rPr dirty="0" err="1"/>
              <a:t>chalta</a:t>
            </a:r>
            <a:r>
              <a:rPr dirty="0"/>
              <a:t> </a:t>
            </a:r>
            <a:r>
              <a:rPr dirty="0" err="1"/>
              <a:t>hai</a:t>
            </a:r>
            <a:r>
              <a:rPr dirty="0"/>
              <a:t> </a:t>
            </a:r>
            <a:r>
              <a:rPr dirty="0" err="1"/>
              <a:t>wahan</a:t>
            </a:r>
            <a:r>
              <a:rPr dirty="0"/>
              <a:t> </a:t>
            </a:r>
            <a:r>
              <a:rPr dirty="0" err="1"/>
              <a:t>nahi</a:t>
            </a:r>
            <a:r>
              <a:rPr dirty="0"/>
              <a:t>, </a:t>
            </a:r>
            <a:r>
              <a:rPr dirty="0" err="1"/>
              <a:t>balke</a:t>
            </a:r>
            <a:r>
              <a:rPr dirty="0"/>
              <a:t> </a:t>
            </a:r>
            <a:r>
              <a:rPr dirty="0" err="1"/>
              <a:t>jis</a:t>
            </a:r>
            <a:r>
              <a:rPr dirty="0"/>
              <a:t> property </a:t>
            </a:r>
            <a:r>
              <a:rPr dirty="0" err="1"/>
              <a:t>ko</a:t>
            </a:r>
            <a:r>
              <a:rPr dirty="0"/>
              <a:t> verify </a:t>
            </a:r>
            <a:r>
              <a:rPr dirty="0" err="1"/>
              <a:t>kiya</a:t>
            </a:r>
            <a:r>
              <a:rPr dirty="0"/>
              <a:t> ja </a:t>
            </a:r>
            <a:r>
              <a:rPr dirty="0" err="1"/>
              <a:t>raha</a:t>
            </a:r>
            <a:r>
              <a:rPr dirty="0"/>
              <a:t> </a:t>
            </a:r>
            <a:r>
              <a:rPr dirty="0" err="1"/>
              <a:t>hai</a:t>
            </a:r>
            <a:r>
              <a:rPr dirty="0"/>
              <a:t> </a:t>
            </a:r>
            <a:r>
              <a:rPr dirty="0" err="1"/>
              <a:t>usmein</a:t>
            </a:r>
            <a:r>
              <a:rPr dirty="0"/>
              <a:t> </a:t>
            </a:r>
            <a:r>
              <a:rPr dirty="0" err="1"/>
              <a:t>hai</a:t>
            </a:r>
            <a:r>
              <a:rPr dirty="0"/>
              <a:t>. Quantum semantics — superposition, entanglement, global phase — classical se fundamentally different fault models create </a:t>
            </a:r>
            <a:r>
              <a:rPr dirty="0" err="1"/>
              <a:t>karti</a:t>
            </a:r>
            <a:r>
              <a:rPr dirty="0"/>
              <a:t> </a:t>
            </a:r>
            <a:r>
              <a:rPr dirty="0" err="1"/>
              <a:t>hain</a:t>
            </a:r>
            <a:r>
              <a:rPr dirty="0"/>
              <a:t>, jo hum address </a:t>
            </a:r>
            <a:r>
              <a:rPr dirty="0" err="1"/>
              <a:t>kar</a:t>
            </a:r>
            <a:r>
              <a:rPr dirty="0"/>
              <a:t> </a:t>
            </a:r>
            <a:r>
              <a:rPr dirty="0" err="1"/>
              <a:t>rahe</a:t>
            </a:r>
            <a:r>
              <a:rPr dirty="0"/>
              <a:t> </a:t>
            </a:r>
            <a:r>
              <a:rPr dirty="0" err="1"/>
              <a:t>hain</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Ab hum literature review </a:t>
            </a:r>
            <a:r>
              <a:rPr dirty="0" err="1"/>
              <a:t>mein</a:t>
            </a:r>
            <a:r>
              <a:rPr dirty="0"/>
              <a:t> </a:t>
            </a:r>
            <a:r>
              <a:rPr dirty="0" err="1"/>
              <a:t>dekhte</a:t>
            </a:r>
            <a:r>
              <a:rPr dirty="0"/>
              <a:t> </a:t>
            </a:r>
            <a:r>
              <a:rPr dirty="0" err="1"/>
              <a:t>hain</a:t>
            </a:r>
            <a:r>
              <a:rPr dirty="0"/>
              <a:t> </a:t>
            </a:r>
            <a:r>
              <a:rPr dirty="0" err="1"/>
              <a:t>ke</a:t>
            </a:r>
            <a:r>
              <a:rPr dirty="0"/>
              <a:t> is field </a:t>
            </a:r>
            <a:r>
              <a:rPr dirty="0" err="1"/>
              <a:t>mein</a:t>
            </a:r>
            <a:r>
              <a:rPr dirty="0"/>
              <a:t> </a:t>
            </a:r>
            <a:r>
              <a:rPr dirty="0" err="1"/>
              <a:t>pehle</a:t>
            </a:r>
            <a:r>
              <a:rPr dirty="0"/>
              <a:t> </a:t>
            </a:r>
            <a:r>
              <a:rPr dirty="0" err="1"/>
              <a:t>kya</a:t>
            </a:r>
            <a:r>
              <a:rPr dirty="0"/>
              <a:t> </a:t>
            </a:r>
            <a:r>
              <a:rPr dirty="0" err="1"/>
              <a:t>kaam</a:t>
            </a:r>
            <a:r>
              <a:rPr dirty="0"/>
              <a:t> ho </a:t>
            </a:r>
            <a:r>
              <a:rPr dirty="0" err="1"/>
              <a:t>chuka</a:t>
            </a:r>
            <a:r>
              <a:rPr dirty="0"/>
              <a:t> </a:t>
            </a:r>
            <a:r>
              <a:rPr dirty="0" err="1"/>
              <a:t>hai</a:t>
            </a:r>
            <a:r>
              <a:rPr dirty="0"/>
              <a:t>. Char </a:t>
            </a:r>
            <a:r>
              <a:rPr dirty="0" err="1"/>
              <a:t>alag</a:t>
            </a:r>
            <a:r>
              <a:rPr dirty="0"/>
              <a:t> lines of work </a:t>
            </a:r>
            <a:r>
              <a:rPr dirty="0" err="1"/>
              <a:t>hain</a:t>
            </a:r>
            <a:r>
              <a:rPr dirty="0"/>
              <a:t>: classical testing, quantum testing, equivalence checking, </a:t>
            </a:r>
            <a:r>
              <a:rPr dirty="0" err="1"/>
              <a:t>aur</a:t>
            </a:r>
            <a:r>
              <a:rPr dirty="0"/>
              <a:t> internal checks. Ye </a:t>
            </a:r>
            <a:r>
              <a:rPr dirty="0" err="1"/>
              <a:t>chaaron</a:t>
            </a:r>
            <a:r>
              <a:rPr dirty="0"/>
              <a:t> lines das </a:t>
            </a:r>
            <a:r>
              <a:rPr dirty="0" err="1"/>
              <a:t>saal</a:t>
            </a:r>
            <a:r>
              <a:rPr dirty="0"/>
              <a:t> se </a:t>
            </a:r>
            <a:r>
              <a:rPr dirty="0" err="1"/>
              <a:t>chal</a:t>
            </a:r>
            <a:r>
              <a:rPr dirty="0"/>
              <a:t> </a:t>
            </a:r>
            <a:r>
              <a:rPr dirty="0" err="1"/>
              <a:t>rahi</a:t>
            </a:r>
            <a:r>
              <a:rPr dirty="0"/>
              <a:t> </a:t>
            </a:r>
            <a:r>
              <a:rPr dirty="0" err="1"/>
              <a:t>hain</a:t>
            </a:r>
            <a:r>
              <a:rPr dirty="0"/>
              <a:t> </a:t>
            </a:r>
            <a:r>
              <a:rPr dirty="0" err="1"/>
              <a:t>aur</a:t>
            </a:r>
            <a:r>
              <a:rPr dirty="0"/>
              <a:t> ab </a:t>
            </a:r>
            <a:r>
              <a:rPr dirty="0" err="1"/>
              <a:t>bhi</a:t>
            </a:r>
            <a:r>
              <a:rPr dirty="0"/>
              <a:t> active </a:t>
            </a:r>
            <a:r>
              <a:rPr dirty="0" err="1"/>
              <a:t>hain</a:t>
            </a:r>
            <a:r>
              <a:rPr dirty="0"/>
              <a:t>, </a:t>
            </a:r>
            <a:r>
              <a:rPr dirty="0" err="1"/>
              <a:t>lekin</a:t>
            </a:r>
            <a:r>
              <a:rPr dirty="0"/>
              <a:t> parallel </a:t>
            </a:r>
            <a:r>
              <a:rPr dirty="0" err="1"/>
              <a:t>chalti</a:t>
            </a:r>
            <a:r>
              <a:rPr dirty="0"/>
              <a:t> </a:t>
            </a:r>
            <a:r>
              <a:rPr dirty="0" err="1"/>
              <a:t>hain</a:t>
            </a:r>
            <a:r>
              <a:rPr dirty="0"/>
              <a:t>, </a:t>
            </a:r>
            <a:r>
              <a:rPr dirty="0" err="1"/>
              <a:t>ek</a:t>
            </a:r>
            <a:r>
              <a:rPr dirty="0"/>
              <a:t> </a:t>
            </a:r>
            <a:r>
              <a:rPr dirty="0" err="1"/>
              <a:t>doosre</a:t>
            </a:r>
            <a:r>
              <a:rPr dirty="0"/>
              <a:t> se connected </a:t>
            </a:r>
            <a:r>
              <a:rPr dirty="0" err="1"/>
              <a:t>nahi</a:t>
            </a:r>
            <a:r>
              <a:rPr dirty="0"/>
              <a:t>. Gap ye </a:t>
            </a:r>
            <a:r>
              <a:rPr dirty="0" err="1"/>
              <a:t>hai</a:t>
            </a:r>
            <a:r>
              <a:rPr dirty="0"/>
              <a:t>: log internal state </a:t>
            </a:r>
            <a:r>
              <a:rPr dirty="0" err="1"/>
              <a:t>dekh</a:t>
            </a:r>
            <a:r>
              <a:rPr dirty="0"/>
              <a:t> </a:t>
            </a:r>
            <a:r>
              <a:rPr dirty="0" err="1"/>
              <a:t>sakte</a:t>
            </a:r>
            <a:r>
              <a:rPr dirty="0"/>
              <a:t> </a:t>
            </a:r>
            <a:r>
              <a:rPr dirty="0" err="1"/>
              <a:t>hain</a:t>
            </a:r>
            <a:r>
              <a:rPr dirty="0"/>
              <a:t>, </a:t>
            </a:r>
            <a:r>
              <a:rPr dirty="0" err="1"/>
              <a:t>lekin</a:t>
            </a:r>
            <a:r>
              <a:rPr dirty="0"/>
              <a:t> koi </a:t>
            </a:r>
            <a:r>
              <a:rPr dirty="0" err="1"/>
              <a:t>bhi</a:t>
            </a:r>
            <a:r>
              <a:rPr dirty="0"/>
              <a:t> is internal observability </a:t>
            </a:r>
            <a:r>
              <a:rPr dirty="0" err="1"/>
              <a:t>ko</a:t>
            </a:r>
            <a:r>
              <a:rPr dirty="0"/>
              <a:t> regression testing </a:t>
            </a:r>
            <a:r>
              <a:rPr dirty="0" err="1"/>
              <a:t>ke</a:t>
            </a:r>
            <a:r>
              <a:rPr dirty="0"/>
              <a:t> </a:t>
            </a:r>
            <a:r>
              <a:rPr dirty="0" err="1"/>
              <a:t>liye</a:t>
            </a:r>
            <a:r>
              <a:rPr dirty="0"/>
              <a:t> — budget </a:t>
            </a:r>
            <a:r>
              <a:rPr dirty="0" err="1"/>
              <a:t>aur</a:t>
            </a:r>
            <a:r>
              <a:rPr dirty="0"/>
              <a:t> leakage-safe </a:t>
            </a:r>
            <a:r>
              <a:rPr dirty="0" err="1"/>
              <a:t>tareeqe</a:t>
            </a:r>
            <a:r>
              <a:rPr dirty="0"/>
              <a:t> se test selection </a:t>
            </a:r>
            <a:r>
              <a:rPr dirty="0" err="1"/>
              <a:t>ke</a:t>
            </a:r>
            <a:r>
              <a:rPr dirty="0"/>
              <a:t> </a:t>
            </a:r>
            <a:r>
              <a:rPr dirty="0" err="1"/>
              <a:t>sath</a:t>
            </a:r>
            <a:r>
              <a:rPr dirty="0"/>
              <a:t> — combine </a:t>
            </a:r>
            <a:r>
              <a:rPr dirty="0" err="1"/>
              <a:t>nahi</a:t>
            </a:r>
            <a:r>
              <a:rPr dirty="0"/>
              <a:t> </a:t>
            </a:r>
            <a:r>
              <a:rPr dirty="0" err="1"/>
              <a:t>karta</a:t>
            </a:r>
            <a:r>
              <a:rPr dirty="0"/>
              <a:t>. </a:t>
            </a:r>
            <a:r>
              <a:rPr dirty="0" err="1"/>
              <a:t>Yehi</a:t>
            </a:r>
            <a:r>
              <a:rPr dirty="0"/>
              <a:t> hum </a:t>
            </a:r>
            <a:r>
              <a:rPr dirty="0" err="1"/>
              <a:t>kar</a:t>
            </a:r>
            <a:r>
              <a:rPr dirty="0"/>
              <a:t> </a:t>
            </a:r>
            <a:r>
              <a:rPr dirty="0" err="1"/>
              <a:t>rahe</a:t>
            </a:r>
            <a:r>
              <a:rPr dirty="0"/>
              <a:t> </a:t>
            </a:r>
            <a:r>
              <a:rPr dirty="0" err="1"/>
              <a:t>hain</a:t>
            </a:r>
            <a:r>
              <a:rPr dirty="0"/>
              <a:t>.</a:t>
            </a:r>
          </a:p>
          <a:p>
            <a:endParaRPr dirty="0"/>
          </a:p>
          <a:p>
            <a:r>
              <a:rPr dirty="0" err="1"/>
              <a:t>Mumkin</a:t>
            </a:r>
            <a:r>
              <a:rPr dirty="0"/>
              <a:t> examiner </a:t>
            </a:r>
            <a:r>
              <a:rPr dirty="0" err="1"/>
              <a:t>sawalat</a:t>
            </a:r>
            <a:r>
              <a:rPr dirty="0"/>
              <a:t>:</a:t>
            </a:r>
          </a:p>
          <a:p>
            <a:r>
              <a:rPr dirty="0"/>
              <a:t>S1: Ye </a:t>
            </a:r>
            <a:r>
              <a:rPr dirty="0" err="1"/>
              <a:t>chaar</a:t>
            </a:r>
            <a:r>
              <a:rPr dirty="0"/>
              <a:t> lines of work das </a:t>
            </a:r>
            <a:r>
              <a:rPr dirty="0" err="1"/>
              <a:t>saal</a:t>
            </a:r>
            <a:r>
              <a:rPr dirty="0"/>
              <a:t> se parallel </a:t>
            </a:r>
            <a:r>
              <a:rPr dirty="0" err="1"/>
              <a:t>chal</a:t>
            </a:r>
            <a:r>
              <a:rPr dirty="0"/>
              <a:t> </a:t>
            </a:r>
            <a:r>
              <a:rPr dirty="0" err="1"/>
              <a:t>rahi</a:t>
            </a:r>
            <a:r>
              <a:rPr dirty="0"/>
              <a:t> </a:t>
            </a:r>
            <a:r>
              <a:rPr dirty="0" err="1"/>
              <a:t>hain</a:t>
            </a:r>
            <a:r>
              <a:rPr dirty="0"/>
              <a:t> — ab </a:t>
            </a:r>
            <a:r>
              <a:rPr dirty="0" err="1"/>
              <a:t>tak</a:t>
            </a:r>
            <a:r>
              <a:rPr dirty="0"/>
              <a:t> </a:t>
            </a:r>
            <a:r>
              <a:rPr dirty="0" err="1"/>
              <a:t>kisi</a:t>
            </a:r>
            <a:r>
              <a:rPr dirty="0"/>
              <a:t> ne </a:t>
            </a:r>
            <a:r>
              <a:rPr dirty="0" err="1"/>
              <a:t>inhe</a:t>
            </a:r>
            <a:r>
              <a:rPr dirty="0"/>
              <a:t> combine </a:t>
            </a:r>
            <a:r>
              <a:rPr dirty="0" err="1"/>
              <a:t>kyun</a:t>
            </a:r>
            <a:r>
              <a:rPr dirty="0"/>
              <a:t> </a:t>
            </a:r>
            <a:r>
              <a:rPr dirty="0" err="1"/>
              <a:t>nahi</a:t>
            </a:r>
            <a:r>
              <a:rPr dirty="0"/>
              <a:t> </a:t>
            </a:r>
            <a:r>
              <a:rPr dirty="0" err="1"/>
              <a:t>kiya</a:t>
            </a:r>
            <a:r>
              <a:rPr dirty="0"/>
              <a:t>?</a:t>
            </a:r>
          </a:p>
          <a:p>
            <a:r>
              <a:rPr dirty="0"/>
              <a:t>J1: </a:t>
            </a:r>
            <a:r>
              <a:rPr dirty="0" err="1"/>
              <a:t>Har</a:t>
            </a:r>
            <a:r>
              <a:rPr dirty="0"/>
              <a:t> line </a:t>
            </a:r>
            <a:r>
              <a:rPr dirty="0" err="1"/>
              <a:t>apne</a:t>
            </a:r>
            <a:r>
              <a:rPr dirty="0"/>
              <a:t> research community </a:t>
            </a:r>
            <a:r>
              <a:rPr dirty="0" err="1"/>
              <a:t>mein</a:t>
            </a:r>
            <a:r>
              <a:rPr dirty="0"/>
              <a:t> independently mature hui </a:t>
            </a:r>
            <a:r>
              <a:rPr dirty="0" err="1"/>
              <a:t>hai</a:t>
            </a:r>
            <a:r>
              <a:rPr dirty="0"/>
              <a:t> — classical testing software engineering se </a:t>
            </a:r>
            <a:r>
              <a:rPr dirty="0" err="1"/>
              <a:t>aata</a:t>
            </a:r>
            <a:r>
              <a:rPr dirty="0"/>
              <a:t> </a:t>
            </a:r>
            <a:r>
              <a:rPr dirty="0" err="1"/>
              <a:t>hai</a:t>
            </a:r>
            <a:r>
              <a:rPr dirty="0"/>
              <a:t>, equivalence checking formal methods se, </a:t>
            </a:r>
            <a:r>
              <a:rPr dirty="0" err="1"/>
              <a:t>aur</a:t>
            </a:r>
            <a:r>
              <a:rPr dirty="0"/>
              <a:t> internal-state inspection compiler verification se. In communities </a:t>
            </a:r>
            <a:r>
              <a:rPr dirty="0" err="1"/>
              <a:t>ke</a:t>
            </a:r>
            <a:r>
              <a:rPr dirty="0"/>
              <a:t> beech overlap </a:t>
            </a:r>
            <a:r>
              <a:rPr dirty="0" err="1"/>
              <a:t>kam</a:t>
            </a:r>
            <a:r>
              <a:rPr dirty="0"/>
              <a:t> </a:t>
            </a:r>
            <a:r>
              <a:rPr dirty="0" err="1"/>
              <a:t>raha</a:t>
            </a:r>
            <a:r>
              <a:rPr dirty="0"/>
              <a:t> </a:t>
            </a:r>
            <a:r>
              <a:rPr dirty="0" err="1"/>
              <a:t>hai</a:t>
            </a:r>
            <a:r>
              <a:rPr dirty="0"/>
              <a:t>, </a:t>
            </a:r>
            <a:r>
              <a:rPr dirty="0" err="1"/>
              <a:t>isi</a:t>
            </a:r>
            <a:r>
              <a:rPr dirty="0"/>
              <a:t> </a:t>
            </a:r>
            <a:r>
              <a:rPr dirty="0" err="1"/>
              <a:t>liye</a:t>
            </a:r>
            <a:r>
              <a:rPr dirty="0"/>
              <a:t> </a:t>
            </a:r>
            <a:r>
              <a:rPr dirty="0" err="1"/>
              <a:t>kisi</a:t>
            </a:r>
            <a:r>
              <a:rPr dirty="0"/>
              <a:t> ne </a:t>
            </a:r>
            <a:r>
              <a:rPr dirty="0" err="1"/>
              <a:t>inhe</a:t>
            </a:r>
            <a:r>
              <a:rPr dirty="0"/>
              <a:t> combine </a:t>
            </a:r>
            <a:r>
              <a:rPr dirty="0" err="1"/>
              <a:t>nahi</a:t>
            </a:r>
            <a:r>
              <a:rPr dirty="0"/>
              <a:t> </a:t>
            </a:r>
            <a:r>
              <a:rPr dirty="0" err="1"/>
              <a:t>kiya</a:t>
            </a:r>
            <a:r>
              <a:rPr dirty="0"/>
              <a:t> — </a:t>
            </a:r>
            <a:r>
              <a:rPr dirty="0" err="1"/>
              <a:t>yehi</a:t>
            </a:r>
            <a:r>
              <a:rPr dirty="0"/>
              <a:t> </a:t>
            </a:r>
            <a:r>
              <a:rPr dirty="0" err="1"/>
              <a:t>hamara</a:t>
            </a:r>
            <a:r>
              <a:rPr dirty="0"/>
              <a:t> research gap </a:t>
            </a:r>
            <a:r>
              <a:rPr dirty="0" err="1"/>
              <a:t>hai</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a:t>
            </a:r>
            <a:r>
              <a:rPr dirty="0" err="1"/>
              <a:t>Aap</a:t>
            </a:r>
            <a:r>
              <a:rPr dirty="0"/>
              <a:t> </a:t>
            </a:r>
            <a:r>
              <a:rPr dirty="0" err="1"/>
              <a:t>kehte</a:t>
            </a:r>
            <a:r>
              <a:rPr dirty="0"/>
              <a:t> </a:t>
            </a:r>
            <a:r>
              <a:rPr dirty="0" err="1"/>
              <a:t>hain</a:t>
            </a:r>
            <a:r>
              <a:rPr dirty="0"/>
              <a:t> ye </a:t>
            </a:r>
            <a:r>
              <a:rPr dirty="0" err="1"/>
              <a:t>chaar</a:t>
            </a:r>
            <a:r>
              <a:rPr dirty="0"/>
              <a:t> lines 'parallel' </a:t>
            </a:r>
            <a:r>
              <a:rPr dirty="0" err="1"/>
              <a:t>hain</a:t>
            </a:r>
            <a:r>
              <a:rPr dirty="0"/>
              <a:t>, </a:t>
            </a:r>
            <a:r>
              <a:rPr dirty="0" err="1"/>
              <a:t>kabhi</a:t>
            </a:r>
            <a:r>
              <a:rPr dirty="0"/>
              <a:t> combine </a:t>
            </a:r>
            <a:r>
              <a:rPr dirty="0" err="1"/>
              <a:t>nahi</a:t>
            </a:r>
            <a:r>
              <a:rPr dirty="0"/>
              <a:t> hui — </a:t>
            </a:r>
            <a:r>
              <a:rPr dirty="0" err="1"/>
              <a:t>kya</a:t>
            </a:r>
            <a:r>
              <a:rPr dirty="0"/>
              <a:t> ye </a:t>
            </a:r>
            <a:r>
              <a:rPr dirty="0" err="1"/>
              <a:t>sirf</a:t>
            </a:r>
            <a:r>
              <a:rPr dirty="0"/>
              <a:t> </a:t>
            </a:r>
            <a:r>
              <a:rPr dirty="0" err="1"/>
              <a:t>isliye</a:t>
            </a:r>
            <a:r>
              <a:rPr dirty="0"/>
              <a:t> </a:t>
            </a:r>
            <a:r>
              <a:rPr dirty="0" err="1"/>
              <a:t>hai</a:t>
            </a:r>
            <a:r>
              <a:rPr dirty="0"/>
              <a:t> </a:t>
            </a:r>
            <a:r>
              <a:rPr dirty="0" err="1"/>
              <a:t>ke</a:t>
            </a:r>
            <a:r>
              <a:rPr dirty="0"/>
              <a:t> </a:t>
            </a:r>
            <a:r>
              <a:rPr dirty="0" err="1"/>
              <a:t>aap</a:t>
            </a:r>
            <a:r>
              <a:rPr dirty="0"/>
              <a:t> ne enough search </a:t>
            </a:r>
            <a:r>
              <a:rPr dirty="0" err="1"/>
              <a:t>nahi</a:t>
            </a:r>
            <a:r>
              <a:rPr dirty="0"/>
              <a:t> </a:t>
            </a:r>
            <a:r>
              <a:rPr dirty="0" err="1"/>
              <a:t>ki</a:t>
            </a:r>
            <a:r>
              <a:rPr dirty="0"/>
              <a:t>?</a:t>
            </a:r>
          </a:p>
          <a:p>
            <a:r>
              <a:rPr dirty="0"/>
              <a:t>J: Hum ne systematic comparison </a:t>
            </a:r>
            <a:r>
              <a:rPr dirty="0" err="1"/>
              <a:t>kiya</a:t>
            </a:r>
            <a:r>
              <a:rPr dirty="0"/>
              <a:t> </a:t>
            </a:r>
            <a:r>
              <a:rPr dirty="0" err="1"/>
              <a:t>hai</a:t>
            </a:r>
            <a:r>
              <a:rPr dirty="0"/>
              <a:t> (slides 7-8), jo </a:t>
            </a:r>
            <a:r>
              <a:rPr dirty="0" err="1"/>
              <a:t>dikhata</a:t>
            </a:r>
            <a:r>
              <a:rPr dirty="0"/>
              <a:t> </a:t>
            </a:r>
            <a:r>
              <a:rPr dirty="0" err="1"/>
              <a:t>hai</a:t>
            </a:r>
            <a:r>
              <a:rPr dirty="0"/>
              <a:t> </a:t>
            </a:r>
            <a:r>
              <a:rPr dirty="0" err="1"/>
              <a:t>ke</a:t>
            </a:r>
            <a:r>
              <a:rPr dirty="0"/>
              <a:t> koi </a:t>
            </a:r>
            <a:r>
              <a:rPr dirty="0" err="1"/>
              <a:t>bhi</a:t>
            </a:r>
            <a:r>
              <a:rPr dirty="0"/>
              <a:t> published approach </a:t>
            </a:r>
            <a:r>
              <a:rPr dirty="0" err="1"/>
              <a:t>saari</a:t>
            </a:r>
            <a:r>
              <a:rPr dirty="0"/>
              <a:t> </a:t>
            </a:r>
            <a:r>
              <a:rPr dirty="0" err="1"/>
              <a:t>zaroori</a:t>
            </a:r>
            <a:r>
              <a:rPr dirty="0"/>
              <a:t> properties </a:t>
            </a:r>
            <a:r>
              <a:rPr dirty="0" err="1"/>
              <a:t>ek</a:t>
            </a:r>
            <a:r>
              <a:rPr dirty="0"/>
              <a:t> </a:t>
            </a:r>
            <a:r>
              <a:rPr dirty="0" err="1"/>
              <a:t>sath</a:t>
            </a:r>
            <a:r>
              <a:rPr dirty="0"/>
              <a:t> cover </a:t>
            </a:r>
            <a:r>
              <a:rPr dirty="0" err="1"/>
              <a:t>nahi</a:t>
            </a:r>
            <a:r>
              <a:rPr dirty="0"/>
              <a:t> </a:t>
            </a:r>
            <a:r>
              <a:rPr dirty="0" err="1"/>
              <a:t>karta</a:t>
            </a:r>
            <a:r>
              <a:rPr dirty="0"/>
              <a:t>. Ye claim thorough survey par based </a:t>
            </a:r>
            <a:r>
              <a:rPr dirty="0" err="1"/>
              <a:t>hai</a:t>
            </a:r>
            <a:r>
              <a:rPr dirty="0"/>
              <a:t>, assumption par </a:t>
            </a:r>
            <a:r>
              <a:rPr dirty="0" err="1"/>
              <a:t>nahi</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QA oracle: </a:t>
            </a:r>
            <a:r>
              <a:rPr lang="en-US" b="0" dirty="0" smtClean="0"/>
              <a:t>A</a:t>
            </a:r>
            <a:r>
              <a:rPr lang="en-US" b="0" baseline="0" dirty="0" smtClean="0"/>
              <a:t> </a:t>
            </a:r>
            <a:r>
              <a:rPr lang="en-US" dirty="0" smtClean="0"/>
              <a:t>method to decide that test pass </a:t>
            </a:r>
            <a:r>
              <a:rPr lang="en-US" dirty="0" err="1" smtClean="0"/>
              <a:t>ya</a:t>
            </a:r>
            <a:r>
              <a:rPr lang="en-US" dirty="0" smtClean="0"/>
              <a:t> fail, </a:t>
            </a:r>
            <a:r>
              <a:rPr lang="en-US" dirty="0" err="1" smtClean="0"/>
              <a:t>ya</a:t>
            </a:r>
            <a:r>
              <a:rPr lang="en-US" dirty="0" smtClean="0"/>
              <a:t> koi fault present </a:t>
            </a:r>
            <a:r>
              <a:rPr lang="en-US" dirty="0" err="1" smtClean="0"/>
              <a:t>hai</a:t>
            </a:r>
            <a:r>
              <a:rPr lang="en-US" dirty="0" smtClean="0"/>
              <a:t> </a:t>
            </a:r>
            <a:r>
              <a:rPr lang="en-US" dirty="0" err="1" smtClean="0"/>
              <a:t>ya</a:t>
            </a:r>
            <a:r>
              <a:rPr lang="en-US" dirty="0" smtClean="0"/>
              <a:t> </a:t>
            </a:r>
            <a:r>
              <a:rPr lang="en-US" dirty="0" err="1" smtClean="0"/>
              <a:t>nahi</a:t>
            </a:r>
            <a:r>
              <a:rPr lang="en-US" dirty="0" smtClean="0"/>
              <a:t>. </a:t>
            </a:r>
            <a:r>
              <a:rPr lang="en-US" b="1" dirty="0" smtClean="0"/>
              <a:t>Internal observability </a:t>
            </a:r>
            <a:r>
              <a:rPr lang="en-US" dirty="0" err="1" smtClean="0"/>
              <a:t>ka</a:t>
            </a:r>
            <a:r>
              <a:rPr lang="en-US" dirty="0" smtClean="0"/>
              <a:t> </a:t>
            </a:r>
            <a:r>
              <a:rPr lang="en-US" dirty="0" err="1" smtClean="0"/>
              <a:t>matlab</a:t>
            </a:r>
            <a:r>
              <a:rPr lang="en-US" dirty="0" smtClean="0"/>
              <a:t> </a:t>
            </a:r>
            <a:r>
              <a:rPr lang="en-US" dirty="0" err="1" smtClean="0"/>
              <a:t>hai</a:t>
            </a:r>
            <a:r>
              <a:rPr lang="en-US" dirty="0" smtClean="0"/>
              <a:t> </a:t>
            </a:r>
            <a:r>
              <a:rPr lang="en-US" dirty="0" err="1" smtClean="0"/>
              <a:t>ke</a:t>
            </a:r>
            <a:r>
              <a:rPr lang="en-US" dirty="0" smtClean="0"/>
              <a:t> method </a:t>
            </a:r>
            <a:r>
              <a:rPr lang="en-US" dirty="0" err="1" smtClean="0"/>
              <a:t>sirf</a:t>
            </a:r>
            <a:r>
              <a:rPr lang="en-US" dirty="0" smtClean="0"/>
              <a:t> final output </a:t>
            </a:r>
            <a:r>
              <a:rPr lang="en-US" dirty="0" err="1" smtClean="0"/>
              <a:t>nahi</a:t>
            </a:r>
            <a:r>
              <a:rPr lang="en-US" dirty="0" smtClean="0"/>
              <a:t> </a:t>
            </a:r>
            <a:r>
              <a:rPr lang="en-US" dirty="0" err="1" smtClean="0"/>
              <a:t>dekhta</a:t>
            </a:r>
            <a:r>
              <a:rPr lang="en-US" dirty="0" smtClean="0"/>
              <a:t>, </a:t>
            </a:r>
            <a:r>
              <a:rPr lang="en-US" dirty="0" err="1" smtClean="0"/>
              <a:t>balke</a:t>
            </a:r>
            <a:r>
              <a:rPr lang="en-US" dirty="0" smtClean="0"/>
              <a:t> compiler </a:t>
            </a:r>
            <a:r>
              <a:rPr lang="en-US" dirty="0" err="1" smtClean="0"/>
              <a:t>ya</a:t>
            </a:r>
            <a:r>
              <a:rPr lang="en-US" dirty="0" smtClean="0"/>
              <a:t> </a:t>
            </a:r>
            <a:r>
              <a:rPr lang="en-US" dirty="0" err="1" smtClean="0"/>
              <a:t>transpiler</a:t>
            </a:r>
            <a:r>
              <a:rPr lang="en-US" dirty="0" smtClean="0"/>
              <a:t> </a:t>
            </a:r>
            <a:r>
              <a:rPr lang="en-US" dirty="0" err="1" smtClean="0"/>
              <a:t>ke</a:t>
            </a:r>
            <a:r>
              <a:rPr lang="en-US" dirty="0" smtClean="0"/>
              <a:t> internal state </a:t>
            </a:r>
            <a:r>
              <a:rPr lang="en-US" dirty="0" err="1" smtClean="0"/>
              <a:t>ya</a:t>
            </a:r>
            <a:r>
              <a:rPr lang="en-US" dirty="0" smtClean="0"/>
              <a:t> passes </a:t>
            </a:r>
            <a:r>
              <a:rPr lang="en-US" dirty="0" err="1" smtClean="0"/>
              <a:t>ko</a:t>
            </a:r>
            <a:r>
              <a:rPr lang="en-US" dirty="0" smtClean="0"/>
              <a:t> </a:t>
            </a:r>
            <a:r>
              <a:rPr lang="en-US" dirty="0" err="1" smtClean="0"/>
              <a:t>bhi</a:t>
            </a:r>
            <a:r>
              <a:rPr lang="en-US" dirty="0" smtClean="0"/>
              <a:t> inspect </a:t>
            </a:r>
            <a:r>
              <a:rPr lang="en-US" dirty="0" err="1" smtClean="0"/>
              <a:t>kar</a:t>
            </a:r>
            <a:r>
              <a:rPr lang="en-US" dirty="0" smtClean="0"/>
              <a:t> </a:t>
            </a:r>
            <a:r>
              <a:rPr lang="en-US" dirty="0" err="1" smtClean="0"/>
              <a:t>sakta</a:t>
            </a:r>
            <a:r>
              <a:rPr lang="en-US" dirty="0" smtClean="0"/>
              <a:t> </a:t>
            </a:r>
            <a:r>
              <a:rPr lang="en-US" dirty="0" err="1" smtClean="0"/>
              <a:t>hai</a:t>
            </a:r>
            <a:r>
              <a:rPr lang="en-US" dirty="0" smtClean="0"/>
              <a:t>. </a:t>
            </a:r>
            <a:r>
              <a:rPr lang="en-US" b="1" dirty="0" smtClean="0"/>
              <a:t>Cost-aware</a:t>
            </a:r>
            <a:r>
              <a:rPr lang="en-US" dirty="0" smtClean="0"/>
              <a:t> </a:t>
            </a:r>
            <a:r>
              <a:rPr lang="en-US" dirty="0" err="1" smtClean="0"/>
              <a:t>ka</a:t>
            </a:r>
            <a:r>
              <a:rPr lang="en-US" dirty="0" smtClean="0"/>
              <a:t> </a:t>
            </a:r>
            <a:r>
              <a:rPr lang="en-US" dirty="0" err="1" smtClean="0"/>
              <a:t>matlab</a:t>
            </a:r>
            <a:r>
              <a:rPr lang="en-US" dirty="0" smtClean="0"/>
              <a:t> </a:t>
            </a:r>
            <a:r>
              <a:rPr lang="en-US" dirty="0" err="1" smtClean="0"/>
              <a:t>hai</a:t>
            </a:r>
            <a:r>
              <a:rPr lang="en-US" dirty="0" smtClean="0"/>
              <a:t> </a:t>
            </a:r>
            <a:r>
              <a:rPr lang="en-US" dirty="0" err="1" smtClean="0"/>
              <a:t>ke</a:t>
            </a:r>
            <a:r>
              <a:rPr lang="en-US" dirty="0" smtClean="0"/>
              <a:t> execution time </a:t>
            </a:r>
            <a:r>
              <a:rPr lang="en-US" dirty="0" err="1" smtClean="0"/>
              <a:t>ya</a:t>
            </a:r>
            <a:r>
              <a:rPr lang="en-US" dirty="0" smtClean="0"/>
              <a:t> testing budget </a:t>
            </a:r>
            <a:r>
              <a:rPr lang="en-US" dirty="0" err="1" smtClean="0"/>
              <a:t>ko</a:t>
            </a:r>
            <a:r>
              <a:rPr lang="en-US" dirty="0" smtClean="0"/>
              <a:t> consider </a:t>
            </a:r>
            <a:r>
              <a:rPr lang="en-US" dirty="0" err="1" smtClean="0"/>
              <a:t>kiya</a:t>
            </a:r>
            <a:r>
              <a:rPr lang="en-US" dirty="0" smtClean="0"/>
              <a:t> </a:t>
            </a:r>
            <a:r>
              <a:rPr lang="en-US" dirty="0" err="1" smtClean="0"/>
              <a:t>jata</a:t>
            </a:r>
            <a:r>
              <a:rPr lang="en-US" dirty="0" smtClean="0"/>
              <a:t> </a:t>
            </a:r>
            <a:r>
              <a:rPr lang="en-US" dirty="0" err="1" smtClean="0"/>
              <a:t>hai</a:t>
            </a:r>
            <a:r>
              <a:rPr lang="en-US" dirty="0" smtClean="0"/>
              <a:t>. ‘</a:t>
            </a:r>
            <a:r>
              <a:rPr lang="en-US" b="1" dirty="0" smtClean="0"/>
              <a:t>Selects or orders existing tests</a:t>
            </a:r>
            <a:r>
              <a:rPr lang="en-US" dirty="0" smtClean="0"/>
              <a:t>’ </a:t>
            </a:r>
            <a:r>
              <a:rPr lang="en-US" dirty="0" err="1" smtClean="0"/>
              <a:t>ka</a:t>
            </a:r>
            <a:r>
              <a:rPr lang="en-US" dirty="0" smtClean="0"/>
              <a:t> </a:t>
            </a:r>
            <a:r>
              <a:rPr lang="en-US" dirty="0" err="1" smtClean="0"/>
              <a:t>matlab</a:t>
            </a:r>
            <a:r>
              <a:rPr lang="en-US" dirty="0" smtClean="0"/>
              <a:t> </a:t>
            </a:r>
            <a:r>
              <a:rPr lang="en-US" dirty="0" err="1" smtClean="0"/>
              <a:t>hai</a:t>
            </a:r>
            <a:r>
              <a:rPr lang="en-US" dirty="0" smtClean="0"/>
              <a:t> </a:t>
            </a:r>
            <a:r>
              <a:rPr lang="en-US" dirty="0" err="1" smtClean="0"/>
              <a:t>ke</a:t>
            </a:r>
            <a:r>
              <a:rPr lang="en-US" dirty="0" smtClean="0"/>
              <a:t> method already available tests </a:t>
            </a:r>
            <a:r>
              <a:rPr lang="en-US" dirty="0" err="1" smtClean="0"/>
              <a:t>mein</a:t>
            </a:r>
            <a:r>
              <a:rPr lang="en-US" dirty="0" smtClean="0"/>
              <a:t> se useful tests choose </a:t>
            </a:r>
            <a:r>
              <a:rPr lang="en-US" dirty="0" err="1" smtClean="0"/>
              <a:t>ya</a:t>
            </a:r>
            <a:r>
              <a:rPr lang="en-US" dirty="0" smtClean="0"/>
              <a:t> prioritize </a:t>
            </a:r>
            <a:r>
              <a:rPr lang="en-US" dirty="0" err="1" smtClean="0"/>
              <a:t>karta</a:t>
            </a:r>
            <a:r>
              <a:rPr lang="en-US" dirty="0" smtClean="0"/>
              <a:t> </a:t>
            </a:r>
            <a:r>
              <a:rPr lang="en-US" dirty="0" err="1" smtClean="0"/>
              <a:t>hai</a:t>
            </a:r>
            <a:r>
              <a:rPr lang="en-US" dirty="0" smtClean="0"/>
              <a:t>. </a:t>
            </a:r>
            <a:r>
              <a:rPr lang="en-US" dirty="0" err="1" smtClean="0"/>
              <a:t>Aur</a:t>
            </a:r>
            <a:r>
              <a:rPr lang="en-US" dirty="0" smtClean="0"/>
              <a:t> </a:t>
            </a:r>
            <a:r>
              <a:rPr lang="en-US" b="1" dirty="0" smtClean="0"/>
              <a:t>leakage-safe temporal </a:t>
            </a:r>
            <a:r>
              <a:rPr lang="en-US" dirty="0" err="1" smtClean="0"/>
              <a:t>ka</a:t>
            </a:r>
            <a:r>
              <a:rPr lang="en-US" dirty="0" smtClean="0"/>
              <a:t> </a:t>
            </a:r>
            <a:r>
              <a:rPr lang="en-US" dirty="0" err="1" smtClean="0"/>
              <a:t>matlab</a:t>
            </a:r>
            <a:r>
              <a:rPr lang="en-US" dirty="0" smtClean="0"/>
              <a:t> </a:t>
            </a:r>
            <a:r>
              <a:rPr lang="en-US" dirty="0" err="1" smtClean="0"/>
              <a:t>hai</a:t>
            </a:r>
            <a:r>
              <a:rPr lang="en-US" dirty="0" smtClean="0"/>
              <a:t> </a:t>
            </a:r>
            <a:r>
              <a:rPr lang="en-US" dirty="0" err="1" smtClean="0"/>
              <a:t>ke</a:t>
            </a:r>
            <a:r>
              <a:rPr lang="en-US" dirty="0" smtClean="0"/>
              <a:t> test selection </a:t>
            </a:r>
            <a:r>
              <a:rPr lang="en-US" dirty="0" err="1" smtClean="0"/>
              <a:t>karte</a:t>
            </a:r>
            <a:r>
              <a:rPr lang="en-US" dirty="0" smtClean="0"/>
              <a:t> </a:t>
            </a:r>
            <a:r>
              <a:rPr lang="en-US" dirty="0" err="1" smtClean="0"/>
              <a:t>waqt</a:t>
            </a:r>
            <a:r>
              <a:rPr lang="en-US" dirty="0" smtClean="0"/>
              <a:t> future information use </a:t>
            </a:r>
            <a:r>
              <a:rPr lang="en-US" dirty="0" err="1" smtClean="0"/>
              <a:t>nahi</a:t>
            </a:r>
            <a:r>
              <a:rPr lang="en-US" dirty="0" smtClean="0"/>
              <a:t> </a:t>
            </a:r>
            <a:r>
              <a:rPr lang="en-US" dirty="0" err="1" smtClean="0"/>
              <a:t>hoti</a:t>
            </a:r>
            <a:r>
              <a:rPr lang="en-US" dirty="0" smtClean="0"/>
              <a:t>.</a:t>
            </a:r>
          </a:p>
          <a:p>
            <a:endParaRPr lang="en-US" dirty="0" smtClean="0"/>
          </a:p>
          <a:p>
            <a:r>
              <a:rPr lang="en-US" dirty="0" smtClean="0"/>
              <a:t>1. </a:t>
            </a:r>
            <a:r>
              <a:rPr lang="en-US" b="1" dirty="0" smtClean="0"/>
              <a:t>Classical Regression Test Prioritization or Test Case Prioritization</a:t>
            </a:r>
            <a:r>
              <a:rPr lang="en-US" dirty="0" smtClean="0"/>
              <a:t> </a:t>
            </a:r>
            <a:r>
              <a:rPr lang="en-US" b="1" dirty="0" smtClean="0"/>
              <a:t>goal:</a:t>
            </a:r>
            <a:r>
              <a:rPr lang="en-US" dirty="0" smtClean="0"/>
              <a:t> a lot of tests and time limited, which tests run. naturally cost-aware and existing tests </a:t>
            </a:r>
            <a:r>
              <a:rPr lang="en-US" dirty="0" err="1" smtClean="0"/>
              <a:t>ko</a:t>
            </a:r>
            <a:r>
              <a:rPr lang="en-US" dirty="0" smtClean="0"/>
              <a:t> select </a:t>
            </a:r>
            <a:r>
              <a:rPr lang="en-US" dirty="0" err="1" smtClean="0"/>
              <a:t>ya</a:t>
            </a:r>
            <a:r>
              <a:rPr lang="en-US" dirty="0" smtClean="0"/>
              <a:t> order </a:t>
            </a:r>
            <a:r>
              <a:rPr lang="en-US" dirty="0" err="1" smtClean="0"/>
              <a:t>karta</a:t>
            </a:r>
            <a:r>
              <a:rPr lang="en-US" dirty="0" smtClean="0"/>
              <a:t> </a:t>
            </a:r>
            <a:r>
              <a:rPr lang="en-US" dirty="0" err="1" smtClean="0"/>
              <a:t>hai</a:t>
            </a:r>
            <a:r>
              <a:rPr lang="en-US" dirty="0" smtClean="0"/>
              <a:t>. Some classical methods partially handle Temporal leakage but not designed for quantum </a:t>
            </a:r>
            <a:r>
              <a:rPr lang="en-US" dirty="0" err="1" smtClean="0"/>
              <a:t>transpiler</a:t>
            </a:r>
            <a:r>
              <a:rPr lang="en-US" dirty="0" smtClean="0"/>
              <a:t>.</a:t>
            </a:r>
          </a:p>
          <a:p>
            <a:endParaRPr lang="en-US" dirty="0" smtClean="0"/>
          </a:p>
          <a:p>
            <a:r>
              <a:rPr lang="en-US" dirty="0" smtClean="0"/>
              <a:t>2. </a:t>
            </a:r>
            <a:r>
              <a:rPr lang="en-US" b="1" dirty="0" smtClean="0"/>
              <a:t>Predictive selection</a:t>
            </a:r>
            <a:r>
              <a:rPr lang="en-US" b="0" dirty="0" smtClean="0"/>
              <a:t>:</a:t>
            </a:r>
            <a:r>
              <a:rPr lang="en-US" b="0" baseline="0" dirty="0" smtClean="0"/>
              <a:t> </a:t>
            </a:r>
            <a:r>
              <a:rPr lang="en-US" dirty="0" smtClean="0"/>
              <a:t>ML or historical information used at large scale for predicting which tests will be useful. Can</a:t>
            </a:r>
            <a:r>
              <a:rPr lang="en-US" baseline="0" dirty="0" smtClean="0"/>
              <a:t> control </a:t>
            </a:r>
            <a:r>
              <a:rPr lang="en-US" dirty="0" smtClean="0"/>
              <a:t>temporal leakage. but not designed for quantum </a:t>
            </a:r>
            <a:r>
              <a:rPr lang="en-US" dirty="0" err="1" smtClean="0"/>
              <a:t>transpiler</a:t>
            </a:r>
            <a:r>
              <a:rPr lang="en-US" dirty="0" smtClean="0"/>
              <a:t> because no quantum-specific QA oracle or internal </a:t>
            </a:r>
            <a:r>
              <a:rPr lang="en-US" dirty="0" err="1" smtClean="0"/>
              <a:t>transpiler</a:t>
            </a:r>
            <a:r>
              <a:rPr lang="en-US" dirty="0" smtClean="0"/>
              <a:t> observability.</a:t>
            </a:r>
          </a:p>
          <a:p>
            <a:endParaRPr lang="en-US" dirty="0" smtClean="0"/>
          </a:p>
          <a:p>
            <a:r>
              <a:rPr lang="en-US" b="1" dirty="0" smtClean="0"/>
              <a:t>3. </a:t>
            </a:r>
            <a:r>
              <a:rPr lang="en-US" b="1" dirty="0" err="1" smtClean="0"/>
              <a:t>MorphQ</a:t>
            </a:r>
            <a:r>
              <a:rPr lang="en-US" b="1" dirty="0" smtClean="0"/>
              <a:t> </a:t>
            </a:r>
            <a:r>
              <a:rPr lang="en-US" b="1" dirty="0" err="1" smtClean="0"/>
              <a:t>aur</a:t>
            </a:r>
            <a:r>
              <a:rPr lang="en-US" b="1" dirty="0" smtClean="0"/>
              <a:t> </a:t>
            </a:r>
            <a:r>
              <a:rPr lang="en-US" b="1" dirty="0" err="1" smtClean="0"/>
              <a:t>MorphQ</a:t>
            </a:r>
            <a:r>
              <a:rPr lang="en-US" b="1" dirty="0" smtClean="0"/>
              <a:t>++:</a:t>
            </a:r>
            <a:r>
              <a:rPr lang="en-US" dirty="0" smtClean="0"/>
              <a:t> Use metamorphic testing for finding quantum programs bugs. Compare related program executions to detect fault </a:t>
            </a:r>
            <a:r>
              <a:rPr lang="en-US" dirty="0" err="1" smtClean="0"/>
              <a:t>bcx</a:t>
            </a:r>
            <a:r>
              <a:rPr lang="en-US" dirty="0" smtClean="0"/>
              <a:t> it has QA oracle for quantum. But doesn’t inspect internal state, also no </a:t>
            </a:r>
            <a:r>
              <a:rPr lang="en-US" dirty="0" err="1" smtClean="0"/>
              <a:t>prirotization</a:t>
            </a:r>
            <a:r>
              <a:rPr lang="en-US" dirty="0" smtClean="0"/>
              <a:t>.</a:t>
            </a:r>
          </a:p>
          <a:p>
            <a:endParaRPr lang="en-US" dirty="0" smtClean="0"/>
          </a:p>
          <a:p>
            <a:r>
              <a:rPr lang="en-US" b="1" dirty="0" smtClean="0"/>
              <a:t>4. </a:t>
            </a:r>
            <a:r>
              <a:rPr lang="en-US" b="1" dirty="0" err="1" smtClean="0"/>
              <a:t>QuCheck</a:t>
            </a:r>
            <a:r>
              <a:rPr lang="en-US" b="1" dirty="0" smtClean="0"/>
              <a:t>:</a:t>
            </a:r>
            <a:r>
              <a:rPr lang="en-US" dirty="0" smtClean="0"/>
              <a:t> property-based testing approach. Define</a:t>
            </a:r>
            <a:r>
              <a:rPr lang="en-US" baseline="0" dirty="0" smtClean="0"/>
              <a:t> expected properties for </a:t>
            </a:r>
            <a:r>
              <a:rPr lang="en-US" dirty="0" smtClean="0"/>
              <a:t>quantum programs and checked</a:t>
            </a:r>
            <a:r>
              <a:rPr lang="en-US" baseline="0" dirty="0" smtClean="0"/>
              <a:t> with </a:t>
            </a:r>
            <a:r>
              <a:rPr lang="en-US" dirty="0" smtClean="0"/>
              <a:t>automatically generated tests. It has QA oracle for quantum. Internal observability is</a:t>
            </a:r>
            <a:r>
              <a:rPr lang="en-US" baseline="0" dirty="0" smtClean="0"/>
              <a:t> also </a:t>
            </a:r>
            <a:r>
              <a:rPr lang="en-US" dirty="0" smtClean="0"/>
              <a:t>possible but not</a:t>
            </a:r>
            <a:r>
              <a:rPr lang="en-US" baseline="0" dirty="0" smtClean="0"/>
              <a:t> focus.</a:t>
            </a:r>
            <a:r>
              <a:rPr lang="en-US" dirty="0" smtClean="0"/>
              <a:t> </a:t>
            </a:r>
          </a:p>
          <a:p>
            <a:endParaRPr lang="en-US" dirty="0" smtClean="0"/>
          </a:p>
          <a:p>
            <a:r>
              <a:rPr lang="en-US" b="1" dirty="0" smtClean="0"/>
              <a:t>5.QEMI:</a:t>
            </a:r>
            <a:r>
              <a:rPr lang="en-US" dirty="0" smtClean="0"/>
              <a:t> Equivalence Modulo Inputs-based quantum stack bug finding. it generates small variants of a quantum program that should behave identically on same stack(</a:t>
            </a:r>
            <a:r>
              <a:rPr lang="en-US" dirty="0" err="1" smtClean="0"/>
              <a:t>qiskit</a:t>
            </a:r>
            <a:r>
              <a:rPr lang="en-US" dirty="0" smtClean="0"/>
              <a:t>, </a:t>
            </a:r>
            <a:r>
              <a:rPr lang="en-US" dirty="0" err="1" smtClean="0"/>
              <a:t>cirq</a:t>
            </a:r>
            <a:r>
              <a:rPr lang="en-US" dirty="0" smtClean="0"/>
              <a:t>).</a:t>
            </a:r>
            <a:r>
              <a:rPr lang="en-US" baseline="0" dirty="0" smtClean="0"/>
              <a:t> E.g.</a:t>
            </a:r>
            <a:r>
              <a:rPr lang="en-US" dirty="0" smtClean="0"/>
              <a:t>, by adding or removing dead code. A crash or mismatch on one of these "should-be-equivalent" variants reveals a bug.</a:t>
            </a:r>
          </a:p>
          <a:p>
            <a:endParaRPr lang="en-US" dirty="0" smtClean="0"/>
          </a:p>
          <a:p>
            <a:r>
              <a:rPr dirty="0" err="1" smtClean="0"/>
              <a:t>Mumkin</a:t>
            </a:r>
            <a:r>
              <a:rPr dirty="0" smtClean="0"/>
              <a:t> </a:t>
            </a:r>
            <a:r>
              <a:rPr dirty="0"/>
              <a:t>examiner </a:t>
            </a:r>
            <a:r>
              <a:rPr dirty="0" err="1"/>
              <a:t>sawalat</a:t>
            </a:r>
            <a:r>
              <a:rPr dirty="0"/>
              <a:t>:</a:t>
            </a:r>
          </a:p>
          <a:p>
            <a:r>
              <a:rPr dirty="0"/>
              <a:t>S1: </a:t>
            </a:r>
            <a:r>
              <a:rPr dirty="0" err="1"/>
              <a:t>MorphQ</a:t>
            </a:r>
            <a:r>
              <a:rPr dirty="0"/>
              <a:t> </a:t>
            </a:r>
            <a:r>
              <a:rPr dirty="0" err="1"/>
              <a:t>aur</a:t>
            </a:r>
            <a:r>
              <a:rPr dirty="0"/>
              <a:t> </a:t>
            </a:r>
            <a:r>
              <a:rPr dirty="0" err="1"/>
              <a:t>QuCheck</a:t>
            </a:r>
            <a:r>
              <a:rPr dirty="0"/>
              <a:t> </a:t>
            </a:r>
            <a:r>
              <a:rPr dirty="0" err="1"/>
              <a:t>dono</a:t>
            </a:r>
            <a:r>
              <a:rPr dirty="0"/>
              <a:t> </a:t>
            </a:r>
            <a:r>
              <a:rPr dirty="0" err="1"/>
              <a:t>ke</a:t>
            </a:r>
            <a:r>
              <a:rPr dirty="0"/>
              <a:t> </a:t>
            </a:r>
            <a:r>
              <a:rPr dirty="0" err="1"/>
              <a:t>paas</a:t>
            </a:r>
            <a:r>
              <a:rPr dirty="0"/>
              <a:t> QA oracle </a:t>
            </a:r>
            <a:r>
              <a:rPr dirty="0" err="1"/>
              <a:t>hai</a:t>
            </a:r>
            <a:r>
              <a:rPr dirty="0"/>
              <a:t> — to </a:t>
            </a:r>
            <a:r>
              <a:rPr dirty="0" err="1"/>
              <a:t>sirf</a:t>
            </a:r>
            <a:r>
              <a:rPr dirty="0"/>
              <a:t> </a:t>
            </a:r>
            <a:r>
              <a:rPr dirty="0" err="1"/>
              <a:t>itna</a:t>
            </a:r>
            <a:r>
              <a:rPr dirty="0"/>
              <a:t> </a:t>
            </a:r>
            <a:r>
              <a:rPr dirty="0" err="1"/>
              <a:t>kaafi</a:t>
            </a:r>
            <a:r>
              <a:rPr dirty="0"/>
              <a:t> </a:t>
            </a:r>
            <a:r>
              <a:rPr dirty="0" err="1"/>
              <a:t>kyun</a:t>
            </a:r>
            <a:r>
              <a:rPr dirty="0"/>
              <a:t> </a:t>
            </a:r>
            <a:r>
              <a:rPr dirty="0" err="1"/>
              <a:t>nahi</a:t>
            </a:r>
            <a:r>
              <a:rPr dirty="0"/>
              <a:t> </a:t>
            </a:r>
            <a:r>
              <a:rPr dirty="0" err="1"/>
              <a:t>hai</a:t>
            </a:r>
            <a:r>
              <a:rPr dirty="0"/>
              <a:t>?</a:t>
            </a:r>
          </a:p>
          <a:p>
            <a:r>
              <a:rPr dirty="0"/>
              <a:t>J1: </a:t>
            </a:r>
            <a:r>
              <a:rPr dirty="0" err="1"/>
              <a:t>Kyunki</a:t>
            </a:r>
            <a:r>
              <a:rPr dirty="0"/>
              <a:t> </a:t>
            </a:r>
            <a:r>
              <a:rPr dirty="0" err="1"/>
              <a:t>unka</a:t>
            </a:r>
            <a:r>
              <a:rPr dirty="0"/>
              <a:t> oracle internal observability </a:t>
            </a:r>
            <a:r>
              <a:rPr dirty="0" err="1"/>
              <a:t>ya</a:t>
            </a:r>
            <a:r>
              <a:rPr dirty="0"/>
              <a:t> cost-awareness cover </a:t>
            </a:r>
            <a:r>
              <a:rPr dirty="0" err="1"/>
              <a:t>nahi</a:t>
            </a:r>
            <a:r>
              <a:rPr dirty="0"/>
              <a:t> </a:t>
            </a:r>
            <a:r>
              <a:rPr dirty="0" err="1"/>
              <a:t>karta</a:t>
            </a:r>
            <a:r>
              <a:rPr dirty="0"/>
              <a:t> — wo bug-finding </a:t>
            </a:r>
            <a:r>
              <a:rPr dirty="0" err="1"/>
              <a:t>ya</a:t>
            </a:r>
            <a:r>
              <a:rPr dirty="0"/>
              <a:t> property-testing </a:t>
            </a:r>
            <a:r>
              <a:rPr dirty="0" err="1"/>
              <a:t>ke</a:t>
            </a:r>
            <a:r>
              <a:rPr dirty="0"/>
              <a:t> </a:t>
            </a:r>
            <a:r>
              <a:rPr dirty="0" err="1"/>
              <a:t>liye</a:t>
            </a:r>
            <a:r>
              <a:rPr dirty="0"/>
              <a:t> </a:t>
            </a:r>
            <a:r>
              <a:rPr dirty="0" err="1"/>
              <a:t>acha</a:t>
            </a:r>
            <a:r>
              <a:rPr dirty="0"/>
              <a:t> </a:t>
            </a:r>
            <a:r>
              <a:rPr dirty="0" err="1"/>
              <a:t>hai</a:t>
            </a:r>
            <a:r>
              <a:rPr dirty="0"/>
              <a:t>, </a:t>
            </a:r>
            <a:r>
              <a:rPr dirty="0" err="1"/>
              <a:t>lekin</a:t>
            </a:r>
            <a:r>
              <a:rPr dirty="0"/>
              <a:t> regression selection </a:t>
            </a:r>
            <a:r>
              <a:rPr dirty="0" err="1"/>
              <a:t>ke</a:t>
            </a:r>
            <a:r>
              <a:rPr dirty="0"/>
              <a:t> </a:t>
            </a:r>
            <a:r>
              <a:rPr dirty="0" err="1"/>
              <a:t>liye</a:t>
            </a:r>
            <a:r>
              <a:rPr dirty="0"/>
              <a:t> </a:t>
            </a:r>
            <a:r>
              <a:rPr dirty="0" err="1"/>
              <a:t>zaroori</a:t>
            </a:r>
            <a:r>
              <a:rPr dirty="0"/>
              <a:t> </a:t>
            </a:r>
            <a:r>
              <a:rPr dirty="0" err="1"/>
              <a:t>dusri</a:t>
            </a:r>
            <a:r>
              <a:rPr dirty="0"/>
              <a:t> properties, </a:t>
            </a:r>
            <a:r>
              <a:rPr dirty="0" err="1"/>
              <a:t>jaise</a:t>
            </a:r>
            <a:r>
              <a:rPr dirty="0"/>
              <a:t> leakage-safe temporal ordering, </a:t>
            </a:r>
            <a:r>
              <a:rPr dirty="0" err="1"/>
              <a:t>unmein</a:t>
            </a:r>
            <a:r>
              <a:rPr dirty="0"/>
              <a:t> missing </a:t>
            </a:r>
            <a:r>
              <a:rPr dirty="0" err="1"/>
              <a:t>hain</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a:t>
            </a:r>
            <a:r>
              <a:rPr dirty="0" err="1"/>
              <a:t>MorphQ</a:t>
            </a:r>
            <a:r>
              <a:rPr dirty="0"/>
              <a:t> </a:t>
            </a:r>
            <a:r>
              <a:rPr dirty="0" err="1"/>
              <a:t>jaisi</a:t>
            </a:r>
            <a:r>
              <a:rPr dirty="0"/>
              <a:t> established technique </a:t>
            </a:r>
            <a:r>
              <a:rPr dirty="0" err="1"/>
              <a:t>ko</a:t>
            </a:r>
            <a:r>
              <a:rPr dirty="0"/>
              <a:t> </a:t>
            </a:r>
            <a:r>
              <a:rPr dirty="0" err="1"/>
              <a:t>sirf</a:t>
            </a:r>
            <a:r>
              <a:rPr dirty="0"/>
              <a:t> </a:t>
            </a:r>
            <a:r>
              <a:rPr dirty="0" err="1"/>
              <a:t>ek</a:t>
            </a:r>
            <a:r>
              <a:rPr dirty="0"/>
              <a:t> row </a:t>
            </a:r>
            <a:r>
              <a:rPr dirty="0" err="1"/>
              <a:t>mein</a:t>
            </a:r>
            <a:r>
              <a:rPr dirty="0"/>
              <a:t> crosses de </a:t>
            </a:r>
            <a:r>
              <a:rPr dirty="0" err="1"/>
              <a:t>dena</a:t>
            </a:r>
            <a:r>
              <a:rPr dirty="0"/>
              <a:t> — </a:t>
            </a:r>
            <a:r>
              <a:rPr dirty="0" err="1"/>
              <a:t>kya</a:t>
            </a:r>
            <a:r>
              <a:rPr dirty="0"/>
              <a:t> ye unfair simplification </a:t>
            </a:r>
            <a:r>
              <a:rPr dirty="0" err="1"/>
              <a:t>nahi</a:t>
            </a:r>
            <a:r>
              <a:rPr dirty="0"/>
              <a:t>?</a:t>
            </a:r>
          </a:p>
          <a:p>
            <a:r>
              <a:rPr dirty="0"/>
              <a:t>J: Table </a:t>
            </a:r>
            <a:r>
              <a:rPr dirty="0" err="1"/>
              <a:t>sirf</a:t>
            </a:r>
            <a:r>
              <a:rPr dirty="0"/>
              <a:t> specific properties (cost-awareness, internal observability, </a:t>
            </a:r>
            <a:r>
              <a:rPr dirty="0" err="1"/>
              <a:t>waghera</a:t>
            </a:r>
            <a:r>
              <a:rPr dirty="0"/>
              <a:t>) </a:t>
            </a:r>
            <a:r>
              <a:rPr dirty="0" err="1"/>
              <a:t>ke</a:t>
            </a:r>
            <a:r>
              <a:rPr dirty="0"/>
              <a:t> against compare </a:t>
            </a:r>
            <a:r>
              <a:rPr dirty="0" err="1"/>
              <a:t>karta</a:t>
            </a:r>
            <a:r>
              <a:rPr dirty="0"/>
              <a:t> </a:t>
            </a:r>
            <a:r>
              <a:rPr dirty="0" err="1"/>
              <a:t>hai</a:t>
            </a:r>
            <a:r>
              <a:rPr dirty="0"/>
              <a:t>, </a:t>
            </a:r>
            <a:r>
              <a:rPr dirty="0" err="1"/>
              <a:t>MorphQ</a:t>
            </a:r>
            <a:r>
              <a:rPr dirty="0"/>
              <a:t> </a:t>
            </a:r>
            <a:r>
              <a:rPr dirty="0" err="1"/>
              <a:t>ki</a:t>
            </a:r>
            <a:r>
              <a:rPr dirty="0"/>
              <a:t> overall quality </a:t>
            </a:r>
            <a:r>
              <a:rPr dirty="0" err="1"/>
              <a:t>ko</a:t>
            </a:r>
            <a:r>
              <a:rPr dirty="0"/>
              <a:t> downplay </a:t>
            </a:r>
            <a:r>
              <a:rPr dirty="0" err="1"/>
              <a:t>nahi</a:t>
            </a:r>
            <a:r>
              <a:rPr dirty="0"/>
              <a:t> </a:t>
            </a:r>
            <a:r>
              <a:rPr dirty="0" err="1"/>
              <a:t>karta</a:t>
            </a:r>
            <a:r>
              <a:rPr dirty="0"/>
              <a:t>. </a:t>
            </a:r>
            <a:r>
              <a:rPr dirty="0" err="1"/>
              <a:t>MorphQ</a:t>
            </a:r>
            <a:r>
              <a:rPr dirty="0"/>
              <a:t> </a:t>
            </a:r>
            <a:r>
              <a:rPr dirty="0" err="1"/>
              <a:t>apne</a:t>
            </a:r>
            <a:r>
              <a:rPr dirty="0"/>
              <a:t> domain (metamorphic bug-finding) </a:t>
            </a:r>
            <a:r>
              <a:rPr dirty="0" err="1"/>
              <a:t>mein</a:t>
            </a:r>
            <a:r>
              <a:rPr dirty="0"/>
              <a:t> strong </a:t>
            </a:r>
            <a:r>
              <a:rPr dirty="0" err="1"/>
              <a:t>hai</a:t>
            </a:r>
            <a:r>
              <a:rPr dirty="0"/>
              <a:t>, </a:t>
            </a:r>
            <a:r>
              <a:rPr dirty="0" err="1"/>
              <a:t>lekin</a:t>
            </a:r>
            <a:r>
              <a:rPr dirty="0"/>
              <a:t> regression selection </a:t>
            </a:r>
            <a:r>
              <a:rPr dirty="0" err="1"/>
              <a:t>ke</a:t>
            </a:r>
            <a:r>
              <a:rPr dirty="0"/>
              <a:t> </a:t>
            </a:r>
            <a:r>
              <a:rPr dirty="0" err="1"/>
              <a:t>liye</a:t>
            </a:r>
            <a:r>
              <a:rPr dirty="0"/>
              <a:t> design </a:t>
            </a:r>
            <a:r>
              <a:rPr dirty="0" err="1"/>
              <a:t>nahi</a:t>
            </a:r>
            <a:r>
              <a:rPr dirty="0"/>
              <a:t> </a:t>
            </a:r>
            <a:r>
              <a:rPr dirty="0" err="1"/>
              <a:t>hua</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b="1" dirty="0" err="1" smtClean="0"/>
              <a:t>QDiff</a:t>
            </a:r>
            <a:r>
              <a:rPr lang="en-US" dirty="0" smtClean="0"/>
              <a:t>: Runs the same quantum program on different quantum software stacks (platforms) and compares their outputs — if the results don't match, that's a bug. This cross-platform differential comparison is its QA oracle. </a:t>
            </a:r>
          </a:p>
          <a:p>
            <a:pPr marL="228600" indent="-228600">
              <a:buAutoNum type="arabicPeriod"/>
            </a:pPr>
            <a:endParaRPr lang="en-US" dirty="0" smtClean="0"/>
          </a:p>
          <a:p>
            <a:pPr marL="228600" indent="-228600">
              <a:buAutoNum type="arabicPeriod"/>
            </a:pPr>
            <a:r>
              <a:rPr lang="en-US" b="1" dirty="0" smtClean="0"/>
              <a:t>QSPE:</a:t>
            </a:r>
            <a:r>
              <a:rPr lang="en-US" dirty="0" smtClean="0"/>
              <a:t> Systematically generates skeletal (simplified template) quantum programs and differentially tests them across different quantum SDKs. </a:t>
            </a:r>
          </a:p>
          <a:p>
            <a:pPr marL="228600" indent="-228600">
              <a:buAutoNum type="arabicPeriod"/>
            </a:pPr>
            <a:endParaRPr lang="en-US" dirty="0" smtClean="0"/>
          </a:p>
          <a:p>
            <a:pPr marL="228600" indent="-228600">
              <a:buAutoNum type="arabicPeriod"/>
            </a:pPr>
            <a:r>
              <a:rPr lang="en-US" b="1" dirty="0" err="1" smtClean="0"/>
              <a:t>Giallar</a:t>
            </a:r>
            <a:r>
              <a:rPr lang="en-US" dirty="0" smtClean="0"/>
              <a:t>: Formally verifies </a:t>
            </a:r>
            <a:r>
              <a:rPr lang="en-US" dirty="0" err="1" smtClean="0"/>
              <a:t>Qiskit</a:t>
            </a:r>
            <a:r>
              <a:rPr lang="en-US" dirty="0" smtClean="0"/>
              <a:t> compiler passes — push-button verification, meaning it automatically proves a pass is correct without needing test cases. That's why it has both a QA oracle and internal observability, since it inspects each pass inside the compiler directly. </a:t>
            </a:r>
          </a:p>
          <a:p>
            <a:pPr marL="228600" indent="-228600">
              <a:buAutoNum type="arabicPeriod"/>
            </a:pPr>
            <a:endParaRPr lang="en-US" dirty="0" smtClean="0"/>
          </a:p>
          <a:p>
            <a:pPr marL="228600" indent="-228600">
              <a:buAutoNum type="arabicPeriod"/>
            </a:pPr>
            <a:r>
              <a:rPr lang="en-US" b="1" dirty="0" err="1" smtClean="0"/>
              <a:t>Benchpress</a:t>
            </a:r>
            <a:r>
              <a:rPr lang="en-US" dirty="0" smtClean="0"/>
              <a:t>: Benchmarks the performance of different quantum SDKs on circuit creation, manipulation, and compilation. Its QA oracle is only partial, since its focus is mainly measuring timing/performance rather than strict correctness checking. Proposed work (our approach): Covers all of these properties together — a QA oracle, internal observability, cost-aware design, selecting/ordering existing tests, and leakage-safe temporal ordering.</a:t>
            </a:r>
          </a:p>
          <a:p>
            <a:endParaRPr lang="en-US" dirty="0" smtClean="0"/>
          </a:p>
          <a:p>
            <a:r>
              <a:rPr lang="en-US" dirty="0" smtClean="0"/>
              <a:t>Finally, the proposed work is designed to integrate all these capabilities in one framework. We use QA oracles matched to different regression types, including internal observability where final-output checking may not be sufficient. We explicitly include computational cost, because all tests cannot be run under a realistic budget. We select and order existing </a:t>
            </a:r>
            <a:r>
              <a:rPr lang="en-US" dirty="0" err="1" smtClean="0"/>
              <a:t>transpiler</a:t>
            </a:r>
            <a:r>
              <a:rPr lang="en-US" dirty="0" smtClean="0"/>
              <a:t> tests, and importantly, the evaluation is temporally leakage-safe, meaning future information is not allowed to influence earlier test selection.</a:t>
            </a:r>
          </a:p>
          <a:p>
            <a:r>
              <a:rPr lang="en-US" dirty="0" smtClean="0"/>
              <a:t>So the novelty is not that each individual component is completely new. QA oracles already exist, internal checking already exists, and test prioritization already exists. The contribution is to bring these previously separate ideas together for quantum </a:t>
            </a:r>
            <a:r>
              <a:rPr lang="en-US" dirty="0" err="1" smtClean="0"/>
              <a:t>transpiler</a:t>
            </a:r>
            <a:r>
              <a:rPr lang="en-US" dirty="0" smtClean="0"/>
              <a:t> regression testing.</a:t>
            </a:r>
          </a:p>
          <a:p>
            <a:endParaRPr lang="en-US" dirty="0" smtClean="0"/>
          </a:p>
          <a:p>
            <a:r>
              <a:rPr lang="en-US" dirty="0" smtClean="0"/>
              <a:t>Existing work either asks ‘Is there a bug?’ or ‘Which test should I run first?’ Our work tries to answer both questions together for the quantum </a:t>
            </a:r>
            <a:r>
              <a:rPr lang="en-US" dirty="0" err="1" smtClean="0"/>
              <a:t>transpiler</a:t>
            </a:r>
            <a:r>
              <a:rPr lang="en-US" dirty="0" smtClean="0"/>
              <a:t>.</a:t>
            </a:r>
          </a:p>
          <a:p>
            <a:endParaRPr dirty="0"/>
          </a:p>
          <a:p>
            <a:r>
              <a:rPr dirty="0" err="1"/>
              <a:t>Mumkin</a:t>
            </a:r>
            <a:r>
              <a:rPr dirty="0"/>
              <a:t> examiner </a:t>
            </a:r>
            <a:r>
              <a:rPr dirty="0" err="1"/>
              <a:t>sawalat</a:t>
            </a:r>
            <a:r>
              <a:rPr dirty="0"/>
              <a:t>:</a:t>
            </a:r>
          </a:p>
          <a:p>
            <a:r>
              <a:rPr dirty="0"/>
              <a:t>S1: </a:t>
            </a:r>
            <a:r>
              <a:rPr dirty="0" err="1"/>
              <a:t>Aap</a:t>
            </a:r>
            <a:r>
              <a:rPr dirty="0"/>
              <a:t> </a:t>
            </a:r>
            <a:r>
              <a:rPr dirty="0" err="1"/>
              <a:t>keh</a:t>
            </a:r>
            <a:r>
              <a:rPr dirty="0"/>
              <a:t> </a:t>
            </a:r>
            <a:r>
              <a:rPr dirty="0" err="1"/>
              <a:t>rahe</a:t>
            </a:r>
            <a:r>
              <a:rPr dirty="0"/>
              <a:t> </a:t>
            </a:r>
            <a:r>
              <a:rPr dirty="0" err="1"/>
              <a:t>hain</a:t>
            </a:r>
            <a:r>
              <a:rPr dirty="0"/>
              <a:t> </a:t>
            </a:r>
            <a:r>
              <a:rPr dirty="0" err="1"/>
              <a:t>ke</a:t>
            </a:r>
            <a:r>
              <a:rPr dirty="0"/>
              <a:t> </a:t>
            </a:r>
            <a:r>
              <a:rPr dirty="0" err="1"/>
              <a:t>sirf</a:t>
            </a:r>
            <a:r>
              <a:rPr dirty="0"/>
              <a:t> </a:t>
            </a:r>
            <a:r>
              <a:rPr dirty="0" err="1"/>
              <a:t>aapka</a:t>
            </a:r>
            <a:r>
              <a:rPr dirty="0"/>
              <a:t> approach </a:t>
            </a:r>
            <a:r>
              <a:rPr dirty="0" err="1"/>
              <a:t>har</a:t>
            </a:r>
            <a:r>
              <a:rPr dirty="0"/>
              <a:t> column cover </a:t>
            </a:r>
            <a:r>
              <a:rPr dirty="0" err="1"/>
              <a:t>karta</a:t>
            </a:r>
            <a:r>
              <a:rPr dirty="0"/>
              <a:t> </a:t>
            </a:r>
            <a:r>
              <a:rPr dirty="0" err="1"/>
              <a:t>hai</a:t>
            </a:r>
            <a:r>
              <a:rPr dirty="0"/>
              <a:t> — </a:t>
            </a:r>
            <a:r>
              <a:rPr dirty="0" err="1"/>
              <a:t>kya</a:t>
            </a:r>
            <a:r>
              <a:rPr dirty="0"/>
              <a:t> ye </a:t>
            </a:r>
            <a:r>
              <a:rPr dirty="0" err="1"/>
              <a:t>apne</a:t>
            </a:r>
            <a:r>
              <a:rPr dirty="0"/>
              <a:t> hi unproven prototype </a:t>
            </a:r>
            <a:r>
              <a:rPr dirty="0" err="1"/>
              <a:t>ke</a:t>
            </a:r>
            <a:r>
              <a:rPr dirty="0"/>
              <a:t> </a:t>
            </a:r>
            <a:r>
              <a:rPr dirty="0" err="1"/>
              <a:t>baare</a:t>
            </a:r>
            <a:r>
              <a:rPr dirty="0"/>
              <a:t> </a:t>
            </a:r>
            <a:r>
              <a:rPr dirty="0" err="1"/>
              <a:t>mein</a:t>
            </a:r>
            <a:r>
              <a:rPr dirty="0"/>
              <a:t> </a:t>
            </a:r>
            <a:r>
              <a:rPr dirty="0" err="1"/>
              <a:t>bohot</a:t>
            </a:r>
            <a:r>
              <a:rPr dirty="0"/>
              <a:t> bara claim </a:t>
            </a:r>
            <a:r>
              <a:rPr dirty="0" err="1"/>
              <a:t>nahi</a:t>
            </a:r>
            <a:r>
              <a:rPr dirty="0"/>
              <a:t> </a:t>
            </a:r>
            <a:r>
              <a:rPr dirty="0" err="1"/>
              <a:t>hai</a:t>
            </a:r>
            <a:r>
              <a:rPr dirty="0"/>
              <a:t>?</a:t>
            </a:r>
          </a:p>
          <a:p>
            <a:r>
              <a:rPr dirty="0"/>
              <a:t>J1: Ye claim </a:t>
            </a:r>
            <a:r>
              <a:rPr dirty="0" err="1"/>
              <a:t>sirf</a:t>
            </a:r>
            <a:r>
              <a:rPr dirty="0"/>
              <a:t> framework </a:t>
            </a:r>
            <a:r>
              <a:rPr dirty="0" err="1"/>
              <a:t>ke</a:t>
            </a:r>
            <a:r>
              <a:rPr dirty="0"/>
              <a:t> design/capability </a:t>
            </a:r>
            <a:r>
              <a:rPr dirty="0" err="1"/>
              <a:t>ke</a:t>
            </a:r>
            <a:r>
              <a:rPr dirty="0"/>
              <a:t> </a:t>
            </a:r>
            <a:r>
              <a:rPr dirty="0" err="1"/>
              <a:t>baare</a:t>
            </a:r>
            <a:r>
              <a:rPr dirty="0"/>
              <a:t> </a:t>
            </a:r>
            <a:r>
              <a:rPr dirty="0" err="1"/>
              <a:t>mein</a:t>
            </a:r>
            <a:r>
              <a:rPr dirty="0"/>
              <a:t> </a:t>
            </a:r>
            <a:r>
              <a:rPr dirty="0" err="1"/>
              <a:t>hai</a:t>
            </a:r>
            <a:r>
              <a:rPr dirty="0"/>
              <a:t> — </a:t>
            </a:r>
            <a:r>
              <a:rPr dirty="0" err="1"/>
              <a:t>matlab</a:t>
            </a:r>
            <a:r>
              <a:rPr dirty="0"/>
              <a:t> framework architecturally in </a:t>
            </a:r>
            <a:r>
              <a:rPr dirty="0" err="1"/>
              <a:t>saari</a:t>
            </a:r>
            <a:r>
              <a:rPr dirty="0"/>
              <a:t> properties </a:t>
            </a:r>
            <a:r>
              <a:rPr dirty="0" err="1"/>
              <a:t>ko</a:t>
            </a:r>
            <a:r>
              <a:rPr dirty="0"/>
              <a:t> support </a:t>
            </a:r>
            <a:r>
              <a:rPr dirty="0" err="1"/>
              <a:t>karta</a:t>
            </a:r>
            <a:r>
              <a:rPr dirty="0"/>
              <a:t> </a:t>
            </a:r>
            <a:r>
              <a:rPr dirty="0" err="1"/>
              <a:t>hai</a:t>
            </a:r>
            <a:r>
              <a:rPr dirty="0"/>
              <a:t>, </a:t>
            </a:r>
            <a:r>
              <a:rPr dirty="0" err="1"/>
              <a:t>na</a:t>
            </a:r>
            <a:r>
              <a:rPr dirty="0"/>
              <a:t> </a:t>
            </a:r>
            <a:r>
              <a:rPr dirty="0" err="1"/>
              <a:t>ke</a:t>
            </a:r>
            <a:r>
              <a:rPr dirty="0"/>
              <a:t> ye claim </a:t>
            </a:r>
            <a:r>
              <a:rPr dirty="0" err="1"/>
              <a:t>hai</a:t>
            </a:r>
            <a:r>
              <a:rPr dirty="0"/>
              <a:t> </a:t>
            </a:r>
            <a:r>
              <a:rPr dirty="0" err="1"/>
              <a:t>ke</a:t>
            </a:r>
            <a:r>
              <a:rPr dirty="0"/>
              <a:t> </a:t>
            </a:r>
            <a:r>
              <a:rPr dirty="0" err="1"/>
              <a:t>har</a:t>
            </a:r>
            <a:r>
              <a:rPr dirty="0"/>
              <a:t> property fully statistically validated ho </a:t>
            </a:r>
            <a:r>
              <a:rPr dirty="0" err="1"/>
              <a:t>chuki</a:t>
            </a:r>
            <a:r>
              <a:rPr dirty="0"/>
              <a:t> </a:t>
            </a:r>
            <a:r>
              <a:rPr dirty="0" err="1"/>
              <a:t>hai</a:t>
            </a:r>
            <a:r>
              <a:rPr dirty="0"/>
              <a:t>. Slide 28 par explicitly </a:t>
            </a:r>
            <a:r>
              <a:rPr dirty="0" err="1"/>
              <a:t>likha</a:t>
            </a:r>
            <a:r>
              <a:rPr dirty="0"/>
              <a:t> </a:t>
            </a:r>
            <a:r>
              <a:rPr dirty="0" err="1"/>
              <a:t>hai</a:t>
            </a:r>
            <a:r>
              <a:rPr dirty="0"/>
              <a:t> </a:t>
            </a:r>
            <a:r>
              <a:rPr dirty="0" err="1"/>
              <a:t>ke</a:t>
            </a:r>
            <a:r>
              <a:rPr dirty="0"/>
              <a:t> ye </a:t>
            </a:r>
            <a:r>
              <a:rPr dirty="0" err="1"/>
              <a:t>ek</a:t>
            </a:r>
            <a:r>
              <a:rPr dirty="0"/>
              <a:t> feasibility study </a:t>
            </a:r>
            <a:r>
              <a:rPr dirty="0" err="1"/>
              <a:t>hai</a:t>
            </a:r>
            <a:r>
              <a:rPr dirty="0"/>
              <a:t>, powered evaluation </a:t>
            </a:r>
            <a:r>
              <a:rPr dirty="0" err="1"/>
              <a:t>nahi</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'Proposed work' row </a:t>
            </a:r>
            <a:r>
              <a:rPr dirty="0" err="1"/>
              <a:t>mein</a:t>
            </a:r>
            <a:r>
              <a:rPr dirty="0"/>
              <a:t> </a:t>
            </a:r>
            <a:r>
              <a:rPr dirty="0" err="1"/>
              <a:t>aap</a:t>
            </a:r>
            <a:r>
              <a:rPr dirty="0"/>
              <a:t> </a:t>
            </a:r>
            <a:r>
              <a:rPr dirty="0" err="1"/>
              <a:t>khud</a:t>
            </a:r>
            <a:r>
              <a:rPr dirty="0"/>
              <a:t> sab </a:t>
            </a:r>
            <a:r>
              <a:rPr dirty="0" err="1"/>
              <a:t>kuch</a:t>
            </a:r>
            <a:r>
              <a:rPr dirty="0"/>
              <a:t> tick </a:t>
            </a:r>
            <a:r>
              <a:rPr dirty="0" err="1"/>
              <a:t>kar</a:t>
            </a:r>
            <a:r>
              <a:rPr dirty="0"/>
              <a:t> </a:t>
            </a:r>
            <a:r>
              <a:rPr dirty="0" err="1"/>
              <a:t>dete</a:t>
            </a:r>
            <a:r>
              <a:rPr dirty="0"/>
              <a:t> </a:t>
            </a:r>
            <a:r>
              <a:rPr dirty="0" err="1"/>
              <a:t>hain</a:t>
            </a:r>
            <a:r>
              <a:rPr dirty="0"/>
              <a:t> </a:t>
            </a:r>
            <a:r>
              <a:rPr dirty="0" err="1"/>
              <a:t>apne</a:t>
            </a:r>
            <a:r>
              <a:rPr dirty="0"/>
              <a:t> hi table </a:t>
            </a:r>
            <a:r>
              <a:rPr dirty="0" err="1"/>
              <a:t>mein</a:t>
            </a:r>
            <a:r>
              <a:rPr dirty="0"/>
              <a:t> — ye to self-grading </a:t>
            </a:r>
            <a:r>
              <a:rPr dirty="0" err="1"/>
              <a:t>hai</a:t>
            </a:r>
            <a:r>
              <a:rPr dirty="0"/>
              <a:t>, </a:t>
            </a:r>
            <a:r>
              <a:rPr dirty="0" err="1"/>
              <a:t>kisi</a:t>
            </a:r>
            <a:r>
              <a:rPr dirty="0"/>
              <a:t> third-party ne verify </a:t>
            </a:r>
            <a:r>
              <a:rPr dirty="0" err="1"/>
              <a:t>nahi</a:t>
            </a:r>
            <a:r>
              <a:rPr dirty="0"/>
              <a:t> </a:t>
            </a:r>
            <a:r>
              <a:rPr dirty="0" err="1"/>
              <a:t>kiya</a:t>
            </a:r>
            <a:r>
              <a:rPr dirty="0"/>
              <a:t>.</a:t>
            </a:r>
          </a:p>
          <a:p>
            <a:r>
              <a:rPr dirty="0"/>
              <a:t>J: </a:t>
            </a:r>
            <a:r>
              <a:rPr dirty="0" err="1"/>
              <a:t>Sahi</a:t>
            </a:r>
            <a:r>
              <a:rPr dirty="0"/>
              <a:t> observation </a:t>
            </a:r>
            <a:r>
              <a:rPr dirty="0" err="1"/>
              <a:t>hai</a:t>
            </a:r>
            <a:r>
              <a:rPr dirty="0"/>
              <a:t> — ye </a:t>
            </a:r>
            <a:r>
              <a:rPr dirty="0" err="1"/>
              <a:t>ek</a:t>
            </a:r>
            <a:r>
              <a:rPr dirty="0"/>
              <a:t> design-capability comparison </a:t>
            </a:r>
            <a:r>
              <a:rPr dirty="0" err="1"/>
              <a:t>hai</a:t>
            </a:r>
            <a:r>
              <a:rPr dirty="0"/>
              <a:t>, independent verification </a:t>
            </a:r>
            <a:r>
              <a:rPr dirty="0" err="1"/>
              <a:t>nahi</a:t>
            </a:r>
            <a:r>
              <a:rPr dirty="0"/>
              <a:t>. Isi </a:t>
            </a:r>
            <a:r>
              <a:rPr dirty="0" err="1"/>
              <a:t>liye</a:t>
            </a:r>
            <a:r>
              <a:rPr dirty="0"/>
              <a:t> hum explicitly </a:t>
            </a:r>
            <a:r>
              <a:rPr dirty="0" err="1"/>
              <a:t>kehte</a:t>
            </a:r>
            <a:r>
              <a:rPr dirty="0"/>
              <a:t> </a:t>
            </a:r>
            <a:r>
              <a:rPr dirty="0" err="1"/>
              <a:t>hain</a:t>
            </a:r>
            <a:r>
              <a:rPr dirty="0"/>
              <a:t> </a:t>
            </a:r>
            <a:r>
              <a:rPr dirty="0" err="1"/>
              <a:t>ke</a:t>
            </a:r>
            <a:r>
              <a:rPr dirty="0"/>
              <a:t> ye </a:t>
            </a:r>
            <a:r>
              <a:rPr dirty="0" err="1"/>
              <a:t>ek</a:t>
            </a:r>
            <a:r>
              <a:rPr dirty="0"/>
              <a:t> feasibility study </a:t>
            </a:r>
            <a:r>
              <a:rPr dirty="0" err="1"/>
              <a:t>hai</a:t>
            </a:r>
            <a:r>
              <a:rPr dirty="0"/>
              <a:t>; full empirical validation Phase 2/3 </a:t>
            </a:r>
            <a:r>
              <a:rPr dirty="0" err="1"/>
              <a:t>mein</a:t>
            </a:r>
            <a:r>
              <a:rPr dirty="0"/>
              <a:t> </a:t>
            </a:r>
            <a:r>
              <a:rPr dirty="0" err="1"/>
              <a:t>hogi</a:t>
            </a:r>
            <a:r>
              <a:rPr dirty="0"/>
              <a:t>.</a:t>
            </a:r>
          </a:p>
        </p:txBody>
      </p:sp>
      <p:sp>
        <p:nvSpPr>
          <p:cNvPr id="4" name="Slide Number Placeholder 3"/>
          <p:cNvSpPr>
            <a:spLocks noGrp="1"/>
          </p:cNvSpPr>
          <p:nvPr>
            <p:ph type="sldNum" sz="quarter" idx="10"/>
          </p:nvPr>
        </p:nvSpPr>
        <p:spPr/>
        <p:txBody>
          <a:bodyPr/>
          <a:lstStyle/>
          <a:p>
            <a:endParaRPr lang="en-US"/>
          </a:p>
        </p:txBody>
      </p:sp>
    </p:spTree>
    <p:extLst>
      <p:ext uri="{BB962C8B-B14F-4D97-AF65-F5344CB8AC3E}">
        <p14:creationId xmlns:p14="http://schemas.microsoft.com/office/powerpoint/2010/main" val="12777964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a:t>
            </a:r>
            <a:r>
              <a:rPr lang="en-US" dirty="0" err="1" smtClean="0"/>
              <a:t>transpiler</a:t>
            </a:r>
            <a:r>
              <a:rPr lang="en-US" dirty="0" smtClean="0"/>
              <a:t> regression can appear in seven different ways. </a:t>
            </a:r>
          </a:p>
          <a:p>
            <a:r>
              <a:rPr lang="en-US" dirty="0" smtClean="0"/>
              <a:t>“Agar main </a:t>
            </a:r>
            <a:r>
              <a:rPr lang="en-US" dirty="0" err="1" smtClean="0"/>
              <a:t>transpiler</a:t>
            </a:r>
            <a:r>
              <a:rPr lang="en-US" dirty="0" smtClean="0"/>
              <a:t> </a:t>
            </a:r>
            <a:r>
              <a:rPr lang="en-US" dirty="0" err="1" smtClean="0"/>
              <a:t>ko</a:t>
            </a:r>
            <a:r>
              <a:rPr lang="en-US" dirty="0" smtClean="0"/>
              <a:t> largely black-box/output level par test </a:t>
            </a:r>
            <a:r>
              <a:rPr lang="en-US" dirty="0" err="1" smtClean="0"/>
              <a:t>karoon</a:t>
            </a:r>
            <a:r>
              <a:rPr lang="en-US" dirty="0" smtClean="0"/>
              <a:t>, to </a:t>
            </a:r>
            <a:r>
              <a:rPr lang="en-US" dirty="0" err="1" smtClean="0"/>
              <a:t>kaun</a:t>
            </a:r>
            <a:r>
              <a:rPr lang="en-US" dirty="0" smtClean="0"/>
              <a:t> </a:t>
            </a:r>
            <a:r>
              <a:rPr lang="en-US" dirty="0" err="1" smtClean="0"/>
              <a:t>si</a:t>
            </a:r>
            <a:r>
              <a:rPr lang="en-US" dirty="0" smtClean="0"/>
              <a:t> standard, directly observable properties naturally check </a:t>
            </a:r>
            <a:r>
              <a:rPr lang="en-US" dirty="0" err="1" smtClean="0"/>
              <a:t>ki</a:t>
            </a:r>
            <a:r>
              <a:rPr lang="en-US" dirty="0" smtClean="0"/>
              <a:t> ja </a:t>
            </a:r>
            <a:r>
              <a:rPr lang="en-US" dirty="0" err="1" smtClean="0"/>
              <a:t>sakti</a:t>
            </a:r>
            <a:r>
              <a:rPr lang="en-US" dirty="0" smtClean="0"/>
              <a:t> </a:t>
            </a:r>
            <a:r>
              <a:rPr lang="en-US" dirty="0" err="1" smtClean="0"/>
              <a:t>hain</a:t>
            </a:r>
            <a:r>
              <a:rPr lang="en-US" dirty="0" smtClean="0"/>
              <a:t>”</a:t>
            </a:r>
          </a:p>
          <a:p>
            <a:endParaRPr lang="en-US" dirty="0" smtClean="0"/>
          </a:p>
          <a:p>
            <a:r>
              <a:rPr lang="en-US" dirty="0" smtClean="0"/>
              <a:t>Four are already captured by our reference screen: semantic difference, compilation failure, circuit-quality degradation, and performance slowdown. However, three types can remain hidden even when the final circuit appears correct: contract or metadata errors, unexpected non-determinism, and operationally relevant global-phase discrepancies. These three form the observability gap. Therefore, our argument is not that equivalence checking is useless; it is that one output-oriented oracle cannot detect every fault class. We need matched oracles for the specific property that may fail.</a:t>
            </a:r>
          </a:p>
          <a:p>
            <a:endParaRPr lang="en-US" dirty="0" smtClean="0"/>
          </a:p>
          <a:p>
            <a:r>
              <a:rPr lang="en-US" dirty="0" err="1" smtClean="0"/>
              <a:t>Lekin</a:t>
            </a:r>
            <a:r>
              <a:rPr lang="en-US" dirty="0" smtClean="0"/>
              <a:t> problem ye </a:t>
            </a:r>
            <a:r>
              <a:rPr lang="en-US" dirty="0" err="1" smtClean="0"/>
              <a:t>hai</a:t>
            </a:r>
            <a:r>
              <a:rPr lang="en-US" dirty="0" smtClean="0"/>
              <a:t> </a:t>
            </a:r>
            <a:r>
              <a:rPr lang="en-US" dirty="0" err="1" smtClean="0"/>
              <a:t>ke</a:t>
            </a:r>
            <a:r>
              <a:rPr lang="en-US" dirty="0" smtClean="0"/>
              <a:t> agar hum </a:t>
            </a:r>
            <a:r>
              <a:rPr lang="en-US" dirty="0" err="1" smtClean="0"/>
              <a:t>sirf</a:t>
            </a:r>
            <a:r>
              <a:rPr lang="en-US" dirty="0" smtClean="0"/>
              <a:t> final output circuit, compilation success, circuit quality </a:t>
            </a:r>
            <a:r>
              <a:rPr lang="en-US" dirty="0" err="1" smtClean="0"/>
              <a:t>aur</a:t>
            </a:r>
            <a:r>
              <a:rPr lang="en-US" dirty="0" smtClean="0"/>
              <a:t> runtime </a:t>
            </a:r>
            <a:r>
              <a:rPr lang="en-US" dirty="0" err="1" smtClean="0"/>
              <a:t>dekhein</a:t>
            </a:r>
            <a:r>
              <a:rPr lang="en-US" dirty="0" smtClean="0"/>
              <a:t>, tab </a:t>
            </a:r>
            <a:r>
              <a:rPr lang="en-US" dirty="0" err="1" smtClean="0"/>
              <a:t>bhi</a:t>
            </a:r>
            <a:r>
              <a:rPr lang="en-US" dirty="0" smtClean="0"/>
              <a:t> </a:t>
            </a:r>
            <a:r>
              <a:rPr lang="en-US" dirty="0" err="1" smtClean="0"/>
              <a:t>kuch</a:t>
            </a:r>
            <a:r>
              <a:rPr lang="en-US" dirty="0" smtClean="0"/>
              <a:t> regressions hidden </a:t>
            </a:r>
            <a:r>
              <a:rPr lang="en-US" dirty="0" err="1" smtClean="0"/>
              <a:t>reh</a:t>
            </a:r>
            <a:r>
              <a:rPr lang="en-US" dirty="0" smtClean="0"/>
              <a:t> </a:t>
            </a:r>
            <a:r>
              <a:rPr lang="en-US" dirty="0" err="1" smtClean="0"/>
              <a:t>sakti</a:t>
            </a:r>
            <a:r>
              <a:rPr lang="en-US" dirty="0" smtClean="0"/>
              <a:t> </a:t>
            </a:r>
            <a:r>
              <a:rPr lang="en-US" dirty="0" err="1" smtClean="0"/>
              <a:t>hain</a:t>
            </a:r>
            <a:r>
              <a:rPr lang="en-US" dirty="0" smtClean="0"/>
              <a:t>. Ye right side </a:t>
            </a:r>
            <a:r>
              <a:rPr lang="en-US" dirty="0" err="1" smtClean="0"/>
              <a:t>ka</a:t>
            </a:r>
            <a:r>
              <a:rPr lang="en-US" dirty="0" smtClean="0"/>
              <a:t> observability gap </a:t>
            </a:r>
            <a:r>
              <a:rPr lang="en-US" dirty="0" err="1" smtClean="0"/>
              <a:t>hai</a:t>
            </a:r>
            <a:r>
              <a:rPr lang="en-US" dirty="0" smtClean="0"/>
              <a:t>.”</a:t>
            </a:r>
          </a:p>
          <a:p>
            <a:endParaRPr lang="en-US" dirty="0" smtClean="0"/>
          </a:p>
          <a:p>
            <a:r>
              <a:rPr lang="en-US" dirty="0" smtClean="0"/>
              <a:t>So important point ye </a:t>
            </a:r>
            <a:r>
              <a:rPr lang="en-US" dirty="0" err="1" smtClean="0"/>
              <a:t>hai</a:t>
            </a:r>
            <a:r>
              <a:rPr lang="en-US" dirty="0" smtClean="0"/>
              <a:t> </a:t>
            </a:r>
            <a:r>
              <a:rPr lang="en-US" dirty="0" err="1" smtClean="0"/>
              <a:t>ke</a:t>
            </a:r>
            <a:r>
              <a:rPr lang="en-US" dirty="0" smtClean="0"/>
              <a:t> output equivalence useless </a:t>
            </a:r>
            <a:r>
              <a:rPr lang="en-US" dirty="0" err="1" smtClean="0"/>
              <a:t>nahi</a:t>
            </a:r>
            <a:r>
              <a:rPr lang="en-US" dirty="0" smtClean="0"/>
              <a:t> </a:t>
            </a:r>
            <a:r>
              <a:rPr lang="en-US" dirty="0" err="1" smtClean="0"/>
              <a:t>hai</a:t>
            </a:r>
            <a:r>
              <a:rPr lang="en-US" dirty="0" smtClean="0"/>
              <a:t> — it is necessary, but it is not sufficient for every regression type. Different fault classes different properties </a:t>
            </a:r>
            <a:r>
              <a:rPr lang="en-US" dirty="0" err="1" smtClean="0"/>
              <a:t>ko</a:t>
            </a:r>
            <a:r>
              <a:rPr lang="en-US" dirty="0" smtClean="0"/>
              <a:t> affect </a:t>
            </a:r>
            <a:r>
              <a:rPr lang="en-US" dirty="0" err="1" smtClean="0"/>
              <a:t>karti</a:t>
            </a:r>
            <a:r>
              <a:rPr lang="en-US" dirty="0" smtClean="0"/>
              <a:t> </a:t>
            </a:r>
            <a:r>
              <a:rPr lang="en-US" dirty="0" err="1" smtClean="0"/>
              <a:t>hain</a:t>
            </a:r>
            <a:r>
              <a:rPr lang="en-US" dirty="0" smtClean="0"/>
              <a:t>, </a:t>
            </a:r>
            <a:r>
              <a:rPr lang="en-US" dirty="0" err="1" smtClean="0"/>
              <a:t>isliye</a:t>
            </a:r>
            <a:r>
              <a:rPr lang="en-US" dirty="0" smtClean="0"/>
              <a:t> </a:t>
            </a:r>
            <a:r>
              <a:rPr lang="en-US" dirty="0" err="1" smtClean="0"/>
              <a:t>har</a:t>
            </a:r>
            <a:r>
              <a:rPr lang="en-US" dirty="0" smtClean="0"/>
              <a:t> fault </a:t>
            </a:r>
            <a:r>
              <a:rPr lang="en-US" dirty="0" err="1" smtClean="0"/>
              <a:t>ke</a:t>
            </a:r>
            <a:r>
              <a:rPr lang="en-US" dirty="0" smtClean="0"/>
              <a:t> </a:t>
            </a:r>
            <a:r>
              <a:rPr lang="en-US" dirty="0" err="1" smtClean="0"/>
              <a:t>liye</a:t>
            </a:r>
            <a:r>
              <a:rPr lang="en-US" dirty="0" smtClean="0"/>
              <a:t> us property </a:t>
            </a:r>
            <a:r>
              <a:rPr lang="en-US" dirty="0" err="1" smtClean="0"/>
              <a:t>ko</a:t>
            </a:r>
            <a:r>
              <a:rPr lang="en-US" dirty="0" smtClean="0"/>
              <a:t> directly observe </a:t>
            </a:r>
            <a:r>
              <a:rPr lang="en-US" dirty="0" err="1" smtClean="0"/>
              <a:t>karne</a:t>
            </a:r>
            <a:r>
              <a:rPr lang="en-US" dirty="0" smtClean="0"/>
              <a:t> </a:t>
            </a:r>
            <a:r>
              <a:rPr lang="en-US" dirty="0" err="1" smtClean="0"/>
              <a:t>wala</a:t>
            </a:r>
            <a:r>
              <a:rPr lang="en-US" dirty="0" smtClean="0"/>
              <a:t> matched oracle </a:t>
            </a:r>
            <a:r>
              <a:rPr lang="en-US" dirty="0" err="1" smtClean="0"/>
              <a:t>chahiye</a:t>
            </a:r>
            <a:r>
              <a:rPr lang="en-US" dirty="0" smtClean="0"/>
              <a:t>.</a:t>
            </a:r>
          </a:p>
          <a:p>
            <a:endParaRPr lang="en-US" b="1" dirty="0" smtClean="0"/>
          </a:p>
          <a:p>
            <a:r>
              <a:rPr lang="en-US" dirty="0" smtClean="0"/>
              <a:t>So the question is no longer only ‘Is the final circuit equivalent?’ The question becomes ‘Are we observing the right property for the type of regression that can occur?</a:t>
            </a:r>
            <a:endParaRPr dirty="0"/>
          </a:p>
          <a:p>
            <a:endParaRPr lang="en-US" dirty="0" smtClean="0"/>
          </a:p>
          <a:p>
            <a:r>
              <a:rPr dirty="0" err="1" smtClean="0"/>
              <a:t>Mumkin</a:t>
            </a:r>
            <a:r>
              <a:rPr dirty="0" smtClean="0"/>
              <a:t> </a:t>
            </a:r>
            <a:r>
              <a:rPr dirty="0"/>
              <a:t>examiner </a:t>
            </a:r>
            <a:r>
              <a:rPr dirty="0" err="1"/>
              <a:t>sawalat</a:t>
            </a:r>
            <a:r>
              <a:rPr dirty="0"/>
              <a:t>:</a:t>
            </a:r>
          </a:p>
          <a:p>
            <a:r>
              <a:rPr dirty="0"/>
              <a:t>S1: Ye </a:t>
            </a:r>
            <a:r>
              <a:rPr dirty="0" err="1"/>
              <a:t>saat</a:t>
            </a:r>
            <a:r>
              <a:rPr dirty="0"/>
              <a:t> channels exactly </a:t>
            </a:r>
            <a:r>
              <a:rPr dirty="0" err="1"/>
              <a:t>kaise</a:t>
            </a:r>
            <a:r>
              <a:rPr dirty="0"/>
              <a:t> decide </a:t>
            </a:r>
            <a:r>
              <a:rPr dirty="0" err="1"/>
              <a:t>kiye</a:t>
            </a:r>
            <a:r>
              <a:rPr dirty="0"/>
              <a:t> — ye </a:t>
            </a:r>
            <a:r>
              <a:rPr dirty="0" err="1"/>
              <a:t>aapki</a:t>
            </a:r>
            <a:r>
              <a:rPr dirty="0"/>
              <a:t> </a:t>
            </a:r>
            <a:r>
              <a:rPr dirty="0" err="1"/>
              <a:t>apni</a:t>
            </a:r>
            <a:r>
              <a:rPr dirty="0"/>
              <a:t> taxonomy </a:t>
            </a:r>
            <a:r>
              <a:rPr dirty="0" err="1"/>
              <a:t>hai</a:t>
            </a:r>
            <a:r>
              <a:rPr dirty="0"/>
              <a:t> </a:t>
            </a:r>
            <a:r>
              <a:rPr dirty="0" err="1"/>
              <a:t>ya</a:t>
            </a:r>
            <a:r>
              <a:rPr dirty="0"/>
              <a:t> literature se li </a:t>
            </a:r>
            <a:r>
              <a:rPr dirty="0" err="1"/>
              <a:t>gayi</a:t>
            </a:r>
            <a:r>
              <a:rPr dirty="0"/>
              <a:t> </a:t>
            </a:r>
            <a:r>
              <a:rPr dirty="0" err="1"/>
              <a:t>hai</a:t>
            </a:r>
            <a:r>
              <a:rPr dirty="0"/>
              <a:t>?</a:t>
            </a:r>
          </a:p>
          <a:p>
            <a:r>
              <a:rPr dirty="0"/>
              <a:t>J1: Ye taxonomy testing </a:t>
            </a:r>
            <a:r>
              <a:rPr dirty="0" err="1"/>
              <a:t>aur</a:t>
            </a:r>
            <a:r>
              <a:rPr dirty="0"/>
              <a:t> equivalence-checking literature se synthesize </a:t>
            </a:r>
            <a:r>
              <a:rPr dirty="0" err="1"/>
              <a:t>ki</a:t>
            </a:r>
            <a:r>
              <a:rPr dirty="0"/>
              <a:t> </a:t>
            </a:r>
            <a:r>
              <a:rPr dirty="0" err="1"/>
              <a:t>gayi</a:t>
            </a:r>
            <a:r>
              <a:rPr dirty="0"/>
              <a:t> </a:t>
            </a:r>
            <a:r>
              <a:rPr dirty="0" err="1"/>
              <a:t>hai</a:t>
            </a:r>
            <a:r>
              <a:rPr dirty="0"/>
              <a:t> (</a:t>
            </a:r>
            <a:r>
              <a:rPr dirty="0" err="1"/>
              <a:t>jaise</a:t>
            </a:r>
            <a:r>
              <a:rPr dirty="0"/>
              <a:t> slides 6 </a:t>
            </a:r>
            <a:r>
              <a:rPr dirty="0" err="1"/>
              <a:t>aur</a:t>
            </a:r>
            <a:r>
              <a:rPr dirty="0"/>
              <a:t> 10 </a:t>
            </a:r>
            <a:r>
              <a:rPr dirty="0" err="1"/>
              <a:t>mein</a:t>
            </a:r>
            <a:r>
              <a:rPr dirty="0"/>
              <a:t> cite </a:t>
            </a:r>
            <a:r>
              <a:rPr dirty="0" err="1"/>
              <a:t>kiya</a:t>
            </a:r>
            <a:r>
              <a:rPr dirty="0"/>
              <a:t> </a:t>
            </a:r>
            <a:r>
              <a:rPr dirty="0" err="1"/>
              <a:t>gaya</a:t>
            </a:r>
            <a:r>
              <a:rPr dirty="0"/>
              <a:t> </a:t>
            </a:r>
            <a:r>
              <a:rPr dirty="0" err="1"/>
              <a:t>hai</a:t>
            </a:r>
            <a:r>
              <a:rPr dirty="0"/>
              <a:t>) — </a:t>
            </a:r>
            <a:r>
              <a:rPr dirty="0" err="1"/>
              <a:t>hamara</a:t>
            </a:r>
            <a:r>
              <a:rPr dirty="0"/>
              <a:t> contribution ye </a:t>
            </a:r>
            <a:r>
              <a:rPr dirty="0" err="1"/>
              <a:t>hai</a:t>
            </a:r>
            <a:r>
              <a:rPr dirty="0"/>
              <a:t> </a:t>
            </a:r>
            <a:r>
              <a:rPr dirty="0" err="1"/>
              <a:t>ke</a:t>
            </a:r>
            <a:r>
              <a:rPr dirty="0"/>
              <a:t> hum </a:t>
            </a:r>
            <a:r>
              <a:rPr dirty="0" err="1"/>
              <a:t>inhe</a:t>
            </a:r>
            <a:r>
              <a:rPr dirty="0"/>
              <a:t> systematically organize </a:t>
            </a:r>
            <a:r>
              <a:rPr dirty="0" err="1"/>
              <a:t>karte</a:t>
            </a:r>
            <a:r>
              <a:rPr dirty="0"/>
              <a:t> </a:t>
            </a:r>
            <a:r>
              <a:rPr dirty="0" err="1"/>
              <a:t>hain</a:t>
            </a:r>
            <a:r>
              <a:rPr dirty="0"/>
              <a:t> </a:t>
            </a:r>
            <a:r>
              <a:rPr dirty="0" err="1"/>
              <a:t>aur</a:t>
            </a:r>
            <a:r>
              <a:rPr dirty="0"/>
              <a:t> </a:t>
            </a:r>
            <a:r>
              <a:rPr dirty="0" err="1"/>
              <a:t>dikhate</a:t>
            </a:r>
            <a:r>
              <a:rPr dirty="0"/>
              <a:t> </a:t>
            </a:r>
            <a:r>
              <a:rPr dirty="0" err="1"/>
              <a:t>hain</a:t>
            </a:r>
            <a:r>
              <a:rPr dirty="0"/>
              <a:t> </a:t>
            </a:r>
            <a:r>
              <a:rPr dirty="0" err="1"/>
              <a:t>ke</a:t>
            </a:r>
            <a:r>
              <a:rPr dirty="0"/>
              <a:t> teen channels </a:t>
            </a:r>
            <a:r>
              <a:rPr dirty="0" err="1"/>
              <a:t>ka</a:t>
            </a:r>
            <a:r>
              <a:rPr dirty="0"/>
              <a:t> koi standard oracle </a:t>
            </a:r>
            <a:r>
              <a:rPr dirty="0" err="1"/>
              <a:t>nahi</a:t>
            </a:r>
            <a:r>
              <a:rPr dirty="0"/>
              <a:t> </a:t>
            </a:r>
            <a:r>
              <a:rPr dirty="0" err="1"/>
              <a:t>hai</a:t>
            </a:r>
            <a:r>
              <a:rPr dirty="0"/>
              <a:t>.</a:t>
            </a:r>
          </a:p>
          <a:p>
            <a:endParaRPr lang="en-US" dirty="0" smtClean="0"/>
          </a:p>
          <a:p>
            <a:r>
              <a:rPr dirty="0" smtClean="0"/>
              <a:t>S2</a:t>
            </a:r>
            <a:r>
              <a:rPr dirty="0"/>
              <a:t>: Kya </a:t>
            </a:r>
            <a:r>
              <a:rPr dirty="0" err="1"/>
              <a:t>aathwan</a:t>
            </a:r>
            <a:r>
              <a:rPr dirty="0"/>
              <a:t> channel </a:t>
            </a:r>
            <a:r>
              <a:rPr dirty="0" err="1"/>
              <a:t>bhi</a:t>
            </a:r>
            <a:r>
              <a:rPr dirty="0"/>
              <a:t> ho </a:t>
            </a:r>
            <a:r>
              <a:rPr dirty="0" err="1"/>
              <a:t>sakta</a:t>
            </a:r>
            <a:r>
              <a:rPr dirty="0"/>
              <a:t> </a:t>
            </a:r>
            <a:r>
              <a:rPr dirty="0" err="1"/>
              <a:t>hai</a:t>
            </a:r>
            <a:r>
              <a:rPr dirty="0"/>
              <a:t> jo </a:t>
            </a:r>
            <a:r>
              <a:rPr dirty="0" err="1"/>
              <a:t>abhi</a:t>
            </a:r>
            <a:r>
              <a:rPr dirty="0"/>
              <a:t> consider </a:t>
            </a:r>
            <a:r>
              <a:rPr dirty="0" err="1"/>
              <a:t>nahi</a:t>
            </a:r>
            <a:r>
              <a:rPr dirty="0"/>
              <a:t> </a:t>
            </a:r>
            <a:r>
              <a:rPr dirty="0" err="1"/>
              <a:t>kiya</a:t>
            </a:r>
            <a:r>
              <a:rPr dirty="0"/>
              <a:t> </a:t>
            </a:r>
            <a:r>
              <a:rPr dirty="0" err="1"/>
              <a:t>gaya</a:t>
            </a:r>
            <a:r>
              <a:rPr dirty="0"/>
              <a:t>?</a:t>
            </a:r>
          </a:p>
          <a:p>
            <a:r>
              <a:rPr dirty="0"/>
              <a:t>J2: </a:t>
            </a:r>
            <a:r>
              <a:rPr dirty="0" err="1"/>
              <a:t>Mumkin</a:t>
            </a:r>
            <a:r>
              <a:rPr dirty="0"/>
              <a:t> </a:t>
            </a:r>
            <a:r>
              <a:rPr dirty="0" err="1"/>
              <a:t>hai</a:t>
            </a:r>
            <a:r>
              <a:rPr dirty="0"/>
              <a:t>, </a:t>
            </a:r>
            <a:r>
              <a:rPr dirty="0" err="1"/>
              <a:t>lekin</a:t>
            </a:r>
            <a:r>
              <a:rPr dirty="0"/>
              <a:t> ye </a:t>
            </a:r>
            <a:r>
              <a:rPr dirty="0" err="1"/>
              <a:t>saat</a:t>
            </a:r>
            <a:r>
              <a:rPr dirty="0"/>
              <a:t> channels un sab manifestations </a:t>
            </a:r>
            <a:r>
              <a:rPr dirty="0" err="1"/>
              <a:t>ko</a:t>
            </a:r>
            <a:r>
              <a:rPr dirty="0"/>
              <a:t> cover </a:t>
            </a:r>
            <a:r>
              <a:rPr dirty="0" err="1"/>
              <a:t>karte</a:t>
            </a:r>
            <a:r>
              <a:rPr dirty="0"/>
              <a:t> </a:t>
            </a:r>
            <a:r>
              <a:rPr dirty="0" err="1"/>
              <a:t>hain</a:t>
            </a:r>
            <a:r>
              <a:rPr dirty="0"/>
              <a:t> jo hum ne literature </a:t>
            </a:r>
            <a:r>
              <a:rPr dirty="0" err="1"/>
              <a:t>aur</a:t>
            </a:r>
            <a:r>
              <a:rPr dirty="0"/>
              <a:t> </a:t>
            </a:r>
            <a:r>
              <a:rPr dirty="0" err="1"/>
              <a:t>apni</a:t>
            </a:r>
            <a:r>
              <a:rPr dirty="0"/>
              <a:t> </a:t>
            </a:r>
            <a:r>
              <a:rPr dirty="0" err="1"/>
              <a:t>khud</a:t>
            </a:r>
            <a:r>
              <a:rPr dirty="0"/>
              <a:t> </a:t>
            </a:r>
            <a:r>
              <a:rPr dirty="0" err="1"/>
              <a:t>ki</a:t>
            </a:r>
            <a:r>
              <a:rPr dirty="0"/>
              <a:t> historical-regression mining </a:t>
            </a:r>
            <a:r>
              <a:rPr dirty="0" err="1"/>
              <a:t>mein</a:t>
            </a:r>
            <a:r>
              <a:rPr dirty="0"/>
              <a:t> </a:t>
            </a:r>
            <a:r>
              <a:rPr dirty="0" err="1"/>
              <a:t>dekhe</a:t>
            </a:r>
            <a:r>
              <a:rPr dirty="0"/>
              <a:t> </a:t>
            </a:r>
            <a:r>
              <a:rPr dirty="0" err="1"/>
              <a:t>hain</a:t>
            </a:r>
            <a:r>
              <a:rPr dirty="0"/>
              <a:t> — agar future </a:t>
            </a:r>
            <a:r>
              <a:rPr dirty="0" err="1"/>
              <a:t>mein</a:t>
            </a:r>
            <a:r>
              <a:rPr dirty="0"/>
              <a:t> koi </a:t>
            </a:r>
            <a:r>
              <a:rPr dirty="0" err="1"/>
              <a:t>naya</a:t>
            </a:r>
            <a:r>
              <a:rPr dirty="0"/>
              <a:t> channel </a:t>
            </a:r>
            <a:r>
              <a:rPr dirty="0" err="1"/>
              <a:t>milta</a:t>
            </a:r>
            <a:r>
              <a:rPr dirty="0"/>
              <a:t> </a:t>
            </a:r>
            <a:r>
              <a:rPr dirty="0" err="1"/>
              <a:t>hai</a:t>
            </a:r>
            <a:r>
              <a:rPr dirty="0"/>
              <a:t> to framework use accommodate </a:t>
            </a:r>
            <a:r>
              <a:rPr dirty="0" err="1"/>
              <a:t>kar</a:t>
            </a:r>
            <a:r>
              <a:rPr dirty="0"/>
              <a:t> </a:t>
            </a:r>
            <a:r>
              <a:rPr dirty="0" err="1"/>
              <a:t>sakta</a:t>
            </a:r>
            <a:r>
              <a:rPr dirty="0"/>
              <a:t> </a:t>
            </a:r>
            <a:r>
              <a:rPr dirty="0" err="1"/>
              <a:t>hai</a:t>
            </a:r>
            <a:r>
              <a:rPr dirty="0"/>
              <a:t>, </a:t>
            </a:r>
            <a:r>
              <a:rPr dirty="0" err="1"/>
              <a:t>kyunki</a:t>
            </a:r>
            <a:r>
              <a:rPr dirty="0"/>
              <a:t> </a:t>
            </a:r>
            <a:r>
              <a:rPr dirty="0" err="1"/>
              <a:t>har</a:t>
            </a:r>
            <a:r>
              <a:rPr dirty="0"/>
              <a:t> channel </a:t>
            </a:r>
            <a:r>
              <a:rPr dirty="0" err="1"/>
              <a:t>apna</a:t>
            </a:r>
            <a:r>
              <a:rPr dirty="0"/>
              <a:t> matched oracle add </a:t>
            </a:r>
            <a:r>
              <a:rPr dirty="0" err="1"/>
              <a:t>kar</a:t>
            </a:r>
            <a:r>
              <a:rPr dirty="0"/>
              <a:t> </a:t>
            </a:r>
            <a:r>
              <a:rPr dirty="0" err="1"/>
              <a:t>sakta</a:t>
            </a:r>
            <a:r>
              <a:rPr dirty="0"/>
              <a:t> </a:t>
            </a:r>
            <a:r>
              <a:rPr dirty="0" err="1"/>
              <a:t>hai</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Teen channels </a:t>
            </a:r>
            <a:r>
              <a:rPr dirty="0" err="1"/>
              <a:t>ka</a:t>
            </a:r>
            <a:r>
              <a:rPr dirty="0"/>
              <a:t> 'koi standard oracle </a:t>
            </a:r>
            <a:r>
              <a:rPr dirty="0" err="1"/>
              <a:t>nahi</a:t>
            </a:r>
            <a:r>
              <a:rPr dirty="0"/>
              <a:t>' — </a:t>
            </a:r>
            <a:r>
              <a:rPr dirty="0" err="1"/>
              <a:t>kya</a:t>
            </a:r>
            <a:r>
              <a:rPr dirty="0"/>
              <a:t> ye </a:t>
            </a:r>
            <a:r>
              <a:rPr dirty="0" err="1"/>
              <a:t>sirf</a:t>
            </a:r>
            <a:r>
              <a:rPr dirty="0"/>
              <a:t> </a:t>
            </a:r>
            <a:r>
              <a:rPr dirty="0" err="1"/>
              <a:t>isliye</a:t>
            </a:r>
            <a:r>
              <a:rPr dirty="0"/>
              <a:t> </a:t>
            </a:r>
            <a:r>
              <a:rPr dirty="0" err="1"/>
              <a:t>hai</a:t>
            </a:r>
            <a:r>
              <a:rPr dirty="0"/>
              <a:t> </a:t>
            </a:r>
            <a:r>
              <a:rPr dirty="0" err="1"/>
              <a:t>ke</a:t>
            </a:r>
            <a:r>
              <a:rPr dirty="0"/>
              <a:t> </a:t>
            </a:r>
            <a:r>
              <a:rPr dirty="0" err="1"/>
              <a:t>aap</a:t>
            </a:r>
            <a:r>
              <a:rPr dirty="0"/>
              <a:t> ne enough research </a:t>
            </a:r>
            <a:r>
              <a:rPr dirty="0" err="1"/>
              <a:t>nahi</a:t>
            </a:r>
            <a:r>
              <a:rPr dirty="0"/>
              <a:t> </a:t>
            </a:r>
            <a:r>
              <a:rPr dirty="0" err="1"/>
              <a:t>ki</a:t>
            </a:r>
            <a:r>
              <a:rPr dirty="0"/>
              <a:t>, </a:t>
            </a:r>
            <a:r>
              <a:rPr dirty="0" err="1"/>
              <a:t>ya</a:t>
            </a:r>
            <a:r>
              <a:rPr dirty="0"/>
              <a:t> </a:t>
            </a:r>
            <a:r>
              <a:rPr dirty="0" err="1"/>
              <a:t>waqai</a:t>
            </a:r>
            <a:r>
              <a:rPr dirty="0"/>
              <a:t> koi solution exist </a:t>
            </a:r>
            <a:r>
              <a:rPr dirty="0" err="1"/>
              <a:t>nahi</a:t>
            </a:r>
            <a:r>
              <a:rPr dirty="0"/>
              <a:t> </a:t>
            </a:r>
            <a:r>
              <a:rPr dirty="0" err="1"/>
              <a:t>karta</a:t>
            </a:r>
            <a:r>
              <a:rPr dirty="0"/>
              <a:t>?</a:t>
            </a:r>
          </a:p>
          <a:p>
            <a:r>
              <a:rPr dirty="0"/>
              <a:t>J: </a:t>
            </a:r>
            <a:r>
              <a:rPr dirty="0" err="1"/>
              <a:t>Hamara</a:t>
            </a:r>
            <a:r>
              <a:rPr dirty="0"/>
              <a:t> literature review (slides 6, 10) systematically </a:t>
            </a:r>
            <a:r>
              <a:rPr dirty="0" err="1"/>
              <a:t>dikhata</a:t>
            </a:r>
            <a:r>
              <a:rPr dirty="0"/>
              <a:t> </a:t>
            </a:r>
            <a:r>
              <a:rPr dirty="0" err="1"/>
              <a:t>hai</a:t>
            </a:r>
            <a:r>
              <a:rPr dirty="0"/>
              <a:t> </a:t>
            </a:r>
            <a:r>
              <a:rPr dirty="0" err="1"/>
              <a:t>ke</a:t>
            </a:r>
            <a:r>
              <a:rPr dirty="0"/>
              <a:t> in teen channels </a:t>
            </a:r>
            <a:r>
              <a:rPr dirty="0" err="1"/>
              <a:t>ke</a:t>
            </a:r>
            <a:r>
              <a:rPr dirty="0"/>
              <a:t> </a:t>
            </a:r>
            <a:r>
              <a:rPr dirty="0" err="1"/>
              <a:t>liye</a:t>
            </a:r>
            <a:r>
              <a:rPr dirty="0"/>
              <a:t> koi established, widely-used regression oracle exist </a:t>
            </a:r>
            <a:r>
              <a:rPr dirty="0" err="1"/>
              <a:t>nahi</a:t>
            </a:r>
            <a:r>
              <a:rPr dirty="0"/>
              <a:t> </a:t>
            </a:r>
            <a:r>
              <a:rPr dirty="0" err="1"/>
              <a:t>karta</a:t>
            </a:r>
            <a:r>
              <a:rPr dirty="0"/>
              <a:t> — ye claim citations se backed </a:t>
            </a:r>
            <a:r>
              <a:rPr dirty="0" err="1"/>
              <a:t>hai</a:t>
            </a:r>
            <a:r>
              <a:rPr dirty="0"/>
              <a:t>, assumption </a:t>
            </a:r>
            <a:r>
              <a:rPr dirty="0" err="1"/>
              <a:t>nahi</a:t>
            </a:r>
            <a:r>
              <a:rPr dirty="0" smtClean="0"/>
              <a:t>.</a:t>
            </a:r>
            <a:endParaRPr lang="en-US" dirty="0" smtClean="0"/>
          </a:p>
          <a:p>
            <a:endParaRPr lang="en-US" dirty="0" smtClean="0"/>
          </a:p>
          <a:p>
            <a:r>
              <a:rPr lang="en-US" b="1" dirty="0" smtClean="0"/>
              <a:t>“Why these four in reference</a:t>
            </a:r>
            <a:r>
              <a:rPr lang="en-US" b="1" baseline="0" dirty="0" smtClean="0"/>
              <a:t> screen</a:t>
            </a:r>
            <a:r>
              <a:rPr lang="en-US" b="1" dirty="0" smtClean="0"/>
              <a:t>?”</a:t>
            </a:r>
            <a:r>
              <a:rPr lang="en-US" dirty="0" smtClean="0"/>
              <a:t>, </a:t>
            </a:r>
            <a:r>
              <a:rPr lang="en-US" dirty="0" err="1" smtClean="0"/>
              <a:t>aap</a:t>
            </a:r>
            <a:r>
              <a:rPr lang="en-US" dirty="0" smtClean="0"/>
              <a:t> </a:t>
            </a:r>
            <a:r>
              <a:rPr lang="en-US" dirty="0" err="1" smtClean="0"/>
              <a:t>jawab</a:t>
            </a:r>
            <a:r>
              <a:rPr lang="en-US" dirty="0" smtClean="0"/>
              <a:t> </a:t>
            </a:r>
            <a:r>
              <a:rPr lang="en-US" dirty="0" err="1" smtClean="0"/>
              <a:t>dein</a:t>
            </a:r>
            <a:r>
              <a:rPr lang="en-US" dirty="0" smtClean="0"/>
              <a:t>:</a:t>
            </a:r>
          </a:p>
          <a:p>
            <a:r>
              <a:rPr lang="en-US" dirty="0" smtClean="0"/>
              <a:t>“Because these are the regression manifestations that can be directly observed using established output-level checks. We use them as a reference baseline, and then ask whether real faults exist outside their observability. The remaining channels require more fault-specific internal or repeated-run observations.”</a:t>
            </a:r>
          </a:p>
          <a:p>
            <a:endParaRPr lang="en-US" dirty="0" smtClean="0"/>
          </a:p>
          <a:p>
            <a:endParaRPr lang="en-US" dirty="0" smtClean="0"/>
          </a:p>
          <a:p>
            <a:r>
              <a:rPr lang="en-US" i="1" dirty="0" smtClean="0"/>
              <a:t>“Citation di hui </a:t>
            </a:r>
            <a:r>
              <a:rPr lang="en-US" i="1" dirty="0" err="1" smtClean="0"/>
              <a:t>hai</a:t>
            </a:r>
            <a:r>
              <a:rPr lang="en-US" i="1" dirty="0" smtClean="0"/>
              <a:t>, </a:t>
            </a:r>
            <a:r>
              <a:rPr lang="en-US" i="1" dirty="0" err="1" smtClean="0"/>
              <a:t>phir</a:t>
            </a:r>
            <a:r>
              <a:rPr lang="en-US" i="1" dirty="0" smtClean="0"/>
              <a:t> oracle missing </a:t>
            </a:r>
            <a:r>
              <a:rPr lang="en-US" i="1" dirty="0" err="1" smtClean="0"/>
              <a:t>kaise</a:t>
            </a:r>
            <a:r>
              <a:rPr lang="en-US" i="1" dirty="0" smtClean="0"/>
              <a:t>?”</a:t>
            </a:r>
            <a:r>
              <a:rPr lang="en-US" dirty="0" smtClean="0"/>
              <a:t>, </a:t>
            </a:r>
            <a:r>
              <a:rPr lang="en-US" dirty="0" err="1" smtClean="0"/>
              <a:t>aap</a:t>
            </a:r>
            <a:r>
              <a:rPr lang="en-US" dirty="0" smtClean="0"/>
              <a:t> ye </a:t>
            </a:r>
            <a:r>
              <a:rPr lang="en-US" dirty="0" err="1" smtClean="0"/>
              <a:t>jawab</a:t>
            </a:r>
            <a:r>
              <a:rPr lang="en-US" dirty="0" smtClean="0"/>
              <a:t> </a:t>
            </a:r>
            <a:r>
              <a:rPr lang="en-US" dirty="0" err="1" smtClean="0"/>
              <a:t>dein</a:t>
            </a:r>
            <a:r>
              <a:rPr lang="en-US" dirty="0" smtClean="0"/>
              <a:t>:</a:t>
            </a:r>
          </a:p>
          <a:p>
            <a:r>
              <a:rPr lang="en-US" dirty="0" smtClean="0"/>
              <a:t>“The citations establish that these properties and related verification techniques are known in the literature. Our claim is narrower: they have not been turned into established, widely-used regression oracles for systematically detecting these </a:t>
            </a:r>
            <a:r>
              <a:rPr lang="en-US" dirty="0" err="1" smtClean="0"/>
              <a:t>transpiler</a:t>
            </a:r>
            <a:r>
              <a:rPr lang="en-US" dirty="0" smtClean="0"/>
              <a:t> fault channels. Prior work shows observability is feasible; our work operationalizes it as fault-matched regression oracles.</a:t>
            </a:r>
          </a:p>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491729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t>
            </a:r>
            <a:r>
              <a:rPr lang="en-US" b="1" dirty="0" smtClean="0"/>
              <a:t>The literature provides several mature techniques, but four issues remain unresolved. First, final-circuit equivalence verifies preserved computation, but it may miss regressions in intermediate </a:t>
            </a:r>
            <a:r>
              <a:rPr lang="en-US" b="1" dirty="0" err="1" smtClean="0"/>
              <a:t>transpiler</a:t>
            </a:r>
            <a:r>
              <a:rPr lang="en-US" b="1" dirty="0" smtClean="0"/>
              <a:t> state or pass-level properties. Second, equivalence checking, differential testing, and pass verification already exist, but they do not together provide reliable detection of these output-equivalent regressions. Third, we still do not sufficiently know how common or practically important such regressions are in real </a:t>
            </a:r>
            <a:r>
              <a:rPr lang="en-US" b="1" dirty="0" err="1" smtClean="0"/>
              <a:t>transpiler</a:t>
            </a:r>
            <a:r>
              <a:rPr lang="en-US" b="1" dirty="0" smtClean="0"/>
              <a:t> histories. Fourth, even if suitable oracles exist, there is no fitting method to select the most fault-revealing tests under a realistic computational budget while remaining temporally leakage-safe.</a:t>
            </a:r>
            <a:r>
              <a:rPr lang="en-US" dirty="0" smtClean="0"/>
              <a:t>””</a:t>
            </a:r>
          </a:p>
          <a:p>
            <a:endParaRPr dirty="0"/>
          </a:p>
          <a:p>
            <a:r>
              <a:rPr dirty="0" err="1"/>
              <a:t>Mumkin</a:t>
            </a:r>
            <a:r>
              <a:rPr dirty="0"/>
              <a:t> examiner </a:t>
            </a:r>
            <a:r>
              <a:rPr dirty="0" err="1"/>
              <a:t>sawalat</a:t>
            </a:r>
            <a:r>
              <a:rPr dirty="0"/>
              <a:t>:</a:t>
            </a:r>
          </a:p>
          <a:p>
            <a:r>
              <a:rPr dirty="0"/>
              <a:t>S1: Ye </a:t>
            </a:r>
            <a:r>
              <a:rPr dirty="0" err="1"/>
              <a:t>chaar</a:t>
            </a:r>
            <a:r>
              <a:rPr dirty="0"/>
              <a:t> points </a:t>
            </a:r>
            <a:r>
              <a:rPr dirty="0" err="1"/>
              <a:t>dusron</a:t>
            </a:r>
            <a:r>
              <a:rPr dirty="0"/>
              <a:t> </a:t>
            </a:r>
            <a:r>
              <a:rPr dirty="0" err="1"/>
              <a:t>ke</a:t>
            </a:r>
            <a:r>
              <a:rPr dirty="0"/>
              <a:t> </a:t>
            </a:r>
            <a:r>
              <a:rPr dirty="0" err="1"/>
              <a:t>kaam</a:t>
            </a:r>
            <a:r>
              <a:rPr dirty="0"/>
              <a:t> </a:t>
            </a:r>
            <a:r>
              <a:rPr dirty="0" err="1"/>
              <a:t>ki</a:t>
            </a:r>
            <a:r>
              <a:rPr dirty="0"/>
              <a:t> limitations </a:t>
            </a:r>
            <a:r>
              <a:rPr dirty="0" err="1"/>
              <a:t>hain</a:t>
            </a:r>
            <a:r>
              <a:rPr dirty="0"/>
              <a:t> — </a:t>
            </a:r>
            <a:r>
              <a:rPr dirty="0" err="1"/>
              <a:t>aapko</a:t>
            </a:r>
            <a:r>
              <a:rPr dirty="0"/>
              <a:t> </a:t>
            </a:r>
            <a:r>
              <a:rPr dirty="0" err="1"/>
              <a:t>kaise</a:t>
            </a:r>
            <a:r>
              <a:rPr dirty="0"/>
              <a:t> </a:t>
            </a:r>
            <a:r>
              <a:rPr dirty="0" err="1"/>
              <a:t>pata</a:t>
            </a:r>
            <a:r>
              <a:rPr dirty="0"/>
              <a:t> </a:t>
            </a:r>
            <a:r>
              <a:rPr dirty="0" err="1"/>
              <a:t>ke</a:t>
            </a:r>
            <a:r>
              <a:rPr dirty="0"/>
              <a:t> </a:t>
            </a:r>
            <a:r>
              <a:rPr dirty="0" err="1"/>
              <a:t>aapka</a:t>
            </a:r>
            <a:r>
              <a:rPr dirty="0"/>
              <a:t> </a:t>
            </a:r>
            <a:r>
              <a:rPr dirty="0" err="1"/>
              <a:t>apna</a:t>
            </a:r>
            <a:r>
              <a:rPr dirty="0"/>
              <a:t> approach </a:t>
            </a:r>
            <a:r>
              <a:rPr dirty="0" err="1"/>
              <a:t>inhi</a:t>
            </a:r>
            <a:r>
              <a:rPr dirty="0"/>
              <a:t> limitations </a:t>
            </a:r>
            <a:r>
              <a:rPr dirty="0" err="1"/>
              <a:t>ka</a:t>
            </a:r>
            <a:r>
              <a:rPr dirty="0"/>
              <a:t> </a:t>
            </a:r>
            <a:r>
              <a:rPr dirty="0" err="1"/>
              <a:t>shikaar</a:t>
            </a:r>
            <a:r>
              <a:rPr dirty="0"/>
              <a:t> </a:t>
            </a:r>
            <a:r>
              <a:rPr dirty="0" err="1"/>
              <a:t>nahi</a:t>
            </a:r>
            <a:r>
              <a:rPr dirty="0"/>
              <a:t> </a:t>
            </a:r>
            <a:r>
              <a:rPr dirty="0" err="1"/>
              <a:t>hoga</a:t>
            </a:r>
            <a:r>
              <a:rPr dirty="0"/>
              <a:t>?</a:t>
            </a:r>
          </a:p>
          <a:p>
            <a:r>
              <a:rPr dirty="0"/>
              <a:t>J1: </a:t>
            </a:r>
            <a:r>
              <a:rPr dirty="0" err="1"/>
              <a:t>Hamara</a:t>
            </a:r>
            <a:r>
              <a:rPr dirty="0"/>
              <a:t> approach </a:t>
            </a:r>
            <a:r>
              <a:rPr dirty="0" err="1"/>
              <a:t>inhi</a:t>
            </a:r>
            <a:r>
              <a:rPr dirty="0"/>
              <a:t> limitations </a:t>
            </a:r>
            <a:r>
              <a:rPr dirty="0" err="1"/>
              <a:t>ko</a:t>
            </a:r>
            <a:r>
              <a:rPr dirty="0"/>
              <a:t> directly address </a:t>
            </a:r>
            <a:r>
              <a:rPr dirty="0" err="1"/>
              <a:t>karta</a:t>
            </a:r>
            <a:r>
              <a:rPr dirty="0"/>
              <a:t> </a:t>
            </a:r>
            <a:r>
              <a:rPr dirty="0" err="1"/>
              <a:t>hai</a:t>
            </a:r>
            <a:r>
              <a:rPr dirty="0"/>
              <a:t>: matched oracles </a:t>
            </a:r>
            <a:r>
              <a:rPr dirty="0" err="1"/>
              <a:t>teeno</a:t>
            </a:r>
            <a:r>
              <a:rPr dirty="0"/>
              <a:t> missing channels </a:t>
            </a:r>
            <a:r>
              <a:rPr dirty="0" err="1"/>
              <a:t>ke</a:t>
            </a:r>
            <a:r>
              <a:rPr dirty="0"/>
              <a:t> </a:t>
            </a:r>
            <a:r>
              <a:rPr dirty="0" err="1"/>
              <a:t>liye</a:t>
            </a:r>
            <a:r>
              <a:rPr dirty="0"/>
              <a:t> </a:t>
            </a:r>
            <a:r>
              <a:rPr dirty="0" err="1"/>
              <a:t>banaye</a:t>
            </a:r>
            <a:r>
              <a:rPr dirty="0"/>
              <a:t> </a:t>
            </a:r>
            <a:r>
              <a:rPr dirty="0" err="1"/>
              <a:t>gaye</a:t>
            </a:r>
            <a:r>
              <a:rPr dirty="0"/>
              <a:t> </a:t>
            </a:r>
            <a:r>
              <a:rPr dirty="0" err="1"/>
              <a:t>hain</a:t>
            </a:r>
            <a:r>
              <a:rPr dirty="0"/>
              <a:t>, </a:t>
            </a:r>
            <a:r>
              <a:rPr dirty="0" err="1"/>
              <a:t>aur</a:t>
            </a:r>
            <a:r>
              <a:rPr dirty="0"/>
              <a:t> </a:t>
            </a:r>
            <a:r>
              <a:rPr dirty="0" err="1"/>
              <a:t>risk_score</a:t>
            </a:r>
            <a:r>
              <a:rPr dirty="0"/>
              <a:t> selector explicitly budget </a:t>
            </a:r>
            <a:r>
              <a:rPr dirty="0" err="1"/>
              <a:t>aur</a:t>
            </a:r>
            <a:r>
              <a:rPr dirty="0"/>
              <a:t> leakage-safe constraints </a:t>
            </a:r>
            <a:r>
              <a:rPr dirty="0" err="1"/>
              <a:t>ke</a:t>
            </a:r>
            <a:r>
              <a:rPr dirty="0"/>
              <a:t> </a:t>
            </a:r>
            <a:r>
              <a:rPr dirty="0" err="1"/>
              <a:t>sath</a:t>
            </a:r>
            <a:r>
              <a:rPr dirty="0"/>
              <a:t> design </a:t>
            </a:r>
            <a:r>
              <a:rPr dirty="0" err="1"/>
              <a:t>hua</a:t>
            </a:r>
            <a:r>
              <a:rPr dirty="0"/>
              <a:t> </a:t>
            </a:r>
            <a:r>
              <a:rPr dirty="0" err="1"/>
              <a:t>hai</a:t>
            </a:r>
            <a:r>
              <a:rPr dirty="0"/>
              <a:t> — is </a:t>
            </a:r>
            <a:r>
              <a:rPr dirty="0" err="1"/>
              <a:t>liye</a:t>
            </a:r>
            <a:r>
              <a:rPr dirty="0"/>
              <a:t> ye gaps </a:t>
            </a:r>
            <a:r>
              <a:rPr dirty="0" err="1"/>
              <a:t>hamare</a:t>
            </a:r>
            <a:r>
              <a:rPr dirty="0"/>
              <a:t> design </a:t>
            </a:r>
            <a:r>
              <a:rPr dirty="0" err="1"/>
              <a:t>ka</a:t>
            </a:r>
            <a:r>
              <a:rPr dirty="0"/>
              <a:t> starting point </a:t>
            </a:r>
            <a:r>
              <a:rPr dirty="0" err="1"/>
              <a:t>hain</a:t>
            </a:r>
            <a:r>
              <a:rPr dirty="0"/>
              <a:t>, blind spot </a:t>
            </a:r>
            <a:r>
              <a:rPr dirty="0" err="1"/>
              <a:t>nahi</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a:t>
            </a:r>
            <a:r>
              <a:rPr dirty="0" err="1"/>
              <a:t>Aap</a:t>
            </a:r>
            <a:r>
              <a:rPr dirty="0"/>
              <a:t> </a:t>
            </a:r>
            <a:r>
              <a:rPr dirty="0" err="1"/>
              <a:t>dusron</a:t>
            </a:r>
            <a:r>
              <a:rPr dirty="0"/>
              <a:t> </a:t>
            </a:r>
            <a:r>
              <a:rPr dirty="0" err="1"/>
              <a:t>ke</a:t>
            </a:r>
            <a:r>
              <a:rPr dirty="0"/>
              <a:t> </a:t>
            </a:r>
            <a:r>
              <a:rPr dirty="0" err="1"/>
              <a:t>kaam</a:t>
            </a:r>
            <a:r>
              <a:rPr dirty="0"/>
              <a:t> </a:t>
            </a:r>
            <a:r>
              <a:rPr dirty="0" err="1"/>
              <a:t>ko</a:t>
            </a:r>
            <a:r>
              <a:rPr dirty="0"/>
              <a:t> 'unresolved' </a:t>
            </a:r>
            <a:r>
              <a:rPr dirty="0" err="1"/>
              <a:t>keh</a:t>
            </a:r>
            <a:r>
              <a:rPr dirty="0"/>
              <a:t> </a:t>
            </a:r>
            <a:r>
              <a:rPr dirty="0" err="1"/>
              <a:t>rahe</a:t>
            </a:r>
            <a:r>
              <a:rPr dirty="0"/>
              <a:t> </a:t>
            </a:r>
            <a:r>
              <a:rPr dirty="0" err="1"/>
              <a:t>hain</a:t>
            </a:r>
            <a:r>
              <a:rPr dirty="0"/>
              <a:t>, </a:t>
            </a:r>
            <a:r>
              <a:rPr dirty="0" err="1"/>
              <a:t>lekin</a:t>
            </a:r>
            <a:r>
              <a:rPr dirty="0"/>
              <a:t> </a:t>
            </a:r>
            <a:r>
              <a:rPr dirty="0" err="1"/>
              <a:t>khud</a:t>
            </a:r>
            <a:r>
              <a:rPr dirty="0"/>
              <a:t> </a:t>
            </a:r>
            <a:r>
              <a:rPr dirty="0" err="1"/>
              <a:t>bhi</a:t>
            </a:r>
            <a:r>
              <a:rPr dirty="0"/>
              <a:t> </a:t>
            </a:r>
            <a:r>
              <a:rPr dirty="0" err="1"/>
              <a:t>sirf</a:t>
            </a:r>
            <a:r>
              <a:rPr dirty="0"/>
              <a:t> feasibility-stage par </a:t>
            </a:r>
            <a:r>
              <a:rPr dirty="0" err="1"/>
              <a:t>hain</a:t>
            </a:r>
            <a:r>
              <a:rPr dirty="0"/>
              <a:t> — </a:t>
            </a:r>
            <a:r>
              <a:rPr dirty="0" err="1"/>
              <a:t>kya</a:t>
            </a:r>
            <a:r>
              <a:rPr dirty="0"/>
              <a:t> ye hypocritical </a:t>
            </a:r>
            <a:r>
              <a:rPr dirty="0" err="1"/>
              <a:t>nahi</a:t>
            </a:r>
            <a:r>
              <a:rPr dirty="0"/>
              <a:t>?</a:t>
            </a:r>
          </a:p>
          <a:p>
            <a:r>
              <a:rPr dirty="0"/>
              <a:t>J: </a:t>
            </a:r>
            <a:r>
              <a:rPr dirty="0" err="1"/>
              <a:t>Nahi</a:t>
            </a:r>
            <a:r>
              <a:rPr dirty="0"/>
              <a:t>, hum </a:t>
            </a:r>
            <a:r>
              <a:rPr dirty="0" err="1"/>
              <a:t>apne</a:t>
            </a:r>
            <a:r>
              <a:rPr dirty="0"/>
              <a:t> </a:t>
            </a:r>
            <a:r>
              <a:rPr dirty="0" err="1"/>
              <a:t>aap</a:t>
            </a:r>
            <a:r>
              <a:rPr dirty="0"/>
              <a:t> </a:t>
            </a:r>
            <a:r>
              <a:rPr dirty="0" err="1"/>
              <a:t>ko</a:t>
            </a:r>
            <a:r>
              <a:rPr dirty="0"/>
              <a:t> </a:t>
            </a:r>
            <a:r>
              <a:rPr dirty="0" err="1"/>
              <a:t>bhi</a:t>
            </a:r>
            <a:r>
              <a:rPr dirty="0"/>
              <a:t> </a:t>
            </a:r>
            <a:r>
              <a:rPr dirty="0" err="1"/>
              <a:t>wahi</a:t>
            </a:r>
            <a:r>
              <a:rPr dirty="0"/>
              <a:t> standard se measure </a:t>
            </a:r>
            <a:r>
              <a:rPr dirty="0" err="1"/>
              <a:t>karte</a:t>
            </a:r>
            <a:r>
              <a:rPr dirty="0"/>
              <a:t> </a:t>
            </a:r>
            <a:r>
              <a:rPr dirty="0" err="1"/>
              <a:t>hain</a:t>
            </a:r>
            <a:r>
              <a:rPr dirty="0"/>
              <a:t> — </a:t>
            </a:r>
            <a:r>
              <a:rPr dirty="0" err="1"/>
              <a:t>isi</a:t>
            </a:r>
            <a:r>
              <a:rPr dirty="0"/>
              <a:t> </a:t>
            </a:r>
            <a:r>
              <a:rPr dirty="0" err="1"/>
              <a:t>liye</a:t>
            </a:r>
            <a:r>
              <a:rPr dirty="0"/>
              <a:t> hum </a:t>
            </a:r>
            <a:r>
              <a:rPr dirty="0" err="1"/>
              <a:t>apne</a:t>
            </a:r>
            <a:r>
              <a:rPr dirty="0"/>
              <a:t> results </a:t>
            </a:r>
            <a:r>
              <a:rPr dirty="0" err="1"/>
              <a:t>ko</a:t>
            </a:r>
            <a:r>
              <a:rPr dirty="0"/>
              <a:t> 'preliminary' </a:t>
            </a:r>
            <a:r>
              <a:rPr dirty="0" err="1"/>
              <a:t>aur</a:t>
            </a:r>
            <a:r>
              <a:rPr dirty="0"/>
              <a:t> </a:t>
            </a:r>
            <a:r>
              <a:rPr dirty="0" err="1"/>
              <a:t>apna</a:t>
            </a:r>
            <a:r>
              <a:rPr dirty="0"/>
              <a:t> scope explicitly 'bounded' </a:t>
            </a:r>
            <a:r>
              <a:rPr dirty="0" err="1"/>
              <a:t>kehte</a:t>
            </a:r>
            <a:r>
              <a:rPr dirty="0"/>
              <a:t> </a:t>
            </a:r>
            <a:r>
              <a:rPr dirty="0" err="1"/>
              <a:t>hain</a:t>
            </a:r>
            <a:r>
              <a:rPr dirty="0"/>
              <a:t>, </a:t>
            </a:r>
            <a:r>
              <a:rPr dirty="0" err="1"/>
              <a:t>khud</a:t>
            </a:r>
            <a:r>
              <a:rPr dirty="0"/>
              <a:t> </a:t>
            </a:r>
            <a:r>
              <a:rPr dirty="0" err="1"/>
              <a:t>ko</a:t>
            </a:r>
            <a:r>
              <a:rPr dirty="0"/>
              <a:t> solved declare </a:t>
            </a:r>
            <a:r>
              <a:rPr dirty="0" err="1"/>
              <a:t>nahi</a:t>
            </a:r>
            <a:r>
              <a:rPr dirty="0"/>
              <a:t> </a:t>
            </a:r>
            <a:r>
              <a:rPr dirty="0" err="1"/>
              <a:t>karte</a:t>
            </a:r>
            <a:r>
              <a:rPr dirty="0"/>
              <a:t>.</a:t>
            </a:r>
          </a:p>
        </p:txBody>
      </p:sp>
      <p:sp>
        <p:nvSpPr>
          <p:cNvPr id="4" name="Slide Number Placeholder 3"/>
          <p:cNvSpPr>
            <a:spLocks noGrp="1"/>
          </p:cNvSpPr>
          <p:nvPr>
            <p:ph type="sldNum" sz="quarter" idx="10"/>
          </p:nvPr>
        </p:nvSpPr>
        <p:spPr/>
        <p:txBody>
          <a:bodyPr/>
          <a:lstStyle/>
          <a:p>
            <a:endParaRPr lang="en-US"/>
          </a:p>
        </p:txBody>
      </p:sp>
    </p:spTree>
    <p:extLst>
      <p:ext uri="{BB962C8B-B14F-4D97-AF65-F5344CB8AC3E}">
        <p14:creationId xmlns:p14="http://schemas.microsoft.com/office/powerpoint/2010/main" val="18107354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problem has four parts. Miss → Combine → Measure → Select</a:t>
            </a:r>
            <a:br>
              <a:rPr lang="en-US" dirty="0" smtClean="0"/>
            </a:br>
            <a:r>
              <a:rPr lang="en-US" dirty="0" smtClean="0"/>
              <a:t>First, final-circuit equivalence checking can tell us whether the final circuit still performs the same computation. But it may miss problems inside the </a:t>
            </a:r>
            <a:r>
              <a:rPr lang="en-US" dirty="0" err="1" smtClean="0"/>
              <a:t>transpiler</a:t>
            </a:r>
            <a:r>
              <a:rPr lang="en-US" dirty="0" smtClean="0"/>
              <a:t>, such as intermediate-state or pass-level issues.</a:t>
            </a:r>
          </a:p>
          <a:p>
            <a:r>
              <a:rPr lang="en-US" dirty="0" smtClean="0"/>
              <a:t>Second, existing techniques such as equivalence checking, differential testing, and pass verification already address different parts of this problem. However, they have not been systematically combined into fault-matched regression oracles for these hidden, output-equivalent faults.</a:t>
            </a:r>
          </a:p>
          <a:p>
            <a:r>
              <a:rPr lang="en-US" dirty="0" smtClean="0"/>
              <a:t>Third, we still do not clearly know how common these hidden regressions are in real </a:t>
            </a:r>
            <a:r>
              <a:rPr lang="en-US" dirty="0" err="1" smtClean="0"/>
              <a:t>transpiler</a:t>
            </a:r>
            <a:r>
              <a:rPr lang="en-US" dirty="0" smtClean="0"/>
              <a:t> histories, or how much practical impact they have.</a:t>
            </a:r>
          </a:p>
          <a:p>
            <a:r>
              <a:rPr lang="en-US" dirty="0" smtClean="0"/>
              <a:t>Finally, even if we can detect them, we cannot afford to run every test after every change. So we also need a way to select the most fault-revealing tests under a realistic computational budget, without using future information.</a:t>
            </a:r>
          </a:p>
          <a:p>
            <a:r>
              <a:rPr lang="en-US" dirty="0" smtClean="0"/>
              <a:t>So, in simple terms, the problem is: </a:t>
            </a:r>
            <a:r>
              <a:rPr lang="en-US" b="1" dirty="0" smtClean="0"/>
              <a:t>how can we detect hidden </a:t>
            </a:r>
            <a:r>
              <a:rPr lang="en-US" b="1" dirty="0" err="1" smtClean="0"/>
              <a:t>transpiler</a:t>
            </a:r>
            <a:r>
              <a:rPr lang="en-US" b="1" dirty="0" smtClean="0"/>
              <a:t> regressions with the right oracle, and how can we choose the best tests to detect them early and affordably?</a:t>
            </a:r>
            <a:endParaRPr lang="en-US" dirty="0" smtClean="0"/>
          </a:p>
          <a:p>
            <a:endParaRPr dirty="0"/>
          </a:p>
          <a:p>
            <a:r>
              <a:rPr dirty="0" err="1"/>
              <a:t>Mumkin</a:t>
            </a:r>
            <a:r>
              <a:rPr dirty="0"/>
              <a:t> examiner </a:t>
            </a:r>
            <a:r>
              <a:rPr dirty="0" err="1"/>
              <a:t>sawalat</a:t>
            </a:r>
            <a:r>
              <a:rPr dirty="0"/>
              <a:t>:</a:t>
            </a:r>
          </a:p>
          <a:p>
            <a:r>
              <a:rPr dirty="0"/>
              <a:t>S1: Ye problem statement </a:t>
            </a:r>
            <a:r>
              <a:rPr dirty="0" err="1"/>
              <a:t>Qiskit</a:t>
            </a:r>
            <a:r>
              <a:rPr dirty="0"/>
              <a:t> </a:t>
            </a:r>
            <a:r>
              <a:rPr dirty="0" err="1"/>
              <a:t>ka</a:t>
            </a:r>
            <a:r>
              <a:rPr dirty="0"/>
              <a:t> </a:t>
            </a:r>
            <a:r>
              <a:rPr dirty="0" err="1"/>
              <a:t>naam</a:t>
            </a:r>
            <a:r>
              <a:rPr dirty="0"/>
              <a:t> </a:t>
            </a:r>
            <a:r>
              <a:rPr dirty="0" err="1"/>
              <a:t>nahi</a:t>
            </a:r>
            <a:r>
              <a:rPr dirty="0"/>
              <a:t> </a:t>
            </a:r>
            <a:r>
              <a:rPr dirty="0" err="1"/>
              <a:t>leta</a:t>
            </a:r>
            <a:r>
              <a:rPr dirty="0"/>
              <a:t> — </a:t>
            </a:r>
            <a:r>
              <a:rPr dirty="0" err="1"/>
              <a:t>kya</a:t>
            </a:r>
            <a:r>
              <a:rPr dirty="0"/>
              <a:t> ye problem </a:t>
            </a:r>
            <a:r>
              <a:rPr dirty="0" err="1"/>
              <a:t>sirf</a:t>
            </a:r>
            <a:r>
              <a:rPr dirty="0"/>
              <a:t> </a:t>
            </a:r>
            <a:r>
              <a:rPr dirty="0" err="1"/>
              <a:t>Qiskit</a:t>
            </a:r>
            <a:r>
              <a:rPr dirty="0"/>
              <a:t> </a:t>
            </a:r>
            <a:r>
              <a:rPr dirty="0" err="1"/>
              <a:t>ka</a:t>
            </a:r>
            <a:r>
              <a:rPr dirty="0"/>
              <a:t> </a:t>
            </a:r>
            <a:r>
              <a:rPr dirty="0" err="1"/>
              <a:t>hai</a:t>
            </a:r>
            <a:r>
              <a:rPr dirty="0"/>
              <a:t> </a:t>
            </a:r>
            <a:r>
              <a:rPr dirty="0" err="1"/>
              <a:t>ya</a:t>
            </a:r>
            <a:r>
              <a:rPr dirty="0"/>
              <a:t> </a:t>
            </a:r>
            <a:r>
              <a:rPr dirty="0" err="1"/>
              <a:t>kisi</a:t>
            </a:r>
            <a:r>
              <a:rPr dirty="0"/>
              <a:t> </a:t>
            </a:r>
            <a:r>
              <a:rPr dirty="0" err="1"/>
              <a:t>bhi</a:t>
            </a:r>
            <a:r>
              <a:rPr dirty="0"/>
              <a:t> quantum compiler </a:t>
            </a:r>
            <a:r>
              <a:rPr dirty="0" err="1"/>
              <a:t>ka</a:t>
            </a:r>
            <a:r>
              <a:rPr dirty="0"/>
              <a:t>?</a:t>
            </a:r>
          </a:p>
          <a:p>
            <a:r>
              <a:rPr dirty="0"/>
              <a:t>J1: Problem statement generally </a:t>
            </a:r>
            <a:r>
              <a:rPr dirty="0" err="1"/>
              <a:t>kisi</a:t>
            </a:r>
            <a:r>
              <a:rPr dirty="0"/>
              <a:t> </a:t>
            </a:r>
            <a:r>
              <a:rPr dirty="0" err="1"/>
              <a:t>bhi</a:t>
            </a:r>
            <a:r>
              <a:rPr dirty="0"/>
              <a:t> </a:t>
            </a:r>
            <a:r>
              <a:rPr dirty="0" err="1"/>
              <a:t>transpiler</a:t>
            </a:r>
            <a:r>
              <a:rPr dirty="0"/>
              <a:t> par apply </a:t>
            </a:r>
            <a:r>
              <a:rPr dirty="0" err="1"/>
              <a:t>hota</a:t>
            </a:r>
            <a:r>
              <a:rPr dirty="0"/>
              <a:t> </a:t>
            </a:r>
            <a:r>
              <a:rPr dirty="0" err="1"/>
              <a:t>hai</a:t>
            </a:r>
            <a:r>
              <a:rPr dirty="0"/>
              <a:t>, </a:t>
            </a:r>
            <a:r>
              <a:rPr dirty="0" err="1"/>
              <a:t>lekin</a:t>
            </a:r>
            <a:r>
              <a:rPr dirty="0"/>
              <a:t> hum </a:t>
            </a:r>
            <a:r>
              <a:rPr dirty="0" err="1"/>
              <a:t>ise</a:t>
            </a:r>
            <a:r>
              <a:rPr dirty="0"/>
              <a:t> specifically </a:t>
            </a:r>
            <a:r>
              <a:rPr dirty="0" err="1"/>
              <a:t>Qiskit</a:t>
            </a:r>
            <a:r>
              <a:rPr dirty="0"/>
              <a:t> </a:t>
            </a:r>
            <a:r>
              <a:rPr dirty="0" err="1"/>
              <a:t>ke</a:t>
            </a:r>
            <a:r>
              <a:rPr dirty="0"/>
              <a:t> </a:t>
            </a:r>
            <a:r>
              <a:rPr dirty="0" err="1"/>
              <a:t>transpiler</a:t>
            </a:r>
            <a:r>
              <a:rPr dirty="0"/>
              <a:t> par evaluate </a:t>
            </a:r>
            <a:r>
              <a:rPr dirty="0" err="1"/>
              <a:t>kar</a:t>
            </a:r>
            <a:r>
              <a:rPr dirty="0"/>
              <a:t> </a:t>
            </a:r>
            <a:r>
              <a:rPr dirty="0" err="1"/>
              <a:t>rahe</a:t>
            </a:r>
            <a:r>
              <a:rPr dirty="0"/>
              <a:t> </a:t>
            </a:r>
            <a:r>
              <a:rPr dirty="0" err="1"/>
              <a:t>hain</a:t>
            </a:r>
            <a:r>
              <a:rPr dirty="0"/>
              <a:t> </a:t>
            </a:r>
            <a:r>
              <a:rPr dirty="0" err="1"/>
              <a:t>kyunki</a:t>
            </a:r>
            <a:r>
              <a:rPr dirty="0"/>
              <a:t> </a:t>
            </a:r>
            <a:r>
              <a:rPr dirty="0" err="1"/>
              <a:t>wahi</a:t>
            </a:r>
            <a:r>
              <a:rPr dirty="0"/>
              <a:t> is thesis </a:t>
            </a:r>
            <a:r>
              <a:rPr dirty="0" err="1"/>
              <a:t>ka</a:t>
            </a:r>
            <a:r>
              <a:rPr dirty="0"/>
              <a:t> scope </a:t>
            </a:r>
            <a:r>
              <a:rPr dirty="0" err="1"/>
              <a:t>hai</a:t>
            </a:r>
            <a:r>
              <a:rPr dirty="0"/>
              <a:t> (slide 28 par </a:t>
            </a:r>
            <a:r>
              <a:rPr dirty="0" err="1"/>
              <a:t>bataya</a:t>
            </a:r>
            <a:r>
              <a:rPr dirty="0"/>
              <a:t> </a:t>
            </a:r>
            <a:r>
              <a:rPr dirty="0" err="1"/>
              <a:t>gaya</a:t>
            </a:r>
            <a:r>
              <a:rPr dirty="0"/>
              <a:t> </a:t>
            </a:r>
            <a:r>
              <a:rPr dirty="0" err="1"/>
              <a:t>hai</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Ye problem statement </a:t>
            </a:r>
            <a:r>
              <a:rPr dirty="0" err="1"/>
              <a:t>itna</a:t>
            </a:r>
            <a:r>
              <a:rPr dirty="0"/>
              <a:t> generic </a:t>
            </a:r>
            <a:r>
              <a:rPr dirty="0" err="1"/>
              <a:t>hai</a:t>
            </a:r>
            <a:r>
              <a:rPr dirty="0"/>
              <a:t> </a:t>
            </a:r>
            <a:r>
              <a:rPr dirty="0" err="1"/>
              <a:t>ke</a:t>
            </a:r>
            <a:r>
              <a:rPr dirty="0"/>
              <a:t> </a:t>
            </a:r>
            <a:r>
              <a:rPr dirty="0" err="1"/>
              <a:t>kisi</a:t>
            </a:r>
            <a:r>
              <a:rPr dirty="0"/>
              <a:t> </a:t>
            </a:r>
            <a:r>
              <a:rPr dirty="0" err="1"/>
              <a:t>bhi</a:t>
            </a:r>
            <a:r>
              <a:rPr dirty="0"/>
              <a:t> regression-testing paper par fit ho </a:t>
            </a:r>
            <a:r>
              <a:rPr dirty="0" err="1"/>
              <a:t>sakta</a:t>
            </a:r>
            <a:r>
              <a:rPr dirty="0"/>
              <a:t> </a:t>
            </a:r>
            <a:r>
              <a:rPr dirty="0" err="1"/>
              <a:t>hai</a:t>
            </a:r>
            <a:r>
              <a:rPr dirty="0"/>
              <a:t> — quantum-specific </a:t>
            </a:r>
            <a:r>
              <a:rPr dirty="0" err="1"/>
              <a:t>kya</a:t>
            </a:r>
            <a:r>
              <a:rPr dirty="0"/>
              <a:t> </a:t>
            </a:r>
            <a:r>
              <a:rPr dirty="0" err="1"/>
              <a:t>hai</a:t>
            </a:r>
            <a:r>
              <a:rPr dirty="0"/>
              <a:t> </a:t>
            </a:r>
            <a:r>
              <a:rPr dirty="0" err="1"/>
              <a:t>isme</a:t>
            </a:r>
            <a:r>
              <a:rPr dirty="0"/>
              <a:t>?</a:t>
            </a:r>
          </a:p>
          <a:p>
            <a:r>
              <a:rPr dirty="0"/>
              <a:t>J: Quantum-specific </a:t>
            </a:r>
            <a:r>
              <a:rPr dirty="0" err="1"/>
              <a:t>hissa</a:t>
            </a:r>
            <a:r>
              <a:rPr dirty="0"/>
              <a:t> 'output-equivalent regressions' </a:t>
            </a:r>
            <a:r>
              <a:rPr dirty="0" err="1"/>
              <a:t>aur</a:t>
            </a:r>
            <a:r>
              <a:rPr dirty="0"/>
              <a:t> 'pass-level properties' </a:t>
            </a:r>
            <a:r>
              <a:rPr dirty="0" err="1"/>
              <a:t>mein</a:t>
            </a:r>
            <a:r>
              <a:rPr dirty="0"/>
              <a:t> </a:t>
            </a:r>
            <a:r>
              <a:rPr dirty="0" err="1"/>
              <a:t>hai</a:t>
            </a:r>
            <a:r>
              <a:rPr dirty="0"/>
              <a:t>, jo directly </a:t>
            </a:r>
            <a:r>
              <a:rPr dirty="0" err="1"/>
              <a:t>transpiler</a:t>
            </a:r>
            <a:r>
              <a:rPr dirty="0"/>
              <a:t> </a:t>
            </a:r>
            <a:r>
              <a:rPr dirty="0" err="1"/>
              <a:t>ki</a:t>
            </a:r>
            <a:r>
              <a:rPr dirty="0"/>
              <a:t> unitary </a:t>
            </a:r>
            <a:r>
              <a:rPr dirty="0" err="1"/>
              <a:t>aur</a:t>
            </a:r>
            <a:r>
              <a:rPr dirty="0"/>
              <a:t> global-phase semantics se related </a:t>
            </a:r>
            <a:r>
              <a:rPr dirty="0" err="1"/>
              <a:t>hain</a:t>
            </a:r>
            <a:r>
              <a:rPr dirty="0"/>
              <a:t>. General </a:t>
            </a:r>
            <a:r>
              <a:rPr dirty="0" err="1"/>
              <a:t>lagne</a:t>
            </a:r>
            <a:r>
              <a:rPr dirty="0"/>
              <a:t> </a:t>
            </a:r>
            <a:r>
              <a:rPr dirty="0" err="1"/>
              <a:t>ke</a:t>
            </a:r>
            <a:r>
              <a:rPr dirty="0"/>
              <a:t> </a:t>
            </a:r>
            <a:r>
              <a:rPr dirty="0" err="1"/>
              <a:t>bawajood</a:t>
            </a:r>
            <a:r>
              <a:rPr dirty="0"/>
              <a:t>, </a:t>
            </a:r>
            <a:r>
              <a:rPr dirty="0" err="1"/>
              <a:t>iske</a:t>
            </a:r>
            <a:r>
              <a:rPr dirty="0"/>
              <a:t> </a:t>
            </a:r>
            <a:r>
              <a:rPr dirty="0" err="1"/>
              <a:t>andar</a:t>
            </a:r>
            <a:r>
              <a:rPr dirty="0"/>
              <a:t> quantum fault model implicit </a:t>
            </a:r>
            <a:r>
              <a:rPr dirty="0" err="1"/>
              <a:t>hai</a:t>
            </a:r>
            <a:r>
              <a:rPr dirty="0"/>
              <a:t> jo </a:t>
            </a:r>
            <a:r>
              <a:rPr dirty="0" err="1"/>
              <a:t>pichli</a:t>
            </a:r>
            <a:r>
              <a:rPr dirty="0"/>
              <a:t> slides (Seven Ways, oracle matrix) </a:t>
            </a:r>
            <a:r>
              <a:rPr dirty="0" err="1"/>
              <a:t>mein</a:t>
            </a:r>
            <a:r>
              <a:rPr dirty="0"/>
              <a:t> explicit </a:t>
            </a:r>
            <a:r>
              <a:rPr dirty="0" err="1"/>
              <a:t>kiya</a:t>
            </a:r>
            <a:r>
              <a:rPr dirty="0"/>
              <a:t> </a:t>
            </a:r>
            <a:r>
              <a:rPr dirty="0" err="1"/>
              <a:t>gaya</a:t>
            </a:r>
            <a:r>
              <a:rPr dirty="0"/>
              <a:t> </a:t>
            </a:r>
            <a:r>
              <a:rPr dirty="0" err="1"/>
              <a:t>hai</a:t>
            </a:r>
            <a:r>
              <a:rPr dirty="0"/>
              <a:t>.</a:t>
            </a:r>
          </a:p>
        </p:txBody>
      </p:sp>
      <p:sp>
        <p:nvSpPr>
          <p:cNvPr id="4" name="Slide Number Placeholder 3"/>
          <p:cNvSpPr>
            <a:spLocks noGrp="1"/>
          </p:cNvSpPr>
          <p:nvPr>
            <p:ph type="sldNum" sz="quarter" idx="10"/>
          </p:nvPr>
        </p:nvSpPr>
        <p:spPr/>
        <p:txBody>
          <a:bodyPr/>
          <a:lstStyle/>
          <a:p>
            <a:endParaRPr lang="en-US"/>
          </a:p>
        </p:txBody>
      </p:sp>
    </p:spTree>
    <p:extLst>
      <p:ext uri="{BB962C8B-B14F-4D97-AF65-F5344CB8AC3E}">
        <p14:creationId xmlns:p14="http://schemas.microsoft.com/office/powerpoint/2010/main" val="39359556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RQ1 asks about the size of the problem:</a:t>
            </a:r>
            <a:r>
              <a:rPr lang="en-US" dirty="0" smtClean="0"/>
              <a:t> how often do real </a:t>
            </a:r>
            <a:r>
              <a:rPr lang="en-US" dirty="0" err="1" smtClean="0"/>
              <a:t>transpiler</a:t>
            </a:r>
            <a:r>
              <a:rPr lang="en-US" dirty="0" smtClean="0"/>
              <a:t> regressions escape the standard reference screen?</a:t>
            </a:r>
          </a:p>
          <a:p>
            <a:r>
              <a:rPr lang="en-US" b="1" dirty="0" smtClean="0"/>
              <a:t>RQ2 asks about detection:</a:t>
            </a:r>
            <a:r>
              <a:rPr lang="en-US" dirty="0" smtClean="0"/>
              <a:t> if the reference screen misses a regression, can a fault-matched oracle detect it from source?</a:t>
            </a:r>
          </a:p>
          <a:p>
            <a:r>
              <a:rPr lang="en-US" b="1" dirty="0" smtClean="0"/>
              <a:t>RQ3 asks about the framework:</a:t>
            </a:r>
            <a:r>
              <a:rPr lang="en-US" dirty="0" smtClean="0"/>
              <a:t> can we build and validate a test-selection pipeline that is both leakage-safe and aware of computational cost?</a:t>
            </a:r>
          </a:p>
          <a:p>
            <a:r>
              <a:rPr lang="en-US" b="1" dirty="0" smtClean="0"/>
              <a:t>RQ4 asks about effectiveness at scale:</a:t>
            </a:r>
            <a:r>
              <a:rPr lang="en-US" dirty="0" smtClean="0"/>
              <a:t> once we have enough verified forward regressions, can our transparent cost-aware selector catch faults earlier than standard baseline methods?</a:t>
            </a:r>
          </a:p>
          <a:p>
            <a:endParaRPr lang="en-US" dirty="0" smtClean="0"/>
          </a:p>
          <a:p>
            <a:r>
              <a:rPr lang="en-US" dirty="0" smtClean="0"/>
              <a:t>In short, the research moves from understanding the problem, to detecting it, to building a solution, and finally evaluating that solution.</a:t>
            </a:r>
            <a:endParaRPr dirty="0"/>
          </a:p>
          <a:p>
            <a:r>
              <a:rPr dirty="0" err="1"/>
              <a:t>Mumkin</a:t>
            </a:r>
            <a:r>
              <a:rPr dirty="0"/>
              <a:t> examiner </a:t>
            </a:r>
            <a:r>
              <a:rPr dirty="0" err="1"/>
              <a:t>sawalat</a:t>
            </a:r>
            <a:r>
              <a:rPr dirty="0"/>
              <a:t>:</a:t>
            </a:r>
          </a:p>
          <a:p>
            <a:r>
              <a:rPr dirty="0"/>
              <a:t>S1: RQ1 </a:t>
            </a:r>
            <a:r>
              <a:rPr dirty="0" err="1"/>
              <a:t>puchta</a:t>
            </a:r>
            <a:r>
              <a:rPr dirty="0"/>
              <a:t> </a:t>
            </a:r>
            <a:r>
              <a:rPr dirty="0" err="1"/>
              <a:t>hai</a:t>
            </a:r>
            <a:r>
              <a:rPr dirty="0"/>
              <a:t> '</a:t>
            </a:r>
            <a:r>
              <a:rPr dirty="0" err="1"/>
              <a:t>kitni</a:t>
            </a:r>
            <a:r>
              <a:rPr dirty="0"/>
              <a:t> common' — </a:t>
            </a:r>
            <a:r>
              <a:rPr dirty="0" err="1"/>
              <a:t>lekin</a:t>
            </a:r>
            <a:r>
              <a:rPr dirty="0"/>
              <a:t> results section </a:t>
            </a:r>
            <a:r>
              <a:rPr dirty="0" err="1"/>
              <a:t>mein</a:t>
            </a:r>
            <a:r>
              <a:rPr dirty="0"/>
              <a:t> </a:t>
            </a:r>
            <a:r>
              <a:rPr dirty="0" err="1"/>
              <a:t>sirf</a:t>
            </a:r>
            <a:r>
              <a:rPr dirty="0"/>
              <a:t> </a:t>
            </a:r>
            <a:r>
              <a:rPr dirty="0" err="1"/>
              <a:t>ek</a:t>
            </a:r>
            <a:r>
              <a:rPr dirty="0"/>
              <a:t> preliminary 26-fix seed </a:t>
            </a:r>
            <a:r>
              <a:rPr dirty="0" err="1"/>
              <a:t>diya</a:t>
            </a:r>
            <a:r>
              <a:rPr dirty="0"/>
              <a:t> </a:t>
            </a:r>
            <a:r>
              <a:rPr dirty="0" err="1"/>
              <a:t>gaya</a:t>
            </a:r>
            <a:r>
              <a:rPr dirty="0"/>
              <a:t> </a:t>
            </a:r>
            <a:r>
              <a:rPr dirty="0" err="1"/>
              <a:t>hai</a:t>
            </a:r>
            <a:r>
              <a:rPr dirty="0"/>
              <a:t>. Kya ye RQ1 </a:t>
            </a:r>
            <a:r>
              <a:rPr dirty="0" err="1"/>
              <a:t>ka</a:t>
            </a:r>
            <a:r>
              <a:rPr dirty="0"/>
              <a:t> </a:t>
            </a:r>
            <a:r>
              <a:rPr dirty="0" err="1"/>
              <a:t>jawab</a:t>
            </a:r>
            <a:r>
              <a:rPr dirty="0"/>
              <a:t> de </a:t>
            </a:r>
            <a:r>
              <a:rPr dirty="0" err="1"/>
              <a:t>deta</a:t>
            </a:r>
            <a:r>
              <a:rPr dirty="0"/>
              <a:t> </a:t>
            </a:r>
            <a:r>
              <a:rPr dirty="0" err="1"/>
              <a:t>hai</a:t>
            </a:r>
            <a:r>
              <a:rPr dirty="0"/>
              <a:t>?</a:t>
            </a:r>
          </a:p>
          <a:p>
            <a:r>
              <a:rPr dirty="0"/>
              <a:t>J1: </a:t>
            </a:r>
            <a:r>
              <a:rPr dirty="0" err="1"/>
              <a:t>Nahi</a:t>
            </a:r>
            <a:r>
              <a:rPr dirty="0"/>
              <a:t>, </a:t>
            </a:r>
            <a:r>
              <a:rPr dirty="0" err="1"/>
              <a:t>poori</a:t>
            </a:r>
            <a:r>
              <a:rPr dirty="0"/>
              <a:t> </a:t>
            </a:r>
            <a:r>
              <a:rPr dirty="0" err="1"/>
              <a:t>tarah</a:t>
            </a:r>
            <a:r>
              <a:rPr dirty="0"/>
              <a:t> </a:t>
            </a:r>
            <a:r>
              <a:rPr dirty="0" err="1"/>
              <a:t>nahi</a:t>
            </a:r>
            <a:r>
              <a:rPr dirty="0"/>
              <a:t> — 26-fix seed </a:t>
            </a:r>
            <a:r>
              <a:rPr dirty="0" err="1"/>
              <a:t>sirf</a:t>
            </a:r>
            <a:r>
              <a:rPr dirty="0"/>
              <a:t> </a:t>
            </a:r>
            <a:r>
              <a:rPr dirty="0" err="1"/>
              <a:t>ek</a:t>
            </a:r>
            <a:r>
              <a:rPr dirty="0"/>
              <a:t> preliminary indicator </a:t>
            </a:r>
            <a:r>
              <a:rPr dirty="0" err="1"/>
              <a:t>hai</a:t>
            </a:r>
            <a:r>
              <a:rPr dirty="0"/>
              <a:t>. RQ1 </a:t>
            </a:r>
            <a:r>
              <a:rPr dirty="0" err="1"/>
              <a:t>ka</a:t>
            </a:r>
            <a:r>
              <a:rPr dirty="0"/>
              <a:t> </a:t>
            </a:r>
            <a:r>
              <a:rPr dirty="0" err="1"/>
              <a:t>mukammal</a:t>
            </a:r>
            <a:r>
              <a:rPr dirty="0"/>
              <a:t> </a:t>
            </a:r>
            <a:r>
              <a:rPr dirty="0" err="1"/>
              <a:t>jawab</a:t>
            </a:r>
            <a:r>
              <a:rPr dirty="0"/>
              <a:t> Phase 2 </a:t>
            </a:r>
            <a:r>
              <a:rPr dirty="0" err="1"/>
              <a:t>ke</a:t>
            </a:r>
            <a:r>
              <a:rPr dirty="0"/>
              <a:t> systematic mining se </a:t>
            </a:r>
            <a:r>
              <a:rPr dirty="0" err="1"/>
              <a:t>aayega</a:t>
            </a:r>
            <a:r>
              <a:rPr dirty="0"/>
              <a:t>, jo Work Plan slide (27) par outline </a:t>
            </a:r>
            <a:r>
              <a:rPr dirty="0" err="1"/>
              <a:t>hai</a:t>
            </a:r>
            <a:r>
              <a:rPr dirty="0"/>
              <a:t>. </a:t>
            </a:r>
            <a:r>
              <a:rPr dirty="0" err="1"/>
              <a:t>Filhal</a:t>
            </a:r>
            <a:r>
              <a:rPr dirty="0"/>
              <a:t> hum </a:t>
            </a:r>
            <a:r>
              <a:rPr dirty="0" err="1"/>
              <a:t>sirf</a:t>
            </a:r>
            <a:r>
              <a:rPr dirty="0"/>
              <a:t> </a:t>
            </a:r>
            <a:r>
              <a:rPr dirty="0" err="1"/>
              <a:t>ek</a:t>
            </a:r>
            <a:r>
              <a:rPr dirty="0"/>
              <a:t> early signal de </a:t>
            </a:r>
            <a:r>
              <a:rPr dirty="0" err="1"/>
              <a:t>rahe</a:t>
            </a:r>
            <a:r>
              <a:rPr dirty="0"/>
              <a:t> </a:t>
            </a:r>
            <a:r>
              <a:rPr dirty="0" err="1"/>
              <a:t>hain</a:t>
            </a:r>
            <a:r>
              <a:rPr dirty="0"/>
              <a:t>, final </a:t>
            </a:r>
            <a:r>
              <a:rPr dirty="0" err="1"/>
              <a:t>jawab</a:t>
            </a:r>
            <a:r>
              <a:rPr dirty="0"/>
              <a:t> </a:t>
            </a:r>
            <a:r>
              <a:rPr dirty="0" err="1"/>
              <a:t>nahi</a:t>
            </a:r>
            <a:r>
              <a:rPr dirty="0"/>
              <a:t>.</a:t>
            </a:r>
          </a:p>
          <a:p>
            <a:r>
              <a:rPr dirty="0"/>
              <a:t>S2: RQ3 </a:t>
            </a:r>
            <a:r>
              <a:rPr dirty="0" err="1"/>
              <a:t>mein</a:t>
            </a:r>
            <a:r>
              <a:rPr dirty="0"/>
              <a:t> 'built and validated' </a:t>
            </a:r>
            <a:r>
              <a:rPr dirty="0" err="1"/>
              <a:t>ka</a:t>
            </a:r>
            <a:r>
              <a:rPr dirty="0"/>
              <a:t> </a:t>
            </a:r>
            <a:r>
              <a:rPr dirty="0" err="1"/>
              <a:t>matlab</a:t>
            </a:r>
            <a:r>
              <a:rPr dirty="0"/>
              <a:t> </a:t>
            </a:r>
            <a:r>
              <a:rPr dirty="0" err="1"/>
              <a:t>yahan</a:t>
            </a:r>
            <a:r>
              <a:rPr dirty="0"/>
              <a:t> </a:t>
            </a:r>
            <a:r>
              <a:rPr dirty="0" err="1"/>
              <a:t>kya</a:t>
            </a:r>
            <a:r>
              <a:rPr dirty="0"/>
              <a:t> </a:t>
            </a:r>
            <a:r>
              <a:rPr dirty="0" err="1"/>
              <a:t>hai</a:t>
            </a:r>
            <a:r>
              <a:rPr dirty="0"/>
              <a:t>?</a:t>
            </a:r>
          </a:p>
          <a:p>
            <a:r>
              <a:rPr dirty="0"/>
              <a:t>J2: Validated </a:t>
            </a:r>
            <a:r>
              <a:rPr dirty="0" err="1"/>
              <a:t>ka</a:t>
            </a:r>
            <a:r>
              <a:rPr dirty="0"/>
              <a:t> </a:t>
            </a:r>
            <a:r>
              <a:rPr dirty="0" err="1"/>
              <a:t>matlab</a:t>
            </a:r>
            <a:r>
              <a:rPr dirty="0"/>
              <a:t> </a:t>
            </a:r>
            <a:r>
              <a:rPr dirty="0" err="1"/>
              <a:t>hai</a:t>
            </a:r>
            <a:r>
              <a:rPr dirty="0"/>
              <a:t> </a:t>
            </a:r>
            <a:r>
              <a:rPr dirty="0" err="1"/>
              <a:t>ke</a:t>
            </a:r>
            <a:r>
              <a:rPr dirty="0"/>
              <a:t> pipeline </a:t>
            </a:r>
            <a:r>
              <a:rPr dirty="0" err="1"/>
              <a:t>apne</a:t>
            </a:r>
            <a:r>
              <a:rPr dirty="0"/>
              <a:t> six validity gates pass </a:t>
            </a:r>
            <a:r>
              <a:rPr dirty="0" err="1"/>
              <a:t>kare</a:t>
            </a:r>
            <a:r>
              <a:rPr dirty="0"/>
              <a:t> (slide 34) </a:t>
            </a:r>
            <a:r>
              <a:rPr dirty="0" err="1"/>
              <a:t>aur</a:t>
            </a:r>
            <a:r>
              <a:rPr dirty="0"/>
              <a:t> real historical regressions par consistently </a:t>
            </a:r>
            <a:r>
              <a:rPr dirty="0" err="1"/>
              <a:t>kaam</a:t>
            </a:r>
            <a:r>
              <a:rPr dirty="0"/>
              <a:t> </a:t>
            </a:r>
            <a:r>
              <a:rPr dirty="0" err="1"/>
              <a:t>kare</a:t>
            </a:r>
            <a:r>
              <a:rPr dirty="0"/>
              <a:t> — jo H1 </a:t>
            </a:r>
            <a:r>
              <a:rPr dirty="0" err="1"/>
              <a:t>aur</a:t>
            </a:r>
            <a:r>
              <a:rPr dirty="0"/>
              <a:t> H4 </a:t>
            </a:r>
            <a:r>
              <a:rPr dirty="0" err="1"/>
              <a:t>ke</a:t>
            </a:r>
            <a:r>
              <a:rPr dirty="0"/>
              <a:t> through demonstrate ho </a:t>
            </a:r>
            <a:r>
              <a:rPr dirty="0" err="1"/>
              <a:t>chuka</a:t>
            </a:r>
            <a:r>
              <a:rPr dirty="0"/>
              <a:t> </a:t>
            </a:r>
            <a:r>
              <a:rPr dirty="0" err="1"/>
              <a:t>hai</a:t>
            </a:r>
            <a:r>
              <a:rPr dirty="0"/>
              <a:t>, </a:t>
            </a:r>
            <a:r>
              <a:rPr dirty="0" err="1"/>
              <a:t>lekin</a:t>
            </a:r>
            <a:r>
              <a:rPr dirty="0"/>
              <a:t> </a:t>
            </a:r>
            <a:r>
              <a:rPr dirty="0" err="1"/>
              <a:t>poori</a:t>
            </a:r>
            <a:r>
              <a:rPr dirty="0"/>
              <a:t> validation (</a:t>
            </a:r>
            <a:r>
              <a:rPr dirty="0" err="1"/>
              <a:t>baaqi</a:t>
            </a:r>
            <a:r>
              <a:rPr dirty="0"/>
              <a:t> teen events </a:t>
            </a:r>
            <a:r>
              <a:rPr dirty="0" err="1"/>
              <a:t>aur</a:t>
            </a:r>
            <a:r>
              <a:rPr dirty="0"/>
              <a:t> statistical comparison) </a:t>
            </a:r>
            <a:r>
              <a:rPr dirty="0" err="1"/>
              <a:t>abhi</a:t>
            </a:r>
            <a:r>
              <a:rPr dirty="0"/>
              <a:t> </a:t>
            </a:r>
            <a:r>
              <a:rPr dirty="0" err="1"/>
              <a:t>baaki</a:t>
            </a:r>
            <a:r>
              <a:rPr dirty="0"/>
              <a:t> </a:t>
            </a:r>
            <a:r>
              <a:rPr dirty="0" err="1"/>
              <a:t>hai</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RQ1 se RQ4 </a:t>
            </a:r>
            <a:r>
              <a:rPr dirty="0" err="1"/>
              <a:t>tak</a:t>
            </a:r>
            <a:r>
              <a:rPr dirty="0"/>
              <a:t> sab positive-framed </a:t>
            </a:r>
            <a:r>
              <a:rPr dirty="0" err="1"/>
              <a:t>hain</a:t>
            </a:r>
            <a:r>
              <a:rPr dirty="0"/>
              <a:t> ('can we...') — agar </a:t>
            </a:r>
            <a:r>
              <a:rPr dirty="0" err="1"/>
              <a:t>jawab</a:t>
            </a:r>
            <a:r>
              <a:rPr dirty="0"/>
              <a:t> '</a:t>
            </a:r>
            <a:r>
              <a:rPr dirty="0" err="1"/>
              <a:t>nahi</a:t>
            </a:r>
            <a:r>
              <a:rPr dirty="0"/>
              <a:t>' </a:t>
            </a:r>
            <a:r>
              <a:rPr dirty="0" err="1"/>
              <a:t>nikle</a:t>
            </a:r>
            <a:r>
              <a:rPr dirty="0"/>
              <a:t> to </a:t>
            </a:r>
            <a:r>
              <a:rPr dirty="0" err="1"/>
              <a:t>kya</a:t>
            </a:r>
            <a:r>
              <a:rPr dirty="0"/>
              <a:t> </a:t>
            </a:r>
            <a:r>
              <a:rPr dirty="0" err="1"/>
              <a:t>poori</a:t>
            </a:r>
            <a:r>
              <a:rPr dirty="0"/>
              <a:t> thesis fail ho </a:t>
            </a:r>
            <a:r>
              <a:rPr dirty="0" err="1"/>
              <a:t>jayegi</a:t>
            </a:r>
            <a:r>
              <a:rPr dirty="0"/>
              <a:t>?</a:t>
            </a:r>
          </a:p>
          <a:p>
            <a:r>
              <a:rPr dirty="0"/>
              <a:t>J: </a:t>
            </a:r>
            <a:r>
              <a:rPr dirty="0" err="1"/>
              <a:t>Nahi</a:t>
            </a:r>
            <a:r>
              <a:rPr dirty="0"/>
              <a:t> — </a:t>
            </a:r>
            <a:r>
              <a:rPr dirty="0" err="1"/>
              <a:t>chahe</a:t>
            </a:r>
            <a:r>
              <a:rPr dirty="0"/>
              <a:t> </a:t>
            </a:r>
            <a:r>
              <a:rPr dirty="0" err="1"/>
              <a:t>jawab</a:t>
            </a:r>
            <a:r>
              <a:rPr dirty="0"/>
              <a:t> negative ho (</a:t>
            </a:r>
            <a:r>
              <a:rPr dirty="0" err="1"/>
              <a:t>jaise</a:t>
            </a:r>
            <a:r>
              <a:rPr dirty="0"/>
              <a:t> agar regressions rare </a:t>
            </a:r>
            <a:r>
              <a:rPr dirty="0" err="1"/>
              <a:t>nikalti</a:t>
            </a:r>
            <a:r>
              <a:rPr dirty="0"/>
              <a:t> </a:t>
            </a:r>
            <a:r>
              <a:rPr dirty="0" err="1"/>
              <a:t>hain</a:t>
            </a:r>
            <a:r>
              <a:rPr dirty="0"/>
              <a:t>, </a:t>
            </a:r>
            <a:r>
              <a:rPr dirty="0" err="1"/>
              <a:t>ya</a:t>
            </a:r>
            <a:r>
              <a:rPr dirty="0"/>
              <a:t> selector baselines se </a:t>
            </a:r>
            <a:r>
              <a:rPr dirty="0" err="1"/>
              <a:t>behtar</a:t>
            </a:r>
            <a:r>
              <a:rPr dirty="0"/>
              <a:t> </a:t>
            </a:r>
            <a:r>
              <a:rPr dirty="0" err="1"/>
              <a:t>na</a:t>
            </a:r>
            <a:r>
              <a:rPr dirty="0"/>
              <a:t> ho), wo </a:t>
            </a:r>
            <a:r>
              <a:rPr dirty="0" err="1"/>
              <a:t>bhi</a:t>
            </a:r>
            <a:r>
              <a:rPr dirty="0"/>
              <a:t> </a:t>
            </a:r>
            <a:r>
              <a:rPr dirty="0" err="1"/>
              <a:t>ek</a:t>
            </a:r>
            <a:r>
              <a:rPr dirty="0"/>
              <a:t> valid, publishable scientific finding </a:t>
            </a:r>
            <a:r>
              <a:rPr dirty="0" err="1"/>
              <a:t>hoga</a:t>
            </a:r>
            <a:r>
              <a:rPr dirty="0"/>
              <a:t>. RQs falsifiable </a:t>
            </a:r>
            <a:r>
              <a:rPr dirty="0" err="1"/>
              <a:t>hain</a:t>
            </a:r>
            <a:r>
              <a:rPr dirty="0"/>
              <a:t>, guaranteed-positive result </a:t>
            </a:r>
            <a:r>
              <a:rPr dirty="0" err="1"/>
              <a:t>ka</a:t>
            </a:r>
            <a:r>
              <a:rPr dirty="0"/>
              <a:t> assumption </a:t>
            </a:r>
            <a:r>
              <a:rPr dirty="0" err="1"/>
              <a:t>nahi</a:t>
            </a:r>
            <a:r>
              <a:rPr dirty="0"/>
              <a:t> </a:t>
            </a:r>
            <a:r>
              <a:rPr dirty="0" err="1"/>
              <a:t>karte</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Objective 1</a:t>
            </a:r>
            <a:r>
              <a:rPr lang="en-US" dirty="0" smtClean="0"/>
              <a:t> is to measure how often real </a:t>
            </a:r>
            <a:r>
              <a:rPr lang="en-US" dirty="0" err="1" smtClean="0"/>
              <a:t>transpiler</a:t>
            </a:r>
            <a:r>
              <a:rPr lang="en-US" dirty="0" smtClean="0"/>
              <a:t> regressions are missed by the standard reference screen.</a:t>
            </a:r>
          </a:p>
          <a:p>
            <a:r>
              <a:rPr lang="en-US" b="1" dirty="0" smtClean="0"/>
              <a:t>Objective 2</a:t>
            </a:r>
            <a:r>
              <a:rPr lang="en-US" dirty="0" smtClean="0"/>
              <a:t> is to demonstrate that, for a regression missed by the reference screen, a fault-matched oracle can detect it from source.</a:t>
            </a:r>
          </a:p>
          <a:p>
            <a:r>
              <a:rPr lang="en-US" b="1" dirty="0" smtClean="0"/>
              <a:t>Objective 3</a:t>
            </a:r>
            <a:r>
              <a:rPr lang="en-US" dirty="0" smtClean="0"/>
              <a:t> is to build and validate our leakage-safe and computational cost-aware test-selection pipeline as an open prototype.</a:t>
            </a:r>
          </a:p>
          <a:p>
            <a:r>
              <a:rPr lang="en-US" b="1" dirty="0" smtClean="0"/>
              <a:t>Objective 4</a:t>
            </a:r>
            <a:r>
              <a:rPr lang="en-US" dirty="0" smtClean="0"/>
              <a:t> is to compare our selector against five baseline methods, once we have enough verified forward-regression events for a meaningful comparison.</a:t>
            </a:r>
          </a:p>
          <a:p>
            <a:r>
              <a:rPr lang="en-US" dirty="0" smtClean="0"/>
              <a:t>So, in simple terms, the objectives are: </a:t>
            </a:r>
            <a:r>
              <a:rPr lang="en-US" b="1" dirty="0" smtClean="0"/>
              <a:t>measure the gap, detect the hidden faults, build the pipeline, and compare the selector.</a:t>
            </a:r>
            <a:r>
              <a:rPr lang="en-US" dirty="0" smtClean="0"/>
              <a:t>”</a:t>
            </a:r>
          </a:p>
          <a:p>
            <a:endParaRPr dirty="0"/>
          </a:p>
          <a:p>
            <a:r>
              <a:rPr dirty="0" err="1"/>
              <a:t>Mumkin</a:t>
            </a:r>
            <a:r>
              <a:rPr dirty="0"/>
              <a:t> examiner </a:t>
            </a:r>
            <a:r>
              <a:rPr dirty="0" err="1"/>
              <a:t>sawalat</a:t>
            </a:r>
            <a:r>
              <a:rPr dirty="0"/>
              <a:t>:</a:t>
            </a:r>
          </a:p>
          <a:p>
            <a:r>
              <a:rPr dirty="0"/>
              <a:t>S1: Agar Phase 2 </a:t>
            </a:r>
            <a:r>
              <a:rPr dirty="0" err="1"/>
              <a:t>ke</a:t>
            </a:r>
            <a:r>
              <a:rPr dirty="0"/>
              <a:t> </a:t>
            </a:r>
            <a:r>
              <a:rPr dirty="0" err="1"/>
              <a:t>baad</a:t>
            </a:r>
            <a:r>
              <a:rPr dirty="0"/>
              <a:t> </a:t>
            </a:r>
            <a:r>
              <a:rPr dirty="0" err="1"/>
              <a:t>bhi</a:t>
            </a:r>
            <a:r>
              <a:rPr dirty="0"/>
              <a:t> teen forward regressions verify </a:t>
            </a:r>
            <a:r>
              <a:rPr dirty="0" err="1"/>
              <a:t>na</a:t>
            </a:r>
            <a:r>
              <a:rPr dirty="0"/>
              <a:t> ho </a:t>
            </a:r>
            <a:r>
              <a:rPr dirty="0" err="1"/>
              <a:t>sakein</a:t>
            </a:r>
            <a:r>
              <a:rPr dirty="0"/>
              <a:t>, to O4 </a:t>
            </a:r>
            <a:r>
              <a:rPr dirty="0" err="1"/>
              <a:t>ka</a:t>
            </a:r>
            <a:r>
              <a:rPr dirty="0"/>
              <a:t> 'powered comparison' </a:t>
            </a:r>
            <a:r>
              <a:rPr dirty="0" err="1"/>
              <a:t>ka</a:t>
            </a:r>
            <a:r>
              <a:rPr dirty="0"/>
              <a:t> </a:t>
            </a:r>
            <a:r>
              <a:rPr dirty="0" err="1"/>
              <a:t>kya</a:t>
            </a:r>
            <a:r>
              <a:rPr dirty="0"/>
              <a:t> </a:t>
            </a:r>
            <a:r>
              <a:rPr dirty="0" err="1"/>
              <a:t>hoga</a:t>
            </a:r>
            <a:r>
              <a:rPr dirty="0"/>
              <a:t>?</a:t>
            </a:r>
          </a:p>
          <a:p>
            <a:r>
              <a:rPr dirty="0"/>
              <a:t>J1: Agar enough verified events </a:t>
            </a:r>
            <a:r>
              <a:rPr dirty="0" err="1"/>
              <a:t>na</a:t>
            </a:r>
            <a:r>
              <a:rPr dirty="0"/>
              <a:t> </a:t>
            </a:r>
            <a:r>
              <a:rPr dirty="0" err="1"/>
              <a:t>milein</a:t>
            </a:r>
            <a:r>
              <a:rPr dirty="0"/>
              <a:t>, to hum </a:t>
            </a:r>
            <a:r>
              <a:rPr dirty="0" err="1"/>
              <a:t>apna</a:t>
            </a:r>
            <a:r>
              <a:rPr dirty="0"/>
              <a:t> scope transparently adjust </a:t>
            </a:r>
            <a:r>
              <a:rPr dirty="0" err="1"/>
              <a:t>karenge</a:t>
            </a:r>
            <a:r>
              <a:rPr dirty="0"/>
              <a:t> — </a:t>
            </a:r>
            <a:r>
              <a:rPr dirty="0" err="1"/>
              <a:t>ya</a:t>
            </a:r>
            <a:r>
              <a:rPr dirty="0"/>
              <a:t> to comparison </a:t>
            </a:r>
            <a:r>
              <a:rPr dirty="0" err="1"/>
              <a:t>ko</a:t>
            </a:r>
            <a:r>
              <a:rPr dirty="0"/>
              <a:t> exploratory/underpowered declare </a:t>
            </a:r>
            <a:r>
              <a:rPr dirty="0" err="1"/>
              <a:t>karenge</a:t>
            </a:r>
            <a:r>
              <a:rPr dirty="0"/>
              <a:t> honest caveat </a:t>
            </a:r>
            <a:r>
              <a:rPr dirty="0" err="1"/>
              <a:t>ke</a:t>
            </a:r>
            <a:r>
              <a:rPr dirty="0"/>
              <a:t> </a:t>
            </a:r>
            <a:r>
              <a:rPr dirty="0" err="1"/>
              <a:t>sath</a:t>
            </a:r>
            <a:r>
              <a:rPr dirty="0"/>
              <a:t>, </a:t>
            </a:r>
            <a:r>
              <a:rPr dirty="0" err="1"/>
              <a:t>ya</a:t>
            </a:r>
            <a:r>
              <a:rPr dirty="0"/>
              <a:t> </a:t>
            </a:r>
            <a:r>
              <a:rPr dirty="0" err="1"/>
              <a:t>phir</a:t>
            </a:r>
            <a:r>
              <a:rPr dirty="0"/>
              <a:t> mining </a:t>
            </a:r>
            <a:r>
              <a:rPr dirty="0" err="1"/>
              <a:t>ko</a:t>
            </a:r>
            <a:r>
              <a:rPr dirty="0"/>
              <a:t> </a:t>
            </a:r>
            <a:r>
              <a:rPr dirty="0" err="1"/>
              <a:t>aur</a:t>
            </a:r>
            <a:r>
              <a:rPr dirty="0"/>
              <a:t> expand </a:t>
            </a:r>
            <a:r>
              <a:rPr dirty="0" err="1"/>
              <a:t>karenge</a:t>
            </a:r>
            <a:r>
              <a:rPr dirty="0"/>
              <a:t>. Ye </a:t>
            </a:r>
            <a:r>
              <a:rPr dirty="0" err="1"/>
              <a:t>ek</a:t>
            </a:r>
            <a:r>
              <a:rPr dirty="0"/>
              <a:t> known risk </a:t>
            </a:r>
            <a:r>
              <a:rPr dirty="0" err="1"/>
              <a:t>hai</a:t>
            </a:r>
            <a:r>
              <a:rPr dirty="0"/>
              <a:t> jo Work Plan </a:t>
            </a:r>
            <a:r>
              <a:rPr dirty="0" err="1"/>
              <a:t>mein</a:t>
            </a:r>
            <a:r>
              <a:rPr dirty="0"/>
              <a:t> implicitly acknowledge </a:t>
            </a:r>
            <a:r>
              <a:rPr dirty="0" err="1"/>
              <a:t>hai</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O4 </a:t>
            </a:r>
            <a:r>
              <a:rPr dirty="0" err="1"/>
              <a:t>mein</a:t>
            </a:r>
            <a:r>
              <a:rPr dirty="0"/>
              <a:t> 'commit to a powered comparison once enough events verified' — ye to escape clause </a:t>
            </a:r>
            <a:r>
              <a:rPr dirty="0" err="1"/>
              <a:t>lagta</a:t>
            </a:r>
            <a:r>
              <a:rPr dirty="0"/>
              <a:t> </a:t>
            </a:r>
            <a:r>
              <a:rPr dirty="0" err="1"/>
              <a:t>hai</a:t>
            </a:r>
            <a:r>
              <a:rPr dirty="0"/>
              <a:t>, </a:t>
            </a:r>
            <a:r>
              <a:rPr dirty="0" err="1"/>
              <a:t>jaise</a:t>
            </a:r>
            <a:r>
              <a:rPr dirty="0"/>
              <a:t> </a:t>
            </a:r>
            <a:r>
              <a:rPr dirty="0" err="1"/>
              <a:t>aap</a:t>
            </a:r>
            <a:r>
              <a:rPr dirty="0"/>
              <a:t> </a:t>
            </a:r>
            <a:r>
              <a:rPr dirty="0" err="1"/>
              <a:t>ko</a:t>
            </a:r>
            <a:r>
              <a:rPr dirty="0"/>
              <a:t> </a:t>
            </a:r>
            <a:r>
              <a:rPr dirty="0" err="1"/>
              <a:t>pehle</a:t>
            </a:r>
            <a:r>
              <a:rPr dirty="0"/>
              <a:t> se </a:t>
            </a:r>
            <a:r>
              <a:rPr dirty="0" err="1"/>
              <a:t>pata</a:t>
            </a:r>
            <a:r>
              <a:rPr dirty="0"/>
              <a:t> </a:t>
            </a:r>
            <a:r>
              <a:rPr dirty="0" err="1"/>
              <a:t>hai</a:t>
            </a:r>
            <a:r>
              <a:rPr dirty="0"/>
              <a:t> </a:t>
            </a:r>
            <a:r>
              <a:rPr dirty="0" err="1"/>
              <a:t>ke</a:t>
            </a:r>
            <a:r>
              <a:rPr dirty="0"/>
              <a:t> </a:t>
            </a:r>
            <a:r>
              <a:rPr dirty="0" err="1"/>
              <a:t>abhi</a:t>
            </a:r>
            <a:r>
              <a:rPr dirty="0"/>
              <a:t> enough events </a:t>
            </a:r>
            <a:r>
              <a:rPr dirty="0" err="1"/>
              <a:t>nahi</a:t>
            </a:r>
            <a:r>
              <a:rPr dirty="0"/>
              <a:t> </a:t>
            </a:r>
            <a:r>
              <a:rPr dirty="0" err="1"/>
              <a:t>hain</a:t>
            </a:r>
            <a:r>
              <a:rPr dirty="0"/>
              <a:t>.</a:t>
            </a:r>
          </a:p>
          <a:p>
            <a:r>
              <a:rPr dirty="0"/>
              <a:t>J: Ye </a:t>
            </a:r>
            <a:r>
              <a:rPr dirty="0" err="1"/>
              <a:t>ek</a:t>
            </a:r>
            <a:r>
              <a:rPr dirty="0"/>
              <a:t> honest, transparent acknowledgment </a:t>
            </a:r>
            <a:r>
              <a:rPr dirty="0" err="1"/>
              <a:t>hai</a:t>
            </a:r>
            <a:r>
              <a:rPr dirty="0"/>
              <a:t> </a:t>
            </a:r>
            <a:r>
              <a:rPr dirty="0" err="1"/>
              <a:t>ke</a:t>
            </a:r>
            <a:r>
              <a:rPr dirty="0"/>
              <a:t> statistical power sample size par depend </a:t>
            </a:r>
            <a:r>
              <a:rPr dirty="0" err="1"/>
              <a:t>karta</a:t>
            </a:r>
            <a:r>
              <a:rPr dirty="0"/>
              <a:t> </a:t>
            </a:r>
            <a:r>
              <a:rPr dirty="0" err="1"/>
              <a:t>hai</a:t>
            </a:r>
            <a:r>
              <a:rPr dirty="0"/>
              <a:t>. Hum </a:t>
            </a:r>
            <a:r>
              <a:rPr dirty="0" err="1"/>
              <a:t>abhi</a:t>
            </a:r>
            <a:r>
              <a:rPr dirty="0"/>
              <a:t> commit </a:t>
            </a:r>
            <a:r>
              <a:rPr dirty="0" err="1"/>
              <a:t>nahi</a:t>
            </a:r>
            <a:r>
              <a:rPr dirty="0"/>
              <a:t> </a:t>
            </a:r>
            <a:r>
              <a:rPr dirty="0" err="1"/>
              <a:t>kar</a:t>
            </a:r>
            <a:r>
              <a:rPr dirty="0"/>
              <a:t> </a:t>
            </a:r>
            <a:r>
              <a:rPr dirty="0" err="1"/>
              <a:t>rahe</a:t>
            </a:r>
            <a:r>
              <a:rPr dirty="0"/>
              <a:t> </a:t>
            </a:r>
            <a:r>
              <a:rPr dirty="0" err="1"/>
              <a:t>kyunki</a:t>
            </a:r>
            <a:r>
              <a:rPr dirty="0"/>
              <a:t> premature commitment </a:t>
            </a:r>
            <a:r>
              <a:rPr dirty="0" err="1"/>
              <a:t>galat</a:t>
            </a:r>
            <a:r>
              <a:rPr dirty="0"/>
              <a:t> ho </a:t>
            </a:r>
            <a:r>
              <a:rPr dirty="0" err="1"/>
              <a:t>sakta</a:t>
            </a:r>
            <a:r>
              <a:rPr dirty="0"/>
              <a:t> </a:t>
            </a:r>
            <a:r>
              <a:rPr dirty="0" err="1"/>
              <a:t>hai</a:t>
            </a:r>
            <a:r>
              <a:rPr dirty="0"/>
              <a:t> — Work Plan (Phase 2) specifically </a:t>
            </a:r>
            <a:r>
              <a:rPr dirty="0" err="1"/>
              <a:t>isi</a:t>
            </a:r>
            <a:r>
              <a:rPr dirty="0"/>
              <a:t> gap </a:t>
            </a:r>
            <a:r>
              <a:rPr dirty="0" err="1"/>
              <a:t>ko</a:t>
            </a:r>
            <a:r>
              <a:rPr dirty="0"/>
              <a:t> address </a:t>
            </a:r>
            <a:r>
              <a:rPr dirty="0" err="1"/>
              <a:t>karne</a:t>
            </a:r>
            <a:r>
              <a:rPr dirty="0"/>
              <a:t> </a:t>
            </a:r>
            <a:r>
              <a:rPr dirty="0" err="1"/>
              <a:t>ke</a:t>
            </a:r>
            <a:r>
              <a:rPr dirty="0"/>
              <a:t> </a:t>
            </a:r>
            <a:r>
              <a:rPr dirty="0" err="1"/>
              <a:t>liye</a:t>
            </a:r>
            <a:r>
              <a:rPr dirty="0"/>
              <a:t> </a:t>
            </a:r>
            <a:r>
              <a:rPr dirty="0" err="1"/>
              <a:t>hai</a:t>
            </a:r>
            <a:r>
              <a:rPr dirty="0" smtClean="0"/>
              <a:t>.</a:t>
            </a:r>
            <a:endParaRPr lang="en-US" dirty="0" smtClean="0"/>
          </a:p>
          <a:p>
            <a:endParaRPr lang="en-US" dirty="0" smtClean="0"/>
          </a:p>
          <a:p>
            <a:r>
              <a:rPr lang="en-US" dirty="0" smtClean="0"/>
              <a:t>"how do you measure transparency," the honest answer is: you don't measure it numerically, you show that nothing in the ranking is opaque or learned — every output traces back to an </a:t>
            </a:r>
            <a:r>
              <a:rPr lang="en-US" dirty="0" err="1" smtClean="0"/>
              <a:t>inspectable</a:t>
            </a:r>
            <a:r>
              <a:rPr lang="en-US" dirty="0" smtClean="0"/>
              <a:t> input.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slide shows why we cannot use one single oracle for every type of </a:t>
            </a:r>
            <a:r>
              <a:rPr lang="en-US" dirty="0" err="1" smtClean="0"/>
              <a:t>transpiler</a:t>
            </a:r>
            <a:r>
              <a:rPr lang="en-US" dirty="0" smtClean="0"/>
              <a:t> regression.</a:t>
            </a:r>
          </a:p>
          <a:p>
            <a:r>
              <a:rPr lang="en-US" dirty="0" smtClean="0"/>
              <a:t>The rows represent different ways a regression can appear, and the columns represent different checks or oracles.</a:t>
            </a:r>
          </a:p>
          <a:p>
            <a:r>
              <a:rPr lang="en-US" dirty="0" smtClean="0"/>
              <a:t>For a </a:t>
            </a:r>
            <a:r>
              <a:rPr lang="en-US" b="1" dirty="0" smtClean="0"/>
              <a:t>semantic difference</a:t>
            </a:r>
            <a:r>
              <a:rPr lang="en-US" dirty="0" smtClean="0"/>
              <a:t>, unitary-equivalence checking is the main oracle because it checks whether the computation has changed.</a:t>
            </a:r>
          </a:p>
          <a:p>
            <a:r>
              <a:rPr lang="en-US" dirty="0" smtClean="0"/>
              <a:t>For a </a:t>
            </a:r>
            <a:r>
              <a:rPr lang="en-US" b="1" dirty="0" smtClean="0"/>
              <a:t>compilation failure</a:t>
            </a:r>
            <a:r>
              <a:rPr lang="en-US" dirty="0" smtClean="0"/>
              <a:t>, the compilation check is enough—we simply check whether the </a:t>
            </a:r>
            <a:r>
              <a:rPr lang="en-US" dirty="0" err="1" smtClean="0"/>
              <a:t>transpiler</a:t>
            </a:r>
            <a:r>
              <a:rPr lang="en-US" dirty="0" smtClean="0"/>
              <a:t> successfully produces a circuit.</a:t>
            </a:r>
          </a:p>
          <a:p>
            <a:r>
              <a:rPr lang="en-US" dirty="0" smtClean="0"/>
              <a:t>For a </a:t>
            </a:r>
            <a:r>
              <a:rPr lang="en-US" b="1" dirty="0" smtClean="0"/>
              <a:t>circuit-quality regression</a:t>
            </a:r>
            <a:r>
              <a:rPr lang="en-US" dirty="0" smtClean="0"/>
              <a:t>, we need a quality oracle, for example by checking gate count or circuit depth.</a:t>
            </a:r>
          </a:p>
          <a:p>
            <a:r>
              <a:rPr lang="en-US" dirty="0" smtClean="0"/>
              <a:t>For a </a:t>
            </a:r>
            <a:r>
              <a:rPr lang="en-US" b="1" dirty="0" smtClean="0"/>
              <a:t>performance regression</a:t>
            </a:r>
            <a:r>
              <a:rPr lang="en-US" dirty="0" smtClean="0"/>
              <a:t>, we need a performance oracle that measures </a:t>
            </a:r>
            <a:r>
              <a:rPr lang="en-US" dirty="0" err="1" smtClean="0"/>
              <a:t>transpilation</a:t>
            </a:r>
            <a:r>
              <a:rPr lang="en-US" dirty="0" smtClean="0"/>
              <a:t> time.</a:t>
            </a:r>
          </a:p>
          <a:p>
            <a:r>
              <a:rPr lang="en-US" dirty="0" smtClean="0"/>
              <a:t>These first four checks together form our </a:t>
            </a:r>
            <a:r>
              <a:rPr lang="en-US" b="1" dirty="0" smtClean="0"/>
              <a:t>reference screen</a:t>
            </a:r>
            <a:r>
              <a:rPr lang="en-US" dirty="0" smtClean="0"/>
              <a:t>.</a:t>
            </a:r>
          </a:p>
          <a:p>
            <a:r>
              <a:rPr lang="en-US" dirty="0" smtClean="0"/>
              <a:t>But for </a:t>
            </a:r>
            <a:r>
              <a:rPr lang="en-US" b="1" dirty="0" smtClean="0"/>
              <a:t>contract or metadata corruption</a:t>
            </a:r>
            <a:r>
              <a:rPr lang="en-US" dirty="0" smtClean="0"/>
              <a:t>, those output-level checks may all pass. So we need a separate contract oracle that directly checks the affected metadata or pass-level property.</a:t>
            </a:r>
          </a:p>
          <a:p>
            <a:r>
              <a:rPr lang="en-US" dirty="0" smtClean="0"/>
              <a:t>Similarly, for </a:t>
            </a:r>
            <a:r>
              <a:rPr lang="en-US" b="1" dirty="0" smtClean="0"/>
              <a:t>non-determinism</a:t>
            </a:r>
            <a:r>
              <a:rPr lang="en-US" dirty="0" smtClean="0"/>
              <a:t>, a single execution is not enough. We need a determinism oracle based on repeated runs with the same settings.</a:t>
            </a:r>
          </a:p>
          <a:p>
            <a:r>
              <a:rPr lang="en-US" dirty="0" smtClean="0"/>
              <a:t>The ‘Sometimes’ entries mean that another oracle may occasionally expose the fault as a side effect, but it is not the reliable or matched check for that fault.</a:t>
            </a:r>
          </a:p>
          <a:p>
            <a:r>
              <a:rPr lang="en-US" dirty="0" smtClean="0"/>
              <a:t>Finally, the </a:t>
            </a:r>
            <a:r>
              <a:rPr lang="en-US" b="1" dirty="0" smtClean="0"/>
              <a:t>global-phase discrepancy</a:t>
            </a:r>
            <a:r>
              <a:rPr lang="en-US" dirty="0" smtClean="0"/>
              <a:t> row currently has no matching oracle in this matrix. So this remains an uncovered channel that would require a dedicated phase-aware check.</a:t>
            </a:r>
          </a:p>
          <a:p>
            <a:r>
              <a:rPr lang="en-US" dirty="0" smtClean="0"/>
              <a:t>The key message is: </a:t>
            </a:r>
            <a:r>
              <a:rPr lang="en-US" b="1" dirty="0" smtClean="0"/>
              <a:t>each fault should be checked with an oracle that directly observes the property that can fail. One output oracle is not enough.</a:t>
            </a:r>
            <a:endParaRPr lang="en-US" dirty="0" smtClean="0"/>
          </a:p>
          <a:p>
            <a:endParaRPr lang="en-US" dirty="0" smtClean="0"/>
          </a:p>
          <a:p>
            <a:r>
              <a:rPr lang="en-US" dirty="0" smtClean="0"/>
              <a:t>The first four make the reference screen; our observability-aware approach extends it with fault-matched checks for faults that the reference screen cannot see.</a:t>
            </a:r>
          </a:p>
          <a:p>
            <a:endParaRPr dirty="0"/>
          </a:p>
          <a:p>
            <a:r>
              <a:rPr dirty="0" err="1"/>
              <a:t>Mumkin</a:t>
            </a:r>
            <a:r>
              <a:rPr dirty="0"/>
              <a:t> examiner </a:t>
            </a:r>
            <a:r>
              <a:rPr dirty="0" err="1"/>
              <a:t>sawalat</a:t>
            </a:r>
            <a:r>
              <a:rPr dirty="0"/>
              <a:t>:</a:t>
            </a:r>
          </a:p>
          <a:p>
            <a:r>
              <a:rPr dirty="0"/>
              <a:t>S1: Table </a:t>
            </a:r>
            <a:r>
              <a:rPr dirty="0" err="1"/>
              <a:t>mein</a:t>
            </a:r>
            <a:r>
              <a:rPr dirty="0"/>
              <a:t> </a:t>
            </a:r>
            <a:r>
              <a:rPr dirty="0" err="1"/>
              <a:t>likha</a:t>
            </a:r>
            <a:r>
              <a:rPr dirty="0"/>
              <a:t> </a:t>
            </a:r>
            <a:r>
              <a:rPr dirty="0" err="1"/>
              <a:t>hai</a:t>
            </a:r>
            <a:r>
              <a:rPr dirty="0"/>
              <a:t> </a:t>
            </a:r>
            <a:r>
              <a:rPr dirty="0" err="1"/>
              <a:t>ke</a:t>
            </a:r>
            <a:r>
              <a:rPr dirty="0"/>
              <a:t> black-box oracle compilation failure </a:t>
            </a:r>
            <a:r>
              <a:rPr dirty="0" err="1"/>
              <a:t>ke</a:t>
            </a:r>
            <a:r>
              <a:rPr dirty="0"/>
              <a:t> </a:t>
            </a:r>
            <a:r>
              <a:rPr dirty="0" err="1"/>
              <a:t>liye</a:t>
            </a:r>
            <a:r>
              <a:rPr dirty="0"/>
              <a:t> 'sometimes' semantic difference detect </a:t>
            </a:r>
            <a:r>
              <a:rPr dirty="0" err="1"/>
              <a:t>karta</a:t>
            </a:r>
            <a:r>
              <a:rPr dirty="0"/>
              <a:t> </a:t>
            </a:r>
            <a:r>
              <a:rPr dirty="0" err="1"/>
              <a:t>hai</a:t>
            </a:r>
            <a:r>
              <a:rPr dirty="0"/>
              <a:t> — ye </a:t>
            </a:r>
            <a:r>
              <a:rPr dirty="0" err="1"/>
              <a:t>kis</a:t>
            </a:r>
            <a:r>
              <a:rPr dirty="0"/>
              <a:t> </a:t>
            </a:r>
            <a:r>
              <a:rPr dirty="0" err="1"/>
              <a:t>cheez</a:t>
            </a:r>
            <a:r>
              <a:rPr dirty="0"/>
              <a:t> par depend </a:t>
            </a:r>
            <a:r>
              <a:rPr dirty="0" err="1"/>
              <a:t>karta</a:t>
            </a:r>
            <a:r>
              <a:rPr dirty="0"/>
              <a:t> </a:t>
            </a:r>
            <a:r>
              <a:rPr dirty="0" err="1"/>
              <a:t>hai</a:t>
            </a:r>
            <a:r>
              <a:rPr dirty="0"/>
              <a:t>?</a:t>
            </a:r>
          </a:p>
          <a:p>
            <a:r>
              <a:rPr dirty="0"/>
              <a:t>J1: Ye is </a:t>
            </a:r>
            <a:r>
              <a:rPr dirty="0" err="1"/>
              <a:t>baat</a:t>
            </a:r>
            <a:r>
              <a:rPr dirty="0"/>
              <a:t> par depend </a:t>
            </a:r>
            <a:r>
              <a:rPr dirty="0" err="1"/>
              <a:t>karta</a:t>
            </a:r>
            <a:r>
              <a:rPr dirty="0"/>
              <a:t> </a:t>
            </a:r>
            <a:r>
              <a:rPr dirty="0" err="1"/>
              <a:t>hai</a:t>
            </a:r>
            <a:r>
              <a:rPr dirty="0"/>
              <a:t> </a:t>
            </a:r>
            <a:r>
              <a:rPr dirty="0" err="1"/>
              <a:t>ke</a:t>
            </a:r>
            <a:r>
              <a:rPr dirty="0"/>
              <a:t> fault directly output unitary </a:t>
            </a:r>
            <a:r>
              <a:rPr dirty="0" err="1"/>
              <a:t>ko</a:t>
            </a:r>
            <a:r>
              <a:rPr dirty="0"/>
              <a:t> affect </a:t>
            </a:r>
            <a:r>
              <a:rPr dirty="0" err="1"/>
              <a:t>karta</a:t>
            </a:r>
            <a:r>
              <a:rPr dirty="0"/>
              <a:t> </a:t>
            </a:r>
            <a:r>
              <a:rPr dirty="0" err="1"/>
              <a:t>hai</a:t>
            </a:r>
            <a:r>
              <a:rPr dirty="0"/>
              <a:t> </a:t>
            </a:r>
            <a:r>
              <a:rPr dirty="0" err="1"/>
              <a:t>ya</a:t>
            </a:r>
            <a:r>
              <a:rPr dirty="0"/>
              <a:t> </a:t>
            </a:r>
            <a:r>
              <a:rPr dirty="0" err="1"/>
              <a:t>sirf</a:t>
            </a:r>
            <a:r>
              <a:rPr dirty="0"/>
              <a:t> intermediate representation </a:t>
            </a:r>
            <a:r>
              <a:rPr dirty="0" err="1"/>
              <a:t>ko</a:t>
            </a:r>
            <a:r>
              <a:rPr dirty="0"/>
              <a:t> — agar output equivalence break </a:t>
            </a:r>
            <a:r>
              <a:rPr dirty="0" err="1"/>
              <a:t>hoti</a:t>
            </a:r>
            <a:r>
              <a:rPr dirty="0"/>
              <a:t> </a:t>
            </a:r>
            <a:r>
              <a:rPr dirty="0" err="1"/>
              <a:t>hai</a:t>
            </a:r>
            <a:r>
              <a:rPr dirty="0"/>
              <a:t> to black-box oracle use </a:t>
            </a:r>
            <a:r>
              <a:rPr dirty="0" err="1"/>
              <a:t>pakar</a:t>
            </a:r>
            <a:r>
              <a:rPr dirty="0"/>
              <a:t> </a:t>
            </a:r>
            <a:r>
              <a:rPr dirty="0" err="1"/>
              <a:t>leta</a:t>
            </a:r>
            <a:r>
              <a:rPr dirty="0"/>
              <a:t> </a:t>
            </a:r>
            <a:r>
              <a:rPr dirty="0" err="1"/>
              <a:t>hai</a:t>
            </a:r>
            <a:r>
              <a:rPr dirty="0"/>
              <a:t>, </a:t>
            </a:r>
            <a:r>
              <a:rPr dirty="0" err="1"/>
              <a:t>lekin</a:t>
            </a:r>
            <a:r>
              <a:rPr dirty="0"/>
              <a:t> agar </a:t>
            </a:r>
            <a:r>
              <a:rPr dirty="0" err="1"/>
              <a:t>sirf</a:t>
            </a:r>
            <a:r>
              <a:rPr dirty="0"/>
              <a:t> intermediate pass </a:t>
            </a:r>
            <a:r>
              <a:rPr dirty="0" err="1"/>
              <a:t>ya</a:t>
            </a:r>
            <a:r>
              <a:rPr dirty="0"/>
              <a:t> metadata corrupt </a:t>
            </a:r>
            <a:r>
              <a:rPr dirty="0" err="1"/>
              <a:t>hoti</a:t>
            </a:r>
            <a:r>
              <a:rPr dirty="0"/>
              <a:t> </a:t>
            </a:r>
            <a:r>
              <a:rPr dirty="0" err="1"/>
              <a:t>hai</a:t>
            </a:r>
            <a:r>
              <a:rPr dirty="0"/>
              <a:t> output </a:t>
            </a:r>
            <a:r>
              <a:rPr dirty="0" err="1"/>
              <a:t>ko</a:t>
            </a:r>
            <a:r>
              <a:rPr dirty="0"/>
              <a:t> affect </a:t>
            </a:r>
            <a:r>
              <a:rPr dirty="0" err="1"/>
              <a:t>kiye</a:t>
            </a:r>
            <a:r>
              <a:rPr dirty="0"/>
              <a:t> </a:t>
            </a:r>
            <a:r>
              <a:rPr dirty="0" err="1"/>
              <a:t>baghair</a:t>
            </a:r>
            <a:r>
              <a:rPr dirty="0"/>
              <a:t>, to wo miss ho </a:t>
            </a:r>
            <a:r>
              <a:rPr dirty="0" err="1"/>
              <a:t>jata</a:t>
            </a:r>
            <a:r>
              <a:rPr dirty="0"/>
              <a:t> </a:t>
            </a:r>
            <a:r>
              <a:rPr dirty="0" err="1"/>
              <a:t>hai</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Table </a:t>
            </a:r>
            <a:r>
              <a:rPr dirty="0" err="1"/>
              <a:t>mein</a:t>
            </a:r>
            <a:r>
              <a:rPr dirty="0"/>
              <a:t> 'Sometimes' </a:t>
            </a:r>
            <a:r>
              <a:rPr dirty="0" err="1"/>
              <a:t>aur</a:t>
            </a:r>
            <a:r>
              <a:rPr dirty="0"/>
              <a:t> 'Not in 1 run' </a:t>
            </a:r>
            <a:r>
              <a:rPr dirty="0" err="1"/>
              <a:t>jaise</a:t>
            </a:r>
            <a:r>
              <a:rPr dirty="0"/>
              <a:t> vague answers </a:t>
            </a:r>
            <a:r>
              <a:rPr dirty="0" err="1"/>
              <a:t>hain</a:t>
            </a:r>
            <a:r>
              <a:rPr dirty="0"/>
              <a:t> — ye precise engineering table </a:t>
            </a:r>
            <a:r>
              <a:rPr dirty="0" err="1"/>
              <a:t>lagni</a:t>
            </a:r>
            <a:r>
              <a:rPr dirty="0"/>
              <a:t> </a:t>
            </a:r>
            <a:r>
              <a:rPr dirty="0" err="1"/>
              <a:t>chahiye</a:t>
            </a:r>
            <a:r>
              <a:rPr dirty="0"/>
              <a:t> </a:t>
            </a:r>
            <a:r>
              <a:rPr dirty="0" err="1"/>
              <a:t>thi</a:t>
            </a:r>
            <a:r>
              <a:rPr dirty="0"/>
              <a:t>, </a:t>
            </a:r>
            <a:r>
              <a:rPr dirty="0" err="1"/>
              <a:t>itni</a:t>
            </a:r>
            <a:r>
              <a:rPr dirty="0"/>
              <a:t> hedge </a:t>
            </a:r>
            <a:r>
              <a:rPr dirty="0" err="1"/>
              <a:t>kyun</a:t>
            </a:r>
            <a:r>
              <a:rPr dirty="0"/>
              <a:t>?</a:t>
            </a:r>
          </a:p>
          <a:p>
            <a:r>
              <a:rPr dirty="0"/>
              <a:t>J: Ye vagueness intentional </a:t>
            </a:r>
            <a:r>
              <a:rPr dirty="0" err="1"/>
              <a:t>hai</a:t>
            </a:r>
            <a:r>
              <a:rPr dirty="0"/>
              <a:t> </a:t>
            </a:r>
            <a:r>
              <a:rPr dirty="0" err="1"/>
              <a:t>kyunki</a:t>
            </a:r>
            <a:r>
              <a:rPr dirty="0"/>
              <a:t> </a:t>
            </a:r>
            <a:r>
              <a:rPr dirty="0" err="1"/>
              <a:t>kuch</a:t>
            </a:r>
            <a:r>
              <a:rPr dirty="0"/>
              <a:t> faults probabilistically manifest </a:t>
            </a:r>
            <a:r>
              <a:rPr dirty="0" err="1"/>
              <a:t>hoti</a:t>
            </a:r>
            <a:r>
              <a:rPr dirty="0"/>
              <a:t> </a:t>
            </a:r>
            <a:r>
              <a:rPr dirty="0" err="1"/>
              <a:t>hain</a:t>
            </a:r>
            <a:r>
              <a:rPr dirty="0"/>
              <a:t> (</a:t>
            </a:r>
            <a:r>
              <a:rPr dirty="0" err="1"/>
              <a:t>jaise</a:t>
            </a:r>
            <a:r>
              <a:rPr dirty="0"/>
              <a:t> non-determinism) — </a:t>
            </a:r>
            <a:r>
              <a:rPr dirty="0" err="1"/>
              <a:t>ek</a:t>
            </a:r>
            <a:r>
              <a:rPr dirty="0"/>
              <a:t> single run </a:t>
            </a:r>
            <a:r>
              <a:rPr dirty="0" err="1"/>
              <a:t>mein</a:t>
            </a:r>
            <a:r>
              <a:rPr dirty="0"/>
              <a:t> guarantee </a:t>
            </a:r>
            <a:r>
              <a:rPr dirty="0" err="1"/>
              <a:t>nahi</a:t>
            </a:r>
            <a:r>
              <a:rPr dirty="0"/>
              <a:t> di ja </a:t>
            </a:r>
            <a:r>
              <a:rPr dirty="0" err="1"/>
              <a:t>sakti</a:t>
            </a:r>
            <a:r>
              <a:rPr dirty="0"/>
              <a:t>, </a:t>
            </a:r>
            <a:r>
              <a:rPr dirty="0" err="1"/>
              <a:t>isi</a:t>
            </a:r>
            <a:r>
              <a:rPr dirty="0"/>
              <a:t> </a:t>
            </a:r>
            <a:r>
              <a:rPr dirty="0" err="1"/>
              <a:t>liye</a:t>
            </a:r>
            <a:r>
              <a:rPr dirty="0"/>
              <a:t> multi-run protocol (</a:t>
            </a:r>
            <a:r>
              <a:rPr dirty="0" err="1"/>
              <a:t>jaisa</a:t>
            </a:r>
            <a:r>
              <a:rPr dirty="0"/>
              <a:t> H4 </a:t>
            </a:r>
            <a:r>
              <a:rPr dirty="0" err="1"/>
              <a:t>mein</a:t>
            </a:r>
            <a:r>
              <a:rPr dirty="0"/>
              <a:t> use </a:t>
            </a:r>
            <a:r>
              <a:rPr dirty="0" err="1"/>
              <a:t>hua</a:t>
            </a:r>
            <a:r>
              <a:rPr dirty="0"/>
              <a:t>) </a:t>
            </a:r>
            <a:r>
              <a:rPr dirty="0" err="1"/>
              <a:t>zaroori</a:t>
            </a:r>
            <a:r>
              <a:rPr dirty="0"/>
              <a:t> </a:t>
            </a:r>
            <a:r>
              <a:rPr dirty="0" err="1"/>
              <a:t>hai</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prepare the experiment, organize the events, apply the right oracles, select and evaluate the tests, and finally validate the results.</a:t>
            </a:r>
            <a:r>
              <a:rPr lang="en-US" dirty="0" smtClean="0"/>
              <a:t> </a:t>
            </a:r>
          </a:p>
          <a:p>
            <a:r>
              <a:rPr lang="en-US" dirty="0" smtClean="0"/>
              <a:t>“This diagram shows the complete CART pipeline.</a:t>
            </a:r>
          </a:p>
          <a:p>
            <a:r>
              <a:rPr lang="en-US" dirty="0" smtClean="0"/>
              <a:t>In </a:t>
            </a:r>
            <a:r>
              <a:rPr lang="en-US" b="1" dirty="0" smtClean="0"/>
              <a:t>Stage 1</a:t>
            </a:r>
            <a:r>
              <a:rPr lang="en-US" dirty="0" smtClean="0"/>
              <a:t>, we prepare the test cases in a reproducible way. We save the exact software revision and environment, record where each test came from, and record </a:t>
            </a:r>
            <a:r>
              <a:rPr lang="en-US" b="1" dirty="0" smtClean="0"/>
              <a:t>which </a:t>
            </a:r>
            <a:r>
              <a:rPr lang="en-US" b="1" dirty="0" err="1" smtClean="0"/>
              <a:t>transpiler</a:t>
            </a:r>
            <a:r>
              <a:rPr lang="en-US" b="1" dirty="0" smtClean="0"/>
              <a:t> passes actually executed</a:t>
            </a:r>
            <a:r>
              <a:rPr lang="en-US" dirty="0" smtClean="0"/>
              <a:t>.</a:t>
            </a:r>
          </a:p>
          <a:p>
            <a:r>
              <a:rPr lang="en-US" dirty="0" smtClean="0"/>
              <a:t>In </a:t>
            </a:r>
            <a:r>
              <a:rPr lang="en-US" b="1" dirty="0" smtClean="0"/>
              <a:t>Stage 2</a:t>
            </a:r>
            <a:r>
              <a:rPr lang="en-US" dirty="0" smtClean="0"/>
              <a:t>, we use historical </a:t>
            </a:r>
            <a:r>
              <a:rPr lang="en-US" b="1" dirty="0" smtClean="0"/>
              <a:t>PRs, issues, and release notes to construct regression events</a:t>
            </a:r>
            <a:r>
              <a:rPr lang="en-US" dirty="0" smtClean="0"/>
              <a:t>. We organize these events into forward-regression, fix-boundary, or controlled-mutation cohorts, and keep them separated by time to avoid future-information leakage.</a:t>
            </a:r>
          </a:p>
          <a:p>
            <a:r>
              <a:rPr lang="en-US" dirty="0" smtClean="0"/>
              <a:t>In </a:t>
            </a:r>
            <a:r>
              <a:rPr lang="en-US" b="1" dirty="0" smtClean="0"/>
              <a:t>Stage 3</a:t>
            </a:r>
            <a:r>
              <a:rPr lang="en-US" dirty="0" smtClean="0"/>
              <a:t>, we run the test cases on these events and use the </a:t>
            </a:r>
            <a:r>
              <a:rPr lang="en-US" b="1" dirty="0" smtClean="0"/>
              <a:t>right oracle for the right fault</a:t>
            </a:r>
            <a:r>
              <a:rPr lang="en-US" dirty="0" smtClean="0"/>
              <a:t>. This tells us which tests actually detect each regression and gives us the verified fault evidence.</a:t>
            </a:r>
          </a:p>
          <a:p>
            <a:r>
              <a:rPr lang="en-US" dirty="0" smtClean="0"/>
              <a:t>In </a:t>
            </a:r>
            <a:r>
              <a:rPr lang="en-US" b="1" dirty="0" smtClean="0"/>
              <a:t>Stage 4</a:t>
            </a:r>
            <a:r>
              <a:rPr lang="en-US" dirty="0" smtClean="0"/>
              <a:t>, this detection evidence is </a:t>
            </a:r>
            <a:r>
              <a:rPr lang="en-US" b="1" dirty="0" smtClean="0"/>
              <a:t>hidden from the selector</a:t>
            </a:r>
            <a:r>
              <a:rPr lang="en-US" dirty="0" smtClean="0"/>
              <a:t>. Using only </a:t>
            </a:r>
            <a:r>
              <a:rPr lang="en-US" b="1" dirty="0" smtClean="0"/>
              <a:t>pre-execution information</a:t>
            </a:r>
            <a:r>
              <a:rPr lang="en-US" dirty="0" smtClean="0"/>
              <a:t>, our </a:t>
            </a:r>
            <a:r>
              <a:rPr lang="en-US" dirty="0" err="1" smtClean="0"/>
              <a:t>risk_score</a:t>
            </a:r>
            <a:r>
              <a:rPr lang="en-US" dirty="0" smtClean="0"/>
              <a:t> and five baselines rank the tests. After the ranking is fixed, we bring back the hidden labels and check which ranking detects the fault earlier under the </a:t>
            </a:r>
            <a:r>
              <a:rPr lang="en-US" b="1" dirty="0" smtClean="0"/>
              <a:t>same CPU-time budget</a:t>
            </a:r>
            <a:r>
              <a:rPr lang="en-US" dirty="0" smtClean="0"/>
              <a:t>.</a:t>
            </a:r>
          </a:p>
          <a:p>
            <a:r>
              <a:rPr lang="en-US" dirty="0" smtClean="0"/>
              <a:t>In </a:t>
            </a:r>
            <a:r>
              <a:rPr lang="en-US" b="1" dirty="0" smtClean="0"/>
              <a:t>Stage 5</a:t>
            </a:r>
            <a:r>
              <a:rPr lang="en-US" dirty="0" smtClean="0"/>
              <a:t>, we quantify that performance using metrics, and then apply the validity checks before accepting the results.</a:t>
            </a:r>
          </a:p>
          <a:p>
            <a:r>
              <a:rPr lang="en-US" dirty="0" smtClean="0"/>
              <a:t>Finally, the </a:t>
            </a:r>
            <a:r>
              <a:rPr lang="en-US" b="1" dirty="0" smtClean="0"/>
              <a:t>shared reproducibility and validity layer</a:t>
            </a:r>
            <a:r>
              <a:rPr lang="en-US" dirty="0" smtClean="0"/>
              <a:t> : we keep the environment, saved results, timing, temporal split, and evaluation rules consistent throughout the whole pipeline.”</a:t>
            </a:r>
          </a:p>
          <a:p>
            <a:endParaRPr lang="en-US" dirty="0" smtClean="0"/>
          </a:p>
          <a:p>
            <a:r>
              <a:rPr lang="en-US" dirty="0" smtClean="0"/>
              <a:t>Across all five stages, we use a shared reproducibility and validity layer to keep the environment, artifacts, timing, temporal split, and evaluation procedure consistent.</a:t>
            </a:r>
          </a:p>
          <a:p>
            <a:r>
              <a:rPr lang="en-US" dirty="0" smtClean="0"/>
              <a:t>So the overall flow is:</a:t>
            </a:r>
          </a:p>
          <a:p>
            <a:r>
              <a:rPr lang="en-US" b="1" dirty="0" smtClean="0"/>
              <a:t>Stage 1 = Prepare</a:t>
            </a:r>
            <a:r>
              <a:rPr lang="en-US" dirty="0" smtClean="0"/>
              <a:t/>
            </a:r>
            <a:br>
              <a:rPr lang="en-US" dirty="0" smtClean="0"/>
            </a:br>
            <a:r>
              <a:rPr lang="en-US" b="1" dirty="0" smtClean="0"/>
              <a:t>Stage 2 = Organize</a:t>
            </a:r>
            <a:r>
              <a:rPr lang="en-US" dirty="0" smtClean="0"/>
              <a:t/>
            </a:r>
            <a:br>
              <a:rPr lang="en-US" dirty="0" smtClean="0"/>
            </a:br>
            <a:r>
              <a:rPr lang="en-US" b="1" dirty="0" smtClean="0"/>
              <a:t>Stage 3 = Detect / Label</a:t>
            </a:r>
            <a:r>
              <a:rPr lang="en-US" dirty="0" smtClean="0"/>
              <a:t/>
            </a:r>
            <a:br>
              <a:rPr lang="en-US" dirty="0" smtClean="0"/>
            </a:br>
            <a:r>
              <a:rPr lang="en-US" b="1" dirty="0" smtClean="0"/>
              <a:t>Stage 4 = Rank &amp; Evaluate</a:t>
            </a:r>
            <a:r>
              <a:rPr lang="en-US" dirty="0" smtClean="0"/>
              <a:t/>
            </a:r>
            <a:br>
              <a:rPr lang="en-US" dirty="0" smtClean="0"/>
            </a:br>
            <a:r>
              <a:rPr lang="en-US" b="1" dirty="0" smtClean="0"/>
              <a:t>Stage 5 = Measure &amp; Validate</a:t>
            </a:r>
            <a:endParaRPr dirty="0"/>
          </a:p>
          <a:p>
            <a:r>
              <a:rPr dirty="0" err="1"/>
              <a:t>Mumkin</a:t>
            </a:r>
            <a:r>
              <a:rPr dirty="0"/>
              <a:t> examiner </a:t>
            </a:r>
            <a:r>
              <a:rPr dirty="0" err="1"/>
              <a:t>sawalat</a:t>
            </a:r>
            <a:r>
              <a:rPr dirty="0"/>
              <a:t>:</a:t>
            </a:r>
          </a:p>
          <a:p>
            <a:r>
              <a:rPr dirty="0"/>
              <a:t>S1: </a:t>
            </a:r>
            <a:r>
              <a:rPr dirty="0" err="1"/>
              <a:t>Paanch</a:t>
            </a:r>
            <a:r>
              <a:rPr dirty="0"/>
              <a:t> stages hi </a:t>
            </a:r>
            <a:r>
              <a:rPr dirty="0" err="1"/>
              <a:t>kyun</a:t>
            </a:r>
            <a:r>
              <a:rPr dirty="0"/>
              <a:t> — </a:t>
            </a:r>
            <a:r>
              <a:rPr dirty="0" err="1"/>
              <a:t>kya</a:t>
            </a:r>
            <a:r>
              <a:rPr dirty="0"/>
              <a:t> </a:t>
            </a:r>
            <a:r>
              <a:rPr dirty="0" err="1"/>
              <a:t>inmein</a:t>
            </a:r>
            <a:r>
              <a:rPr dirty="0"/>
              <a:t> se koi combine </a:t>
            </a:r>
            <a:r>
              <a:rPr dirty="0" err="1"/>
              <a:t>nahi</a:t>
            </a:r>
            <a:r>
              <a:rPr dirty="0"/>
              <a:t> ho </a:t>
            </a:r>
            <a:r>
              <a:rPr dirty="0" err="1"/>
              <a:t>sakte</a:t>
            </a:r>
            <a:r>
              <a:rPr dirty="0"/>
              <a:t> the?</a:t>
            </a:r>
          </a:p>
          <a:p>
            <a:r>
              <a:rPr dirty="0"/>
              <a:t>J1: </a:t>
            </a:r>
            <a:r>
              <a:rPr dirty="0" err="1"/>
              <a:t>Har</a:t>
            </a:r>
            <a:r>
              <a:rPr dirty="0"/>
              <a:t> stage </a:t>
            </a:r>
            <a:r>
              <a:rPr dirty="0" err="1"/>
              <a:t>ek</a:t>
            </a:r>
            <a:r>
              <a:rPr dirty="0"/>
              <a:t> </a:t>
            </a:r>
            <a:r>
              <a:rPr dirty="0" err="1"/>
              <a:t>alag</a:t>
            </a:r>
            <a:r>
              <a:rPr dirty="0"/>
              <a:t> concern handle </a:t>
            </a:r>
            <a:r>
              <a:rPr dirty="0" err="1"/>
              <a:t>karta</a:t>
            </a:r>
            <a:r>
              <a:rPr dirty="0"/>
              <a:t> </a:t>
            </a:r>
            <a:r>
              <a:rPr dirty="0" err="1"/>
              <a:t>hai</a:t>
            </a:r>
            <a:r>
              <a:rPr dirty="0"/>
              <a:t>: provenance (Stage 1), event/cohort construction (Stage 2), oracle matching (Stage 3), leakage-safe ranking (Stage 4), </a:t>
            </a:r>
            <a:r>
              <a:rPr dirty="0" err="1"/>
              <a:t>aur</a:t>
            </a:r>
            <a:r>
              <a:rPr dirty="0"/>
              <a:t> metrics/validity (Stage 5). </a:t>
            </a:r>
            <a:r>
              <a:rPr dirty="0" err="1"/>
              <a:t>Inhe</a:t>
            </a:r>
            <a:r>
              <a:rPr dirty="0"/>
              <a:t> separate </a:t>
            </a:r>
            <a:r>
              <a:rPr dirty="0" err="1"/>
              <a:t>rakhna</a:t>
            </a:r>
            <a:r>
              <a:rPr dirty="0"/>
              <a:t> </a:t>
            </a:r>
            <a:r>
              <a:rPr dirty="0" err="1"/>
              <a:t>isi</a:t>
            </a:r>
            <a:r>
              <a:rPr dirty="0"/>
              <a:t> </a:t>
            </a:r>
            <a:r>
              <a:rPr dirty="0" err="1"/>
              <a:t>liye</a:t>
            </a:r>
            <a:r>
              <a:rPr dirty="0"/>
              <a:t> </a:t>
            </a:r>
            <a:r>
              <a:rPr dirty="0" err="1"/>
              <a:t>zaroori</a:t>
            </a:r>
            <a:r>
              <a:rPr dirty="0"/>
              <a:t> </a:t>
            </a:r>
            <a:r>
              <a:rPr dirty="0" err="1"/>
              <a:t>hai</a:t>
            </a:r>
            <a:r>
              <a:rPr dirty="0"/>
              <a:t> </a:t>
            </a:r>
            <a:r>
              <a:rPr dirty="0" err="1"/>
              <a:t>taake</a:t>
            </a:r>
            <a:r>
              <a:rPr dirty="0"/>
              <a:t> </a:t>
            </a:r>
            <a:r>
              <a:rPr dirty="0" err="1"/>
              <a:t>har</a:t>
            </a:r>
            <a:r>
              <a:rPr dirty="0"/>
              <a:t> stage independently audit </a:t>
            </a:r>
            <a:r>
              <a:rPr dirty="0" err="1"/>
              <a:t>aur</a:t>
            </a:r>
            <a:r>
              <a:rPr dirty="0"/>
              <a:t> verify </a:t>
            </a:r>
            <a:r>
              <a:rPr dirty="0" err="1"/>
              <a:t>ki</a:t>
            </a:r>
            <a:r>
              <a:rPr dirty="0"/>
              <a:t> ja sake.</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'cart' </a:t>
            </a:r>
            <a:r>
              <a:rPr dirty="0" err="1"/>
              <a:t>ek</a:t>
            </a:r>
            <a:r>
              <a:rPr dirty="0"/>
              <a:t> catchy acronym </a:t>
            </a:r>
            <a:r>
              <a:rPr dirty="0" err="1"/>
              <a:t>lagta</a:t>
            </a:r>
            <a:r>
              <a:rPr dirty="0"/>
              <a:t> </a:t>
            </a:r>
            <a:r>
              <a:rPr dirty="0" err="1"/>
              <a:t>hai</a:t>
            </a:r>
            <a:r>
              <a:rPr dirty="0"/>
              <a:t> — </a:t>
            </a:r>
            <a:r>
              <a:rPr dirty="0" err="1"/>
              <a:t>kya</a:t>
            </a:r>
            <a:r>
              <a:rPr dirty="0"/>
              <a:t> ye </a:t>
            </a:r>
            <a:r>
              <a:rPr dirty="0" err="1"/>
              <a:t>sirf</a:t>
            </a:r>
            <a:r>
              <a:rPr dirty="0"/>
              <a:t> marketing </a:t>
            </a:r>
            <a:r>
              <a:rPr dirty="0" err="1"/>
              <a:t>hai</a:t>
            </a:r>
            <a:r>
              <a:rPr dirty="0"/>
              <a:t> </a:t>
            </a:r>
            <a:r>
              <a:rPr dirty="0" err="1"/>
              <a:t>ya</a:t>
            </a:r>
            <a:r>
              <a:rPr dirty="0"/>
              <a:t> </a:t>
            </a:r>
            <a:r>
              <a:rPr dirty="0" err="1"/>
              <a:t>iski</a:t>
            </a:r>
            <a:r>
              <a:rPr dirty="0"/>
              <a:t> koi technical necessity </a:t>
            </a:r>
            <a:r>
              <a:rPr dirty="0" err="1"/>
              <a:t>hai</a:t>
            </a:r>
            <a:r>
              <a:rPr dirty="0"/>
              <a:t>?</a:t>
            </a:r>
          </a:p>
          <a:p>
            <a:r>
              <a:rPr dirty="0"/>
              <a:t>J: 'cart' </a:t>
            </a:r>
            <a:r>
              <a:rPr dirty="0" err="1"/>
              <a:t>hamari</a:t>
            </a:r>
            <a:r>
              <a:rPr dirty="0"/>
              <a:t> methodology </a:t>
            </a:r>
            <a:r>
              <a:rPr dirty="0" err="1"/>
              <a:t>ke</a:t>
            </a:r>
            <a:r>
              <a:rPr dirty="0"/>
              <a:t> </a:t>
            </a:r>
            <a:r>
              <a:rPr dirty="0" err="1"/>
              <a:t>paanch</a:t>
            </a:r>
            <a:r>
              <a:rPr dirty="0"/>
              <a:t> stages </a:t>
            </a:r>
            <a:r>
              <a:rPr dirty="0" err="1"/>
              <a:t>ko</a:t>
            </a:r>
            <a:r>
              <a:rPr dirty="0"/>
              <a:t> concisely refer </a:t>
            </a:r>
            <a:r>
              <a:rPr dirty="0" err="1"/>
              <a:t>karne</a:t>
            </a:r>
            <a:r>
              <a:rPr dirty="0"/>
              <a:t> </a:t>
            </a:r>
            <a:r>
              <a:rPr dirty="0" err="1"/>
              <a:t>ke</a:t>
            </a:r>
            <a:r>
              <a:rPr dirty="0"/>
              <a:t> </a:t>
            </a:r>
            <a:r>
              <a:rPr dirty="0" err="1"/>
              <a:t>liye</a:t>
            </a:r>
            <a:r>
              <a:rPr dirty="0"/>
              <a:t> </a:t>
            </a:r>
            <a:r>
              <a:rPr dirty="0" err="1"/>
              <a:t>hai</a:t>
            </a:r>
            <a:r>
              <a:rPr dirty="0"/>
              <a:t> — koi marketing intent </a:t>
            </a:r>
            <a:r>
              <a:rPr dirty="0" err="1"/>
              <a:t>nahi</a:t>
            </a:r>
            <a:r>
              <a:rPr dirty="0"/>
              <a:t>, </a:t>
            </a:r>
            <a:r>
              <a:rPr dirty="0" err="1"/>
              <a:t>sirf</a:t>
            </a:r>
            <a:r>
              <a:rPr dirty="0"/>
              <a:t> presentation </a:t>
            </a:r>
            <a:r>
              <a:rPr dirty="0" err="1"/>
              <a:t>aur</a:t>
            </a:r>
            <a:r>
              <a:rPr dirty="0"/>
              <a:t> thesis </a:t>
            </a:r>
            <a:r>
              <a:rPr dirty="0" err="1"/>
              <a:t>mein</a:t>
            </a:r>
            <a:r>
              <a:rPr dirty="0"/>
              <a:t> consistent naming </a:t>
            </a:r>
            <a:r>
              <a:rPr dirty="0" err="1"/>
              <a:t>ke</a:t>
            </a:r>
            <a:r>
              <a:rPr dirty="0"/>
              <a:t> </a:t>
            </a:r>
            <a:r>
              <a:rPr dirty="0" err="1"/>
              <a:t>liye</a:t>
            </a:r>
            <a:r>
              <a:rPr dirty="0"/>
              <a:t> </a:t>
            </a:r>
            <a:r>
              <a:rPr dirty="0" err="1"/>
              <a:t>hai</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smtClean="0"/>
              <a:t>Stage 1 prepares the test cases in a reproducible way.</a:t>
            </a:r>
            <a:br>
              <a:rPr lang="en-US" dirty="0" smtClean="0"/>
            </a:br>
            <a:r>
              <a:rPr lang="en-US" dirty="0" smtClean="0"/>
              <a:t>We fix the exact </a:t>
            </a:r>
            <a:r>
              <a:rPr lang="en-US" dirty="0" err="1" smtClean="0"/>
              <a:t>transpiler</a:t>
            </a:r>
            <a:r>
              <a:rPr lang="en-US" dirty="0" smtClean="0"/>
              <a:t> revision, software environment, and dependencies, and record the provenance of each test case.</a:t>
            </a:r>
            <a:br>
              <a:rPr lang="en-US" dirty="0" smtClean="0"/>
            </a:br>
            <a:r>
              <a:rPr lang="en-US" dirty="0" smtClean="0"/>
              <a:t>We also instrument the </a:t>
            </a:r>
            <a:r>
              <a:rPr lang="en-US" dirty="0" err="1" smtClean="0"/>
              <a:t>transpiler</a:t>
            </a:r>
            <a:r>
              <a:rPr lang="en-US" dirty="0" smtClean="0"/>
              <a:t> to record </a:t>
            </a:r>
            <a:r>
              <a:rPr lang="en-US" b="1" dirty="0" smtClean="0"/>
              <a:t>which passes actually execute</a:t>
            </a:r>
            <a:r>
              <a:rPr lang="en-US" dirty="0" smtClean="0"/>
              <a:t>, rather than guessing them from the test name.</a:t>
            </a:r>
            <a:br>
              <a:rPr lang="en-US" dirty="0" smtClean="0"/>
            </a:br>
            <a:r>
              <a:rPr lang="en-US" dirty="0" smtClean="0"/>
              <a:t>The output is a manifest of the experiment setup and a pass-execution trace for every test.</a:t>
            </a:r>
          </a:p>
          <a:p>
            <a:r>
              <a:rPr lang="en-US" dirty="0" smtClean="0"/>
              <a:t>Memory: </a:t>
            </a:r>
            <a:r>
              <a:rPr lang="en-US" b="1" dirty="0" smtClean="0"/>
              <a:t>Setup → Source → Actual passes → Save</a:t>
            </a:r>
          </a:p>
          <a:p>
            <a:endParaRPr lang="en-US" b="1" dirty="0" smtClean="0"/>
          </a:p>
          <a:p>
            <a:r>
              <a:rPr lang="en-US" b="1" dirty="0" smtClean="0"/>
              <a:t>Manifest = </a:t>
            </a:r>
            <a:r>
              <a:rPr lang="en-US" dirty="0" err="1" smtClean="0"/>
              <a:t>ek</a:t>
            </a:r>
            <a:r>
              <a:rPr lang="en-US" dirty="0" smtClean="0"/>
              <a:t> fixed record/list </a:t>
            </a:r>
            <a:r>
              <a:rPr lang="en-US" dirty="0" err="1" smtClean="0"/>
              <a:t>jisme</a:t>
            </a:r>
            <a:r>
              <a:rPr lang="en-US" dirty="0" smtClean="0"/>
              <a:t> experiment </a:t>
            </a:r>
            <a:r>
              <a:rPr lang="en-US" dirty="0" err="1" smtClean="0"/>
              <a:t>ki</a:t>
            </a:r>
            <a:r>
              <a:rPr lang="en-US" dirty="0" smtClean="0"/>
              <a:t> important details </a:t>
            </a:r>
          </a:p>
          <a:p>
            <a:r>
              <a:rPr lang="en-US" b="1" dirty="0" smtClean="0"/>
              <a:t>Provenance =</a:t>
            </a:r>
            <a:r>
              <a:rPr lang="en-US" b="1" baseline="0" dirty="0" smtClean="0"/>
              <a:t> </a:t>
            </a:r>
            <a:r>
              <a:rPr lang="en-US" dirty="0" smtClean="0"/>
              <a:t>source and history</a:t>
            </a:r>
            <a:endParaRPr b="1" dirty="0"/>
          </a:p>
          <a:p>
            <a:r>
              <a:rPr dirty="0" err="1"/>
              <a:t>Mumkin</a:t>
            </a:r>
            <a:r>
              <a:rPr dirty="0"/>
              <a:t> examiner </a:t>
            </a:r>
            <a:r>
              <a:rPr dirty="0" err="1"/>
              <a:t>sawalat</a:t>
            </a:r>
            <a:r>
              <a:rPr dirty="0"/>
              <a:t>:</a:t>
            </a:r>
          </a:p>
          <a:p>
            <a:r>
              <a:rPr dirty="0"/>
              <a:t>S1: Ye </a:t>
            </a:r>
            <a:r>
              <a:rPr dirty="0" err="1"/>
              <a:t>kaise</a:t>
            </a:r>
            <a:r>
              <a:rPr dirty="0"/>
              <a:t> ensure </a:t>
            </a:r>
            <a:r>
              <a:rPr dirty="0" err="1"/>
              <a:t>karte</a:t>
            </a:r>
            <a:r>
              <a:rPr dirty="0"/>
              <a:t> </a:t>
            </a:r>
            <a:r>
              <a:rPr dirty="0" err="1"/>
              <a:t>hain</a:t>
            </a:r>
            <a:r>
              <a:rPr dirty="0"/>
              <a:t> </a:t>
            </a:r>
            <a:r>
              <a:rPr dirty="0" err="1"/>
              <a:t>ke</a:t>
            </a:r>
            <a:r>
              <a:rPr dirty="0"/>
              <a:t> 'jo pass stages actually execute hui, wo observed </a:t>
            </a:r>
            <a:r>
              <a:rPr dirty="0" err="1"/>
              <a:t>hain</a:t>
            </a:r>
            <a:r>
              <a:rPr dirty="0"/>
              <a:t>, filenames se inferred </a:t>
            </a:r>
            <a:r>
              <a:rPr dirty="0" err="1"/>
              <a:t>nahi</a:t>
            </a:r>
            <a:r>
              <a:rPr dirty="0"/>
              <a:t>' — actual mechanism </a:t>
            </a:r>
            <a:r>
              <a:rPr dirty="0" err="1"/>
              <a:t>kya</a:t>
            </a:r>
            <a:r>
              <a:rPr dirty="0"/>
              <a:t> </a:t>
            </a:r>
            <a:r>
              <a:rPr dirty="0" err="1"/>
              <a:t>hai</a:t>
            </a:r>
            <a:r>
              <a:rPr dirty="0"/>
              <a:t>?</a:t>
            </a:r>
          </a:p>
          <a:p>
            <a:r>
              <a:rPr dirty="0"/>
              <a:t>J1: Hum </a:t>
            </a:r>
            <a:r>
              <a:rPr dirty="0" err="1"/>
              <a:t>transpilation</a:t>
            </a:r>
            <a:r>
              <a:rPr dirty="0"/>
              <a:t> process </a:t>
            </a:r>
            <a:r>
              <a:rPr dirty="0" err="1"/>
              <a:t>ko</a:t>
            </a:r>
            <a:r>
              <a:rPr dirty="0"/>
              <a:t> directly instrument </a:t>
            </a:r>
            <a:r>
              <a:rPr dirty="0" err="1"/>
              <a:t>karte</a:t>
            </a:r>
            <a:r>
              <a:rPr dirty="0"/>
              <a:t> </a:t>
            </a:r>
            <a:r>
              <a:rPr dirty="0" err="1"/>
              <a:t>hain</a:t>
            </a:r>
            <a:r>
              <a:rPr dirty="0"/>
              <a:t> </a:t>
            </a:r>
            <a:r>
              <a:rPr dirty="0" err="1"/>
              <a:t>taake</a:t>
            </a:r>
            <a:r>
              <a:rPr dirty="0"/>
              <a:t> </a:t>
            </a:r>
            <a:r>
              <a:rPr dirty="0" err="1"/>
              <a:t>har</a:t>
            </a:r>
            <a:r>
              <a:rPr dirty="0"/>
              <a:t> pass </a:t>
            </a:r>
            <a:r>
              <a:rPr dirty="0" err="1"/>
              <a:t>ka</a:t>
            </a:r>
            <a:r>
              <a:rPr dirty="0"/>
              <a:t> execution trace record ho, filenames </a:t>
            </a:r>
            <a:r>
              <a:rPr dirty="0" err="1"/>
              <a:t>ya</a:t>
            </a:r>
            <a:r>
              <a:rPr dirty="0"/>
              <a:t> naming conventions par rely </a:t>
            </a:r>
            <a:r>
              <a:rPr dirty="0" err="1"/>
              <a:t>nahi</a:t>
            </a:r>
            <a:r>
              <a:rPr dirty="0"/>
              <a:t> </a:t>
            </a:r>
            <a:r>
              <a:rPr dirty="0" err="1"/>
              <a:t>karte</a:t>
            </a:r>
            <a:r>
              <a:rPr dirty="0"/>
              <a:t>. Ye </a:t>
            </a:r>
            <a:r>
              <a:rPr dirty="0" err="1"/>
              <a:t>ek</a:t>
            </a:r>
            <a:r>
              <a:rPr dirty="0"/>
              <a:t> implementation-level guarantee </a:t>
            </a:r>
            <a:r>
              <a:rPr dirty="0" err="1"/>
              <a:t>hai</a:t>
            </a:r>
            <a:r>
              <a:rPr dirty="0"/>
              <a:t> jo Stage 1 </a:t>
            </a:r>
            <a:r>
              <a:rPr dirty="0" err="1"/>
              <a:t>ka</a:t>
            </a:r>
            <a:r>
              <a:rPr dirty="0"/>
              <a:t> core output </a:t>
            </a:r>
            <a:r>
              <a:rPr dirty="0" err="1"/>
              <a:t>hai</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Agar sab </a:t>
            </a:r>
            <a:r>
              <a:rPr dirty="0" err="1"/>
              <a:t>kuch</a:t>
            </a:r>
            <a:r>
              <a:rPr dirty="0"/>
              <a:t> </a:t>
            </a:r>
            <a:r>
              <a:rPr dirty="0" err="1"/>
              <a:t>itna</a:t>
            </a:r>
            <a:r>
              <a:rPr dirty="0"/>
              <a:t> carefully 'pinned' </a:t>
            </a:r>
            <a:r>
              <a:rPr dirty="0" err="1"/>
              <a:t>aur</a:t>
            </a:r>
            <a:r>
              <a:rPr dirty="0"/>
              <a:t> 'reproducible' </a:t>
            </a:r>
            <a:r>
              <a:rPr dirty="0" err="1"/>
              <a:t>hai</a:t>
            </a:r>
            <a:r>
              <a:rPr dirty="0"/>
              <a:t>, to </a:t>
            </a:r>
            <a:r>
              <a:rPr dirty="0" err="1"/>
              <a:t>phir</a:t>
            </a:r>
            <a:r>
              <a:rPr dirty="0"/>
              <a:t> teen </a:t>
            </a:r>
            <a:r>
              <a:rPr dirty="0" err="1"/>
              <a:t>mein</a:t>
            </a:r>
            <a:r>
              <a:rPr dirty="0"/>
              <a:t> se do events </a:t>
            </a:r>
            <a:r>
              <a:rPr dirty="0" err="1"/>
              <a:t>kyun</a:t>
            </a:r>
            <a:r>
              <a:rPr dirty="0"/>
              <a:t> run </a:t>
            </a:r>
            <a:r>
              <a:rPr dirty="0" err="1"/>
              <a:t>nahi</a:t>
            </a:r>
            <a:r>
              <a:rPr dirty="0"/>
              <a:t> ho </a:t>
            </a:r>
            <a:r>
              <a:rPr dirty="0" err="1"/>
              <a:t>sakay</a:t>
            </a:r>
            <a:r>
              <a:rPr dirty="0"/>
              <a:t>?</a:t>
            </a:r>
          </a:p>
          <a:p>
            <a:r>
              <a:rPr dirty="0"/>
              <a:t>J: Reproducibility environment </a:t>
            </a:r>
            <a:r>
              <a:rPr dirty="0" err="1"/>
              <a:t>aur</a:t>
            </a:r>
            <a:r>
              <a:rPr dirty="0"/>
              <a:t> revision </a:t>
            </a:r>
            <a:r>
              <a:rPr dirty="0" err="1"/>
              <a:t>ko</a:t>
            </a:r>
            <a:r>
              <a:rPr dirty="0"/>
              <a:t> fix </a:t>
            </a:r>
            <a:r>
              <a:rPr dirty="0" err="1"/>
              <a:t>karne</a:t>
            </a:r>
            <a:r>
              <a:rPr dirty="0"/>
              <a:t> </a:t>
            </a:r>
            <a:r>
              <a:rPr dirty="0" err="1"/>
              <a:t>ke</a:t>
            </a:r>
            <a:r>
              <a:rPr dirty="0"/>
              <a:t> </a:t>
            </a:r>
            <a:r>
              <a:rPr dirty="0" err="1"/>
              <a:t>baare</a:t>
            </a:r>
            <a:r>
              <a:rPr dirty="0"/>
              <a:t> </a:t>
            </a:r>
            <a:r>
              <a:rPr dirty="0" err="1"/>
              <a:t>mein</a:t>
            </a:r>
            <a:r>
              <a:rPr dirty="0"/>
              <a:t> </a:t>
            </a:r>
            <a:r>
              <a:rPr dirty="0" err="1"/>
              <a:t>hai</a:t>
            </a:r>
            <a:r>
              <a:rPr dirty="0"/>
              <a:t>, </a:t>
            </a:r>
            <a:r>
              <a:rPr dirty="0" err="1"/>
              <a:t>lekin</a:t>
            </a:r>
            <a:r>
              <a:rPr dirty="0"/>
              <a:t> </a:t>
            </a:r>
            <a:r>
              <a:rPr dirty="0" err="1"/>
              <a:t>kuch</a:t>
            </a:r>
            <a:r>
              <a:rPr dirty="0"/>
              <a:t> events </a:t>
            </a:r>
            <a:r>
              <a:rPr dirty="0" err="1"/>
              <a:t>ko</a:t>
            </a:r>
            <a:r>
              <a:rPr dirty="0"/>
              <a:t> additional resources </a:t>
            </a:r>
            <a:r>
              <a:rPr dirty="0" err="1"/>
              <a:t>chahiye</a:t>
            </a:r>
            <a:r>
              <a:rPr dirty="0"/>
              <a:t> </a:t>
            </a:r>
            <a:r>
              <a:rPr dirty="0" err="1"/>
              <a:t>hote</a:t>
            </a:r>
            <a:r>
              <a:rPr dirty="0"/>
              <a:t> </a:t>
            </a:r>
            <a:r>
              <a:rPr dirty="0" err="1"/>
              <a:t>hain</a:t>
            </a:r>
            <a:r>
              <a:rPr dirty="0"/>
              <a:t> (</a:t>
            </a:r>
            <a:r>
              <a:rPr dirty="0" err="1"/>
              <a:t>jaise</a:t>
            </a:r>
            <a:r>
              <a:rPr dirty="0"/>
              <a:t> noisy hardware target </a:t>
            </a:r>
            <a:r>
              <a:rPr dirty="0" err="1"/>
              <a:t>ya</a:t>
            </a:r>
            <a:r>
              <a:rPr dirty="0"/>
              <a:t> specific input) jo </a:t>
            </a:r>
            <a:r>
              <a:rPr dirty="0" err="1"/>
              <a:t>abhi</a:t>
            </a:r>
            <a:r>
              <a:rPr dirty="0"/>
              <a:t> available </a:t>
            </a:r>
            <a:r>
              <a:rPr dirty="0" err="1"/>
              <a:t>nahi</a:t>
            </a:r>
            <a:r>
              <a:rPr dirty="0"/>
              <a:t> — ye pipeline </a:t>
            </a:r>
            <a:r>
              <a:rPr dirty="0" err="1"/>
              <a:t>ki</a:t>
            </a:r>
            <a:r>
              <a:rPr dirty="0"/>
              <a:t> reproducibility </a:t>
            </a:r>
            <a:r>
              <a:rPr dirty="0" err="1"/>
              <a:t>ko</a:t>
            </a:r>
            <a:r>
              <a:rPr dirty="0"/>
              <a:t> affect </a:t>
            </a:r>
            <a:r>
              <a:rPr dirty="0" err="1"/>
              <a:t>nahi</a:t>
            </a:r>
            <a:r>
              <a:rPr dirty="0"/>
              <a:t> </a:t>
            </a:r>
            <a:r>
              <a:rPr dirty="0" err="1"/>
              <a:t>karta</a:t>
            </a:r>
            <a:r>
              <a:rPr dirty="0"/>
              <a:t>, </a:t>
            </a:r>
            <a:r>
              <a:rPr dirty="0" err="1"/>
              <a:t>sirf</a:t>
            </a:r>
            <a:r>
              <a:rPr dirty="0"/>
              <a:t> un specific events </a:t>
            </a:r>
            <a:r>
              <a:rPr dirty="0" err="1"/>
              <a:t>ke</a:t>
            </a:r>
            <a:r>
              <a:rPr dirty="0"/>
              <a:t> execution </a:t>
            </a:r>
            <a:r>
              <a:rPr dirty="0" err="1"/>
              <a:t>ko</a:t>
            </a:r>
            <a:r>
              <a:rPr dirty="0"/>
              <a:t> delay </a:t>
            </a:r>
            <a:r>
              <a:rPr dirty="0" err="1"/>
              <a:t>karta</a:t>
            </a:r>
            <a:r>
              <a:rPr dirty="0"/>
              <a:t> </a:t>
            </a:r>
            <a:r>
              <a:rPr dirty="0" err="1"/>
              <a:t>hai</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smtClean="0"/>
              <a:t>Stage 2 organizes the historical regression events.</a:t>
            </a:r>
            <a:br>
              <a:rPr lang="en-US" dirty="0" smtClean="0"/>
            </a:br>
            <a:r>
              <a:rPr lang="en-US" dirty="0" smtClean="0"/>
              <a:t>Using PRs, issues, and release information, we construct meaningful change events rather than treating every commit separately.</a:t>
            </a:r>
            <a:br>
              <a:rPr lang="en-US" dirty="0" smtClean="0"/>
            </a:br>
            <a:r>
              <a:rPr lang="en-US" dirty="0" smtClean="0"/>
              <a:t>Each event belongs to </a:t>
            </a:r>
            <a:r>
              <a:rPr lang="en-US" b="1" dirty="0" smtClean="0"/>
              <a:t>one cohort</a:t>
            </a:r>
            <a:r>
              <a:rPr lang="en-US" dirty="0" smtClean="0"/>
              <a:t>: forward regression, fix boundary, or controlled mutation.</a:t>
            </a:r>
            <a:br>
              <a:rPr lang="en-US" dirty="0" smtClean="0"/>
            </a:br>
            <a:r>
              <a:rPr lang="en-US" dirty="0" smtClean="0"/>
              <a:t>We also keep the events </a:t>
            </a:r>
            <a:r>
              <a:rPr lang="en-US" b="1" dirty="0" smtClean="0"/>
              <a:t>temporally separated</a:t>
            </a:r>
            <a:r>
              <a:rPr lang="en-US" dirty="0" smtClean="0"/>
              <a:t>, so information from a future event cannot influence an earlier decision.</a:t>
            </a:r>
            <a:br>
              <a:rPr lang="en-US" dirty="0" smtClean="0"/>
            </a:br>
            <a:r>
              <a:rPr lang="en-US" dirty="0" smtClean="0"/>
              <a:t>The output is an organized set of events with a cohort and fault-type label.</a:t>
            </a:r>
          </a:p>
          <a:p>
            <a:r>
              <a:rPr lang="en-US" b="1" dirty="0" smtClean="0"/>
              <a:t>EVENT- COHORT</a:t>
            </a:r>
            <a:r>
              <a:rPr lang="en-US" b="1" baseline="0" dirty="0" smtClean="0"/>
              <a:t> - FAULT TYPE</a:t>
            </a:r>
            <a:endParaRPr b="1" dirty="0"/>
          </a:p>
          <a:p>
            <a:r>
              <a:rPr dirty="0" err="1"/>
              <a:t>Mumkin</a:t>
            </a:r>
            <a:r>
              <a:rPr dirty="0"/>
              <a:t> examiner </a:t>
            </a:r>
            <a:r>
              <a:rPr dirty="0" err="1"/>
              <a:t>sawalat</a:t>
            </a:r>
            <a:r>
              <a:rPr dirty="0"/>
              <a:t>:</a:t>
            </a:r>
          </a:p>
          <a:p>
            <a:r>
              <a:rPr dirty="0"/>
              <a:t>S1: </a:t>
            </a:r>
            <a:r>
              <a:rPr dirty="0" err="1"/>
              <a:t>Ek</a:t>
            </a:r>
            <a:r>
              <a:rPr dirty="0"/>
              <a:t> event </a:t>
            </a:r>
            <a:r>
              <a:rPr dirty="0" err="1"/>
              <a:t>ka</a:t>
            </a:r>
            <a:r>
              <a:rPr dirty="0"/>
              <a:t> cohort </a:t>
            </a:r>
            <a:r>
              <a:rPr dirty="0" err="1"/>
              <a:t>kaise</a:t>
            </a:r>
            <a:r>
              <a:rPr dirty="0"/>
              <a:t> decide </a:t>
            </a:r>
            <a:r>
              <a:rPr dirty="0" err="1"/>
              <a:t>hota</a:t>
            </a:r>
            <a:r>
              <a:rPr dirty="0"/>
              <a:t> </a:t>
            </a:r>
            <a:r>
              <a:rPr dirty="0" err="1"/>
              <a:t>hai</a:t>
            </a:r>
            <a:r>
              <a:rPr dirty="0"/>
              <a:t> — agar wo </a:t>
            </a:r>
            <a:r>
              <a:rPr dirty="0" err="1"/>
              <a:t>ek</a:t>
            </a:r>
            <a:r>
              <a:rPr dirty="0"/>
              <a:t> se </a:t>
            </a:r>
            <a:r>
              <a:rPr dirty="0" err="1"/>
              <a:t>zyada</a:t>
            </a:r>
            <a:r>
              <a:rPr dirty="0"/>
              <a:t> cohort </a:t>
            </a:r>
            <a:r>
              <a:rPr dirty="0" err="1"/>
              <a:t>mein</a:t>
            </a:r>
            <a:r>
              <a:rPr dirty="0"/>
              <a:t> fit ho </a:t>
            </a:r>
            <a:r>
              <a:rPr dirty="0" err="1"/>
              <a:t>sakta</a:t>
            </a:r>
            <a:r>
              <a:rPr dirty="0"/>
              <a:t> ho to?</a:t>
            </a:r>
          </a:p>
          <a:p>
            <a:r>
              <a:rPr dirty="0"/>
              <a:t>J1: </a:t>
            </a:r>
            <a:r>
              <a:rPr dirty="0" err="1"/>
              <a:t>Har</a:t>
            </a:r>
            <a:r>
              <a:rPr dirty="0"/>
              <a:t> event </a:t>
            </a:r>
            <a:r>
              <a:rPr dirty="0" err="1"/>
              <a:t>ko</a:t>
            </a:r>
            <a:r>
              <a:rPr dirty="0"/>
              <a:t> exactly </a:t>
            </a:r>
            <a:r>
              <a:rPr dirty="0" err="1"/>
              <a:t>ek</a:t>
            </a:r>
            <a:r>
              <a:rPr dirty="0"/>
              <a:t> cohort assign </a:t>
            </a:r>
            <a:r>
              <a:rPr dirty="0" err="1"/>
              <a:t>kiya</a:t>
            </a:r>
            <a:r>
              <a:rPr dirty="0"/>
              <a:t> </a:t>
            </a:r>
            <a:r>
              <a:rPr dirty="0" err="1"/>
              <a:t>jata</a:t>
            </a:r>
            <a:r>
              <a:rPr dirty="0"/>
              <a:t> </a:t>
            </a:r>
            <a:r>
              <a:rPr dirty="0" err="1"/>
              <a:t>hai</a:t>
            </a:r>
            <a:r>
              <a:rPr dirty="0"/>
              <a:t> </a:t>
            </a:r>
            <a:r>
              <a:rPr dirty="0" err="1"/>
              <a:t>uski</a:t>
            </a:r>
            <a:r>
              <a:rPr dirty="0"/>
              <a:t> fault-type </a:t>
            </a:r>
            <a:r>
              <a:rPr dirty="0" err="1"/>
              <a:t>aur</a:t>
            </a:r>
            <a:r>
              <a:rPr dirty="0"/>
              <a:t> timing </a:t>
            </a:r>
            <a:r>
              <a:rPr dirty="0" err="1"/>
              <a:t>ke</a:t>
            </a:r>
            <a:r>
              <a:rPr dirty="0"/>
              <a:t> </a:t>
            </a:r>
            <a:r>
              <a:rPr dirty="0" err="1"/>
              <a:t>hisab</a:t>
            </a:r>
            <a:r>
              <a:rPr dirty="0"/>
              <a:t> se — agar ambiguity ho, to event </a:t>
            </a:r>
            <a:r>
              <a:rPr dirty="0" err="1"/>
              <a:t>ko</a:t>
            </a:r>
            <a:r>
              <a:rPr dirty="0"/>
              <a:t> us cohort </a:t>
            </a:r>
            <a:r>
              <a:rPr dirty="0" err="1"/>
              <a:t>mein</a:t>
            </a:r>
            <a:r>
              <a:rPr dirty="0"/>
              <a:t> </a:t>
            </a:r>
            <a:r>
              <a:rPr dirty="0" err="1"/>
              <a:t>rakha</a:t>
            </a:r>
            <a:r>
              <a:rPr dirty="0"/>
              <a:t> </a:t>
            </a:r>
            <a:r>
              <a:rPr dirty="0" err="1"/>
              <a:t>jata</a:t>
            </a:r>
            <a:r>
              <a:rPr dirty="0"/>
              <a:t> </a:t>
            </a:r>
            <a:r>
              <a:rPr dirty="0" err="1"/>
              <a:t>hai</a:t>
            </a:r>
            <a:r>
              <a:rPr dirty="0"/>
              <a:t> </a:t>
            </a:r>
            <a:r>
              <a:rPr dirty="0" err="1"/>
              <a:t>jahan</a:t>
            </a:r>
            <a:r>
              <a:rPr dirty="0"/>
              <a:t> </a:t>
            </a:r>
            <a:r>
              <a:rPr dirty="0" err="1"/>
              <a:t>uska</a:t>
            </a:r>
            <a:r>
              <a:rPr dirty="0"/>
              <a:t> primary fault-manifestation match </a:t>
            </a:r>
            <a:r>
              <a:rPr dirty="0" err="1"/>
              <a:t>karta</a:t>
            </a:r>
            <a:r>
              <a:rPr dirty="0"/>
              <a:t> </a:t>
            </a:r>
            <a:r>
              <a:rPr dirty="0" err="1"/>
              <a:t>hai</a:t>
            </a:r>
            <a:r>
              <a:rPr dirty="0"/>
              <a:t>, </a:t>
            </a:r>
            <a:r>
              <a:rPr dirty="0" err="1"/>
              <a:t>taake</a:t>
            </a:r>
            <a:r>
              <a:rPr dirty="0"/>
              <a:t> temporal separation clean </a:t>
            </a:r>
            <a:r>
              <a:rPr dirty="0" err="1"/>
              <a:t>rahe</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'Audited' set </a:t>
            </a:r>
            <a:r>
              <a:rPr dirty="0" err="1"/>
              <a:t>bolte</a:t>
            </a:r>
            <a:r>
              <a:rPr dirty="0"/>
              <a:t> </a:t>
            </a:r>
            <a:r>
              <a:rPr dirty="0" err="1"/>
              <a:t>hain</a:t>
            </a:r>
            <a:r>
              <a:rPr dirty="0"/>
              <a:t> </a:t>
            </a:r>
            <a:r>
              <a:rPr dirty="0" err="1"/>
              <a:t>lekin</a:t>
            </a:r>
            <a:r>
              <a:rPr dirty="0"/>
              <a:t> koi independent auditor to </a:t>
            </a:r>
            <a:r>
              <a:rPr dirty="0" err="1"/>
              <a:t>hai</a:t>
            </a:r>
            <a:r>
              <a:rPr dirty="0"/>
              <a:t> </a:t>
            </a:r>
            <a:r>
              <a:rPr dirty="0" err="1"/>
              <a:t>nahi</a:t>
            </a:r>
            <a:r>
              <a:rPr dirty="0"/>
              <a:t> — </a:t>
            </a:r>
            <a:r>
              <a:rPr dirty="0" err="1"/>
              <a:t>sirf</a:t>
            </a:r>
            <a:r>
              <a:rPr dirty="0"/>
              <a:t> </a:t>
            </a:r>
            <a:r>
              <a:rPr dirty="0" err="1"/>
              <a:t>khud</a:t>
            </a:r>
            <a:r>
              <a:rPr dirty="0"/>
              <a:t> hi </a:t>
            </a:r>
            <a:r>
              <a:rPr dirty="0" err="1"/>
              <a:t>apna</a:t>
            </a:r>
            <a:r>
              <a:rPr dirty="0"/>
              <a:t> </a:t>
            </a:r>
            <a:r>
              <a:rPr dirty="0" err="1"/>
              <a:t>kaam</a:t>
            </a:r>
            <a:r>
              <a:rPr dirty="0"/>
              <a:t> check </a:t>
            </a:r>
            <a:r>
              <a:rPr dirty="0" err="1"/>
              <a:t>kar</a:t>
            </a:r>
            <a:r>
              <a:rPr dirty="0"/>
              <a:t> </a:t>
            </a:r>
            <a:r>
              <a:rPr dirty="0" err="1"/>
              <a:t>rahe</a:t>
            </a:r>
            <a:r>
              <a:rPr dirty="0"/>
              <a:t> </a:t>
            </a:r>
            <a:r>
              <a:rPr dirty="0" err="1"/>
              <a:t>hain</a:t>
            </a:r>
            <a:r>
              <a:rPr dirty="0"/>
              <a:t>.</a:t>
            </a:r>
          </a:p>
          <a:p>
            <a:r>
              <a:rPr dirty="0"/>
              <a:t>J: </a:t>
            </a:r>
            <a:r>
              <a:rPr dirty="0" err="1"/>
              <a:t>Sahi</a:t>
            </a:r>
            <a:r>
              <a:rPr dirty="0"/>
              <a:t> </a:t>
            </a:r>
            <a:r>
              <a:rPr dirty="0" err="1"/>
              <a:t>hai</a:t>
            </a:r>
            <a:r>
              <a:rPr dirty="0"/>
              <a:t>, ye self-audit </a:t>
            </a:r>
            <a:r>
              <a:rPr dirty="0" err="1"/>
              <a:t>hai</a:t>
            </a:r>
            <a:r>
              <a:rPr dirty="0"/>
              <a:t>, external audit </a:t>
            </a:r>
            <a:r>
              <a:rPr dirty="0" err="1"/>
              <a:t>nahi</a:t>
            </a:r>
            <a:r>
              <a:rPr dirty="0"/>
              <a:t> — </a:t>
            </a:r>
            <a:r>
              <a:rPr dirty="0" err="1"/>
              <a:t>lekin</a:t>
            </a:r>
            <a:r>
              <a:rPr dirty="0"/>
              <a:t> traceability (PRs, issues, release notes se) is </a:t>
            </a:r>
            <a:r>
              <a:rPr dirty="0" err="1"/>
              <a:t>tarah</a:t>
            </a:r>
            <a:r>
              <a:rPr dirty="0"/>
              <a:t> </a:t>
            </a:r>
            <a:r>
              <a:rPr dirty="0" err="1"/>
              <a:t>ki</a:t>
            </a:r>
            <a:r>
              <a:rPr dirty="0"/>
              <a:t> </a:t>
            </a:r>
            <a:r>
              <a:rPr dirty="0" err="1"/>
              <a:t>hai</a:t>
            </a:r>
            <a:r>
              <a:rPr dirty="0"/>
              <a:t> </a:t>
            </a:r>
            <a:r>
              <a:rPr dirty="0" err="1"/>
              <a:t>ke</a:t>
            </a:r>
            <a:r>
              <a:rPr dirty="0"/>
              <a:t> koi </a:t>
            </a:r>
            <a:r>
              <a:rPr dirty="0" err="1"/>
              <a:t>bhi</a:t>
            </a:r>
            <a:r>
              <a:rPr dirty="0"/>
              <a:t> third-party independently verify </a:t>
            </a:r>
            <a:r>
              <a:rPr dirty="0" err="1"/>
              <a:t>kar</a:t>
            </a:r>
            <a:r>
              <a:rPr dirty="0"/>
              <a:t> </a:t>
            </a:r>
            <a:r>
              <a:rPr dirty="0" err="1"/>
              <a:t>sakta</a:t>
            </a:r>
            <a:r>
              <a:rPr dirty="0"/>
              <a:t> </a:t>
            </a:r>
            <a:r>
              <a:rPr dirty="0" err="1"/>
              <a:t>hai</a:t>
            </a:r>
            <a:r>
              <a:rPr dirty="0"/>
              <a:t>, jo transparency </a:t>
            </a:r>
            <a:r>
              <a:rPr dirty="0" err="1"/>
              <a:t>deta</a:t>
            </a:r>
            <a:r>
              <a:rPr dirty="0"/>
              <a:t> </a:t>
            </a:r>
            <a:r>
              <a:rPr dirty="0" err="1"/>
              <a:t>hai</a:t>
            </a:r>
            <a:r>
              <a:rPr dirty="0"/>
              <a:t> </a:t>
            </a:r>
            <a:r>
              <a:rPr dirty="0" err="1"/>
              <a:t>chahe</a:t>
            </a:r>
            <a:r>
              <a:rPr dirty="0"/>
              <a:t> formal external audit </a:t>
            </a:r>
            <a:r>
              <a:rPr dirty="0" err="1"/>
              <a:t>na</a:t>
            </a:r>
            <a:r>
              <a:rPr dirty="0"/>
              <a:t> ho.</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smtClean="0"/>
              <a:t>Stage 3 verifies the faults.</a:t>
            </a:r>
            <a:br>
              <a:rPr lang="en-US" dirty="0" smtClean="0"/>
            </a:br>
            <a:r>
              <a:rPr lang="en-US" dirty="0" smtClean="0"/>
              <a:t>We run the prepared test cases on the regression events and check whether the reported fault can actually be observed.</a:t>
            </a:r>
            <a:br>
              <a:rPr lang="en-US" dirty="0" smtClean="0"/>
            </a:br>
            <a:r>
              <a:rPr lang="en-US" dirty="0" smtClean="0"/>
              <a:t>For small circuits, we can use exact equivalence checking; as circuits grow, we move to sampled or structural checks.</a:t>
            </a:r>
            <a:br>
              <a:rPr lang="en-US" dirty="0" smtClean="0"/>
            </a:br>
            <a:r>
              <a:rPr lang="en-US" dirty="0" smtClean="0"/>
              <a:t>We then use </a:t>
            </a:r>
            <a:r>
              <a:rPr lang="en-US" b="1" dirty="0" smtClean="0"/>
              <a:t>the right oracle for the right fault</a:t>
            </a:r>
            <a:r>
              <a:rPr lang="en-US" dirty="0" smtClean="0"/>
              <a:t>—for example, a contract oracle for metadata faults or repeated-run checks for non-determinism.</a:t>
            </a:r>
            <a:br>
              <a:rPr lang="en-US" dirty="0" smtClean="0"/>
            </a:br>
            <a:r>
              <a:rPr lang="en-US" dirty="0" smtClean="0"/>
              <a:t>The output is </a:t>
            </a:r>
            <a:r>
              <a:rPr lang="en-US" b="1" dirty="0" smtClean="0"/>
              <a:t>verified fault evidence</a:t>
            </a:r>
            <a:r>
              <a:rPr lang="en-US" dirty="0" smtClean="0"/>
              <a:t>, showing which tests expose which regression and through which fault channel.” </a:t>
            </a:r>
          </a:p>
          <a:p>
            <a:r>
              <a:rPr lang="en-US" dirty="0" smtClean="0"/>
              <a:t>Memory: </a:t>
            </a:r>
            <a:r>
              <a:rPr lang="en-US" b="1" dirty="0" smtClean="0"/>
              <a:t>Run tests → Right oracle → Confirm fault → Save evidence</a:t>
            </a:r>
            <a:endParaRPr lang="en-US" dirty="0" smtClean="0"/>
          </a:p>
          <a:p>
            <a:endParaRPr dirty="0"/>
          </a:p>
          <a:p>
            <a:r>
              <a:rPr dirty="0" err="1"/>
              <a:t>Mumkin</a:t>
            </a:r>
            <a:r>
              <a:rPr dirty="0"/>
              <a:t> examiner </a:t>
            </a:r>
            <a:r>
              <a:rPr dirty="0" err="1"/>
              <a:t>sawalat</a:t>
            </a:r>
            <a:r>
              <a:rPr dirty="0"/>
              <a:t>:</a:t>
            </a:r>
          </a:p>
          <a:p>
            <a:r>
              <a:rPr dirty="0"/>
              <a:t>S1: Exact equivalence se sampled/structural checks </a:t>
            </a:r>
            <a:r>
              <a:rPr dirty="0" err="1"/>
              <a:t>tak</a:t>
            </a:r>
            <a:r>
              <a:rPr dirty="0"/>
              <a:t> switch </a:t>
            </a:r>
            <a:r>
              <a:rPr dirty="0" err="1"/>
              <a:t>kis</a:t>
            </a:r>
            <a:r>
              <a:rPr dirty="0"/>
              <a:t> circuit-width par </a:t>
            </a:r>
            <a:r>
              <a:rPr dirty="0" err="1"/>
              <a:t>hota</a:t>
            </a:r>
            <a:r>
              <a:rPr dirty="0"/>
              <a:t> </a:t>
            </a:r>
            <a:r>
              <a:rPr dirty="0" err="1"/>
              <a:t>hai</a:t>
            </a:r>
            <a:r>
              <a:rPr dirty="0"/>
              <a:t>, </a:t>
            </a:r>
            <a:r>
              <a:rPr dirty="0" err="1"/>
              <a:t>aur</a:t>
            </a:r>
            <a:r>
              <a:rPr dirty="0"/>
              <a:t> ye threshold </a:t>
            </a:r>
            <a:r>
              <a:rPr dirty="0" err="1"/>
              <a:t>kyun</a:t>
            </a:r>
            <a:r>
              <a:rPr dirty="0"/>
              <a:t>?</a:t>
            </a:r>
          </a:p>
          <a:p>
            <a:r>
              <a:rPr dirty="0"/>
              <a:t>J1: </a:t>
            </a:r>
            <a:r>
              <a:rPr dirty="0" err="1"/>
              <a:t>Filhal</a:t>
            </a:r>
            <a:r>
              <a:rPr dirty="0"/>
              <a:t> exact equivalence 12 qubits </a:t>
            </a:r>
            <a:r>
              <a:rPr dirty="0" err="1"/>
              <a:t>tak</a:t>
            </a:r>
            <a:r>
              <a:rPr dirty="0"/>
              <a:t> use </a:t>
            </a:r>
            <a:r>
              <a:rPr dirty="0" err="1"/>
              <a:t>hoti</a:t>
            </a:r>
            <a:r>
              <a:rPr dirty="0"/>
              <a:t> </a:t>
            </a:r>
            <a:r>
              <a:rPr dirty="0" err="1"/>
              <a:t>hai</a:t>
            </a:r>
            <a:r>
              <a:rPr dirty="0"/>
              <a:t> (slide 40 par </a:t>
            </a:r>
            <a:r>
              <a:rPr dirty="0" err="1"/>
              <a:t>bataya</a:t>
            </a:r>
            <a:r>
              <a:rPr dirty="0"/>
              <a:t> </a:t>
            </a:r>
            <a:r>
              <a:rPr dirty="0" err="1"/>
              <a:t>gaya</a:t>
            </a:r>
            <a:r>
              <a:rPr dirty="0"/>
              <a:t> </a:t>
            </a:r>
            <a:r>
              <a:rPr dirty="0" err="1"/>
              <a:t>hai</a:t>
            </a:r>
            <a:r>
              <a:rPr dirty="0"/>
              <a:t>), </a:t>
            </a:r>
            <a:r>
              <a:rPr dirty="0" err="1"/>
              <a:t>kyunki</a:t>
            </a:r>
            <a:r>
              <a:rPr dirty="0"/>
              <a:t> us se </a:t>
            </a:r>
            <a:r>
              <a:rPr dirty="0" err="1"/>
              <a:t>aage</a:t>
            </a:r>
            <a:r>
              <a:rPr dirty="0"/>
              <a:t> exact simulation exponentially expensive ho </a:t>
            </a:r>
            <a:r>
              <a:rPr dirty="0" err="1"/>
              <a:t>jati</a:t>
            </a:r>
            <a:r>
              <a:rPr dirty="0"/>
              <a:t> </a:t>
            </a:r>
            <a:r>
              <a:rPr dirty="0" err="1"/>
              <a:t>hai</a:t>
            </a:r>
            <a:r>
              <a:rPr dirty="0"/>
              <a:t>. Us threshold </a:t>
            </a:r>
            <a:r>
              <a:rPr dirty="0" err="1"/>
              <a:t>ke</a:t>
            </a:r>
            <a:r>
              <a:rPr dirty="0"/>
              <a:t> </a:t>
            </a:r>
            <a:r>
              <a:rPr dirty="0" err="1"/>
              <a:t>baad</a:t>
            </a:r>
            <a:r>
              <a:rPr dirty="0"/>
              <a:t> structural </a:t>
            </a:r>
            <a:r>
              <a:rPr dirty="0" err="1"/>
              <a:t>ya</a:t>
            </a:r>
            <a:r>
              <a:rPr dirty="0"/>
              <a:t> sampled checks le </a:t>
            </a:r>
            <a:r>
              <a:rPr dirty="0" err="1"/>
              <a:t>lete</a:t>
            </a:r>
            <a:r>
              <a:rPr dirty="0"/>
              <a:t> </a:t>
            </a:r>
            <a:r>
              <a:rPr dirty="0" err="1"/>
              <a:t>hain</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'Ground-truth evidence' </a:t>
            </a:r>
            <a:r>
              <a:rPr dirty="0" err="1"/>
              <a:t>bolte</a:t>
            </a:r>
            <a:r>
              <a:rPr dirty="0"/>
              <a:t> </a:t>
            </a:r>
            <a:r>
              <a:rPr dirty="0" err="1"/>
              <a:t>hain</a:t>
            </a:r>
            <a:r>
              <a:rPr dirty="0"/>
              <a:t>, </a:t>
            </a:r>
            <a:r>
              <a:rPr dirty="0" err="1"/>
              <a:t>lekin</a:t>
            </a:r>
            <a:r>
              <a:rPr dirty="0"/>
              <a:t> agar </a:t>
            </a:r>
            <a:r>
              <a:rPr dirty="0" err="1"/>
              <a:t>aapka</a:t>
            </a:r>
            <a:r>
              <a:rPr dirty="0"/>
              <a:t> </a:t>
            </a:r>
            <a:r>
              <a:rPr dirty="0" err="1"/>
              <a:t>apna</a:t>
            </a:r>
            <a:r>
              <a:rPr dirty="0"/>
              <a:t> matched oracle hi </a:t>
            </a:r>
            <a:r>
              <a:rPr dirty="0" err="1"/>
              <a:t>galat</a:t>
            </a:r>
            <a:r>
              <a:rPr dirty="0"/>
              <a:t> ho to ground truth </a:t>
            </a:r>
            <a:r>
              <a:rPr dirty="0" err="1"/>
              <a:t>bhi</a:t>
            </a:r>
            <a:r>
              <a:rPr dirty="0"/>
              <a:t> </a:t>
            </a:r>
            <a:r>
              <a:rPr dirty="0" err="1"/>
              <a:t>galat</a:t>
            </a:r>
            <a:r>
              <a:rPr dirty="0"/>
              <a:t> </a:t>
            </a:r>
            <a:r>
              <a:rPr dirty="0" err="1"/>
              <a:t>hogi</a:t>
            </a:r>
            <a:r>
              <a:rPr dirty="0"/>
              <a:t> </a:t>
            </a:r>
            <a:r>
              <a:rPr dirty="0" err="1"/>
              <a:t>na</a:t>
            </a:r>
            <a:r>
              <a:rPr dirty="0"/>
              <a:t>?</a:t>
            </a:r>
          </a:p>
          <a:p>
            <a:r>
              <a:rPr dirty="0"/>
              <a:t>J: Ground truth manually cross-verify </a:t>
            </a:r>
            <a:r>
              <a:rPr dirty="0" err="1"/>
              <a:t>ki</a:t>
            </a:r>
            <a:r>
              <a:rPr dirty="0"/>
              <a:t> </a:t>
            </a:r>
            <a:r>
              <a:rPr dirty="0" err="1"/>
              <a:t>gayi</a:t>
            </a:r>
            <a:r>
              <a:rPr dirty="0"/>
              <a:t> </a:t>
            </a:r>
            <a:r>
              <a:rPr dirty="0" err="1"/>
              <a:t>hai</a:t>
            </a:r>
            <a:r>
              <a:rPr dirty="0"/>
              <a:t> actual PR </a:t>
            </a:r>
            <a:r>
              <a:rPr dirty="0" err="1"/>
              <a:t>aur</a:t>
            </a:r>
            <a:r>
              <a:rPr dirty="0"/>
              <a:t> issue descriptions se (slide 37 par </a:t>
            </a:r>
            <a:r>
              <a:rPr dirty="0" err="1"/>
              <a:t>bataya</a:t>
            </a:r>
            <a:r>
              <a:rPr dirty="0"/>
              <a:t> </a:t>
            </a:r>
            <a:r>
              <a:rPr dirty="0" err="1"/>
              <a:t>gaya</a:t>
            </a:r>
            <a:r>
              <a:rPr dirty="0"/>
              <a:t>) — </a:t>
            </a:r>
            <a:r>
              <a:rPr dirty="0" err="1"/>
              <a:t>sirf</a:t>
            </a:r>
            <a:r>
              <a:rPr dirty="0"/>
              <a:t> oracle </a:t>
            </a:r>
            <a:r>
              <a:rPr dirty="0" err="1"/>
              <a:t>ke</a:t>
            </a:r>
            <a:r>
              <a:rPr dirty="0"/>
              <a:t> output par blindly depend </a:t>
            </a:r>
            <a:r>
              <a:rPr dirty="0" err="1"/>
              <a:t>nahi</a:t>
            </a:r>
            <a:r>
              <a:rPr dirty="0"/>
              <a:t> </a:t>
            </a:r>
            <a:r>
              <a:rPr dirty="0" err="1"/>
              <a:t>kiya</a:t>
            </a:r>
            <a:r>
              <a:rPr dirty="0"/>
              <a:t> </a:t>
            </a:r>
            <a:r>
              <a:rPr dirty="0" err="1"/>
              <a:t>gaya</a:t>
            </a:r>
            <a:r>
              <a:rPr dirty="0"/>
              <a:t>, </a:t>
            </a:r>
            <a:r>
              <a:rPr dirty="0" err="1"/>
              <a:t>isi</a:t>
            </a:r>
            <a:r>
              <a:rPr dirty="0"/>
              <a:t> </a:t>
            </a:r>
            <a:r>
              <a:rPr dirty="0" err="1"/>
              <a:t>liye</a:t>
            </a:r>
            <a:r>
              <a:rPr dirty="0"/>
              <a:t> human-verified provenance is claim </a:t>
            </a:r>
            <a:r>
              <a:rPr dirty="0" err="1"/>
              <a:t>ko</a:t>
            </a:r>
            <a:r>
              <a:rPr dirty="0"/>
              <a:t> support </a:t>
            </a:r>
            <a:r>
              <a:rPr dirty="0" err="1"/>
              <a:t>karta</a:t>
            </a:r>
            <a:r>
              <a:rPr dirty="0"/>
              <a:t> </a:t>
            </a:r>
            <a:r>
              <a:rPr dirty="0" err="1"/>
              <a:t>hai</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smtClean="0"/>
              <a:t>Stage 4 ranks the tests and evaluates the ranking fairly.</a:t>
            </a:r>
            <a:br>
              <a:rPr lang="en-US" dirty="0" smtClean="0"/>
            </a:br>
            <a:r>
              <a:rPr lang="en-US" dirty="0" smtClean="0"/>
              <a:t>First, our </a:t>
            </a:r>
            <a:r>
              <a:rPr lang="en-US" dirty="0" err="1" smtClean="0"/>
              <a:t>risk_score</a:t>
            </a:r>
            <a:r>
              <a:rPr lang="en-US" dirty="0" smtClean="0"/>
              <a:t> and five baseline methods rank the same candidate tests using </a:t>
            </a:r>
            <a:r>
              <a:rPr lang="en-US" b="1" dirty="0" smtClean="0"/>
              <a:t>only pre-execution information</a:t>
            </a:r>
            <a:r>
              <a:rPr lang="en-US" dirty="0" smtClean="0"/>
              <a:t>.</a:t>
            </a:r>
            <a:br>
              <a:rPr lang="en-US" dirty="0" smtClean="0"/>
            </a:br>
            <a:r>
              <a:rPr lang="en-US" dirty="0" smtClean="0"/>
              <a:t>At this point, the actual Stage 3 detection results are </a:t>
            </a:r>
            <a:r>
              <a:rPr lang="en-US" b="1" dirty="0" smtClean="0"/>
              <a:t>hidden from the selector</a:t>
            </a:r>
            <a:r>
              <a:rPr lang="en-US" dirty="0" smtClean="0"/>
              <a:t>.</a:t>
            </a:r>
            <a:br>
              <a:rPr lang="en-US" dirty="0" smtClean="0"/>
            </a:br>
            <a:r>
              <a:rPr lang="en-US" dirty="0" smtClean="0"/>
              <a:t>Once the ranking is fixed, we bring back those withheld labels and check how early each strategy would detect the regression.</a:t>
            </a:r>
            <a:br>
              <a:rPr lang="en-US" dirty="0" smtClean="0"/>
            </a:br>
            <a:r>
              <a:rPr lang="en-US" dirty="0" smtClean="0"/>
              <a:t>Every strategy gets the </a:t>
            </a:r>
            <a:r>
              <a:rPr lang="en-US" b="1" dirty="0" smtClean="0"/>
              <a:t>same fixed CPU-time budget</a:t>
            </a:r>
            <a:r>
              <a:rPr lang="en-US" dirty="0" smtClean="0"/>
              <a:t>, so the comparison is fair.</a:t>
            </a:r>
            <a:br>
              <a:rPr lang="en-US" dirty="0" smtClean="0"/>
            </a:br>
            <a:r>
              <a:rPr lang="en-US" dirty="0" smtClean="0"/>
              <a:t>The output is a budgeted detection trace for each strategy.” </a:t>
            </a:r>
          </a:p>
          <a:p>
            <a:r>
              <a:rPr lang="en-US" dirty="0" smtClean="0"/>
              <a:t>Memory:</a:t>
            </a:r>
          </a:p>
          <a:p>
            <a:r>
              <a:rPr lang="en-US" b="1" dirty="0" smtClean="0"/>
              <a:t>Rank → No peeking → Reveal labels → Same budget → Compare</a:t>
            </a:r>
            <a:endParaRPr lang="en-US" dirty="0" smtClean="0"/>
          </a:p>
          <a:p>
            <a:r>
              <a:rPr lang="en-US" dirty="0" smtClean="0"/>
              <a:t>Very important wording:</a:t>
            </a:r>
          </a:p>
          <a:p>
            <a:r>
              <a:rPr lang="en-US" b="1" dirty="0" smtClean="0"/>
              <a:t>“Stage 4 evaluates the ranking procedure; the numerical metrics are calculated in Stage 5.”</a:t>
            </a:r>
            <a:endParaRPr lang="en-US" dirty="0" smtClean="0"/>
          </a:p>
          <a:p>
            <a:endParaRPr dirty="0"/>
          </a:p>
          <a:p>
            <a:r>
              <a:rPr dirty="0" err="1"/>
              <a:t>Mumkin</a:t>
            </a:r>
            <a:r>
              <a:rPr dirty="0"/>
              <a:t> examiner </a:t>
            </a:r>
            <a:r>
              <a:rPr dirty="0" err="1"/>
              <a:t>sawalat</a:t>
            </a:r>
            <a:r>
              <a:rPr dirty="0"/>
              <a:t>:</a:t>
            </a:r>
          </a:p>
          <a:p>
            <a:r>
              <a:rPr dirty="0"/>
              <a:t>S1: '</a:t>
            </a:r>
            <a:r>
              <a:rPr dirty="0" err="1"/>
              <a:t>Sirf</a:t>
            </a:r>
            <a:r>
              <a:rPr dirty="0"/>
              <a:t> pre-execution information' — </a:t>
            </a:r>
            <a:r>
              <a:rPr dirty="0" err="1"/>
              <a:t>lekin</a:t>
            </a:r>
            <a:r>
              <a:rPr dirty="0"/>
              <a:t> </a:t>
            </a:r>
            <a:r>
              <a:rPr dirty="0" err="1"/>
              <a:t>risk_score</a:t>
            </a:r>
            <a:r>
              <a:rPr dirty="0"/>
              <a:t> </a:t>
            </a:r>
            <a:r>
              <a:rPr dirty="0" err="1"/>
              <a:t>ka</a:t>
            </a:r>
            <a:r>
              <a:rPr dirty="0"/>
              <a:t> 'historical risk' factor to </a:t>
            </a:r>
            <a:r>
              <a:rPr dirty="0" err="1"/>
              <a:t>pichle</a:t>
            </a:r>
            <a:r>
              <a:rPr dirty="0"/>
              <a:t> outcomes </a:t>
            </a:r>
            <a:r>
              <a:rPr dirty="0" err="1"/>
              <a:t>ki</a:t>
            </a:r>
            <a:r>
              <a:rPr dirty="0"/>
              <a:t> information use </a:t>
            </a:r>
            <a:r>
              <a:rPr dirty="0" err="1"/>
              <a:t>karta</a:t>
            </a:r>
            <a:r>
              <a:rPr dirty="0"/>
              <a:t> </a:t>
            </a:r>
            <a:r>
              <a:rPr dirty="0" err="1"/>
              <a:t>hai</a:t>
            </a:r>
            <a:r>
              <a:rPr dirty="0"/>
              <a:t>, </a:t>
            </a:r>
            <a:r>
              <a:rPr dirty="0" err="1"/>
              <a:t>kya</a:t>
            </a:r>
            <a:r>
              <a:rPr dirty="0"/>
              <a:t> ye </a:t>
            </a:r>
            <a:r>
              <a:rPr dirty="0" err="1"/>
              <a:t>khud</a:t>
            </a:r>
            <a:r>
              <a:rPr dirty="0"/>
              <a:t> </a:t>
            </a:r>
            <a:r>
              <a:rPr dirty="0" err="1"/>
              <a:t>ek</a:t>
            </a:r>
            <a:r>
              <a:rPr dirty="0"/>
              <a:t> leakage </a:t>
            </a:r>
            <a:r>
              <a:rPr dirty="0" err="1"/>
              <a:t>nahi</a:t>
            </a:r>
            <a:r>
              <a:rPr dirty="0"/>
              <a:t>?</a:t>
            </a:r>
          </a:p>
          <a:p>
            <a:r>
              <a:rPr dirty="0"/>
              <a:t>J1: </a:t>
            </a:r>
            <a:r>
              <a:rPr dirty="0" err="1"/>
              <a:t>Nahi</a:t>
            </a:r>
            <a:r>
              <a:rPr dirty="0"/>
              <a:t>, </a:t>
            </a:r>
            <a:r>
              <a:rPr dirty="0" err="1"/>
              <a:t>kyunki</a:t>
            </a:r>
            <a:r>
              <a:rPr dirty="0"/>
              <a:t> historical risk </a:t>
            </a:r>
            <a:r>
              <a:rPr dirty="0" err="1"/>
              <a:t>sirf</a:t>
            </a:r>
            <a:r>
              <a:rPr dirty="0"/>
              <a:t> </a:t>
            </a:r>
            <a:r>
              <a:rPr dirty="0" err="1"/>
              <a:t>pehle</a:t>
            </a:r>
            <a:r>
              <a:rPr dirty="0"/>
              <a:t> se </a:t>
            </a:r>
            <a:r>
              <a:rPr dirty="0" err="1"/>
              <a:t>guzre</a:t>
            </a:r>
            <a:r>
              <a:rPr dirty="0"/>
              <a:t> hue (past) events </a:t>
            </a:r>
            <a:r>
              <a:rPr dirty="0" err="1"/>
              <a:t>ke</a:t>
            </a:r>
            <a:r>
              <a:rPr dirty="0"/>
              <a:t> outcomes par based </a:t>
            </a:r>
            <a:r>
              <a:rPr dirty="0" err="1"/>
              <a:t>hai</a:t>
            </a:r>
            <a:r>
              <a:rPr dirty="0"/>
              <a:t>, current </a:t>
            </a:r>
            <a:r>
              <a:rPr dirty="0" err="1"/>
              <a:t>ya</a:t>
            </a:r>
            <a:r>
              <a:rPr dirty="0"/>
              <a:t> future event </a:t>
            </a:r>
            <a:r>
              <a:rPr dirty="0" err="1"/>
              <a:t>ka</a:t>
            </a:r>
            <a:r>
              <a:rPr dirty="0"/>
              <a:t> </a:t>
            </a:r>
            <a:r>
              <a:rPr dirty="0" err="1"/>
              <a:t>nahi</a:t>
            </a:r>
            <a:r>
              <a:rPr dirty="0"/>
              <a:t> — is </a:t>
            </a:r>
            <a:r>
              <a:rPr dirty="0" err="1"/>
              <a:t>liye</a:t>
            </a:r>
            <a:r>
              <a:rPr dirty="0"/>
              <a:t> ye leakage </a:t>
            </a:r>
            <a:r>
              <a:rPr dirty="0" err="1"/>
              <a:t>nahi</a:t>
            </a:r>
            <a:r>
              <a:rPr dirty="0"/>
              <a:t> </a:t>
            </a:r>
            <a:r>
              <a:rPr dirty="0" err="1"/>
              <a:t>hai</a:t>
            </a:r>
            <a:r>
              <a:rPr dirty="0"/>
              <a:t>. Leakage tab </a:t>
            </a:r>
            <a:r>
              <a:rPr dirty="0" err="1"/>
              <a:t>hoti</a:t>
            </a:r>
            <a:r>
              <a:rPr dirty="0"/>
              <a:t> agar current event </a:t>
            </a:r>
            <a:r>
              <a:rPr dirty="0" err="1"/>
              <a:t>ka</a:t>
            </a:r>
            <a:r>
              <a:rPr dirty="0"/>
              <a:t> </a:t>
            </a:r>
            <a:r>
              <a:rPr dirty="0" err="1"/>
              <a:t>apna</a:t>
            </a:r>
            <a:r>
              <a:rPr dirty="0"/>
              <a:t> outcome ranking </a:t>
            </a:r>
            <a:r>
              <a:rPr dirty="0" err="1"/>
              <a:t>ko</a:t>
            </a:r>
            <a:r>
              <a:rPr dirty="0"/>
              <a:t> affect </a:t>
            </a:r>
            <a:r>
              <a:rPr dirty="0" err="1"/>
              <a:t>karta</a:t>
            </a:r>
            <a:r>
              <a:rPr dirty="0"/>
              <a:t>, jo ye design allow </a:t>
            </a:r>
            <a:r>
              <a:rPr dirty="0" err="1"/>
              <a:t>nahi</a:t>
            </a:r>
            <a:r>
              <a:rPr dirty="0"/>
              <a:t> </a:t>
            </a:r>
            <a:r>
              <a:rPr dirty="0" err="1"/>
              <a:t>karta</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a:t>
            </a:r>
            <a:r>
              <a:rPr dirty="0" err="1"/>
              <a:t>Sirf</a:t>
            </a:r>
            <a:r>
              <a:rPr dirty="0"/>
              <a:t> </a:t>
            </a:r>
            <a:r>
              <a:rPr dirty="0" err="1"/>
              <a:t>paanch</a:t>
            </a:r>
            <a:r>
              <a:rPr dirty="0"/>
              <a:t> baselines se compare </a:t>
            </a:r>
            <a:r>
              <a:rPr dirty="0" err="1"/>
              <a:t>kar</a:t>
            </a:r>
            <a:r>
              <a:rPr dirty="0"/>
              <a:t> </a:t>
            </a:r>
            <a:r>
              <a:rPr dirty="0" err="1"/>
              <a:t>rahe</a:t>
            </a:r>
            <a:r>
              <a:rPr dirty="0"/>
              <a:t> </a:t>
            </a:r>
            <a:r>
              <a:rPr dirty="0" err="1"/>
              <a:t>hain</a:t>
            </a:r>
            <a:r>
              <a:rPr dirty="0"/>
              <a:t> — agar koi </a:t>
            </a:r>
            <a:r>
              <a:rPr dirty="0" err="1"/>
              <a:t>chhata</a:t>
            </a:r>
            <a:r>
              <a:rPr dirty="0"/>
              <a:t> baseline </a:t>
            </a:r>
            <a:r>
              <a:rPr dirty="0" err="1"/>
              <a:t>behtar</a:t>
            </a:r>
            <a:r>
              <a:rPr dirty="0"/>
              <a:t> </a:t>
            </a:r>
            <a:r>
              <a:rPr dirty="0" err="1"/>
              <a:t>nikle</a:t>
            </a:r>
            <a:r>
              <a:rPr dirty="0"/>
              <a:t> jo consider hi </a:t>
            </a:r>
            <a:r>
              <a:rPr dirty="0" err="1"/>
              <a:t>nahi</a:t>
            </a:r>
            <a:r>
              <a:rPr dirty="0"/>
              <a:t> </a:t>
            </a:r>
            <a:r>
              <a:rPr dirty="0" err="1"/>
              <a:t>kiya</a:t>
            </a:r>
            <a:r>
              <a:rPr dirty="0"/>
              <a:t> </a:t>
            </a:r>
            <a:r>
              <a:rPr dirty="0" err="1"/>
              <a:t>gaya</a:t>
            </a:r>
            <a:r>
              <a:rPr dirty="0"/>
              <a:t> to?</a:t>
            </a:r>
          </a:p>
          <a:p>
            <a:r>
              <a:rPr dirty="0"/>
              <a:t>J: Ye </a:t>
            </a:r>
            <a:r>
              <a:rPr dirty="0" err="1"/>
              <a:t>ek</a:t>
            </a:r>
            <a:r>
              <a:rPr dirty="0"/>
              <a:t> fair concern </a:t>
            </a:r>
            <a:r>
              <a:rPr dirty="0" err="1"/>
              <a:t>hai</a:t>
            </a:r>
            <a:r>
              <a:rPr dirty="0"/>
              <a:t> — hum ne field-standard, widely-cited baselines choose </a:t>
            </a:r>
            <a:r>
              <a:rPr dirty="0" err="1"/>
              <a:t>kiye</a:t>
            </a:r>
            <a:r>
              <a:rPr dirty="0"/>
              <a:t> </a:t>
            </a:r>
            <a:r>
              <a:rPr dirty="0" err="1"/>
              <a:t>hain</a:t>
            </a:r>
            <a:r>
              <a:rPr dirty="0"/>
              <a:t> (</a:t>
            </a:r>
            <a:r>
              <a:rPr dirty="0" err="1"/>
              <a:t>Yoo</a:t>
            </a:r>
            <a:r>
              <a:rPr dirty="0"/>
              <a:t> &amp; Harman, </a:t>
            </a:r>
            <a:r>
              <a:rPr dirty="0" err="1"/>
              <a:t>Rothermel</a:t>
            </a:r>
            <a:r>
              <a:rPr dirty="0"/>
              <a:t> et al., </a:t>
            </a:r>
            <a:r>
              <a:rPr dirty="0" err="1"/>
              <a:t>Machalica</a:t>
            </a:r>
            <a:r>
              <a:rPr dirty="0"/>
              <a:t> et al.) </a:t>
            </a:r>
            <a:r>
              <a:rPr dirty="0" err="1"/>
              <a:t>taake</a:t>
            </a:r>
            <a:r>
              <a:rPr dirty="0"/>
              <a:t> comparison meaningful ho, </a:t>
            </a:r>
            <a:r>
              <a:rPr dirty="0" err="1"/>
              <a:t>lekin</a:t>
            </a:r>
            <a:r>
              <a:rPr dirty="0"/>
              <a:t> </a:t>
            </a:r>
            <a:r>
              <a:rPr dirty="0" err="1"/>
              <a:t>har</a:t>
            </a:r>
            <a:r>
              <a:rPr dirty="0"/>
              <a:t> </a:t>
            </a:r>
            <a:r>
              <a:rPr dirty="0" err="1"/>
              <a:t>mumkin</a:t>
            </a:r>
            <a:r>
              <a:rPr dirty="0"/>
              <a:t> baseline cover </a:t>
            </a:r>
            <a:r>
              <a:rPr dirty="0" err="1"/>
              <a:t>karna</a:t>
            </a:r>
            <a:r>
              <a:rPr dirty="0"/>
              <a:t> practically </a:t>
            </a:r>
            <a:r>
              <a:rPr dirty="0" err="1"/>
              <a:t>mumkin</a:t>
            </a:r>
            <a:r>
              <a:rPr dirty="0"/>
              <a:t> </a:t>
            </a:r>
            <a:r>
              <a:rPr dirty="0" err="1"/>
              <a:t>nahi</a:t>
            </a:r>
            <a:r>
              <a:rPr dirty="0"/>
              <a:t>. Ye </a:t>
            </a:r>
            <a:r>
              <a:rPr dirty="0" err="1"/>
              <a:t>ek</a:t>
            </a:r>
            <a:r>
              <a:rPr dirty="0"/>
              <a:t> acknowledged scope-limitation </a:t>
            </a:r>
            <a:r>
              <a:rPr dirty="0" err="1"/>
              <a:t>hai</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is the formal definition of our </a:t>
            </a:r>
            <a:r>
              <a:rPr lang="en-US" dirty="0" err="1" smtClean="0"/>
              <a:t>risk_score</a:t>
            </a:r>
            <a:r>
              <a:rPr lang="en-US" dirty="0" smtClean="0"/>
              <a:t>.</a:t>
            </a:r>
            <a:br>
              <a:rPr lang="en-US" dirty="0" smtClean="0"/>
            </a:br>
            <a:r>
              <a:rPr lang="en-US" dirty="0" smtClean="0"/>
              <a:t>The basic idea is simple: a test should run earlier if it looks </a:t>
            </a:r>
            <a:r>
              <a:rPr lang="en-US" b="1" dirty="0" smtClean="0"/>
              <a:t>more useful for detecting the current change and less expensive to execute</a:t>
            </a:r>
            <a:r>
              <a:rPr lang="en-US" dirty="0" smtClean="0"/>
              <a:t>.</a:t>
            </a:r>
          </a:p>
          <a:p>
            <a:r>
              <a:rPr lang="en-US" dirty="0" smtClean="0"/>
              <a:t>CSM checks whether the test exercises the </a:t>
            </a:r>
            <a:r>
              <a:rPr lang="en-US" dirty="0" err="1" smtClean="0"/>
              <a:t>transpiler</a:t>
            </a:r>
            <a:r>
              <a:rPr lang="en-US" dirty="0" smtClean="0"/>
              <a:t> stage that changed. CBS represents circuit and backend sensitivity. IP represents the importance or criticality of the test. HR captures </a:t>
            </a:r>
            <a:r>
              <a:rPr lang="en-US" b="1" dirty="0" smtClean="0"/>
              <a:t>past historical risk</a:t>
            </a:r>
            <a:r>
              <a:rPr lang="en-US" dirty="0" smtClean="0"/>
              <a:t>. OC represents our confidence in the oracle, and NM gives preference to useful novelty rather than repeated tests.</a:t>
            </a:r>
            <a:br>
              <a:rPr lang="en-US" dirty="0" smtClean="0"/>
            </a:br>
            <a:r>
              <a:rPr lang="en-US" dirty="0" smtClean="0"/>
              <a:t>These factors are divided by EC, which is the expected cost of </a:t>
            </a:r>
            <a:r>
              <a:rPr lang="en-US" dirty="0" err="1" smtClean="0"/>
              <a:t>transpilation</a:t>
            </a:r>
            <a:r>
              <a:rPr lang="en-US" dirty="0" smtClean="0"/>
              <a:t> and oracle execution. The small epsilon is only a smoothing term.</a:t>
            </a:r>
          </a:p>
          <a:p>
            <a:r>
              <a:rPr lang="en-US" dirty="0" smtClean="0"/>
              <a:t>Most importantly, this score is a </a:t>
            </a:r>
            <a:r>
              <a:rPr lang="en-US" b="1" dirty="0" smtClean="0"/>
              <a:t>transparent, hand-set ranking heuristic</a:t>
            </a:r>
            <a:r>
              <a:rPr lang="en-US" dirty="0" smtClean="0"/>
              <a:t>. It is </a:t>
            </a:r>
            <a:r>
              <a:rPr lang="en-US" b="1" dirty="0" smtClean="0"/>
              <a:t>not a calibrated probability and not a black-box AI model</a:t>
            </a:r>
            <a:r>
              <a:rPr lang="en-US" dirty="0" smtClean="0"/>
              <a:t>. A higher score simply means that the test should be considered earlier under the available budget.” </a:t>
            </a:r>
          </a:p>
          <a:p>
            <a:r>
              <a:rPr lang="en-US" dirty="0" smtClean="0"/>
              <a:t>Formula memory:</a:t>
            </a:r>
          </a:p>
          <a:p>
            <a:r>
              <a:rPr lang="en-US" b="1" dirty="0" smtClean="0"/>
              <a:t>Stage match × Sensitivity × Impact × History × Oracle confidence × Novelty ÷ Cost</a:t>
            </a:r>
            <a:endParaRPr lang="en-US" dirty="0" smtClean="0"/>
          </a:p>
          <a:p>
            <a:endParaRPr dirty="0"/>
          </a:p>
          <a:p>
            <a:r>
              <a:rPr dirty="0" err="1"/>
              <a:t>Mumkin</a:t>
            </a:r>
            <a:r>
              <a:rPr dirty="0"/>
              <a:t> examiner </a:t>
            </a:r>
            <a:r>
              <a:rPr dirty="0" err="1"/>
              <a:t>sawalat</a:t>
            </a:r>
            <a:r>
              <a:rPr dirty="0"/>
              <a:t>:</a:t>
            </a:r>
          </a:p>
          <a:p>
            <a:r>
              <a:rPr dirty="0"/>
              <a:t>S1: </a:t>
            </a:r>
            <a:r>
              <a:rPr dirty="0" err="1"/>
              <a:t>risk_score</a:t>
            </a:r>
            <a:r>
              <a:rPr dirty="0"/>
              <a:t> </a:t>
            </a:r>
            <a:r>
              <a:rPr dirty="0" err="1"/>
              <a:t>ke</a:t>
            </a:r>
            <a:r>
              <a:rPr dirty="0"/>
              <a:t> weights hand-set </a:t>
            </a:r>
            <a:r>
              <a:rPr dirty="0" err="1"/>
              <a:t>hain</a:t>
            </a:r>
            <a:r>
              <a:rPr dirty="0"/>
              <a:t> — in specific values </a:t>
            </a:r>
            <a:r>
              <a:rPr dirty="0" err="1"/>
              <a:t>ka</a:t>
            </a:r>
            <a:r>
              <a:rPr dirty="0"/>
              <a:t> basis </a:t>
            </a:r>
            <a:r>
              <a:rPr dirty="0" err="1"/>
              <a:t>kya</a:t>
            </a:r>
            <a:r>
              <a:rPr dirty="0"/>
              <a:t> </a:t>
            </a:r>
            <a:r>
              <a:rPr dirty="0" err="1"/>
              <a:t>tha</a:t>
            </a:r>
            <a:r>
              <a:rPr dirty="0"/>
              <a:t>?</a:t>
            </a:r>
          </a:p>
          <a:p>
            <a:r>
              <a:rPr dirty="0"/>
              <a:t>J1: </a:t>
            </a:r>
            <a:r>
              <a:rPr dirty="0" err="1"/>
              <a:t>Filhal</a:t>
            </a:r>
            <a:r>
              <a:rPr dirty="0"/>
              <a:t> weights domain-knowledge </a:t>
            </a:r>
            <a:r>
              <a:rPr dirty="0" err="1"/>
              <a:t>aur</a:t>
            </a:r>
            <a:r>
              <a:rPr dirty="0"/>
              <a:t> pilot testing </a:t>
            </a:r>
            <a:r>
              <a:rPr dirty="0" err="1"/>
              <a:t>ke</a:t>
            </a:r>
            <a:r>
              <a:rPr dirty="0"/>
              <a:t> through hand-set </a:t>
            </a:r>
            <a:r>
              <a:rPr dirty="0" err="1"/>
              <a:t>kiye</a:t>
            </a:r>
            <a:r>
              <a:rPr dirty="0"/>
              <a:t> </a:t>
            </a:r>
            <a:r>
              <a:rPr dirty="0" err="1"/>
              <a:t>gaye</a:t>
            </a:r>
            <a:r>
              <a:rPr dirty="0"/>
              <a:t> </a:t>
            </a:r>
            <a:r>
              <a:rPr dirty="0" err="1"/>
              <a:t>hain</a:t>
            </a:r>
            <a:r>
              <a:rPr dirty="0"/>
              <a:t>, </a:t>
            </a:r>
            <a:r>
              <a:rPr dirty="0" err="1"/>
              <a:t>aur</a:t>
            </a:r>
            <a:r>
              <a:rPr dirty="0"/>
              <a:t> evaluation se </a:t>
            </a:r>
            <a:r>
              <a:rPr dirty="0" err="1"/>
              <a:t>pehle</a:t>
            </a:r>
            <a:r>
              <a:rPr dirty="0"/>
              <a:t> hi frozen </a:t>
            </a:r>
            <a:r>
              <a:rPr dirty="0" err="1"/>
              <a:t>kar</a:t>
            </a:r>
            <a:r>
              <a:rPr dirty="0"/>
              <a:t> </a:t>
            </a:r>
            <a:r>
              <a:rPr dirty="0" err="1"/>
              <a:t>diye</a:t>
            </a:r>
            <a:r>
              <a:rPr dirty="0"/>
              <a:t> </a:t>
            </a:r>
            <a:r>
              <a:rPr dirty="0" err="1"/>
              <a:t>gaye</a:t>
            </a:r>
            <a:r>
              <a:rPr dirty="0"/>
              <a:t> the </a:t>
            </a:r>
            <a:r>
              <a:rPr dirty="0" err="1"/>
              <a:t>taake</a:t>
            </a:r>
            <a:r>
              <a:rPr dirty="0"/>
              <a:t> koi bias </a:t>
            </a:r>
            <a:r>
              <a:rPr dirty="0" err="1"/>
              <a:t>na</a:t>
            </a:r>
            <a:r>
              <a:rPr dirty="0"/>
              <a:t> </a:t>
            </a:r>
            <a:r>
              <a:rPr dirty="0" err="1"/>
              <a:t>aaye</a:t>
            </a:r>
            <a:r>
              <a:rPr dirty="0"/>
              <a:t>. </a:t>
            </a:r>
            <a:r>
              <a:rPr dirty="0" err="1"/>
              <a:t>Unki</a:t>
            </a:r>
            <a:r>
              <a:rPr dirty="0"/>
              <a:t> sensitivity test </a:t>
            </a:r>
            <a:r>
              <a:rPr dirty="0" err="1"/>
              <a:t>karne</a:t>
            </a:r>
            <a:r>
              <a:rPr dirty="0"/>
              <a:t> </a:t>
            </a:r>
            <a:r>
              <a:rPr dirty="0" err="1"/>
              <a:t>ke</a:t>
            </a:r>
            <a:r>
              <a:rPr dirty="0"/>
              <a:t> </a:t>
            </a:r>
            <a:r>
              <a:rPr dirty="0" err="1"/>
              <a:t>liye</a:t>
            </a:r>
            <a:r>
              <a:rPr dirty="0"/>
              <a:t> </a:t>
            </a:r>
            <a:r>
              <a:rPr dirty="0" err="1"/>
              <a:t>ek</a:t>
            </a:r>
            <a:r>
              <a:rPr dirty="0"/>
              <a:t> plus-minus 50% perturbation ablation Phase 3 </a:t>
            </a:r>
            <a:r>
              <a:rPr dirty="0" err="1"/>
              <a:t>mein</a:t>
            </a:r>
            <a:r>
              <a:rPr dirty="0"/>
              <a:t> planned </a:t>
            </a:r>
            <a:r>
              <a:rPr dirty="0" err="1"/>
              <a:t>hai</a:t>
            </a:r>
            <a:r>
              <a:rPr dirty="0"/>
              <a:t> — </a:t>
            </a:r>
            <a:r>
              <a:rPr dirty="0" err="1"/>
              <a:t>abhi</a:t>
            </a:r>
            <a:r>
              <a:rPr dirty="0"/>
              <a:t> </a:t>
            </a:r>
            <a:r>
              <a:rPr dirty="0" err="1"/>
              <a:t>tak</a:t>
            </a:r>
            <a:r>
              <a:rPr dirty="0"/>
              <a:t> ye step complete </a:t>
            </a:r>
            <a:r>
              <a:rPr dirty="0" err="1"/>
              <a:t>nahi</a:t>
            </a:r>
            <a:r>
              <a:rPr dirty="0"/>
              <a:t> </a:t>
            </a:r>
            <a:r>
              <a:rPr dirty="0" err="1"/>
              <a:t>hua</a:t>
            </a:r>
            <a:r>
              <a:rPr dirty="0"/>
              <a:t>.</a:t>
            </a:r>
          </a:p>
          <a:p>
            <a:r>
              <a:rPr dirty="0"/>
              <a:t>S2: Agar do tests </a:t>
            </a:r>
            <a:r>
              <a:rPr dirty="0" err="1"/>
              <a:t>ka</a:t>
            </a:r>
            <a:r>
              <a:rPr dirty="0"/>
              <a:t> value-per-cost score </a:t>
            </a:r>
            <a:r>
              <a:rPr dirty="0" err="1"/>
              <a:t>bilkul</a:t>
            </a:r>
            <a:r>
              <a:rPr dirty="0"/>
              <a:t> </a:t>
            </a:r>
            <a:r>
              <a:rPr dirty="0" err="1"/>
              <a:t>barabar</a:t>
            </a:r>
            <a:r>
              <a:rPr dirty="0"/>
              <a:t> ho, to selector tie </a:t>
            </a:r>
            <a:r>
              <a:rPr dirty="0" err="1"/>
              <a:t>kaise</a:t>
            </a:r>
            <a:r>
              <a:rPr dirty="0"/>
              <a:t> break </a:t>
            </a:r>
            <a:r>
              <a:rPr dirty="0" err="1"/>
              <a:t>karta</a:t>
            </a:r>
            <a:r>
              <a:rPr dirty="0"/>
              <a:t> </a:t>
            </a:r>
            <a:r>
              <a:rPr dirty="0" err="1"/>
              <a:t>hai</a:t>
            </a:r>
            <a:r>
              <a:rPr dirty="0"/>
              <a:t>?</a:t>
            </a:r>
          </a:p>
          <a:p>
            <a:r>
              <a:rPr dirty="0"/>
              <a:t>J2: Ye exact tie-breaking rule deck </a:t>
            </a:r>
            <a:r>
              <a:rPr dirty="0" err="1"/>
              <a:t>mein</a:t>
            </a:r>
            <a:r>
              <a:rPr dirty="0"/>
              <a:t> explicitly define </a:t>
            </a:r>
            <a:r>
              <a:rPr dirty="0" err="1"/>
              <a:t>nahi</a:t>
            </a:r>
            <a:r>
              <a:rPr dirty="0"/>
              <a:t> </a:t>
            </a:r>
            <a:r>
              <a:rPr dirty="0" err="1"/>
              <a:t>ki</a:t>
            </a:r>
            <a:r>
              <a:rPr dirty="0"/>
              <a:t> </a:t>
            </a:r>
            <a:r>
              <a:rPr dirty="0" err="1"/>
              <a:t>gayi</a:t>
            </a:r>
            <a:r>
              <a:rPr dirty="0"/>
              <a:t> — agar committee ye </a:t>
            </a:r>
            <a:r>
              <a:rPr dirty="0" err="1"/>
              <a:t>puchein</a:t>
            </a:r>
            <a:r>
              <a:rPr dirty="0"/>
              <a:t>, to honest </a:t>
            </a:r>
            <a:r>
              <a:rPr dirty="0" err="1"/>
              <a:t>jawab</a:t>
            </a:r>
            <a:r>
              <a:rPr dirty="0"/>
              <a:t> </a:t>
            </a:r>
            <a:r>
              <a:rPr dirty="0" err="1"/>
              <a:t>yehi</a:t>
            </a:r>
            <a:r>
              <a:rPr dirty="0"/>
              <a:t> </a:t>
            </a:r>
            <a:r>
              <a:rPr dirty="0" err="1"/>
              <a:t>hoga</a:t>
            </a:r>
            <a:r>
              <a:rPr dirty="0"/>
              <a:t> </a:t>
            </a:r>
            <a:r>
              <a:rPr dirty="0" err="1"/>
              <a:t>ke</a:t>
            </a:r>
            <a:r>
              <a:rPr dirty="0"/>
              <a:t> ye implementation detail </a:t>
            </a:r>
            <a:r>
              <a:rPr dirty="0" err="1"/>
              <a:t>abhi</a:t>
            </a:r>
            <a:r>
              <a:rPr dirty="0"/>
              <a:t> thesis </a:t>
            </a:r>
            <a:r>
              <a:rPr dirty="0" err="1"/>
              <a:t>mein</a:t>
            </a:r>
            <a:r>
              <a:rPr dirty="0"/>
              <a:t> formalize </a:t>
            </a:r>
            <a:r>
              <a:rPr dirty="0" err="1"/>
              <a:t>nahi</a:t>
            </a:r>
            <a:r>
              <a:rPr dirty="0"/>
              <a:t> </a:t>
            </a:r>
            <a:r>
              <a:rPr dirty="0" err="1"/>
              <a:t>hua</a:t>
            </a:r>
            <a:r>
              <a:rPr dirty="0"/>
              <a:t>, </a:t>
            </a:r>
            <a:r>
              <a:rPr dirty="0" err="1"/>
              <a:t>aur</a:t>
            </a:r>
            <a:r>
              <a:rPr dirty="0"/>
              <a:t> </a:t>
            </a:r>
            <a:r>
              <a:rPr dirty="0" err="1"/>
              <a:t>ise</a:t>
            </a:r>
            <a:r>
              <a:rPr dirty="0"/>
              <a:t> </a:t>
            </a:r>
            <a:r>
              <a:rPr dirty="0" err="1"/>
              <a:t>aage</a:t>
            </a:r>
            <a:r>
              <a:rPr dirty="0"/>
              <a:t> clarify </a:t>
            </a:r>
            <a:r>
              <a:rPr dirty="0" err="1"/>
              <a:t>kiya</a:t>
            </a:r>
            <a:r>
              <a:rPr dirty="0"/>
              <a:t> </a:t>
            </a:r>
            <a:r>
              <a:rPr dirty="0" err="1"/>
              <a:t>jayega</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a:t>
            </a:r>
            <a:r>
              <a:rPr dirty="0" err="1"/>
              <a:t>Itna</a:t>
            </a:r>
            <a:r>
              <a:rPr dirty="0"/>
              <a:t> complicated formula (</a:t>
            </a:r>
            <a:r>
              <a:rPr dirty="0" err="1"/>
              <a:t>chhe</a:t>
            </a:r>
            <a:r>
              <a:rPr dirty="0"/>
              <a:t> factors multiply </a:t>
            </a:r>
            <a:r>
              <a:rPr dirty="0" err="1"/>
              <a:t>karke</a:t>
            </a:r>
            <a:r>
              <a:rPr dirty="0"/>
              <a:t>) — </a:t>
            </a:r>
            <a:r>
              <a:rPr dirty="0" err="1"/>
              <a:t>kya</a:t>
            </a:r>
            <a:r>
              <a:rPr dirty="0"/>
              <a:t> ye </a:t>
            </a:r>
            <a:r>
              <a:rPr dirty="0" err="1"/>
              <a:t>sirf</a:t>
            </a:r>
            <a:r>
              <a:rPr dirty="0"/>
              <a:t> complexity </a:t>
            </a:r>
            <a:r>
              <a:rPr dirty="0" err="1"/>
              <a:t>dikhane</a:t>
            </a:r>
            <a:r>
              <a:rPr dirty="0"/>
              <a:t> </a:t>
            </a:r>
            <a:r>
              <a:rPr dirty="0" err="1"/>
              <a:t>ke</a:t>
            </a:r>
            <a:r>
              <a:rPr dirty="0"/>
              <a:t> </a:t>
            </a:r>
            <a:r>
              <a:rPr dirty="0" err="1"/>
              <a:t>liye</a:t>
            </a:r>
            <a:r>
              <a:rPr dirty="0"/>
              <a:t> </a:t>
            </a:r>
            <a:r>
              <a:rPr dirty="0" err="1"/>
              <a:t>hai</a:t>
            </a:r>
            <a:r>
              <a:rPr dirty="0"/>
              <a:t>, </a:t>
            </a:r>
            <a:r>
              <a:rPr dirty="0" err="1"/>
              <a:t>ya</a:t>
            </a:r>
            <a:r>
              <a:rPr dirty="0"/>
              <a:t> </a:t>
            </a:r>
            <a:r>
              <a:rPr dirty="0" err="1"/>
              <a:t>har</a:t>
            </a:r>
            <a:r>
              <a:rPr dirty="0"/>
              <a:t> factor genuinely </a:t>
            </a:r>
            <a:r>
              <a:rPr dirty="0" err="1"/>
              <a:t>zaroori</a:t>
            </a:r>
            <a:r>
              <a:rPr dirty="0"/>
              <a:t> </a:t>
            </a:r>
            <a:r>
              <a:rPr dirty="0" err="1"/>
              <a:t>hai</a:t>
            </a:r>
            <a:r>
              <a:rPr dirty="0"/>
              <a:t>?</a:t>
            </a:r>
          </a:p>
          <a:p>
            <a:r>
              <a:rPr dirty="0"/>
              <a:t>J: </a:t>
            </a:r>
            <a:r>
              <a:rPr dirty="0" err="1"/>
              <a:t>Har</a:t>
            </a:r>
            <a:r>
              <a:rPr dirty="0"/>
              <a:t> factor </a:t>
            </a:r>
            <a:r>
              <a:rPr dirty="0" err="1"/>
              <a:t>ek</a:t>
            </a:r>
            <a:r>
              <a:rPr dirty="0"/>
              <a:t> distinct dimension capture </a:t>
            </a:r>
            <a:r>
              <a:rPr dirty="0" err="1"/>
              <a:t>karta</a:t>
            </a:r>
            <a:r>
              <a:rPr dirty="0"/>
              <a:t> </a:t>
            </a:r>
            <a:r>
              <a:rPr dirty="0" err="1"/>
              <a:t>hai</a:t>
            </a:r>
            <a:r>
              <a:rPr dirty="0"/>
              <a:t> — fault-relevance, importance, historical pattern, oracle-quality, novelty, cost. Koi </a:t>
            </a:r>
            <a:r>
              <a:rPr dirty="0" err="1"/>
              <a:t>bhi</a:t>
            </a:r>
            <a:r>
              <a:rPr dirty="0"/>
              <a:t> factor </a:t>
            </a:r>
            <a:r>
              <a:rPr dirty="0" err="1"/>
              <a:t>hata</a:t>
            </a:r>
            <a:r>
              <a:rPr dirty="0"/>
              <a:t> </a:t>
            </a:r>
            <a:r>
              <a:rPr dirty="0" err="1"/>
              <a:t>dein</a:t>
            </a:r>
            <a:r>
              <a:rPr dirty="0"/>
              <a:t> to formula </a:t>
            </a:r>
            <a:r>
              <a:rPr dirty="0" err="1"/>
              <a:t>kisi</a:t>
            </a:r>
            <a:r>
              <a:rPr dirty="0"/>
              <a:t> real consideration </a:t>
            </a:r>
            <a:r>
              <a:rPr dirty="0" err="1"/>
              <a:t>ko</a:t>
            </a:r>
            <a:r>
              <a:rPr dirty="0"/>
              <a:t> ignore </a:t>
            </a:r>
            <a:r>
              <a:rPr dirty="0" err="1"/>
              <a:t>kar</a:t>
            </a:r>
            <a:r>
              <a:rPr dirty="0"/>
              <a:t> </a:t>
            </a:r>
            <a:r>
              <a:rPr dirty="0" err="1"/>
              <a:t>dega</a:t>
            </a:r>
            <a:r>
              <a:rPr dirty="0"/>
              <a:t>, </a:t>
            </a:r>
            <a:r>
              <a:rPr dirty="0" err="1"/>
              <a:t>jaisa</a:t>
            </a:r>
            <a:r>
              <a:rPr dirty="0"/>
              <a:t> slide 35 </a:t>
            </a:r>
            <a:r>
              <a:rPr dirty="0" err="1"/>
              <a:t>ki</a:t>
            </a:r>
            <a:r>
              <a:rPr dirty="0"/>
              <a:t> formal definitions </a:t>
            </a:r>
            <a:r>
              <a:rPr dirty="0" err="1"/>
              <a:t>mein</a:t>
            </a:r>
            <a:r>
              <a:rPr dirty="0"/>
              <a:t> clear </a:t>
            </a:r>
            <a:r>
              <a:rPr dirty="0" err="1"/>
              <a:t>hai</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smtClean="0"/>
              <a:t>Stage 5:</a:t>
            </a:r>
            <a:r>
              <a:rPr lang="en-US" dirty="0" smtClean="0"/>
              <a:t> “Here we measure effectiveness and only accept results that pass the validity checks.”</a:t>
            </a:r>
          </a:p>
          <a:p>
            <a:endParaRPr lang="en-US" dirty="0" smtClean="0"/>
          </a:p>
          <a:p>
            <a:r>
              <a:rPr lang="en-US" dirty="0" smtClean="0"/>
              <a:t>Easy memory:</a:t>
            </a:r>
          </a:p>
          <a:p>
            <a:r>
              <a:rPr lang="en-US" b="1" dirty="0" smtClean="0"/>
              <a:t>Measure effectiveness → check diagnostics → apply validity gates → accept audited results.</a:t>
            </a:r>
            <a:endParaRPr lang="en-US" dirty="0" smtClean="0"/>
          </a:p>
          <a:p>
            <a:endParaRPr dirty="0"/>
          </a:p>
          <a:p>
            <a:r>
              <a:rPr dirty="0" err="1"/>
              <a:t>Mumkin</a:t>
            </a:r>
            <a:r>
              <a:rPr dirty="0"/>
              <a:t> examiner </a:t>
            </a:r>
            <a:r>
              <a:rPr dirty="0" err="1"/>
              <a:t>sawalat</a:t>
            </a:r>
            <a:r>
              <a:rPr dirty="0"/>
              <a:t>:</a:t>
            </a:r>
          </a:p>
          <a:p>
            <a:r>
              <a:rPr dirty="0"/>
              <a:t>S1: Agar koi result in </a:t>
            </a:r>
            <a:r>
              <a:rPr dirty="0" err="1"/>
              <a:t>chhe</a:t>
            </a:r>
            <a:r>
              <a:rPr dirty="0"/>
              <a:t> validity gates </a:t>
            </a:r>
            <a:r>
              <a:rPr dirty="0" err="1"/>
              <a:t>mein</a:t>
            </a:r>
            <a:r>
              <a:rPr dirty="0"/>
              <a:t> se koi </a:t>
            </a:r>
            <a:r>
              <a:rPr dirty="0" err="1"/>
              <a:t>ek</a:t>
            </a:r>
            <a:r>
              <a:rPr dirty="0"/>
              <a:t> gate fail </a:t>
            </a:r>
            <a:r>
              <a:rPr dirty="0" err="1"/>
              <a:t>kar</a:t>
            </a:r>
            <a:r>
              <a:rPr dirty="0"/>
              <a:t> de, to us result </a:t>
            </a:r>
            <a:r>
              <a:rPr dirty="0" err="1"/>
              <a:t>ka</a:t>
            </a:r>
            <a:r>
              <a:rPr dirty="0"/>
              <a:t> </a:t>
            </a:r>
            <a:r>
              <a:rPr dirty="0" err="1"/>
              <a:t>kya</a:t>
            </a:r>
            <a:r>
              <a:rPr dirty="0"/>
              <a:t> </a:t>
            </a:r>
            <a:r>
              <a:rPr dirty="0" err="1"/>
              <a:t>hota</a:t>
            </a:r>
            <a:r>
              <a:rPr dirty="0"/>
              <a:t> </a:t>
            </a:r>
            <a:r>
              <a:rPr dirty="0" err="1"/>
              <a:t>hai</a:t>
            </a:r>
            <a:r>
              <a:rPr dirty="0"/>
              <a:t> — discard </a:t>
            </a:r>
            <a:r>
              <a:rPr dirty="0" err="1"/>
              <a:t>ya</a:t>
            </a:r>
            <a:r>
              <a:rPr dirty="0"/>
              <a:t> </a:t>
            </a:r>
            <a:r>
              <a:rPr dirty="0" err="1"/>
              <a:t>sirf</a:t>
            </a:r>
            <a:r>
              <a:rPr dirty="0"/>
              <a:t> flag?</a:t>
            </a:r>
          </a:p>
          <a:p>
            <a:r>
              <a:rPr dirty="0"/>
              <a:t>J1: Agar koi result validity gate fail </a:t>
            </a:r>
            <a:r>
              <a:rPr dirty="0" err="1"/>
              <a:t>kare</a:t>
            </a:r>
            <a:r>
              <a:rPr dirty="0"/>
              <a:t>, to use count hi </a:t>
            </a:r>
            <a:r>
              <a:rPr dirty="0" err="1"/>
              <a:t>nahi</a:t>
            </a:r>
            <a:r>
              <a:rPr dirty="0"/>
              <a:t> </a:t>
            </a:r>
            <a:r>
              <a:rPr dirty="0" err="1"/>
              <a:t>kiya</a:t>
            </a:r>
            <a:r>
              <a:rPr dirty="0"/>
              <a:t> </a:t>
            </a:r>
            <a:r>
              <a:rPr dirty="0" err="1"/>
              <a:t>jata</a:t>
            </a:r>
            <a:r>
              <a:rPr dirty="0"/>
              <a:t> jab </a:t>
            </a:r>
            <a:r>
              <a:rPr dirty="0" err="1"/>
              <a:t>tak</a:t>
            </a:r>
            <a:r>
              <a:rPr dirty="0"/>
              <a:t> wo gate pass </a:t>
            </a:r>
            <a:r>
              <a:rPr dirty="0" err="1"/>
              <a:t>na</a:t>
            </a:r>
            <a:r>
              <a:rPr dirty="0"/>
              <a:t> </a:t>
            </a:r>
            <a:r>
              <a:rPr dirty="0" err="1"/>
              <a:t>kare</a:t>
            </a:r>
            <a:r>
              <a:rPr dirty="0"/>
              <a:t> — 'koi </a:t>
            </a:r>
            <a:r>
              <a:rPr dirty="0" err="1"/>
              <a:t>bhi</a:t>
            </a:r>
            <a:r>
              <a:rPr dirty="0"/>
              <a:t> result count hone se </a:t>
            </a:r>
            <a:r>
              <a:rPr dirty="0" err="1"/>
              <a:t>pehle</a:t>
            </a:r>
            <a:r>
              <a:rPr dirty="0"/>
              <a:t> </a:t>
            </a:r>
            <a:r>
              <a:rPr dirty="0" err="1"/>
              <a:t>chhe</a:t>
            </a:r>
            <a:r>
              <a:rPr dirty="0"/>
              <a:t> validity gates pass </a:t>
            </a:r>
            <a:r>
              <a:rPr dirty="0" err="1"/>
              <a:t>karna</a:t>
            </a:r>
            <a:r>
              <a:rPr dirty="0"/>
              <a:t> </a:t>
            </a:r>
            <a:r>
              <a:rPr dirty="0" err="1"/>
              <a:t>zaroori</a:t>
            </a:r>
            <a:r>
              <a:rPr dirty="0"/>
              <a:t> </a:t>
            </a:r>
            <a:r>
              <a:rPr dirty="0" err="1"/>
              <a:t>hai</a:t>
            </a:r>
            <a:r>
              <a:rPr dirty="0"/>
              <a:t>' </a:t>
            </a:r>
            <a:r>
              <a:rPr dirty="0" err="1"/>
              <a:t>isi</a:t>
            </a:r>
            <a:r>
              <a:rPr dirty="0"/>
              <a:t> guarantee </a:t>
            </a:r>
            <a:r>
              <a:rPr dirty="0" err="1"/>
              <a:t>ko</a:t>
            </a:r>
            <a:r>
              <a:rPr dirty="0"/>
              <a:t> describe </a:t>
            </a:r>
            <a:r>
              <a:rPr dirty="0" err="1"/>
              <a:t>karta</a:t>
            </a:r>
            <a:r>
              <a:rPr dirty="0"/>
              <a:t> </a:t>
            </a:r>
            <a:r>
              <a:rPr dirty="0" err="1"/>
              <a:t>hai</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'Validity gates' sab PASS hue — </a:t>
            </a:r>
            <a:r>
              <a:rPr dirty="0" err="1"/>
              <a:t>lekin</a:t>
            </a:r>
            <a:r>
              <a:rPr dirty="0"/>
              <a:t> agar </a:t>
            </a:r>
            <a:r>
              <a:rPr dirty="0" err="1"/>
              <a:t>aap</a:t>
            </a:r>
            <a:r>
              <a:rPr dirty="0"/>
              <a:t> </a:t>
            </a:r>
            <a:r>
              <a:rPr dirty="0" err="1"/>
              <a:t>khud</a:t>
            </a:r>
            <a:r>
              <a:rPr dirty="0"/>
              <a:t> hi gates design </a:t>
            </a:r>
            <a:r>
              <a:rPr dirty="0" err="1"/>
              <a:t>karte</a:t>
            </a:r>
            <a:r>
              <a:rPr dirty="0"/>
              <a:t> </a:t>
            </a:r>
            <a:r>
              <a:rPr dirty="0" err="1"/>
              <a:t>hain</a:t>
            </a:r>
            <a:r>
              <a:rPr dirty="0"/>
              <a:t> </a:t>
            </a:r>
            <a:r>
              <a:rPr dirty="0" err="1"/>
              <a:t>aur</a:t>
            </a:r>
            <a:r>
              <a:rPr dirty="0"/>
              <a:t> </a:t>
            </a:r>
            <a:r>
              <a:rPr dirty="0" err="1"/>
              <a:t>khud</a:t>
            </a:r>
            <a:r>
              <a:rPr dirty="0"/>
              <a:t> hi </a:t>
            </a:r>
            <a:r>
              <a:rPr dirty="0" err="1"/>
              <a:t>unhe</a:t>
            </a:r>
            <a:r>
              <a:rPr dirty="0"/>
              <a:t> pass declare </a:t>
            </a:r>
            <a:r>
              <a:rPr dirty="0" err="1"/>
              <a:t>karte</a:t>
            </a:r>
            <a:r>
              <a:rPr dirty="0"/>
              <a:t> </a:t>
            </a:r>
            <a:r>
              <a:rPr dirty="0" err="1"/>
              <a:t>hain</a:t>
            </a:r>
            <a:r>
              <a:rPr dirty="0"/>
              <a:t>, to ye </a:t>
            </a:r>
            <a:r>
              <a:rPr dirty="0" err="1"/>
              <a:t>kitna</a:t>
            </a:r>
            <a:r>
              <a:rPr dirty="0"/>
              <a:t> meaningful </a:t>
            </a:r>
            <a:r>
              <a:rPr dirty="0" err="1"/>
              <a:t>hai</a:t>
            </a:r>
            <a:r>
              <a:rPr dirty="0"/>
              <a:t>?</a:t>
            </a:r>
          </a:p>
          <a:p>
            <a:r>
              <a:rPr dirty="0"/>
              <a:t>J: Ye </a:t>
            </a:r>
            <a:r>
              <a:rPr dirty="0" err="1"/>
              <a:t>ek</a:t>
            </a:r>
            <a:r>
              <a:rPr dirty="0"/>
              <a:t> fair critique </a:t>
            </a:r>
            <a:r>
              <a:rPr dirty="0" err="1"/>
              <a:t>hai</a:t>
            </a:r>
            <a:r>
              <a:rPr dirty="0"/>
              <a:t> — ye self-verification </a:t>
            </a:r>
            <a:r>
              <a:rPr dirty="0" err="1"/>
              <a:t>hai</a:t>
            </a:r>
            <a:r>
              <a:rPr dirty="0"/>
              <a:t>, third-party certification </a:t>
            </a:r>
            <a:r>
              <a:rPr dirty="0" err="1"/>
              <a:t>nahi</a:t>
            </a:r>
            <a:r>
              <a:rPr dirty="0"/>
              <a:t>. </a:t>
            </a:r>
            <a:r>
              <a:rPr dirty="0" err="1"/>
              <a:t>Lekin</a:t>
            </a:r>
            <a:r>
              <a:rPr dirty="0"/>
              <a:t> gates specific, executable checks </a:t>
            </a:r>
            <a:r>
              <a:rPr dirty="0" err="1"/>
              <a:t>hain</a:t>
            </a:r>
            <a:r>
              <a:rPr dirty="0"/>
              <a:t> (</a:t>
            </a:r>
            <a:r>
              <a:rPr dirty="0" err="1"/>
              <a:t>jaise</a:t>
            </a:r>
            <a:r>
              <a:rPr dirty="0"/>
              <a:t> 'same seed </a:t>
            </a:r>
            <a:r>
              <a:rPr dirty="0" err="1"/>
              <a:t>toh</a:t>
            </a:r>
            <a:r>
              <a:rPr dirty="0"/>
              <a:t> same ranking') jo objectively verify </a:t>
            </a:r>
            <a:r>
              <a:rPr dirty="0" err="1"/>
              <a:t>ki</a:t>
            </a:r>
            <a:r>
              <a:rPr dirty="0"/>
              <a:t> ja </a:t>
            </a:r>
            <a:r>
              <a:rPr dirty="0" err="1"/>
              <a:t>sakti</a:t>
            </a:r>
            <a:r>
              <a:rPr dirty="0"/>
              <a:t> </a:t>
            </a:r>
            <a:r>
              <a:rPr dirty="0" err="1"/>
              <a:t>hain</a:t>
            </a:r>
            <a:r>
              <a:rPr dirty="0"/>
              <a:t>, subjective judgment </a:t>
            </a:r>
            <a:r>
              <a:rPr dirty="0" err="1"/>
              <a:t>nahi</a:t>
            </a:r>
            <a:r>
              <a:rPr dirty="0"/>
              <a:t> </a:t>
            </a:r>
            <a:r>
              <a:rPr dirty="0" err="1"/>
              <a:t>hain</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a:p>
            <a:r>
              <a:rPr dirty="0" err="1"/>
              <a:t>Mumkin</a:t>
            </a:r>
            <a:r>
              <a:rPr dirty="0"/>
              <a:t> examiner </a:t>
            </a:r>
            <a:r>
              <a:rPr dirty="0" err="1"/>
              <a:t>sawalat</a:t>
            </a:r>
            <a:r>
              <a:rPr dirty="0"/>
              <a:t>:</a:t>
            </a:r>
          </a:p>
          <a:p>
            <a:r>
              <a:rPr dirty="0"/>
              <a:t>S1: Main corpus </a:t>
            </a:r>
            <a:r>
              <a:rPr dirty="0" err="1"/>
              <a:t>ko</a:t>
            </a:r>
            <a:r>
              <a:rPr dirty="0"/>
              <a:t> </a:t>
            </a:r>
            <a:r>
              <a:rPr dirty="0" err="1"/>
              <a:t>sirf</a:t>
            </a:r>
            <a:r>
              <a:rPr dirty="0"/>
              <a:t> </a:t>
            </a:r>
            <a:r>
              <a:rPr dirty="0" err="1"/>
              <a:t>aath</a:t>
            </a:r>
            <a:r>
              <a:rPr dirty="0"/>
              <a:t> qubits </a:t>
            </a:r>
            <a:r>
              <a:rPr dirty="0" err="1"/>
              <a:t>tak</a:t>
            </a:r>
            <a:r>
              <a:rPr dirty="0"/>
              <a:t> </a:t>
            </a:r>
            <a:r>
              <a:rPr dirty="0" err="1"/>
              <a:t>kyun</a:t>
            </a:r>
            <a:r>
              <a:rPr dirty="0"/>
              <a:t> </a:t>
            </a:r>
            <a:r>
              <a:rPr dirty="0" err="1"/>
              <a:t>rakha</a:t>
            </a:r>
            <a:r>
              <a:rPr dirty="0"/>
              <a:t> — bade circuits </a:t>
            </a:r>
            <a:r>
              <a:rPr dirty="0" err="1"/>
              <a:t>zyada</a:t>
            </a:r>
            <a:r>
              <a:rPr dirty="0"/>
              <a:t> realistic </a:t>
            </a:r>
            <a:r>
              <a:rPr dirty="0" err="1"/>
              <a:t>nahi</a:t>
            </a:r>
            <a:r>
              <a:rPr dirty="0"/>
              <a:t> </a:t>
            </a:r>
            <a:r>
              <a:rPr dirty="0" err="1"/>
              <a:t>hote</a:t>
            </a:r>
            <a:r>
              <a:rPr dirty="0"/>
              <a:t>?</a:t>
            </a:r>
          </a:p>
          <a:p>
            <a:r>
              <a:rPr dirty="0"/>
              <a:t>J1: </a:t>
            </a:r>
            <a:r>
              <a:rPr dirty="0" err="1"/>
              <a:t>Aath</a:t>
            </a:r>
            <a:r>
              <a:rPr dirty="0"/>
              <a:t> qubits </a:t>
            </a:r>
            <a:r>
              <a:rPr dirty="0" err="1"/>
              <a:t>tak</a:t>
            </a:r>
            <a:r>
              <a:rPr dirty="0"/>
              <a:t> exact classical simulation ordinary hardware par practical </a:t>
            </a:r>
            <a:r>
              <a:rPr dirty="0" err="1"/>
              <a:t>hai</a:t>
            </a:r>
            <a:r>
              <a:rPr dirty="0"/>
              <a:t> (slide 40 par explain </a:t>
            </a:r>
            <a:r>
              <a:rPr dirty="0" err="1"/>
              <a:t>kiya</a:t>
            </a:r>
            <a:r>
              <a:rPr dirty="0"/>
              <a:t> </a:t>
            </a:r>
            <a:r>
              <a:rPr dirty="0" err="1"/>
              <a:t>gaya</a:t>
            </a:r>
            <a:r>
              <a:rPr dirty="0"/>
              <a:t> </a:t>
            </a:r>
            <a:r>
              <a:rPr dirty="0" err="1"/>
              <a:t>hai</a:t>
            </a:r>
            <a:r>
              <a:rPr dirty="0"/>
              <a:t>) — bade circuits </a:t>
            </a:r>
            <a:r>
              <a:rPr dirty="0" err="1"/>
              <a:t>ke</a:t>
            </a:r>
            <a:r>
              <a:rPr dirty="0"/>
              <a:t> </a:t>
            </a:r>
            <a:r>
              <a:rPr dirty="0" err="1"/>
              <a:t>liye</a:t>
            </a:r>
            <a:r>
              <a:rPr dirty="0"/>
              <a:t> simulation cost exponentially </a:t>
            </a:r>
            <a:r>
              <a:rPr dirty="0" err="1"/>
              <a:t>barh</a:t>
            </a:r>
            <a:r>
              <a:rPr dirty="0"/>
              <a:t> </a:t>
            </a:r>
            <a:r>
              <a:rPr dirty="0" err="1"/>
              <a:t>jati</a:t>
            </a:r>
            <a:r>
              <a:rPr dirty="0"/>
              <a:t> </a:t>
            </a:r>
            <a:r>
              <a:rPr dirty="0" err="1"/>
              <a:t>hai</a:t>
            </a:r>
            <a:r>
              <a:rPr dirty="0"/>
              <a:t>. H4 </a:t>
            </a:r>
            <a:r>
              <a:rPr dirty="0" err="1"/>
              <a:t>ka</a:t>
            </a:r>
            <a:r>
              <a:rPr dirty="0"/>
              <a:t> width-extended test (16-27 qubits) is limitation </a:t>
            </a:r>
            <a:r>
              <a:rPr dirty="0" err="1"/>
              <a:t>ko</a:t>
            </a:r>
            <a:r>
              <a:rPr dirty="0"/>
              <a:t> explicitly acknowledge </a:t>
            </a:r>
            <a:r>
              <a:rPr dirty="0" err="1"/>
              <a:t>karta</a:t>
            </a:r>
            <a:r>
              <a:rPr dirty="0"/>
              <a:t> </a:t>
            </a:r>
            <a:r>
              <a:rPr dirty="0" err="1"/>
              <a:t>hai</a:t>
            </a:r>
            <a:r>
              <a:rPr dirty="0"/>
              <a:t> </a:t>
            </a:r>
            <a:r>
              <a:rPr dirty="0" err="1"/>
              <a:t>aur</a:t>
            </a:r>
            <a:r>
              <a:rPr dirty="0"/>
              <a:t> </a:t>
            </a:r>
            <a:r>
              <a:rPr dirty="0" err="1"/>
              <a:t>alag</a:t>
            </a:r>
            <a:r>
              <a:rPr dirty="0"/>
              <a:t> regime treat </a:t>
            </a:r>
            <a:r>
              <a:rPr dirty="0" err="1"/>
              <a:t>karta</a:t>
            </a:r>
            <a:r>
              <a:rPr dirty="0"/>
              <a:t> </a:t>
            </a:r>
            <a:r>
              <a:rPr dirty="0" err="1"/>
              <a:t>hai</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a:t>
            </a:r>
            <a:r>
              <a:rPr dirty="0" err="1"/>
              <a:t>Sirf</a:t>
            </a:r>
            <a:r>
              <a:rPr dirty="0"/>
              <a:t> </a:t>
            </a:r>
            <a:r>
              <a:rPr dirty="0" err="1"/>
              <a:t>ek</a:t>
            </a:r>
            <a:r>
              <a:rPr dirty="0"/>
              <a:t> laptop, </a:t>
            </a:r>
            <a:r>
              <a:rPr dirty="0" err="1"/>
              <a:t>aath</a:t>
            </a:r>
            <a:r>
              <a:rPr dirty="0"/>
              <a:t> qubits — ye to 'toy example' </a:t>
            </a:r>
            <a:r>
              <a:rPr dirty="0" err="1"/>
              <a:t>lagta</a:t>
            </a:r>
            <a:r>
              <a:rPr dirty="0"/>
              <a:t> </a:t>
            </a:r>
            <a:r>
              <a:rPr dirty="0" err="1"/>
              <a:t>hai</a:t>
            </a:r>
            <a:r>
              <a:rPr dirty="0"/>
              <a:t>, real-world scale </a:t>
            </a:r>
            <a:r>
              <a:rPr dirty="0" err="1"/>
              <a:t>nahi</a:t>
            </a:r>
            <a:r>
              <a:rPr dirty="0"/>
              <a:t>.</a:t>
            </a:r>
          </a:p>
          <a:p>
            <a:r>
              <a:rPr dirty="0"/>
              <a:t>J: </a:t>
            </a:r>
            <a:r>
              <a:rPr dirty="0" err="1"/>
              <a:t>Sahi</a:t>
            </a:r>
            <a:r>
              <a:rPr dirty="0"/>
              <a:t> </a:t>
            </a:r>
            <a:r>
              <a:rPr dirty="0" err="1"/>
              <a:t>hai</a:t>
            </a:r>
            <a:r>
              <a:rPr dirty="0"/>
              <a:t>, ye </a:t>
            </a:r>
            <a:r>
              <a:rPr dirty="0" err="1"/>
              <a:t>ek</a:t>
            </a:r>
            <a:r>
              <a:rPr dirty="0"/>
              <a:t> intentionally bounded feasibility study </a:t>
            </a:r>
            <a:r>
              <a:rPr dirty="0" err="1"/>
              <a:t>hai</a:t>
            </a:r>
            <a:r>
              <a:rPr dirty="0"/>
              <a:t> — hum </a:t>
            </a:r>
            <a:r>
              <a:rPr dirty="0" err="1"/>
              <a:t>khud</a:t>
            </a:r>
            <a:r>
              <a:rPr dirty="0"/>
              <a:t> slide 28 par explicitly </a:t>
            </a:r>
            <a:r>
              <a:rPr dirty="0" err="1"/>
              <a:t>kehte</a:t>
            </a:r>
            <a:r>
              <a:rPr dirty="0"/>
              <a:t> </a:t>
            </a:r>
            <a:r>
              <a:rPr dirty="0" err="1"/>
              <a:t>hain</a:t>
            </a:r>
            <a:r>
              <a:rPr dirty="0"/>
              <a:t> </a:t>
            </a:r>
            <a:r>
              <a:rPr dirty="0" err="1"/>
              <a:t>ke</a:t>
            </a:r>
            <a:r>
              <a:rPr dirty="0"/>
              <a:t> ye commodity-hardware, small-scale study </a:t>
            </a:r>
            <a:r>
              <a:rPr dirty="0" err="1"/>
              <a:t>hai</a:t>
            </a:r>
            <a:r>
              <a:rPr dirty="0"/>
              <a:t>, powered </a:t>
            </a:r>
            <a:r>
              <a:rPr dirty="0" err="1"/>
              <a:t>ya</a:t>
            </a:r>
            <a:r>
              <a:rPr dirty="0"/>
              <a:t> large-scale evaluation </a:t>
            </a:r>
            <a:r>
              <a:rPr dirty="0" err="1"/>
              <a:t>nahi</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These five are detailed historical case studies; they are not used to estimate how common regressions are</a:t>
            </a:r>
          </a:p>
          <a:p>
            <a:endParaRPr dirty="0"/>
          </a:p>
          <a:p>
            <a:r>
              <a:rPr dirty="0" err="1"/>
              <a:t>Mumkin</a:t>
            </a:r>
            <a:r>
              <a:rPr dirty="0"/>
              <a:t> examiner </a:t>
            </a:r>
            <a:r>
              <a:rPr dirty="0" err="1"/>
              <a:t>sawalat</a:t>
            </a:r>
            <a:r>
              <a:rPr dirty="0"/>
              <a:t>:</a:t>
            </a:r>
          </a:p>
          <a:p>
            <a:r>
              <a:rPr dirty="0"/>
              <a:t>S1: </a:t>
            </a:r>
            <a:r>
              <a:rPr dirty="0" err="1"/>
              <a:t>Paanch</a:t>
            </a:r>
            <a:r>
              <a:rPr dirty="0"/>
              <a:t> </a:t>
            </a:r>
            <a:r>
              <a:rPr dirty="0" err="1"/>
              <a:t>mein</a:t>
            </a:r>
            <a:r>
              <a:rPr dirty="0"/>
              <a:t> se teen events 'not run' </a:t>
            </a:r>
            <a:r>
              <a:rPr dirty="0" err="1"/>
              <a:t>ya</a:t>
            </a:r>
            <a:r>
              <a:rPr dirty="0"/>
              <a:t> 'blocked' </a:t>
            </a:r>
            <a:r>
              <a:rPr dirty="0" err="1"/>
              <a:t>hain</a:t>
            </a:r>
            <a:r>
              <a:rPr dirty="0"/>
              <a:t> — </a:t>
            </a:r>
            <a:r>
              <a:rPr dirty="0" err="1"/>
              <a:t>kya</a:t>
            </a:r>
            <a:r>
              <a:rPr dirty="0"/>
              <a:t> ye framework </a:t>
            </a:r>
            <a:r>
              <a:rPr dirty="0" err="1"/>
              <a:t>ke</a:t>
            </a:r>
            <a:r>
              <a:rPr dirty="0"/>
              <a:t> end-to-end </a:t>
            </a:r>
            <a:r>
              <a:rPr dirty="0" err="1"/>
              <a:t>kaam</a:t>
            </a:r>
            <a:r>
              <a:rPr dirty="0"/>
              <a:t> </a:t>
            </a:r>
            <a:r>
              <a:rPr dirty="0" err="1"/>
              <a:t>karne</a:t>
            </a:r>
            <a:r>
              <a:rPr dirty="0"/>
              <a:t> </a:t>
            </a:r>
            <a:r>
              <a:rPr dirty="0" err="1"/>
              <a:t>ke</a:t>
            </a:r>
            <a:r>
              <a:rPr dirty="0"/>
              <a:t> claim </a:t>
            </a:r>
            <a:r>
              <a:rPr dirty="0" err="1"/>
              <a:t>ko</a:t>
            </a:r>
            <a:r>
              <a:rPr dirty="0"/>
              <a:t> </a:t>
            </a:r>
            <a:r>
              <a:rPr dirty="0" err="1"/>
              <a:t>kamzor</a:t>
            </a:r>
            <a:r>
              <a:rPr dirty="0"/>
              <a:t> </a:t>
            </a:r>
            <a:r>
              <a:rPr dirty="0" err="1"/>
              <a:t>nahi</a:t>
            </a:r>
            <a:r>
              <a:rPr dirty="0"/>
              <a:t> </a:t>
            </a:r>
            <a:r>
              <a:rPr dirty="0" err="1"/>
              <a:t>karta</a:t>
            </a:r>
            <a:r>
              <a:rPr dirty="0"/>
              <a:t>?</a:t>
            </a:r>
          </a:p>
          <a:p>
            <a:r>
              <a:rPr dirty="0"/>
              <a:t>J1: </a:t>
            </a:r>
            <a:r>
              <a:rPr dirty="0" err="1"/>
              <a:t>Nahi</a:t>
            </a:r>
            <a:r>
              <a:rPr dirty="0"/>
              <a:t> — H4 </a:t>
            </a:r>
            <a:r>
              <a:rPr dirty="0" err="1"/>
              <a:t>aur</a:t>
            </a:r>
            <a:r>
              <a:rPr dirty="0"/>
              <a:t> H1 </a:t>
            </a:r>
            <a:r>
              <a:rPr dirty="0" err="1"/>
              <a:t>dono</a:t>
            </a:r>
            <a:r>
              <a:rPr dirty="0"/>
              <a:t> independently pipeline </a:t>
            </a:r>
            <a:r>
              <a:rPr dirty="0" err="1"/>
              <a:t>ko</a:t>
            </a:r>
            <a:r>
              <a:rPr dirty="0"/>
              <a:t> end-to-end demonstrate </a:t>
            </a:r>
            <a:r>
              <a:rPr dirty="0" err="1"/>
              <a:t>karte</a:t>
            </a:r>
            <a:r>
              <a:rPr dirty="0"/>
              <a:t> </a:t>
            </a:r>
            <a:r>
              <a:rPr dirty="0" err="1"/>
              <a:t>hain</a:t>
            </a:r>
            <a:r>
              <a:rPr dirty="0"/>
              <a:t>. </a:t>
            </a:r>
            <a:r>
              <a:rPr dirty="0" err="1"/>
              <a:t>Baaqi</a:t>
            </a:r>
            <a:r>
              <a:rPr dirty="0"/>
              <a:t> teen </a:t>
            </a:r>
            <a:r>
              <a:rPr dirty="0" err="1"/>
              <a:t>abhi</a:t>
            </a:r>
            <a:r>
              <a:rPr dirty="0"/>
              <a:t> resource </a:t>
            </a:r>
            <a:r>
              <a:rPr dirty="0" err="1"/>
              <a:t>ya</a:t>
            </a:r>
            <a:r>
              <a:rPr dirty="0"/>
              <a:t> environment constraints </a:t>
            </a:r>
            <a:r>
              <a:rPr dirty="0" err="1"/>
              <a:t>ki</a:t>
            </a:r>
            <a:r>
              <a:rPr dirty="0"/>
              <a:t> </a:t>
            </a:r>
            <a:r>
              <a:rPr dirty="0" err="1"/>
              <a:t>wajah</a:t>
            </a:r>
            <a:r>
              <a:rPr dirty="0"/>
              <a:t> se pending </a:t>
            </a:r>
            <a:r>
              <a:rPr dirty="0" err="1"/>
              <a:t>hain</a:t>
            </a:r>
            <a:r>
              <a:rPr dirty="0"/>
              <a:t> (</a:t>
            </a:r>
            <a:r>
              <a:rPr dirty="0" err="1"/>
              <a:t>jaise</a:t>
            </a:r>
            <a:r>
              <a:rPr dirty="0"/>
              <a:t> noisy target </a:t>
            </a:r>
            <a:r>
              <a:rPr dirty="0" err="1"/>
              <a:t>ki</a:t>
            </a:r>
            <a:r>
              <a:rPr dirty="0"/>
              <a:t> </a:t>
            </a:r>
            <a:r>
              <a:rPr dirty="0" err="1"/>
              <a:t>zaroorat</a:t>
            </a:r>
            <a:r>
              <a:rPr dirty="0"/>
              <a:t>, </a:t>
            </a:r>
            <a:r>
              <a:rPr dirty="0" err="1"/>
              <a:t>ya</a:t>
            </a:r>
            <a:r>
              <a:rPr dirty="0"/>
              <a:t> input-specific crash), framework </a:t>
            </a:r>
            <a:r>
              <a:rPr dirty="0" err="1"/>
              <a:t>ki</a:t>
            </a:r>
            <a:r>
              <a:rPr dirty="0"/>
              <a:t> </a:t>
            </a:r>
            <a:r>
              <a:rPr dirty="0" err="1"/>
              <a:t>kisi</a:t>
            </a:r>
            <a:r>
              <a:rPr dirty="0"/>
              <a:t> kami </a:t>
            </a:r>
            <a:r>
              <a:rPr dirty="0" err="1"/>
              <a:t>ki</a:t>
            </a:r>
            <a:r>
              <a:rPr dirty="0"/>
              <a:t> </a:t>
            </a:r>
            <a:r>
              <a:rPr dirty="0" err="1"/>
              <a:t>wajah</a:t>
            </a:r>
            <a:r>
              <a:rPr dirty="0"/>
              <a:t> se </a:t>
            </a:r>
            <a:r>
              <a:rPr dirty="0" err="1"/>
              <a:t>nahi</a:t>
            </a:r>
            <a:r>
              <a:rPr dirty="0"/>
              <a:t>. Ye Phase 2 </a:t>
            </a:r>
            <a:r>
              <a:rPr dirty="0" err="1"/>
              <a:t>mein</a:t>
            </a:r>
            <a:r>
              <a:rPr dirty="0"/>
              <a:t> complete </a:t>
            </a:r>
            <a:r>
              <a:rPr dirty="0" err="1"/>
              <a:t>honge</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a:t>
            </a:r>
            <a:r>
              <a:rPr dirty="0" err="1"/>
              <a:t>Paanch</a:t>
            </a:r>
            <a:r>
              <a:rPr dirty="0"/>
              <a:t> </a:t>
            </a:r>
            <a:r>
              <a:rPr dirty="0" err="1"/>
              <a:t>mein</a:t>
            </a:r>
            <a:r>
              <a:rPr dirty="0"/>
              <a:t> se teen events fail </a:t>
            </a:r>
            <a:r>
              <a:rPr dirty="0" err="1"/>
              <a:t>ya</a:t>
            </a:r>
            <a:r>
              <a:rPr dirty="0"/>
              <a:t> blocked </a:t>
            </a:r>
            <a:r>
              <a:rPr dirty="0" err="1"/>
              <a:t>hain</a:t>
            </a:r>
            <a:r>
              <a:rPr dirty="0"/>
              <a:t> — </a:t>
            </a:r>
            <a:r>
              <a:rPr dirty="0" err="1"/>
              <a:t>kya</a:t>
            </a:r>
            <a:r>
              <a:rPr dirty="0"/>
              <a:t> ye acceptable success rate </a:t>
            </a:r>
            <a:r>
              <a:rPr dirty="0" err="1"/>
              <a:t>hai</a:t>
            </a:r>
            <a:r>
              <a:rPr dirty="0"/>
              <a:t> </a:t>
            </a:r>
            <a:r>
              <a:rPr dirty="0" err="1"/>
              <a:t>kisi</a:t>
            </a:r>
            <a:r>
              <a:rPr dirty="0"/>
              <a:t> </a:t>
            </a:r>
            <a:r>
              <a:rPr dirty="0" err="1"/>
              <a:t>bhi</a:t>
            </a:r>
            <a:r>
              <a:rPr dirty="0"/>
              <a:t> serious research claim </a:t>
            </a:r>
            <a:r>
              <a:rPr dirty="0" err="1"/>
              <a:t>ke</a:t>
            </a:r>
            <a:r>
              <a:rPr dirty="0"/>
              <a:t> </a:t>
            </a:r>
            <a:r>
              <a:rPr dirty="0" err="1"/>
              <a:t>liye</a:t>
            </a:r>
            <a:r>
              <a:rPr dirty="0"/>
              <a:t>?</a:t>
            </a:r>
          </a:p>
          <a:p>
            <a:r>
              <a:rPr dirty="0"/>
              <a:t>J: In teen events </a:t>
            </a:r>
            <a:r>
              <a:rPr dirty="0" err="1"/>
              <a:t>ka</a:t>
            </a:r>
            <a:r>
              <a:rPr dirty="0"/>
              <a:t> </a:t>
            </a:r>
            <a:r>
              <a:rPr dirty="0" err="1"/>
              <a:t>na</a:t>
            </a:r>
            <a:r>
              <a:rPr dirty="0"/>
              <a:t> </a:t>
            </a:r>
            <a:r>
              <a:rPr dirty="0" err="1"/>
              <a:t>chalna</a:t>
            </a:r>
            <a:r>
              <a:rPr dirty="0"/>
              <a:t> pipeline </a:t>
            </a:r>
            <a:r>
              <a:rPr dirty="0" err="1"/>
              <a:t>ki</a:t>
            </a:r>
            <a:r>
              <a:rPr dirty="0"/>
              <a:t> </a:t>
            </a:r>
            <a:r>
              <a:rPr dirty="0" err="1"/>
              <a:t>kisi</a:t>
            </a:r>
            <a:r>
              <a:rPr dirty="0"/>
              <a:t> kami </a:t>
            </a:r>
            <a:r>
              <a:rPr dirty="0" err="1"/>
              <a:t>ki</a:t>
            </a:r>
            <a:r>
              <a:rPr dirty="0"/>
              <a:t> </a:t>
            </a:r>
            <a:r>
              <a:rPr dirty="0" err="1"/>
              <a:t>wajah</a:t>
            </a:r>
            <a:r>
              <a:rPr dirty="0"/>
              <a:t> se </a:t>
            </a:r>
            <a:r>
              <a:rPr dirty="0" err="1"/>
              <a:t>nahi</a:t>
            </a:r>
            <a:r>
              <a:rPr dirty="0"/>
              <a:t>, </a:t>
            </a:r>
            <a:r>
              <a:rPr dirty="0" err="1"/>
              <a:t>balke</a:t>
            </a:r>
            <a:r>
              <a:rPr dirty="0"/>
              <a:t> external constraints (noisy hardware </a:t>
            </a:r>
            <a:r>
              <a:rPr dirty="0" err="1"/>
              <a:t>zaroorat</a:t>
            </a:r>
            <a:r>
              <a:rPr dirty="0"/>
              <a:t>, specific input crash) </a:t>
            </a:r>
            <a:r>
              <a:rPr dirty="0" err="1"/>
              <a:t>ki</a:t>
            </a:r>
            <a:r>
              <a:rPr dirty="0"/>
              <a:t> </a:t>
            </a:r>
            <a:r>
              <a:rPr dirty="0" err="1"/>
              <a:t>wajah</a:t>
            </a:r>
            <a:r>
              <a:rPr dirty="0"/>
              <a:t> se </a:t>
            </a:r>
            <a:r>
              <a:rPr dirty="0" err="1"/>
              <a:t>hai</a:t>
            </a:r>
            <a:r>
              <a:rPr dirty="0"/>
              <a:t> — H1 </a:t>
            </a:r>
            <a:r>
              <a:rPr dirty="0" err="1"/>
              <a:t>aur</a:t>
            </a:r>
            <a:r>
              <a:rPr dirty="0"/>
              <a:t> H4 </a:t>
            </a:r>
            <a:r>
              <a:rPr dirty="0" err="1"/>
              <a:t>dono</a:t>
            </a:r>
            <a:r>
              <a:rPr dirty="0"/>
              <a:t> independently core claim (observability gap </a:t>
            </a:r>
            <a:r>
              <a:rPr dirty="0" err="1"/>
              <a:t>ka</a:t>
            </a:r>
            <a:r>
              <a:rPr dirty="0"/>
              <a:t> </a:t>
            </a:r>
            <a:r>
              <a:rPr dirty="0" err="1"/>
              <a:t>wujood</a:t>
            </a:r>
            <a:r>
              <a:rPr dirty="0"/>
              <a:t>) demonstrate </a:t>
            </a:r>
            <a:r>
              <a:rPr dirty="0" err="1"/>
              <a:t>kar</a:t>
            </a:r>
            <a:r>
              <a:rPr dirty="0"/>
              <a:t> </a:t>
            </a:r>
            <a:r>
              <a:rPr dirty="0" err="1"/>
              <a:t>chuke</a:t>
            </a:r>
            <a:r>
              <a:rPr dirty="0"/>
              <a:t> </a:t>
            </a:r>
            <a:r>
              <a:rPr dirty="0" err="1"/>
              <a:t>hain</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H4 = performance regression → slowdown grows with width → 1.9×, 97×, 342× → extended experiment, not main corpus.</a:t>
            </a:r>
          </a:p>
          <a:p>
            <a:endParaRPr lang="en-US" dirty="0" smtClean="0"/>
          </a:p>
          <a:p>
            <a:r>
              <a:rPr lang="en-US" dirty="0" smtClean="0"/>
              <a:t>H4 is a verified performance regression. As circuit width increases, </a:t>
            </a:r>
            <a:r>
              <a:rPr lang="en-US" dirty="0" err="1" smtClean="0"/>
              <a:t>transpilation</a:t>
            </a:r>
            <a:r>
              <a:rPr lang="en-US" dirty="0" smtClean="0"/>
              <a:t> becomes dramatically slower: about 1.9× at 16 qubits, 97× at 20 qubits, and 342× at 27 qubits. This shows that the regression becomes much more severe for wider circuits. These larger circuits are a separate width-extended experiment, not part of our primary ≤8-qubit corpus. And it is</a:t>
            </a:r>
            <a:r>
              <a:rPr lang="en-US" baseline="0" dirty="0" smtClean="0"/>
              <a:t> here to demonstrate that pipeline works.</a:t>
            </a:r>
          </a:p>
          <a:p>
            <a:r>
              <a:rPr lang="en-US" baseline="0" dirty="0" smtClean="0"/>
              <a:t> </a:t>
            </a:r>
            <a:endParaRPr dirty="0"/>
          </a:p>
          <a:p>
            <a:r>
              <a:rPr dirty="0" err="1"/>
              <a:t>Mumkin</a:t>
            </a:r>
            <a:r>
              <a:rPr dirty="0"/>
              <a:t> examiner </a:t>
            </a:r>
            <a:r>
              <a:rPr dirty="0" err="1"/>
              <a:t>sawalat</a:t>
            </a:r>
            <a:r>
              <a:rPr dirty="0"/>
              <a:t>:</a:t>
            </a:r>
          </a:p>
          <a:p>
            <a:r>
              <a:rPr dirty="0"/>
              <a:t>S1: 27 qubits par 342 </a:t>
            </a:r>
            <a:r>
              <a:rPr dirty="0" err="1"/>
              <a:t>guna</a:t>
            </a:r>
            <a:r>
              <a:rPr dirty="0"/>
              <a:t> slowdown — </a:t>
            </a:r>
            <a:r>
              <a:rPr dirty="0" err="1"/>
              <a:t>kya</a:t>
            </a:r>
            <a:r>
              <a:rPr dirty="0"/>
              <a:t> ye </a:t>
            </a:r>
            <a:r>
              <a:rPr dirty="0" err="1"/>
              <a:t>waqai</a:t>
            </a:r>
            <a:r>
              <a:rPr dirty="0"/>
              <a:t> </a:t>
            </a:r>
            <a:r>
              <a:rPr dirty="0" err="1"/>
              <a:t>ek</a:t>
            </a:r>
            <a:r>
              <a:rPr dirty="0"/>
              <a:t> 'regression' </a:t>
            </a:r>
            <a:r>
              <a:rPr dirty="0" err="1"/>
              <a:t>hai</a:t>
            </a:r>
            <a:r>
              <a:rPr dirty="0"/>
              <a:t>, </a:t>
            </a:r>
            <a:r>
              <a:rPr dirty="0" err="1"/>
              <a:t>ya</a:t>
            </a:r>
            <a:r>
              <a:rPr dirty="0"/>
              <a:t> </a:t>
            </a:r>
            <a:r>
              <a:rPr dirty="0" err="1"/>
              <a:t>sirf</a:t>
            </a:r>
            <a:r>
              <a:rPr dirty="0"/>
              <a:t> </a:t>
            </a:r>
            <a:r>
              <a:rPr dirty="0" err="1"/>
              <a:t>kisi</a:t>
            </a:r>
            <a:r>
              <a:rPr dirty="0"/>
              <a:t> </a:t>
            </a:r>
            <a:r>
              <a:rPr dirty="0" err="1"/>
              <a:t>bhi</a:t>
            </a:r>
            <a:r>
              <a:rPr dirty="0"/>
              <a:t> </a:t>
            </a:r>
            <a:r>
              <a:rPr dirty="0" err="1"/>
              <a:t>transpiler</a:t>
            </a:r>
            <a:r>
              <a:rPr dirty="0"/>
              <a:t> </a:t>
            </a:r>
            <a:r>
              <a:rPr dirty="0" err="1"/>
              <a:t>ka</a:t>
            </a:r>
            <a:r>
              <a:rPr dirty="0"/>
              <a:t> normal exponential scaling behavior?</a:t>
            </a:r>
          </a:p>
          <a:p>
            <a:r>
              <a:rPr dirty="0"/>
              <a:t>J1: Ye specifically </a:t>
            </a:r>
            <a:r>
              <a:rPr dirty="0" err="1"/>
              <a:t>ek</a:t>
            </a:r>
            <a:r>
              <a:rPr dirty="0"/>
              <a:t> identified regression </a:t>
            </a:r>
            <a:r>
              <a:rPr dirty="0" err="1"/>
              <a:t>hai</a:t>
            </a:r>
            <a:r>
              <a:rPr dirty="0"/>
              <a:t> </a:t>
            </a:r>
            <a:r>
              <a:rPr dirty="0" err="1"/>
              <a:t>kyunki</a:t>
            </a:r>
            <a:r>
              <a:rPr dirty="0"/>
              <a:t> ye </a:t>
            </a:r>
            <a:r>
              <a:rPr dirty="0" err="1"/>
              <a:t>ek</a:t>
            </a:r>
            <a:r>
              <a:rPr dirty="0"/>
              <a:t> specific code-change (PR #14120) se linked </a:t>
            </a:r>
            <a:r>
              <a:rPr dirty="0" err="1"/>
              <a:t>hai</a:t>
            </a:r>
            <a:r>
              <a:rPr dirty="0"/>
              <a:t> jo </a:t>
            </a:r>
            <a:r>
              <a:rPr dirty="0" err="1"/>
              <a:t>pehle</a:t>
            </a:r>
            <a:r>
              <a:rPr dirty="0"/>
              <a:t> se </a:t>
            </a:r>
            <a:r>
              <a:rPr dirty="0" err="1"/>
              <a:t>behtar</a:t>
            </a:r>
            <a:r>
              <a:rPr dirty="0"/>
              <a:t> performance </a:t>
            </a:r>
            <a:r>
              <a:rPr dirty="0" err="1"/>
              <a:t>ko</a:t>
            </a:r>
            <a:r>
              <a:rPr dirty="0"/>
              <a:t> degrade </a:t>
            </a:r>
            <a:r>
              <a:rPr dirty="0" err="1"/>
              <a:t>karta</a:t>
            </a:r>
            <a:r>
              <a:rPr dirty="0"/>
              <a:t> </a:t>
            </a:r>
            <a:r>
              <a:rPr dirty="0" err="1"/>
              <a:t>hai</a:t>
            </a:r>
            <a:r>
              <a:rPr dirty="0"/>
              <a:t> — </a:t>
            </a:r>
            <a:r>
              <a:rPr dirty="0" err="1"/>
              <a:t>matlab</a:t>
            </a:r>
            <a:r>
              <a:rPr dirty="0"/>
              <a:t> ye normal exponential scaling </a:t>
            </a:r>
            <a:r>
              <a:rPr dirty="0" err="1"/>
              <a:t>nahi</a:t>
            </a:r>
            <a:r>
              <a:rPr dirty="0"/>
              <a:t>, </a:t>
            </a:r>
            <a:r>
              <a:rPr dirty="0" err="1"/>
              <a:t>balke</a:t>
            </a:r>
            <a:r>
              <a:rPr dirty="0"/>
              <a:t> </a:t>
            </a:r>
            <a:r>
              <a:rPr dirty="0" err="1"/>
              <a:t>ek</a:t>
            </a:r>
            <a:r>
              <a:rPr dirty="0"/>
              <a:t> particular commit </a:t>
            </a:r>
            <a:r>
              <a:rPr dirty="0" err="1"/>
              <a:t>ke</a:t>
            </a:r>
            <a:r>
              <a:rPr dirty="0"/>
              <a:t> </a:t>
            </a:r>
            <a:r>
              <a:rPr dirty="0" err="1"/>
              <a:t>baad</a:t>
            </a:r>
            <a:r>
              <a:rPr dirty="0"/>
              <a:t> introduce hui slowdown </a:t>
            </a:r>
            <a:r>
              <a:rPr dirty="0" err="1"/>
              <a:t>hai</a:t>
            </a:r>
            <a:r>
              <a:rPr dirty="0"/>
              <a:t>, jo hum ne multi-run protocol se verify </a:t>
            </a:r>
            <a:r>
              <a:rPr dirty="0" err="1"/>
              <a:t>kiya</a:t>
            </a:r>
            <a:r>
              <a:rPr dirty="0"/>
              <a:t> </a:t>
            </a:r>
            <a:r>
              <a:rPr dirty="0" err="1"/>
              <a:t>hai</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a:t>
            </a:r>
            <a:r>
              <a:rPr dirty="0" err="1"/>
              <a:t>Sirf</a:t>
            </a:r>
            <a:r>
              <a:rPr dirty="0"/>
              <a:t> </a:t>
            </a:r>
            <a:r>
              <a:rPr dirty="0" err="1"/>
              <a:t>ek</a:t>
            </a:r>
            <a:r>
              <a:rPr dirty="0"/>
              <a:t> regression (H4) verify </a:t>
            </a:r>
            <a:r>
              <a:rPr dirty="0" err="1"/>
              <a:t>hua</a:t>
            </a:r>
            <a:r>
              <a:rPr dirty="0"/>
              <a:t> </a:t>
            </a:r>
            <a:r>
              <a:rPr dirty="0" err="1"/>
              <a:t>hai</a:t>
            </a:r>
            <a:r>
              <a:rPr dirty="0"/>
              <a:t> performance </a:t>
            </a:r>
            <a:r>
              <a:rPr dirty="0" err="1"/>
              <a:t>ke</a:t>
            </a:r>
            <a:r>
              <a:rPr dirty="0"/>
              <a:t> </a:t>
            </a:r>
            <a:r>
              <a:rPr dirty="0" err="1"/>
              <a:t>liye</a:t>
            </a:r>
            <a:r>
              <a:rPr dirty="0"/>
              <a:t> — is se generalize </a:t>
            </a:r>
            <a:r>
              <a:rPr dirty="0" err="1"/>
              <a:t>karna</a:t>
            </a:r>
            <a:r>
              <a:rPr dirty="0"/>
              <a:t> </a:t>
            </a:r>
            <a:r>
              <a:rPr dirty="0" err="1"/>
              <a:t>kitna</a:t>
            </a:r>
            <a:r>
              <a:rPr dirty="0"/>
              <a:t> valid </a:t>
            </a:r>
            <a:r>
              <a:rPr dirty="0" err="1"/>
              <a:t>hai</a:t>
            </a:r>
            <a:r>
              <a:rPr dirty="0"/>
              <a:t>?</a:t>
            </a:r>
          </a:p>
          <a:p>
            <a:r>
              <a:rPr dirty="0"/>
              <a:t>J: H4 </a:t>
            </a:r>
            <a:r>
              <a:rPr dirty="0" err="1"/>
              <a:t>ek</a:t>
            </a:r>
            <a:r>
              <a:rPr dirty="0"/>
              <a:t> single case-study </a:t>
            </a:r>
            <a:r>
              <a:rPr dirty="0" err="1"/>
              <a:t>hai</a:t>
            </a:r>
            <a:r>
              <a:rPr dirty="0"/>
              <a:t>, generalization </a:t>
            </a:r>
            <a:r>
              <a:rPr dirty="0" err="1"/>
              <a:t>ka</a:t>
            </a:r>
            <a:r>
              <a:rPr dirty="0"/>
              <a:t> claim </a:t>
            </a:r>
            <a:r>
              <a:rPr dirty="0" err="1"/>
              <a:t>nahi</a:t>
            </a:r>
            <a:r>
              <a:rPr dirty="0"/>
              <a:t> </a:t>
            </a:r>
            <a:r>
              <a:rPr dirty="0" err="1"/>
              <a:t>kiya</a:t>
            </a:r>
            <a:r>
              <a:rPr dirty="0"/>
              <a:t> ja </a:t>
            </a:r>
            <a:r>
              <a:rPr dirty="0" err="1"/>
              <a:t>raha</a:t>
            </a:r>
            <a:r>
              <a:rPr dirty="0"/>
              <a:t> — ye </a:t>
            </a:r>
            <a:r>
              <a:rPr dirty="0" err="1"/>
              <a:t>sirf</a:t>
            </a:r>
            <a:r>
              <a:rPr dirty="0"/>
              <a:t> demonstrate </a:t>
            </a:r>
            <a:r>
              <a:rPr dirty="0" err="1"/>
              <a:t>karta</a:t>
            </a:r>
            <a:r>
              <a:rPr dirty="0"/>
              <a:t> </a:t>
            </a:r>
            <a:r>
              <a:rPr dirty="0" err="1"/>
              <a:t>hai</a:t>
            </a:r>
            <a:r>
              <a:rPr dirty="0"/>
              <a:t> </a:t>
            </a:r>
            <a:r>
              <a:rPr dirty="0" err="1"/>
              <a:t>ke</a:t>
            </a:r>
            <a:r>
              <a:rPr dirty="0"/>
              <a:t> </a:t>
            </a:r>
            <a:r>
              <a:rPr dirty="0" err="1"/>
              <a:t>aisi</a:t>
            </a:r>
            <a:r>
              <a:rPr dirty="0"/>
              <a:t> regression exist </a:t>
            </a:r>
            <a:r>
              <a:rPr dirty="0" err="1"/>
              <a:t>karti</a:t>
            </a:r>
            <a:r>
              <a:rPr dirty="0"/>
              <a:t> </a:t>
            </a:r>
            <a:r>
              <a:rPr dirty="0" err="1"/>
              <a:t>hai</a:t>
            </a:r>
            <a:r>
              <a:rPr dirty="0"/>
              <a:t> </a:t>
            </a:r>
            <a:r>
              <a:rPr dirty="0" err="1"/>
              <a:t>aur</a:t>
            </a:r>
            <a:r>
              <a:rPr dirty="0"/>
              <a:t> detect </a:t>
            </a:r>
            <a:r>
              <a:rPr dirty="0" err="1"/>
              <a:t>ki</a:t>
            </a:r>
            <a:r>
              <a:rPr dirty="0"/>
              <a:t> ja </a:t>
            </a:r>
            <a:r>
              <a:rPr dirty="0" err="1"/>
              <a:t>sakti</a:t>
            </a:r>
            <a:r>
              <a:rPr dirty="0"/>
              <a:t> </a:t>
            </a:r>
            <a:r>
              <a:rPr dirty="0" err="1"/>
              <a:t>hai</a:t>
            </a:r>
            <a:r>
              <a:rPr dirty="0"/>
              <a:t>. Prevalence </a:t>
            </a:r>
            <a:r>
              <a:rPr dirty="0" err="1"/>
              <a:t>ka</a:t>
            </a:r>
            <a:r>
              <a:rPr dirty="0"/>
              <a:t> broader claim 26-fix seed </a:t>
            </a:r>
            <a:r>
              <a:rPr dirty="0" err="1"/>
              <a:t>aur</a:t>
            </a:r>
            <a:r>
              <a:rPr dirty="0"/>
              <a:t> future mining se </a:t>
            </a:r>
            <a:r>
              <a:rPr dirty="0" err="1"/>
              <a:t>aayega</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H1 is the key example of the observability gap in our study.</a:t>
            </a:r>
          </a:p>
          <a:p>
            <a:r>
              <a:rPr lang="en-US" dirty="0" smtClean="0"/>
              <a:t>We tested the buggy version using two different oracles. First, the standard black-box output-equivalence check compared the final circuit </a:t>
            </a:r>
            <a:r>
              <a:rPr lang="en-US" dirty="0" err="1" smtClean="0"/>
              <a:t>behaviour</a:t>
            </a:r>
            <a:r>
              <a:rPr lang="en-US" dirty="0" smtClean="0"/>
              <a:t> and reported the circuits as equivalent. So, from the final output perspective, the regression was missed.</a:t>
            </a:r>
          </a:p>
          <a:p>
            <a:r>
              <a:rPr lang="en-US" dirty="0" smtClean="0"/>
              <a:t>Then we applied a fault-matched property or isolated-pass oracle. This oracle checked the specific contract and metadata property affected by this regression, and it reported a contract-metadata failure. So the same real regression that was invisible at the output level became visible when we observed the correct internal property.</a:t>
            </a:r>
          </a:p>
          <a:p>
            <a:r>
              <a:rPr lang="en-US" dirty="0" smtClean="0"/>
              <a:t>This is the main evidence for Objective 2: a matched oracle can detect a real regression that an output-equivalence check misses. It also motivates Objective 1, but this single case does not tell us how common such regressions are; prevalence is measured separately.</a:t>
            </a:r>
          </a:p>
          <a:p>
            <a:endParaRPr dirty="0"/>
          </a:p>
          <a:p>
            <a:r>
              <a:rPr dirty="0" err="1"/>
              <a:t>Mumkin</a:t>
            </a:r>
            <a:r>
              <a:rPr dirty="0"/>
              <a:t> examiner </a:t>
            </a:r>
            <a:r>
              <a:rPr dirty="0" err="1"/>
              <a:t>sawalat</a:t>
            </a:r>
            <a:r>
              <a:rPr dirty="0"/>
              <a:t>:</a:t>
            </a:r>
          </a:p>
          <a:p>
            <a:r>
              <a:rPr dirty="0"/>
              <a:t>S1: Kya ye </a:t>
            </a:r>
            <a:r>
              <a:rPr dirty="0" err="1"/>
              <a:t>mumkin</a:t>
            </a:r>
            <a:r>
              <a:rPr dirty="0"/>
              <a:t> </a:t>
            </a:r>
            <a:r>
              <a:rPr dirty="0" err="1"/>
              <a:t>nahi</a:t>
            </a:r>
            <a:r>
              <a:rPr dirty="0"/>
              <a:t> </a:t>
            </a:r>
            <a:r>
              <a:rPr dirty="0" err="1"/>
              <a:t>ke</a:t>
            </a:r>
            <a:r>
              <a:rPr dirty="0"/>
              <a:t> black-box oracle </a:t>
            </a:r>
            <a:r>
              <a:rPr dirty="0" err="1"/>
              <a:t>sahi</a:t>
            </a:r>
            <a:r>
              <a:rPr dirty="0"/>
              <a:t> </a:t>
            </a:r>
            <a:r>
              <a:rPr dirty="0" err="1"/>
              <a:t>tha</a:t>
            </a:r>
            <a:r>
              <a:rPr dirty="0"/>
              <a:t> </a:t>
            </a:r>
            <a:r>
              <a:rPr dirty="0" err="1"/>
              <a:t>aur</a:t>
            </a:r>
            <a:r>
              <a:rPr dirty="0"/>
              <a:t> matched oracle ne </a:t>
            </a:r>
            <a:r>
              <a:rPr dirty="0" err="1"/>
              <a:t>galat</a:t>
            </a:r>
            <a:r>
              <a:rPr dirty="0"/>
              <a:t> (false positive) fault detect </a:t>
            </a:r>
            <a:r>
              <a:rPr dirty="0" err="1"/>
              <a:t>kiya</a:t>
            </a:r>
            <a:r>
              <a:rPr dirty="0"/>
              <a:t> ho?</a:t>
            </a:r>
          </a:p>
          <a:p>
            <a:r>
              <a:rPr dirty="0"/>
              <a:t>J1: </a:t>
            </a:r>
            <a:r>
              <a:rPr dirty="0" err="1"/>
              <a:t>Nahi</a:t>
            </a:r>
            <a:r>
              <a:rPr dirty="0"/>
              <a:t>, </a:t>
            </a:r>
            <a:r>
              <a:rPr dirty="0" err="1"/>
              <a:t>kyunki</a:t>
            </a:r>
            <a:r>
              <a:rPr dirty="0"/>
              <a:t> matched oracle ne specifically contract/metadata corruption detect </a:t>
            </a:r>
            <a:r>
              <a:rPr dirty="0" err="1"/>
              <a:t>ki</a:t>
            </a:r>
            <a:r>
              <a:rPr dirty="0"/>
              <a:t> </a:t>
            </a:r>
            <a:r>
              <a:rPr dirty="0" err="1"/>
              <a:t>hai</a:t>
            </a:r>
            <a:r>
              <a:rPr dirty="0"/>
              <a:t> — jo </a:t>
            </a:r>
            <a:r>
              <a:rPr dirty="0" err="1"/>
              <a:t>ek</a:t>
            </a:r>
            <a:r>
              <a:rPr dirty="0"/>
              <a:t> real, verifiable difference </a:t>
            </a:r>
            <a:r>
              <a:rPr dirty="0" err="1"/>
              <a:t>hai</a:t>
            </a:r>
            <a:r>
              <a:rPr dirty="0"/>
              <a:t> </a:t>
            </a:r>
            <a:r>
              <a:rPr dirty="0" err="1"/>
              <a:t>jise</a:t>
            </a:r>
            <a:r>
              <a:rPr dirty="0"/>
              <a:t> black-box equivalence check </a:t>
            </a:r>
            <a:r>
              <a:rPr dirty="0" err="1"/>
              <a:t>dekh</a:t>
            </a:r>
            <a:r>
              <a:rPr dirty="0"/>
              <a:t> hi </a:t>
            </a:r>
            <a:r>
              <a:rPr dirty="0" err="1"/>
              <a:t>nahi</a:t>
            </a:r>
            <a:r>
              <a:rPr dirty="0"/>
              <a:t> </a:t>
            </a:r>
            <a:r>
              <a:rPr dirty="0" err="1"/>
              <a:t>sakta</a:t>
            </a:r>
            <a:r>
              <a:rPr dirty="0"/>
              <a:t> </a:t>
            </a:r>
            <a:r>
              <a:rPr dirty="0" err="1"/>
              <a:t>kyunki</a:t>
            </a:r>
            <a:r>
              <a:rPr dirty="0"/>
              <a:t> wo </a:t>
            </a:r>
            <a:r>
              <a:rPr dirty="0" err="1"/>
              <a:t>sirf</a:t>
            </a:r>
            <a:r>
              <a:rPr dirty="0"/>
              <a:t> circuit </a:t>
            </a:r>
            <a:r>
              <a:rPr dirty="0" err="1"/>
              <a:t>ka</a:t>
            </a:r>
            <a:r>
              <a:rPr dirty="0"/>
              <a:t> unitary behavior check </a:t>
            </a:r>
            <a:r>
              <a:rPr dirty="0" err="1"/>
              <a:t>karta</a:t>
            </a:r>
            <a:r>
              <a:rPr dirty="0"/>
              <a:t> </a:t>
            </a:r>
            <a:r>
              <a:rPr dirty="0" err="1"/>
              <a:t>hai</a:t>
            </a:r>
            <a:r>
              <a:rPr dirty="0"/>
              <a:t>, </a:t>
            </a:r>
            <a:r>
              <a:rPr dirty="0" err="1"/>
              <a:t>uska</a:t>
            </a:r>
            <a:r>
              <a:rPr dirty="0"/>
              <a:t> metadata </a:t>
            </a:r>
            <a:r>
              <a:rPr dirty="0" err="1"/>
              <a:t>nahi</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a:t>
            </a:r>
            <a:r>
              <a:rPr dirty="0" err="1"/>
              <a:t>Sirf</a:t>
            </a:r>
            <a:r>
              <a:rPr dirty="0"/>
              <a:t> </a:t>
            </a:r>
            <a:r>
              <a:rPr dirty="0" err="1"/>
              <a:t>ek</a:t>
            </a:r>
            <a:r>
              <a:rPr dirty="0"/>
              <a:t> regression se 'observability gap' </a:t>
            </a:r>
            <a:r>
              <a:rPr dirty="0" err="1"/>
              <a:t>ka</a:t>
            </a:r>
            <a:r>
              <a:rPr dirty="0"/>
              <a:t> </a:t>
            </a:r>
            <a:r>
              <a:rPr dirty="0" err="1"/>
              <a:t>itna</a:t>
            </a:r>
            <a:r>
              <a:rPr dirty="0"/>
              <a:t> bara claim — statistically ye </a:t>
            </a:r>
            <a:r>
              <a:rPr dirty="0" err="1"/>
              <a:t>ek</a:t>
            </a:r>
            <a:r>
              <a:rPr dirty="0"/>
              <a:t> anecdote </a:t>
            </a:r>
            <a:r>
              <a:rPr dirty="0" err="1"/>
              <a:t>hai</a:t>
            </a:r>
            <a:r>
              <a:rPr dirty="0"/>
              <a:t>, proof </a:t>
            </a:r>
            <a:r>
              <a:rPr dirty="0" err="1"/>
              <a:t>nahi</a:t>
            </a:r>
            <a:r>
              <a:rPr dirty="0"/>
              <a:t>.</a:t>
            </a:r>
          </a:p>
          <a:p>
            <a:r>
              <a:rPr dirty="0"/>
              <a:t>J: </a:t>
            </a:r>
            <a:r>
              <a:rPr dirty="0" err="1"/>
              <a:t>Bilkul</a:t>
            </a:r>
            <a:r>
              <a:rPr dirty="0"/>
              <a:t> </a:t>
            </a:r>
            <a:r>
              <a:rPr dirty="0" err="1"/>
              <a:t>sahi</a:t>
            </a:r>
            <a:r>
              <a:rPr dirty="0"/>
              <a:t> — H1 </a:t>
            </a:r>
            <a:r>
              <a:rPr dirty="0" err="1"/>
              <a:t>ek</a:t>
            </a:r>
            <a:r>
              <a:rPr dirty="0"/>
              <a:t> proof-of-concept demonstration </a:t>
            </a:r>
            <a:r>
              <a:rPr dirty="0" err="1"/>
              <a:t>hai</a:t>
            </a:r>
            <a:r>
              <a:rPr dirty="0"/>
              <a:t>, statistical proof </a:t>
            </a:r>
            <a:r>
              <a:rPr dirty="0" err="1"/>
              <a:t>nahi</a:t>
            </a:r>
            <a:r>
              <a:rPr dirty="0"/>
              <a:t>. </a:t>
            </a:r>
            <a:r>
              <a:rPr dirty="0" err="1"/>
              <a:t>Iska</a:t>
            </a:r>
            <a:r>
              <a:rPr dirty="0"/>
              <a:t> role </a:t>
            </a:r>
            <a:r>
              <a:rPr dirty="0" err="1"/>
              <a:t>sirf</a:t>
            </a:r>
            <a:r>
              <a:rPr dirty="0"/>
              <a:t> ye </a:t>
            </a:r>
            <a:r>
              <a:rPr dirty="0" err="1"/>
              <a:t>dikhana</a:t>
            </a:r>
            <a:r>
              <a:rPr dirty="0"/>
              <a:t> </a:t>
            </a:r>
            <a:r>
              <a:rPr dirty="0" err="1"/>
              <a:t>hai</a:t>
            </a:r>
            <a:r>
              <a:rPr dirty="0"/>
              <a:t> </a:t>
            </a:r>
            <a:r>
              <a:rPr dirty="0" err="1"/>
              <a:t>ke</a:t>
            </a:r>
            <a:r>
              <a:rPr dirty="0"/>
              <a:t> gap real </a:t>
            </a:r>
            <a:r>
              <a:rPr dirty="0" err="1"/>
              <a:t>aur</a:t>
            </a:r>
            <a:r>
              <a:rPr dirty="0"/>
              <a:t> observable </a:t>
            </a:r>
            <a:r>
              <a:rPr dirty="0" err="1"/>
              <a:t>hai</a:t>
            </a:r>
            <a:r>
              <a:rPr dirty="0"/>
              <a:t>; </a:t>
            </a:r>
            <a:r>
              <a:rPr dirty="0" err="1"/>
              <a:t>iski</a:t>
            </a:r>
            <a:r>
              <a:rPr dirty="0"/>
              <a:t> prevalence 26-fix seed </a:t>
            </a:r>
            <a:r>
              <a:rPr dirty="0" err="1"/>
              <a:t>aur</a:t>
            </a:r>
            <a:r>
              <a:rPr dirty="0"/>
              <a:t> Phase 2 mining se estimate </a:t>
            </a:r>
            <a:r>
              <a:rPr dirty="0" err="1"/>
              <a:t>ki</a:t>
            </a:r>
            <a:r>
              <a:rPr dirty="0"/>
              <a:t> ja </a:t>
            </a:r>
            <a:r>
              <a:rPr dirty="0" err="1"/>
              <a:t>rahi</a:t>
            </a:r>
            <a:r>
              <a:rPr dirty="0"/>
              <a:t> </a:t>
            </a:r>
            <a:r>
              <a:rPr dirty="0" err="1"/>
              <a:t>hai</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26 total → 16 visible → 10 hidden → 38% preliminary → mainly metadata → not final prevalence.</a:t>
            </a:r>
          </a:p>
          <a:p>
            <a:endParaRPr lang="en-US" dirty="0" smtClean="0"/>
          </a:p>
          <a:p>
            <a:r>
              <a:rPr lang="en-US" dirty="0" smtClean="0"/>
              <a:t>This slide gives our </a:t>
            </a:r>
            <a:r>
              <a:rPr lang="en-US" b="1" dirty="0" smtClean="0"/>
              <a:t>preliminary evidence for Objective 1</a:t>
            </a:r>
            <a:r>
              <a:rPr lang="en-US" dirty="0" smtClean="0"/>
              <a:t>, which asks how often real </a:t>
            </a:r>
            <a:r>
              <a:rPr lang="en-US" dirty="0" err="1" smtClean="0"/>
              <a:t>transpiler</a:t>
            </a:r>
            <a:r>
              <a:rPr lang="en-US" dirty="0" smtClean="0"/>
              <a:t> regressions may escape the reference screen.</a:t>
            </a:r>
          </a:p>
          <a:p>
            <a:r>
              <a:rPr lang="en-US" dirty="0" smtClean="0"/>
              <a:t>We examined an initial seed of </a:t>
            </a:r>
            <a:r>
              <a:rPr lang="en-US" b="1" dirty="0" smtClean="0"/>
              <a:t>26 real </a:t>
            </a:r>
            <a:r>
              <a:rPr lang="en-US" b="1" dirty="0" err="1" smtClean="0"/>
              <a:t>Qiskit</a:t>
            </a:r>
            <a:r>
              <a:rPr lang="en-US" b="1" dirty="0" smtClean="0"/>
              <a:t> fixes</a:t>
            </a:r>
            <a:r>
              <a:rPr lang="en-US" dirty="0" smtClean="0"/>
              <a:t> and classified each one according to the fault channel where the regression appeared.</a:t>
            </a:r>
          </a:p>
          <a:p>
            <a:r>
              <a:rPr lang="en-US" dirty="0" smtClean="0"/>
              <a:t>Out of the 26 fixes, </a:t>
            </a:r>
            <a:r>
              <a:rPr lang="en-US" b="1" dirty="0" smtClean="0"/>
              <a:t>16 fall into channels already covered by the reference screen</a:t>
            </a:r>
            <a:r>
              <a:rPr lang="en-US" dirty="0" smtClean="0"/>
              <a:t>—such as compilation failure, semantic output, circuit quality, and performance.</a:t>
            </a:r>
          </a:p>
          <a:p>
            <a:r>
              <a:rPr lang="en-US" dirty="0" smtClean="0"/>
              <a:t>But </a:t>
            </a:r>
            <a:r>
              <a:rPr lang="en-US" b="1" dirty="0" smtClean="0"/>
              <a:t>10 out of 26</a:t>
            </a:r>
            <a:r>
              <a:rPr lang="en-US" dirty="0" smtClean="0"/>
              <a:t>, or approximately </a:t>
            </a:r>
            <a:r>
              <a:rPr lang="en-US" b="1" dirty="0" smtClean="0"/>
              <a:t>38 percent</a:t>
            </a:r>
            <a:r>
              <a:rPr lang="en-US" dirty="0" smtClean="0"/>
              <a:t>, fall into channels that the reference screen does not directly observe. These include </a:t>
            </a:r>
            <a:r>
              <a:rPr lang="en-US" b="1" dirty="0" smtClean="0"/>
              <a:t>7 contract or metadata cases, 2 non-determinism cases, and 1 global-phase case</a:t>
            </a:r>
            <a:r>
              <a:rPr lang="en-US" dirty="0" smtClean="0"/>
              <a:t>.</a:t>
            </a:r>
          </a:p>
          <a:p>
            <a:r>
              <a:rPr lang="en-US" dirty="0" smtClean="0"/>
              <a:t>So this preliminary result suggests that the observability gap may be practically meaningful, not just theoretical.</a:t>
            </a:r>
          </a:p>
          <a:p>
            <a:r>
              <a:rPr lang="en-US" dirty="0" smtClean="0"/>
              <a:t>However, this is only a </a:t>
            </a:r>
            <a:r>
              <a:rPr lang="en-US" b="1" dirty="0" smtClean="0"/>
              <a:t>26-fix seed</a:t>
            </a:r>
            <a:r>
              <a:rPr lang="en-US" dirty="0" smtClean="0"/>
              <a:t>, so I do not treat 38 percent as the final prevalence estimate. A larger systematic mining study is needed before making a strong general claim.</a:t>
            </a:r>
          </a:p>
          <a:p>
            <a:endParaRPr dirty="0"/>
          </a:p>
          <a:p>
            <a:r>
              <a:rPr dirty="0" err="1"/>
              <a:t>Mumkin</a:t>
            </a:r>
            <a:r>
              <a:rPr dirty="0"/>
              <a:t> examiner </a:t>
            </a:r>
            <a:r>
              <a:rPr dirty="0" err="1"/>
              <a:t>sawalat</a:t>
            </a:r>
            <a:r>
              <a:rPr dirty="0"/>
              <a:t>:</a:t>
            </a:r>
          </a:p>
          <a:p>
            <a:r>
              <a:rPr dirty="0"/>
              <a:t>S1: </a:t>
            </a:r>
            <a:r>
              <a:rPr dirty="0" err="1"/>
              <a:t>Sirf</a:t>
            </a:r>
            <a:r>
              <a:rPr dirty="0"/>
              <a:t> 26 fixes </a:t>
            </a:r>
            <a:r>
              <a:rPr dirty="0" err="1"/>
              <a:t>ka</a:t>
            </a:r>
            <a:r>
              <a:rPr dirty="0"/>
              <a:t> sample </a:t>
            </a:r>
            <a:r>
              <a:rPr dirty="0" err="1"/>
              <a:t>kaafi</a:t>
            </a:r>
            <a:r>
              <a:rPr dirty="0"/>
              <a:t> </a:t>
            </a:r>
            <a:r>
              <a:rPr dirty="0" err="1"/>
              <a:t>chota</a:t>
            </a:r>
            <a:r>
              <a:rPr dirty="0"/>
              <a:t> </a:t>
            </a:r>
            <a:r>
              <a:rPr dirty="0" err="1"/>
              <a:t>hai</a:t>
            </a:r>
            <a:r>
              <a:rPr dirty="0"/>
              <a:t> — is 38 percent estimate par </a:t>
            </a:r>
            <a:r>
              <a:rPr dirty="0" err="1"/>
              <a:t>kitna</a:t>
            </a:r>
            <a:r>
              <a:rPr dirty="0"/>
              <a:t> </a:t>
            </a:r>
            <a:r>
              <a:rPr dirty="0" err="1"/>
              <a:t>bharosa</a:t>
            </a:r>
            <a:r>
              <a:rPr dirty="0"/>
              <a:t> </a:t>
            </a:r>
            <a:r>
              <a:rPr dirty="0" err="1"/>
              <a:t>kiya</a:t>
            </a:r>
            <a:r>
              <a:rPr dirty="0"/>
              <a:t> ja </a:t>
            </a:r>
            <a:r>
              <a:rPr dirty="0" err="1"/>
              <a:t>sakta</a:t>
            </a:r>
            <a:r>
              <a:rPr dirty="0"/>
              <a:t> </a:t>
            </a:r>
            <a:r>
              <a:rPr dirty="0" err="1"/>
              <a:t>hai</a:t>
            </a:r>
            <a:r>
              <a:rPr dirty="0"/>
              <a:t>?</a:t>
            </a:r>
          </a:p>
          <a:p>
            <a:r>
              <a:rPr dirty="0"/>
              <a:t>J1: </a:t>
            </a:r>
            <a:r>
              <a:rPr dirty="0" err="1"/>
              <a:t>Bilkul</a:t>
            </a:r>
            <a:r>
              <a:rPr dirty="0"/>
              <a:t> </a:t>
            </a:r>
            <a:r>
              <a:rPr dirty="0" err="1"/>
              <a:t>sahi</a:t>
            </a:r>
            <a:r>
              <a:rPr dirty="0"/>
              <a:t> </a:t>
            </a:r>
            <a:r>
              <a:rPr dirty="0" err="1"/>
              <a:t>baat</a:t>
            </a:r>
            <a:r>
              <a:rPr dirty="0"/>
              <a:t> </a:t>
            </a:r>
            <a:r>
              <a:rPr dirty="0" err="1"/>
              <a:t>hai</a:t>
            </a:r>
            <a:r>
              <a:rPr dirty="0"/>
              <a:t> — </a:t>
            </a:r>
            <a:r>
              <a:rPr dirty="0" err="1"/>
              <a:t>isi</a:t>
            </a:r>
            <a:r>
              <a:rPr dirty="0"/>
              <a:t> </a:t>
            </a:r>
            <a:r>
              <a:rPr dirty="0" err="1"/>
              <a:t>liye</a:t>
            </a:r>
            <a:r>
              <a:rPr dirty="0"/>
              <a:t> slide </a:t>
            </a:r>
            <a:r>
              <a:rPr dirty="0" err="1"/>
              <a:t>ka</a:t>
            </a:r>
            <a:r>
              <a:rPr dirty="0"/>
              <a:t> title </a:t>
            </a:r>
            <a:r>
              <a:rPr dirty="0" err="1"/>
              <a:t>khud</a:t>
            </a:r>
            <a:r>
              <a:rPr dirty="0"/>
              <a:t> 'Preliminary' </a:t>
            </a:r>
            <a:r>
              <a:rPr dirty="0" err="1"/>
              <a:t>hai</a:t>
            </a:r>
            <a:r>
              <a:rPr dirty="0"/>
              <a:t>. Ye </a:t>
            </a:r>
            <a:r>
              <a:rPr dirty="0" err="1"/>
              <a:t>ek</a:t>
            </a:r>
            <a:r>
              <a:rPr dirty="0"/>
              <a:t> early indicator </a:t>
            </a:r>
            <a:r>
              <a:rPr dirty="0" err="1"/>
              <a:t>hai</a:t>
            </a:r>
            <a:r>
              <a:rPr dirty="0"/>
              <a:t>, statistically robust estimate </a:t>
            </a:r>
            <a:r>
              <a:rPr dirty="0" err="1"/>
              <a:t>nahi</a:t>
            </a:r>
            <a:r>
              <a:rPr dirty="0"/>
              <a:t>. Full-scale mining Phase 2 </a:t>
            </a:r>
            <a:r>
              <a:rPr dirty="0" err="1"/>
              <a:t>mein</a:t>
            </a:r>
            <a:r>
              <a:rPr dirty="0"/>
              <a:t> </a:t>
            </a:r>
            <a:r>
              <a:rPr dirty="0" err="1"/>
              <a:t>hogi</a:t>
            </a:r>
            <a:r>
              <a:rPr dirty="0"/>
              <a:t> </a:t>
            </a:r>
            <a:r>
              <a:rPr dirty="0" err="1"/>
              <a:t>jahan</a:t>
            </a:r>
            <a:r>
              <a:rPr dirty="0"/>
              <a:t> sample size </a:t>
            </a:r>
            <a:r>
              <a:rPr dirty="0" err="1"/>
              <a:t>barhaya</a:t>
            </a:r>
            <a:r>
              <a:rPr dirty="0"/>
              <a:t> </a:t>
            </a:r>
            <a:r>
              <a:rPr dirty="0" err="1"/>
              <a:t>jayega</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38% </a:t>
            </a:r>
            <a:r>
              <a:rPr dirty="0" err="1"/>
              <a:t>ka</a:t>
            </a:r>
            <a:r>
              <a:rPr dirty="0"/>
              <a:t> number </a:t>
            </a:r>
            <a:r>
              <a:rPr dirty="0" err="1"/>
              <a:t>bohot</a:t>
            </a:r>
            <a:r>
              <a:rPr dirty="0"/>
              <a:t> convenient </a:t>
            </a:r>
            <a:r>
              <a:rPr dirty="0" err="1"/>
              <a:t>lagta</a:t>
            </a:r>
            <a:r>
              <a:rPr dirty="0"/>
              <a:t> </a:t>
            </a:r>
            <a:r>
              <a:rPr dirty="0" err="1"/>
              <a:t>hai</a:t>
            </a:r>
            <a:r>
              <a:rPr dirty="0"/>
              <a:t> — </a:t>
            </a:r>
            <a:r>
              <a:rPr dirty="0" err="1"/>
              <a:t>kya</a:t>
            </a:r>
            <a:r>
              <a:rPr dirty="0"/>
              <a:t> sample specifically is </a:t>
            </a:r>
            <a:r>
              <a:rPr dirty="0" err="1"/>
              <a:t>tarah</a:t>
            </a:r>
            <a:r>
              <a:rPr dirty="0"/>
              <a:t> select </a:t>
            </a:r>
            <a:r>
              <a:rPr dirty="0" err="1"/>
              <a:t>kiya</a:t>
            </a:r>
            <a:r>
              <a:rPr dirty="0"/>
              <a:t> </a:t>
            </a:r>
            <a:r>
              <a:rPr dirty="0" err="1"/>
              <a:t>gaya</a:t>
            </a:r>
            <a:r>
              <a:rPr dirty="0"/>
              <a:t> </a:t>
            </a:r>
            <a:r>
              <a:rPr dirty="0" err="1"/>
              <a:t>taake</a:t>
            </a:r>
            <a:r>
              <a:rPr dirty="0"/>
              <a:t> number </a:t>
            </a:r>
            <a:r>
              <a:rPr dirty="0" err="1"/>
              <a:t>acha</a:t>
            </a:r>
            <a:r>
              <a:rPr dirty="0"/>
              <a:t> </a:t>
            </a:r>
            <a:r>
              <a:rPr dirty="0" err="1"/>
              <a:t>lage</a:t>
            </a:r>
            <a:r>
              <a:rPr dirty="0"/>
              <a:t>?</a:t>
            </a:r>
          </a:p>
          <a:p>
            <a:r>
              <a:rPr dirty="0"/>
              <a:t>J: </a:t>
            </a:r>
            <a:r>
              <a:rPr dirty="0" err="1"/>
              <a:t>Nahi</a:t>
            </a:r>
            <a:r>
              <a:rPr dirty="0"/>
              <a:t>, ye </a:t>
            </a:r>
            <a:r>
              <a:rPr dirty="0" err="1"/>
              <a:t>ek</a:t>
            </a:r>
            <a:r>
              <a:rPr dirty="0"/>
              <a:t> pre-defined mining protocol se </a:t>
            </a:r>
            <a:r>
              <a:rPr dirty="0" err="1"/>
              <a:t>nikla</a:t>
            </a:r>
            <a:r>
              <a:rPr dirty="0"/>
              <a:t> </a:t>
            </a:r>
            <a:r>
              <a:rPr dirty="0" err="1"/>
              <a:t>hai</a:t>
            </a:r>
            <a:r>
              <a:rPr dirty="0"/>
              <a:t> jo </a:t>
            </a:r>
            <a:r>
              <a:rPr dirty="0" err="1"/>
              <a:t>Qiskit</a:t>
            </a:r>
            <a:r>
              <a:rPr dirty="0"/>
              <a:t> </a:t>
            </a:r>
            <a:r>
              <a:rPr dirty="0" err="1"/>
              <a:t>ke</a:t>
            </a:r>
            <a:r>
              <a:rPr dirty="0"/>
              <a:t> merged fixes se </a:t>
            </a:r>
            <a:r>
              <a:rPr dirty="0" err="1"/>
              <a:t>hai</a:t>
            </a:r>
            <a:r>
              <a:rPr dirty="0"/>
              <a:t>, cherry-picked </a:t>
            </a:r>
            <a:r>
              <a:rPr dirty="0" err="1"/>
              <a:t>nahi</a:t>
            </a:r>
            <a:r>
              <a:rPr dirty="0"/>
              <a:t> — </a:t>
            </a:r>
            <a:r>
              <a:rPr dirty="0" err="1"/>
              <a:t>lekin</a:t>
            </a:r>
            <a:r>
              <a:rPr dirty="0"/>
              <a:t> hum </a:t>
            </a:r>
            <a:r>
              <a:rPr dirty="0" err="1"/>
              <a:t>khud</a:t>
            </a:r>
            <a:r>
              <a:rPr dirty="0"/>
              <a:t> acknowledge </a:t>
            </a:r>
            <a:r>
              <a:rPr dirty="0" err="1"/>
              <a:t>karte</a:t>
            </a:r>
            <a:r>
              <a:rPr dirty="0"/>
              <a:t> </a:t>
            </a:r>
            <a:r>
              <a:rPr dirty="0" err="1"/>
              <a:t>hain</a:t>
            </a:r>
            <a:r>
              <a:rPr dirty="0"/>
              <a:t> </a:t>
            </a:r>
            <a:r>
              <a:rPr dirty="0" err="1"/>
              <a:t>ke</a:t>
            </a:r>
            <a:r>
              <a:rPr dirty="0"/>
              <a:t> sample </a:t>
            </a:r>
            <a:r>
              <a:rPr dirty="0" err="1"/>
              <a:t>chota</a:t>
            </a:r>
            <a:r>
              <a:rPr dirty="0"/>
              <a:t> </a:t>
            </a:r>
            <a:r>
              <a:rPr dirty="0" err="1"/>
              <a:t>hai</a:t>
            </a:r>
            <a:r>
              <a:rPr dirty="0"/>
              <a:t> (26 fixes), </a:t>
            </a:r>
            <a:r>
              <a:rPr dirty="0" err="1"/>
              <a:t>isi</a:t>
            </a:r>
            <a:r>
              <a:rPr dirty="0"/>
              <a:t> </a:t>
            </a:r>
            <a:r>
              <a:rPr dirty="0" err="1"/>
              <a:t>liye</a:t>
            </a:r>
            <a:r>
              <a:rPr dirty="0"/>
              <a:t> slide </a:t>
            </a:r>
            <a:r>
              <a:rPr dirty="0" err="1"/>
              <a:t>ka</a:t>
            </a:r>
            <a:r>
              <a:rPr dirty="0"/>
              <a:t> title </a:t>
            </a:r>
            <a:r>
              <a:rPr dirty="0" err="1"/>
              <a:t>khud</a:t>
            </a:r>
            <a:r>
              <a:rPr dirty="0"/>
              <a:t> 'Preliminary' </a:t>
            </a:r>
            <a:r>
              <a:rPr dirty="0" err="1"/>
              <a:t>hai</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Ye </a:t>
            </a:r>
            <a:r>
              <a:rPr dirty="0" err="1"/>
              <a:t>hamara</a:t>
            </a:r>
            <a:r>
              <a:rPr dirty="0"/>
              <a:t> </a:t>
            </a:r>
            <a:r>
              <a:rPr dirty="0" err="1"/>
              <a:t>ek</a:t>
            </a:r>
            <a:r>
              <a:rPr dirty="0"/>
              <a:t> </a:t>
            </a:r>
            <a:r>
              <a:rPr dirty="0" err="1"/>
              <a:t>saal</a:t>
            </a:r>
            <a:r>
              <a:rPr dirty="0"/>
              <a:t> </a:t>
            </a:r>
            <a:r>
              <a:rPr dirty="0" err="1"/>
              <a:t>ka</a:t>
            </a:r>
            <a:r>
              <a:rPr dirty="0"/>
              <a:t> work plan </a:t>
            </a:r>
            <a:r>
              <a:rPr dirty="0" err="1"/>
              <a:t>hai</a:t>
            </a:r>
            <a:r>
              <a:rPr dirty="0"/>
              <a:t>. Phase 1 </a:t>
            </a:r>
            <a:r>
              <a:rPr dirty="0" err="1"/>
              <a:t>mukammal</a:t>
            </a:r>
            <a:r>
              <a:rPr dirty="0"/>
              <a:t> ho </a:t>
            </a:r>
            <a:r>
              <a:rPr dirty="0" err="1"/>
              <a:t>chuka</a:t>
            </a:r>
            <a:r>
              <a:rPr dirty="0"/>
              <a:t> </a:t>
            </a:r>
            <a:r>
              <a:rPr dirty="0" err="1"/>
              <a:t>hai</a:t>
            </a:r>
            <a:r>
              <a:rPr dirty="0"/>
              <a:t>. Phase 2 </a:t>
            </a:r>
            <a:r>
              <a:rPr dirty="0" err="1"/>
              <a:t>mein</a:t>
            </a:r>
            <a:r>
              <a:rPr dirty="0"/>
              <a:t> hum </a:t>
            </a:r>
            <a:r>
              <a:rPr dirty="0" err="1"/>
              <a:t>kam</a:t>
            </a:r>
            <a:r>
              <a:rPr dirty="0"/>
              <a:t> se </a:t>
            </a:r>
            <a:r>
              <a:rPr dirty="0" err="1"/>
              <a:t>kam</a:t>
            </a:r>
            <a:r>
              <a:rPr dirty="0"/>
              <a:t> teen forward regressions verify </a:t>
            </a:r>
            <a:r>
              <a:rPr dirty="0" err="1"/>
              <a:t>karenge</a:t>
            </a:r>
            <a:r>
              <a:rPr dirty="0"/>
              <a:t> </a:t>
            </a:r>
            <a:r>
              <a:rPr dirty="0" err="1"/>
              <a:t>aur</a:t>
            </a:r>
            <a:r>
              <a:rPr dirty="0"/>
              <a:t> mining expand </a:t>
            </a:r>
            <a:r>
              <a:rPr dirty="0" err="1"/>
              <a:t>karenge</a:t>
            </a:r>
            <a:r>
              <a:rPr dirty="0"/>
              <a:t>. Phase 3 </a:t>
            </a:r>
            <a:r>
              <a:rPr dirty="0" err="1"/>
              <a:t>mein</a:t>
            </a:r>
            <a:r>
              <a:rPr dirty="0"/>
              <a:t> selector </a:t>
            </a:r>
            <a:r>
              <a:rPr dirty="0" err="1"/>
              <a:t>ko</a:t>
            </a:r>
            <a:r>
              <a:rPr dirty="0"/>
              <a:t> baselines </a:t>
            </a:r>
            <a:r>
              <a:rPr dirty="0" err="1"/>
              <a:t>ke</a:t>
            </a:r>
            <a:r>
              <a:rPr dirty="0"/>
              <a:t> against compare </a:t>
            </a:r>
            <a:r>
              <a:rPr dirty="0" err="1"/>
              <a:t>karenge</a:t>
            </a:r>
            <a:r>
              <a:rPr dirty="0"/>
              <a:t>. Phase 4 stretch goal </a:t>
            </a:r>
            <a:r>
              <a:rPr dirty="0" err="1"/>
              <a:t>hai</a:t>
            </a:r>
            <a:r>
              <a:rPr dirty="0"/>
              <a:t> — validation </a:t>
            </a:r>
            <a:r>
              <a:rPr dirty="0" err="1"/>
              <a:t>aur</a:t>
            </a:r>
            <a:r>
              <a:rPr dirty="0"/>
              <a:t> cross-SDK </a:t>
            </a:r>
            <a:r>
              <a:rPr dirty="0" err="1"/>
              <a:t>generalisation</a:t>
            </a:r>
            <a:r>
              <a:rPr dirty="0"/>
              <a:t>. Phase 5 </a:t>
            </a:r>
            <a:r>
              <a:rPr dirty="0" err="1"/>
              <a:t>mein</a:t>
            </a:r>
            <a:r>
              <a:rPr dirty="0"/>
              <a:t> thesis </a:t>
            </a:r>
            <a:r>
              <a:rPr dirty="0" err="1"/>
              <a:t>likhna</a:t>
            </a:r>
            <a:r>
              <a:rPr dirty="0"/>
              <a:t> </a:t>
            </a:r>
            <a:r>
              <a:rPr dirty="0" err="1"/>
              <a:t>aur</a:t>
            </a:r>
            <a:r>
              <a:rPr dirty="0"/>
              <a:t> </a:t>
            </a:r>
            <a:r>
              <a:rPr dirty="0" err="1"/>
              <a:t>defence</a:t>
            </a:r>
            <a:r>
              <a:rPr dirty="0"/>
              <a:t> </a:t>
            </a:r>
            <a:r>
              <a:rPr dirty="0" err="1"/>
              <a:t>hoga</a:t>
            </a:r>
            <a:r>
              <a:rPr dirty="0"/>
              <a:t>.</a:t>
            </a:r>
          </a:p>
          <a:p>
            <a:endParaRPr dirty="0"/>
          </a:p>
          <a:p>
            <a:r>
              <a:rPr dirty="0" err="1"/>
              <a:t>Mumkin</a:t>
            </a:r>
            <a:r>
              <a:rPr dirty="0"/>
              <a:t> examiner </a:t>
            </a:r>
            <a:r>
              <a:rPr dirty="0" err="1"/>
              <a:t>sawalat</a:t>
            </a:r>
            <a:r>
              <a:rPr dirty="0"/>
              <a:t>:</a:t>
            </a:r>
          </a:p>
          <a:p>
            <a:r>
              <a:rPr dirty="0"/>
              <a:t>S1: Agar Phase 2 </a:t>
            </a:r>
            <a:r>
              <a:rPr dirty="0" err="1"/>
              <a:t>ka</a:t>
            </a:r>
            <a:r>
              <a:rPr dirty="0"/>
              <a:t> scale-up target (</a:t>
            </a:r>
            <a:r>
              <a:rPr dirty="0" err="1"/>
              <a:t>kam</a:t>
            </a:r>
            <a:r>
              <a:rPr dirty="0"/>
              <a:t> se </a:t>
            </a:r>
            <a:r>
              <a:rPr dirty="0" err="1"/>
              <a:t>kam</a:t>
            </a:r>
            <a:r>
              <a:rPr dirty="0"/>
              <a:t> teen forward regressions) </a:t>
            </a:r>
            <a:r>
              <a:rPr dirty="0" err="1"/>
              <a:t>na</a:t>
            </a:r>
            <a:r>
              <a:rPr dirty="0"/>
              <a:t> mil </a:t>
            </a:r>
            <a:r>
              <a:rPr dirty="0" err="1"/>
              <a:t>saka</a:t>
            </a:r>
            <a:r>
              <a:rPr dirty="0"/>
              <a:t>, to thesis timeline </a:t>
            </a:r>
            <a:r>
              <a:rPr dirty="0" err="1"/>
              <a:t>ka</a:t>
            </a:r>
            <a:r>
              <a:rPr dirty="0"/>
              <a:t> </a:t>
            </a:r>
            <a:r>
              <a:rPr dirty="0" err="1"/>
              <a:t>kya</a:t>
            </a:r>
            <a:r>
              <a:rPr dirty="0"/>
              <a:t> </a:t>
            </a:r>
            <a:r>
              <a:rPr dirty="0" err="1"/>
              <a:t>hoga</a:t>
            </a:r>
            <a:r>
              <a:rPr dirty="0"/>
              <a:t>?</a:t>
            </a:r>
          </a:p>
          <a:p>
            <a:r>
              <a:rPr dirty="0"/>
              <a:t>J1: Agar target regressions </a:t>
            </a:r>
            <a:r>
              <a:rPr dirty="0" err="1"/>
              <a:t>na</a:t>
            </a:r>
            <a:r>
              <a:rPr dirty="0"/>
              <a:t> </a:t>
            </a:r>
            <a:r>
              <a:rPr dirty="0" err="1"/>
              <a:t>milein</a:t>
            </a:r>
            <a:r>
              <a:rPr dirty="0"/>
              <a:t>, to hum mining </a:t>
            </a:r>
            <a:r>
              <a:rPr dirty="0" err="1"/>
              <a:t>ko</a:t>
            </a:r>
            <a:r>
              <a:rPr dirty="0"/>
              <a:t> wider time-window </a:t>
            </a:r>
            <a:r>
              <a:rPr dirty="0" err="1"/>
              <a:t>ya</a:t>
            </a:r>
            <a:r>
              <a:rPr dirty="0"/>
              <a:t> additional fault channels </a:t>
            </a:r>
            <a:r>
              <a:rPr dirty="0" err="1"/>
              <a:t>tak</a:t>
            </a:r>
            <a:r>
              <a:rPr dirty="0"/>
              <a:t> expand </a:t>
            </a:r>
            <a:r>
              <a:rPr dirty="0" err="1"/>
              <a:t>karenge</a:t>
            </a:r>
            <a:r>
              <a:rPr dirty="0"/>
              <a:t>. Ye </a:t>
            </a:r>
            <a:r>
              <a:rPr dirty="0" err="1"/>
              <a:t>ek</a:t>
            </a:r>
            <a:r>
              <a:rPr dirty="0"/>
              <a:t> reasonable contingency </a:t>
            </a:r>
            <a:r>
              <a:rPr dirty="0" err="1"/>
              <a:t>hogi</a:t>
            </a:r>
            <a:r>
              <a:rPr dirty="0"/>
              <a:t>, </a:t>
            </a:r>
            <a:r>
              <a:rPr dirty="0" err="1"/>
              <a:t>chahe</a:t>
            </a:r>
            <a:r>
              <a:rPr dirty="0"/>
              <a:t> </a:t>
            </a:r>
            <a:r>
              <a:rPr dirty="0" err="1"/>
              <a:t>filhal</a:t>
            </a:r>
            <a:r>
              <a:rPr dirty="0"/>
              <a:t> timeline </a:t>
            </a:r>
            <a:r>
              <a:rPr dirty="0" err="1"/>
              <a:t>mein</a:t>
            </a:r>
            <a:r>
              <a:rPr dirty="0"/>
              <a:t> explicitly </a:t>
            </a:r>
            <a:r>
              <a:rPr dirty="0" err="1"/>
              <a:t>na</a:t>
            </a:r>
            <a:r>
              <a:rPr dirty="0"/>
              <a:t> </a:t>
            </a:r>
            <a:r>
              <a:rPr dirty="0" err="1"/>
              <a:t>likhi</a:t>
            </a:r>
            <a:r>
              <a:rPr dirty="0"/>
              <a:t> ho.</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Phase 4 </a:t>
            </a:r>
            <a:r>
              <a:rPr dirty="0" err="1"/>
              <a:t>ko</a:t>
            </a:r>
            <a:r>
              <a:rPr dirty="0"/>
              <a:t> 'stretch goal' </a:t>
            </a:r>
            <a:r>
              <a:rPr dirty="0" err="1"/>
              <a:t>likha</a:t>
            </a:r>
            <a:r>
              <a:rPr dirty="0"/>
              <a:t> </a:t>
            </a:r>
            <a:r>
              <a:rPr dirty="0" err="1"/>
              <a:t>hai</a:t>
            </a:r>
            <a:r>
              <a:rPr dirty="0"/>
              <a:t> — </a:t>
            </a:r>
            <a:r>
              <a:rPr dirty="0" err="1"/>
              <a:t>matlab</a:t>
            </a:r>
            <a:r>
              <a:rPr dirty="0"/>
              <a:t> </a:t>
            </a:r>
            <a:r>
              <a:rPr dirty="0" err="1"/>
              <a:t>aap</a:t>
            </a:r>
            <a:r>
              <a:rPr dirty="0"/>
              <a:t> </a:t>
            </a:r>
            <a:r>
              <a:rPr dirty="0" err="1"/>
              <a:t>khud</a:t>
            </a:r>
            <a:r>
              <a:rPr dirty="0"/>
              <a:t> already expect </a:t>
            </a:r>
            <a:r>
              <a:rPr dirty="0" err="1"/>
              <a:t>kar</a:t>
            </a:r>
            <a:r>
              <a:rPr dirty="0"/>
              <a:t> </a:t>
            </a:r>
            <a:r>
              <a:rPr dirty="0" err="1"/>
              <a:t>rahe</a:t>
            </a:r>
            <a:r>
              <a:rPr dirty="0"/>
              <a:t> </a:t>
            </a:r>
            <a:r>
              <a:rPr dirty="0" err="1"/>
              <a:t>hain</a:t>
            </a:r>
            <a:r>
              <a:rPr dirty="0"/>
              <a:t> </a:t>
            </a:r>
            <a:r>
              <a:rPr dirty="0" err="1"/>
              <a:t>ke</a:t>
            </a:r>
            <a:r>
              <a:rPr dirty="0"/>
              <a:t> wo complete </a:t>
            </a:r>
            <a:r>
              <a:rPr dirty="0" err="1"/>
              <a:t>nahi</a:t>
            </a:r>
            <a:r>
              <a:rPr dirty="0"/>
              <a:t> </a:t>
            </a:r>
            <a:r>
              <a:rPr dirty="0" err="1"/>
              <a:t>hoga</a:t>
            </a:r>
            <a:r>
              <a:rPr dirty="0"/>
              <a:t>?</a:t>
            </a:r>
          </a:p>
          <a:p>
            <a:r>
              <a:rPr dirty="0"/>
              <a:t>J: 'Stretch goal' </a:t>
            </a:r>
            <a:r>
              <a:rPr dirty="0" err="1"/>
              <a:t>ka</a:t>
            </a:r>
            <a:r>
              <a:rPr dirty="0"/>
              <a:t> </a:t>
            </a:r>
            <a:r>
              <a:rPr dirty="0" err="1"/>
              <a:t>matlab</a:t>
            </a:r>
            <a:r>
              <a:rPr dirty="0"/>
              <a:t> </a:t>
            </a:r>
            <a:r>
              <a:rPr dirty="0" err="1"/>
              <a:t>hai</a:t>
            </a:r>
            <a:r>
              <a:rPr dirty="0"/>
              <a:t> </a:t>
            </a:r>
            <a:r>
              <a:rPr dirty="0" err="1"/>
              <a:t>ke</a:t>
            </a:r>
            <a:r>
              <a:rPr dirty="0"/>
              <a:t> ye core thesis claims </a:t>
            </a:r>
            <a:r>
              <a:rPr dirty="0" err="1"/>
              <a:t>ke</a:t>
            </a:r>
            <a:r>
              <a:rPr dirty="0"/>
              <a:t> </a:t>
            </a:r>
            <a:r>
              <a:rPr dirty="0" err="1"/>
              <a:t>liye</a:t>
            </a:r>
            <a:r>
              <a:rPr dirty="0"/>
              <a:t> </a:t>
            </a:r>
            <a:r>
              <a:rPr dirty="0" err="1"/>
              <a:t>zaroori</a:t>
            </a:r>
            <a:r>
              <a:rPr dirty="0"/>
              <a:t> </a:t>
            </a:r>
            <a:r>
              <a:rPr dirty="0" err="1"/>
              <a:t>nahi</a:t>
            </a:r>
            <a:r>
              <a:rPr dirty="0"/>
              <a:t>, </a:t>
            </a:r>
            <a:r>
              <a:rPr dirty="0" err="1"/>
              <a:t>ek</a:t>
            </a:r>
            <a:r>
              <a:rPr dirty="0"/>
              <a:t> bonus scope </a:t>
            </a:r>
            <a:r>
              <a:rPr dirty="0" err="1"/>
              <a:t>hai</a:t>
            </a:r>
            <a:r>
              <a:rPr dirty="0"/>
              <a:t> agar time allow </a:t>
            </a:r>
            <a:r>
              <a:rPr dirty="0" err="1"/>
              <a:t>kare</a:t>
            </a:r>
            <a:r>
              <a:rPr dirty="0"/>
              <a:t> — ye realistic planning </a:t>
            </a:r>
            <a:r>
              <a:rPr dirty="0" err="1"/>
              <a:t>hai</a:t>
            </a:r>
            <a:r>
              <a:rPr dirty="0"/>
              <a:t>, failure </a:t>
            </a:r>
            <a:r>
              <a:rPr dirty="0" err="1"/>
              <a:t>ka</a:t>
            </a:r>
            <a:r>
              <a:rPr dirty="0"/>
              <a:t> pre-admission </a:t>
            </a:r>
            <a:r>
              <a:rPr dirty="0" err="1"/>
              <a:t>nahi</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smtClean="0"/>
              <a:t>Aakhir</a:t>
            </a:r>
            <a:r>
              <a:rPr dirty="0" smtClean="0"/>
              <a:t> </a:t>
            </a:r>
            <a:r>
              <a:rPr dirty="0" err="1" smtClean="0"/>
              <a:t>mein</a:t>
            </a:r>
            <a:r>
              <a:rPr dirty="0" smtClean="0"/>
              <a:t>: </a:t>
            </a:r>
            <a:r>
              <a:rPr dirty="0" err="1" smtClean="0"/>
              <a:t>hamara</a:t>
            </a:r>
            <a:r>
              <a:rPr dirty="0" smtClean="0"/>
              <a:t> prototype feasible </a:t>
            </a:r>
            <a:r>
              <a:rPr dirty="0" err="1" smtClean="0"/>
              <a:t>hai</a:t>
            </a:r>
            <a:r>
              <a:rPr dirty="0" smtClean="0"/>
              <a:t> </a:t>
            </a:r>
            <a:r>
              <a:rPr dirty="0" err="1" smtClean="0"/>
              <a:t>aur</a:t>
            </a:r>
            <a:r>
              <a:rPr dirty="0" smtClean="0"/>
              <a:t> do real historical regressions par usable evidence de </a:t>
            </a:r>
            <a:r>
              <a:rPr dirty="0" err="1" smtClean="0"/>
              <a:t>chuka</a:t>
            </a:r>
            <a:r>
              <a:rPr dirty="0" smtClean="0"/>
              <a:t> </a:t>
            </a:r>
            <a:r>
              <a:rPr dirty="0" err="1" smtClean="0"/>
              <a:t>hai</a:t>
            </a:r>
            <a:r>
              <a:rPr dirty="0" smtClean="0"/>
              <a:t>. </a:t>
            </a:r>
            <a:r>
              <a:rPr dirty="0" err="1" smtClean="0"/>
              <a:t>Ek</a:t>
            </a:r>
            <a:r>
              <a:rPr dirty="0" smtClean="0"/>
              <a:t> real contract regression, H1, ne </a:t>
            </a:r>
            <a:r>
              <a:rPr dirty="0" err="1" smtClean="0"/>
              <a:t>dikhaya</a:t>
            </a:r>
            <a:r>
              <a:rPr dirty="0" smtClean="0"/>
              <a:t> </a:t>
            </a:r>
            <a:r>
              <a:rPr dirty="0" err="1" smtClean="0"/>
              <a:t>ke</a:t>
            </a:r>
            <a:r>
              <a:rPr dirty="0" smtClean="0"/>
              <a:t> reference screen fault miss </a:t>
            </a:r>
            <a:r>
              <a:rPr dirty="0" err="1" smtClean="0"/>
              <a:t>kar</a:t>
            </a:r>
            <a:r>
              <a:rPr dirty="0" smtClean="0"/>
              <a:t> </a:t>
            </a:r>
            <a:r>
              <a:rPr dirty="0" err="1" smtClean="0"/>
              <a:t>sakta</a:t>
            </a:r>
            <a:r>
              <a:rPr dirty="0" smtClean="0"/>
              <a:t> </a:t>
            </a:r>
            <a:r>
              <a:rPr dirty="0" err="1" smtClean="0"/>
              <a:t>hai</a:t>
            </a:r>
            <a:r>
              <a:rPr dirty="0" smtClean="0"/>
              <a:t> jo matched oracle detect </a:t>
            </a:r>
            <a:r>
              <a:rPr dirty="0" err="1" smtClean="0"/>
              <a:t>kar</a:t>
            </a:r>
            <a:r>
              <a:rPr dirty="0" smtClean="0"/>
              <a:t> </a:t>
            </a:r>
            <a:r>
              <a:rPr dirty="0" err="1" smtClean="0"/>
              <a:t>leta</a:t>
            </a:r>
            <a:r>
              <a:rPr dirty="0" smtClean="0"/>
              <a:t> </a:t>
            </a:r>
            <a:r>
              <a:rPr dirty="0" err="1" smtClean="0"/>
              <a:t>hai</a:t>
            </a:r>
            <a:r>
              <a:rPr dirty="0" smtClean="0"/>
              <a:t>. 26-fix seed </a:t>
            </a:r>
            <a:r>
              <a:rPr dirty="0" err="1" smtClean="0"/>
              <a:t>ek</a:t>
            </a:r>
            <a:r>
              <a:rPr dirty="0" smtClean="0"/>
              <a:t> material gap </a:t>
            </a:r>
            <a:r>
              <a:rPr dirty="0" err="1" smtClean="0"/>
              <a:t>ki</a:t>
            </a:r>
            <a:r>
              <a:rPr dirty="0" smtClean="0"/>
              <a:t> </a:t>
            </a:r>
            <a:r>
              <a:rPr dirty="0" err="1" smtClean="0"/>
              <a:t>taraf</a:t>
            </a:r>
            <a:r>
              <a:rPr dirty="0" smtClean="0"/>
              <a:t> </a:t>
            </a:r>
            <a:r>
              <a:rPr dirty="0" err="1" smtClean="0"/>
              <a:t>ishara</a:t>
            </a:r>
            <a:r>
              <a:rPr dirty="0" smtClean="0"/>
              <a:t> </a:t>
            </a:r>
            <a:r>
              <a:rPr dirty="0" err="1" smtClean="0"/>
              <a:t>karta</a:t>
            </a:r>
            <a:r>
              <a:rPr dirty="0" smtClean="0"/>
              <a:t> </a:t>
            </a:r>
            <a:r>
              <a:rPr dirty="0" err="1" smtClean="0"/>
              <a:t>hai</a:t>
            </a:r>
            <a:r>
              <a:rPr dirty="0" smtClean="0"/>
              <a:t>. </a:t>
            </a:r>
            <a:r>
              <a:rPr dirty="0" err="1" smtClean="0"/>
              <a:t>Poori</a:t>
            </a:r>
            <a:r>
              <a:rPr dirty="0" smtClean="0"/>
              <a:t> mining </a:t>
            </a:r>
            <a:r>
              <a:rPr dirty="0" err="1" smtClean="0"/>
              <a:t>aur</a:t>
            </a:r>
            <a:r>
              <a:rPr dirty="0" smtClean="0"/>
              <a:t> comparative evaluation </a:t>
            </a:r>
            <a:r>
              <a:rPr dirty="0" err="1" smtClean="0"/>
              <a:t>abhi</a:t>
            </a:r>
            <a:r>
              <a:rPr dirty="0" smtClean="0"/>
              <a:t> future work </a:t>
            </a:r>
            <a:r>
              <a:rPr dirty="0" err="1" smtClean="0"/>
              <a:t>hai</a:t>
            </a:r>
            <a:r>
              <a:rPr dirty="0" smtClean="0"/>
              <a:t>. </a:t>
            </a:r>
            <a:r>
              <a:rPr dirty="0" err="1" smtClean="0"/>
              <a:t>Shukriya</a:t>
            </a:r>
            <a:r>
              <a:rPr dirty="0" smtClean="0"/>
              <a:t> — ab main </a:t>
            </a:r>
            <a:r>
              <a:rPr dirty="0" err="1" smtClean="0"/>
              <a:t>aapke</a:t>
            </a:r>
            <a:r>
              <a:rPr dirty="0" smtClean="0"/>
              <a:t> </a:t>
            </a:r>
            <a:r>
              <a:rPr dirty="0" err="1" smtClean="0"/>
              <a:t>sawalat</a:t>
            </a:r>
            <a:r>
              <a:rPr dirty="0" smtClean="0"/>
              <a:t> </a:t>
            </a:r>
            <a:r>
              <a:rPr dirty="0" err="1" smtClean="0"/>
              <a:t>ka</a:t>
            </a:r>
            <a:r>
              <a:rPr dirty="0" smtClean="0"/>
              <a:t> </a:t>
            </a:r>
            <a:r>
              <a:rPr dirty="0" err="1" smtClean="0"/>
              <a:t>intezar</a:t>
            </a:r>
            <a:r>
              <a:rPr dirty="0" smtClean="0"/>
              <a:t> </a:t>
            </a:r>
            <a:r>
              <a:rPr dirty="0" err="1" smtClean="0"/>
              <a:t>karunga</a:t>
            </a:r>
            <a:r>
              <a:rPr dirty="0" smtClean="0"/>
              <a:t>.</a:t>
            </a:r>
          </a:p>
          <a:p>
            <a:endParaRPr dirty="0"/>
          </a:p>
          <a:p>
            <a:r>
              <a:rPr dirty="0" err="1"/>
              <a:t>Mumkin</a:t>
            </a:r>
            <a:r>
              <a:rPr dirty="0"/>
              <a:t> examiner </a:t>
            </a:r>
            <a:r>
              <a:rPr dirty="0" err="1"/>
              <a:t>sawalat</a:t>
            </a:r>
            <a:r>
              <a:rPr dirty="0"/>
              <a:t>:</a:t>
            </a:r>
          </a:p>
          <a:p>
            <a:r>
              <a:rPr dirty="0"/>
              <a:t>S1: Agar </a:t>
            </a:r>
            <a:r>
              <a:rPr dirty="0" err="1"/>
              <a:t>aapko</a:t>
            </a:r>
            <a:r>
              <a:rPr dirty="0"/>
              <a:t> is </a:t>
            </a:r>
            <a:r>
              <a:rPr dirty="0" err="1"/>
              <a:t>poori</a:t>
            </a:r>
            <a:r>
              <a:rPr dirty="0"/>
              <a:t> presentation se </a:t>
            </a:r>
            <a:r>
              <a:rPr dirty="0" err="1"/>
              <a:t>sirf</a:t>
            </a:r>
            <a:r>
              <a:rPr dirty="0"/>
              <a:t> </a:t>
            </a:r>
            <a:r>
              <a:rPr dirty="0" err="1"/>
              <a:t>ek</a:t>
            </a:r>
            <a:r>
              <a:rPr dirty="0"/>
              <a:t> number defend </a:t>
            </a:r>
            <a:r>
              <a:rPr dirty="0" err="1"/>
              <a:t>karna</a:t>
            </a:r>
            <a:r>
              <a:rPr dirty="0"/>
              <a:t> ho, to wo </a:t>
            </a:r>
            <a:r>
              <a:rPr dirty="0" err="1"/>
              <a:t>kaunsa</a:t>
            </a:r>
            <a:r>
              <a:rPr dirty="0"/>
              <a:t> </a:t>
            </a:r>
            <a:r>
              <a:rPr dirty="0" err="1"/>
              <a:t>hoga</a:t>
            </a:r>
            <a:r>
              <a:rPr dirty="0"/>
              <a:t> </a:t>
            </a:r>
            <a:r>
              <a:rPr dirty="0" err="1"/>
              <a:t>aur</a:t>
            </a:r>
            <a:r>
              <a:rPr dirty="0"/>
              <a:t> </a:t>
            </a:r>
            <a:r>
              <a:rPr dirty="0" err="1"/>
              <a:t>kyun</a:t>
            </a:r>
            <a:r>
              <a:rPr dirty="0"/>
              <a:t>?</a:t>
            </a:r>
          </a:p>
          <a:p>
            <a:r>
              <a:rPr dirty="0"/>
              <a:t>J1: </a:t>
            </a:r>
            <a:r>
              <a:rPr dirty="0" err="1"/>
              <a:t>Shayad</a:t>
            </a:r>
            <a:r>
              <a:rPr dirty="0"/>
              <a:t> sab se strong number H1 </a:t>
            </a:r>
            <a:r>
              <a:rPr dirty="0" err="1"/>
              <a:t>ka</a:t>
            </a:r>
            <a:r>
              <a:rPr dirty="0"/>
              <a:t> evidence </a:t>
            </a:r>
            <a:r>
              <a:rPr dirty="0" err="1"/>
              <a:t>hai</a:t>
            </a:r>
            <a:r>
              <a:rPr dirty="0"/>
              <a:t> — </a:t>
            </a:r>
            <a:r>
              <a:rPr dirty="0" err="1"/>
              <a:t>ek</a:t>
            </a:r>
            <a:r>
              <a:rPr dirty="0"/>
              <a:t> real historical regression </a:t>
            </a:r>
            <a:r>
              <a:rPr dirty="0" err="1"/>
              <a:t>jahan</a:t>
            </a:r>
            <a:r>
              <a:rPr dirty="0"/>
              <a:t> black-box oracle ne 'equivalent' </a:t>
            </a:r>
            <a:r>
              <a:rPr dirty="0" err="1"/>
              <a:t>kaha</a:t>
            </a:r>
            <a:r>
              <a:rPr dirty="0"/>
              <a:t> </a:t>
            </a:r>
            <a:r>
              <a:rPr dirty="0" err="1"/>
              <a:t>lekin</a:t>
            </a:r>
            <a:r>
              <a:rPr dirty="0"/>
              <a:t> matched oracle ne fault detect </a:t>
            </a:r>
            <a:r>
              <a:rPr dirty="0" err="1"/>
              <a:t>kiya</a:t>
            </a:r>
            <a:r>
              <a:rPr dirty="0"/>
              <a:t>. Ye </a:t>
            </a:r>
            <a:r>
              <a:rPr dirty="0" err="1"/>
              <a:t>ek</a:t>
            </a:r>
            <a:r>
              <a:rPr dirty="0"/>
              <a:t> single, concrete, verifiable demonstration </a:t>
            </a:r>
            <a:r>
              <a:rPr dirty="0" err="1"/>
              <a:t>hai</a:t>
            </a:r>
            <a:r>
              <a:rPr dirty="0"/>
              <a:t> jo </a:t>
            </a:r>
            <a:r>
              <a:rPr dirty="0" err="1"/>
              <a:t>poori</a:t>
            </a:r>
            <a:r>
              <a:rPr dirty="0"/>
              <a:t> thesis </a:t>
            </a:r>
            <a:r>
              <a:rPr dirty="0" err="1"/>
              <a:t>ka</a:t>
            </a:r>
            <a:r>
              <a:rPr dirty="0"/>
              <a:t> core argument support </a:t>
            </a:r>
            <a:r>
              <a:rPr dirty="0" err="1"/>
              <a:t>karta</a:t>
            </a:r>
            <a:r>
              <a:rPr dirty="0"/>
              <a:t> </a:t>
            </a:r>
            <a:r>
              <a:rPr dirty="0" err="1"/>
              <a:t>hai</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'Material gap' </a:t>
            </a:r>
            <a:r>
              <a:rPr dirty="0" err="1"/>
              <a:t>bolte</a:t>
            </a:r>
            <a:r>
              <a:rPr dirty="0"/>
              <a:t> </a:t>
            </a:r>
            <a:r>
              <a:rPr dirty="0" err="1"/>
              <a:t>hain</a:t>
            </a:r>
            <a:r>
              <a:rPr dirty="0"/>
              <a:t> </a:t>
            </a:r>
            <a:r>
              <a:rPr dirty="0" err="1"/>
              <a:t>sirf</a:t>
            </a:r>
            <a:r>
              <a:rPr dirty="0"/>
              <a:t> 26 fixes </a:t>
            </a:r>
            <a:r>
              <a:rPr dirty="0" err="1"/>
              <a:t>ke</a:t>
            </a:r>
            <a:r>
              <a:rPr dirty="0"/>
              <a:t> sample se — ye </a:t>
            </a:r>
            <a:r>
              <a:rPr dirty="0" err="1"/>
              <a:t>overclaiming</a:t>
            </a:r>
            <a:r>
              <a:rPr dirty="0"/>
              <a:t> </a:t>
            </a:r>
            <a:r>
              <a:rPr dirty="0" err="1"/>
              <a:t>nahi</a:t>
            </a:r>
            <a:r>
              <a:rPr dirty="0"/>
              <a:t>?</a:t>
            </a:r>
          </a:p>
          <a:p>
            <a:r>
              <a:rPr dirty="0"/>
              <a:t>J: Slide </a:t>
            </a:r>
            <a:r>
              <a:rPr dirty="0" err="1"/>
              <a:t>khud</a:t>
            </a:r>
            <a:r>
              <a:rPr dirty="0"/>
              <a:t> 'potentially' </a:t>
            </a:r>
            <a:r>
              <a:rPr dirty="0" err="1"/>
              <a:t>lafz</a:t>
            </a:r>
            <a:r>
              <a:rPr dirty="0"/>
              <a:t> use </a:t>
            </a:r>
            <a:r>
              <a:rPr dirty="0" err="1"/>
              <a:t>karta</a:t>
            </a:r>
            <a:r>
              <a:rPr dirty="0"/>
              <a:t> </a:t>
            </a:r>
            <a:r>
              <a:rPr dirty="0" err="1"/>
              <a:t>hai</a:t>
            </a:r>
            <a:r>
              <a:rPr dirty="0"/>
              <a:t> — 'potentially material gap' — jo </a:t>
            </a:r>
            <a:r>
              <a:rPr dirty="0" err="1"/>
              <a:t>ek</a:t>
            </a:r>
            <a:r>
              <a:rPr dirty="0"/>
              <a:t> cautious, hedge </a:t>
            </a:r>
            <a:r>
              <a:rPr dirty="0" err="1"/>
              <a:t>kiya</a:t>
            </a:r>
            <a:r>
              <a:rPr dirty="0"/>
              <a:t> </a:t>
            </a:r>
            <a:r>
              <a:rPr dirty="0" err="1"/>
              <a:t>hua</a:t>
            </a:r>
            <a:r>
              <a:rPr dirty="0"/>
              <a:t> claim </a:t>
            </a:r>
            <a:r>
              <a:rPr dirty="0" err="1"/>
              <a:t>hai</a:t>
            </a:r>
            <a:r>
              <a:rPr dirty="0"/>
              <a:t>, definitive </a:t>
            </a:r>
            <a:r>
              <a:rPr dirty="0" err="1"/>
              <a:t>nahi</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Ye hamari references list hai, APA style mein alphabetically arranged. Zaroorat parne par main kisi bhi reference par detail mein baat kar sakta hoon.</a:t>
            </a:r>
          </a:p>
          <a:p>
            <a:endParaRPr/>
          </a:p>
          <a:p>
            <a:r>
              <a:t>Mumkin examiner sawalat:</a:t>
            </a:r>
          </a:p>
          <a:p>
            <a:r>
              <a:t>S1: Bugs4Q ka ek ASE 2021 version bhi hai — aap ne kaunsa version cite kiya hai aur kyun?</a:t>
            </a:r>
          </a:p>
          <a:p>
            <a:r>
              <a:t>J1: Ji, Bugs4Q ke do versions hain — ek 2021 ka ASE conference paper aur ek expanded 2023 ka Journal of Systems and Software version. Hum ne expanded, peer-reviewed journal version (2023) ko cite kiya hai kyunki wo zyada comprehensive hai.</a:t>
            </a:r>
          </a:p>
          <a:p>
            <a:endParaRPr/>
          </a:p>
          <a:p>
            <a:r>
              <a:t>Agar koi critic phasane ki koshish kare (tanqidi sawal):</a:t>
            </a:r>
          </a:p>
          <a:p>
            <a:r>
              <a:t>S: Itni saari references hain — kya sab genuinely read aur samjhi gayi hain, ya sirf citation count barhane ke liye add ki gayi hain?</a:t>
            </a:r>
          </a:p>
          <a:p>
            <a:r>
              <a:t>J: Har reference ek specific claim ko support karne ke liye use hui hai deck mein — is thesis-preparation session mein hum ne khud ek deep citation audit kiya, jahan har citation ko actual paper ke content se cross-check kiya gaya, taake koi misattribution na ho.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slide brings the whole research framework together.</a:t>
            </a:r>
          </a:p>
          <a:p>
            <a:r>
              <a:rPr lang="en-US" dirty="0" smtClean="0"/>
              <a:t>At the top is the main goal: to make </a:t>
            </a:r>
            <a:r>
              <a:rPr lang="en-US" dirty="0" err="1" smtClean="0"/>
              <a:t>Qiskit</a:t>
            </a:r>
            <a:r>
              <a:rPr lang="en-US" dirty="0" smtClean="0"/>
              <a:t> </a:t>
            </a:r>
            <a:r>
              <a:rPr lang="en-US" dirty="0" err="1" smtClean="0"/>
              <a:t>transpiler</a:t>
            </a:r>
            <a:r>
              <a:rPr lang="en-US" dirty="0" smtClean="0"/>
              <a:t> regression testing effective, leakage-safe, and cost-aware.</a:t>
            </a:r>
          </a:p>
          <a:p>
            <a:r>
              <a:rPr lang="en-US" dirty="0" smtClean="0"/>
              <a:t>The framework has two main sides.</a:t>
            </a:r>
          </a:p>
          <a:p>
            <a:r>
              <a:rPr lang="en-US" dirty="0" smtClean="0"/>
              <a:t>On the left is </a:t>
            </a:r>
            <a:r>
              <a:rPr lang="en-US" b="1" dirty="0" smtClean="0"/>
              <a:t>observability and effectiveness</a:t>
            </a:r>
            <a:r>
              <a:rPr lang="en-US" dirty="0" smtClean="0"/>
              <a:t>. RQ1 measures how often the standard four-oracle reference screen misses real regressions. RQ2 then asks whether those missed regressions can be detected using matched oracles, such as contract, property, isolated-pass, or determinism checks.</a:t>
            </a:r>
          </a:p>
          <a:p>
            <a:r>
              <a:rPr lang="en-US" dirty="0" smtClean="0"/>
              <a:t>On the right is </a:t>
            </a:r>
            <a:r>
              <a:rPr lang="en-US" b="1" dirty="0" smtClean="0"/>
              <a:t>budgeted </a:t>
            </a:r>
            <a:r>
              <a:rPr lang="en-US" b="1" dirty="0" err="1" smtClean="0"/>
              <a:t>prioritisation</a:t>
            </a:r>
            <a:r>
              <a:rPr lang="en-US" dirty="0" smtClean="0"/>
              <a:t>. Here, RQ4 evaluates whether our </a:t>
            </a:r>
            <a:r>
              <a:rPr lang="en-US" dirty="0" err="1" smtClean="0"/>
              <a:t>risk_score</a:t>
            </a:r>
            <a:r>
              <a:rPr lang="en-US" dirty="0" smtClean="0"/>
              <a:t> selector can make fault-revealing tests run earlier under the same CPU-time budget. We first establish that the evaluation procedure works correctly, and then, once enough forward-regression events are available, we perform a powered comparison against the baselines.</a:t>
            </a:r>
          </a:p>
          <a:p>
            <a:r>
              <a:rPr lang="en-US" dirty="0" smtClean="0"/>
              <a:t>Under both sides is RQ3, which provides the operational foundation for the whole study. It ensures that the cohorts, provenance, evidence, CPU calibration, temporal separation, and validity checks are all properly controlled.</a:t>
            </a:r>
          </a:p>
          <a:p>
            <a:r>
              <a:rPr lang="en-US" dirty="0" smtClean="0"/>
              <a:t>Finally, all of this evidence is combined into a scope-bounded conclusion. So we only claim what the data supports: the size of the observability gap, whether selected misses can be closed with matched oracles, whether the pipeline is operationally sound, and—only if enough evidence is available—whether the selector performs better than the baselines.</a:t>
            </a:r>
          </a:p>
          <a:p>
            <a:endParaRPr dirty="0"/>
          </a:p>
          <a:p>
            <a:r>
              <a:rPr dirty="0" err="1"/>
              <a:t>Mumkin</a:t>
            </a:r>
            <a:r>
              <a:rPr dirty="0"/>
              <a:t> examiner </a:t>
            </a:r>
            <a:r>
              <a:rPr dirty="0" err="1"/>
              <a:t>sawalat</a:t>
            </a:r>
            <a:r>
              <a:rPr dirty="0"/>
              <a:t>:</a:t>
            </a:r>
          </a:p>
          <a:p>
            <a:r>
              <a:rPr dirty="0"/>
              <a:t>S1: Is diagram </a:t>
            </a:r>
            <a:r>
              <a:rPr dirty="0" err="1"/>
              <a:t>mein</a:t>
            </a:r>
            <a:r>
              <a:rPr dirty="0"/>
              <a:t> </a:t>
            </a:r>
            <a:r>
              <a:rPr dirty="0" err="1"/>
              <a:t>ek</a:t>
            </a:r>
            <a:r>
              <a:rPr dirty="0"/>
              <a:t> research question specific methodology stage </a:t>
            </a:r>
            <a:r>
              <a:rPr dirty="0" err="1"/>
              <a:t>tak</a:t>
            </a:r>
            <a:r>
              <a:rPr dirty="0"/>
              <a:t> </a:t>
            </a:r>
            <a:r>
              <a:rPr dirty="0" err="1"/>
              <a:t>kaise</a:t>
            </a:r>
            <a:r>
              <a:rPr dirty="0"/>
              <a:t> connect </a:t>
            </a:r>
            <a:r>
              <a:rPr dirty="0" err="1"/>
              <a:t>hoti</a:t>
            </a:r>
            <a:r>
              <a:rPr dirty="0"/>
              <a:t> </a:t>
            </a:r>
            <a:r>
              <a:rPr dirty="0" err="1"/>
              <a:t>hai</a:t>
            </a:r>
            <a:r>
              <a:rPr dirty="0"/>
              <a:t>, </a:t>
            </a:r>
            <a:r>
              <a:rPr dirty="0" err="1"/>
              <a:t>zara</a:t>
            </a:r>
            <a:r>
              <a:rPr dirty="0"/>
              <a:t> </a:t>
            </a:r>
            <a:r>
              <a:rPr dirty="0" err="1"/>
              <a:t>ek</a:t>
            </a:r>
            <a:r>
              <a:rPr dirty="0"/>
              <a:t> example se </a:t>
            </a:r>
            <a:r>
              <a:rPr dirty="0" err="1"/>
              <a:t>batayein</a:t>
            </a:r>
            <a:r>
              <a:rPr dirty="0"/>
              <a:t>?</a:t>
            </a:r>
          </a:p>
          <a:p>
            <a:r>
              <a:rPr dirty="0"/>
              <a:t>J1: </a:t>
            </a:r>
            <a:r>
              <a:rPr dirty="0" err="1"/>
              <a:t>Har</a:t>
            </a:r>
            <a:r>
              <a:rPr dirty="0"/>
              <a:t> research question </a:t>
            </a:r>
            <a:r>
              <a:rPr dirty="0" err="1"/>
              <a:t>apne</a:t>
            </a:r>
            <a:r>
              <a:rPr dirty="0"/>
              <a:t> corresponding objective se connect </a:t>
            </a:r>
            <a:r>
              <a:rPr dirty="0" err="1"/>
              <a:t>hoti</a:t>
            </a:r>
            <a:r>
              <a:rPr dirty="0"/>
              <a:t> </a:t>
            </a:r>
            <a:r>
              <a:rPr dirty="0" err="1"/>
              <a:t>hai</a:t>
            </a:r>
            <a:r>
              <a:rPr dirty="0"/>
              <a:t>, </a:t>
            </a:r>
            <a:r>
              <a:rPr dirty="0" err="1"/>
              <a:t>aur</a:t>
            </a:r>
            <a:r>
              <a:rPr dirty="0"/>
              <a:t> </a:t>
            </a:r>
            <a:r>
              <a:rPr dirty="0" err="1"/>
              <a:t>har</a:t>
            </a:r>
            <a:r>
              <a:rPr dirty="0"/>
              <a:t> objective cart pipeline </a:t>
            </a:r>
            <a:r>
              <a:rPr dirty="0" err="1"/>
              <a:t>ke</a:t>
            </a:r>
            <a:r>
              <a:rPr dirty="0"/>
              <a:t> specific stage(s) se implement </a:t>
            </a:r>
            <a:r>
              <a:rPr dirty="0" err="1"/>
              <a:t>hota</a:t>
            </a:r>
            <a:r>
              <a:rPr dirty="0"/>
              <a:t> </a:t>
            </a:r>
            <a:r>
              <a:rPr dirty="0" err="1"/>
              <a:t>hai</a:t>
            </a:r>
            <a:r>
              <a:rPr dirty="0"/>
              <a:t> — </a:t>
            </a:r>
            <a:r>
              <a:rPr dirty="0" err="1"/>
              <a:t>jaise</a:t>
            </a:r>
            <a:r>
              <a:rPr dirty="0"/>
              <a:t> RQ3/O3 </a:t>
            </a:r>
            <a:r>
              <a:rPr dirty="0" err="1"/>
              <a:t>seedha</a:t>
            </a:r>
            <a:r>
              <a:rPr dirty="0"/>
              <a:t> </a:t>
            </a:r>
            <a:r>
              <a:rPr dirty="0" err="1"/>
              <a:t>poori</a:t>
            </a:r>
            <a:r>
              <a:rPr dirty="0"/>
              <a:t> pipeline (Stage 1-5) se, </a:t>
            </a:r>
            <a:r>
              <a:rPr dirty="0" err="1"/>
              <a:t>aur</a:t>
            </a:r>
            <a:r>
              <a:rPr dirty="0"/>
              <a:t> RQ1/O1 specifically Stage 2 </a:t>
            </a:r>
            <a:r>
              <a:rPr dirty="0" err="1"/>
              <a:t>aur</a:t>
            </a:r>
            <a:r>
              <a:rPr dirty="0"/>
              <a:t> Stage 5 </a:t>
            </a:r>
            <a:r>
              <a:rPr dirty="0" err="1"/>
              <a:t>ki</a:t>
            </a:r>
            <a:r>
              <a:rPr dirty="0"/>
              <a:t> measurement se connect </a:t>
            </a:r>
            <a:r>
              <a:rPr dirty="0" err="1"/>
              <a:t>hota</a:t>
            </a:r>
            <a:r>
              <a:rPr dirty="0"/>
              <a:t> </a:t>
            </a:r>
            <a:r>
              <a:rPr dirty="0" err="1"/>
              <a:t>hai</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Ye diagram </a:t>
            </a:r>
            <a:r>
              <a:rPr dirty="0" err="1"/>
              <a:t>itna</a:t>
            </a:r>
            <a:r>
              <a:rPr dirty="0"/>
              <a:t> clean </a:t>
            </a:r>
            <a:r>
              <a:rPr dirty="0" err="1"/>
              <a:t>aur</a:t>
            </a:r>
            <a:r>
              <a:rPr dirty="0"/>
              <a:t> linear </a:t>
            </a:r>
            <a:r>
              <a:rPr dirty="0" err="1"/>
              <a:t>dikhta</a:t>
            </a:r>
            <a:r>
              <a:rPr dirty="0"/>
              <a:t> </a:t>
            </a:r>
            <a:r>
              <a:rPr dirty="0" err="1"/>
              <a:t>hai</a:t>
            </a:r>
            <a:r>
              <a:rPr dirty="0"/>
              <a:t> — real research </a:t>
            </a:r>
            <a:r>
              <a:rPr dirty="0" err="1"/>
              <a:t>itni</a:t>
            </a:r>
            <a:r>
              <a:rPr dirty="0"/>
              <a:t> neat </a:t>
            </a:r>
            <a:r>
              <a:rPr dirty="0" err="1"/>
              <a:t>kabhi</a:t>
            </a:r>
            <a:r>
              <a:rPr dirty="0"/>
              <a:t> </a:t>
            </a:r>
            <a:r>
              <a:rPr dirty="0" err="1"/>
              <a:t>nahi</a:t>
            </a:r>
            <a:r>
              <a:rPr dirty="0"/>
              <a:t> </a:t>
            </a:r>
            <a:r>
              <a:rPr dirty="0" err="1"/>
              <a:t>hoti</a:t>
            </a:r>
            <a:r>
              <a:rPr dirty="0"/>
              <a:t>, </a:t>
            </a:r>
            <a:r>
              <a:rPr dirty="0" err="1"/>
              <a:t>kya</a:t>
            </a:r>
            <a:r>
              <a:rPr dirty="0"/>
              <a:t> ye oversimplified </a:t>
            </a:r>
            <a:r>
              <a:rPr dirty="0" err="1"/>
              <a:t>nahi</a:t>
            </a:r>
            <a:r>
              <a:rPr dirty="0"/>
              <a:t>?</a:t>
            </a:r>
          </a:p>
          <a:p>
            <a:r>
              <a:rPr dirty="0"/>
              <a:t>J: Diagram final logical structure </a:t>
            </a:r>
            <a:r>
              <a:rPr dirty="0" err="1"/>
              <a:t>dikhata</a:t>
            </a:r>
            <a:r>
              <a:rPr dirty="0"/>
              <a:t> </a:t>
            </a:r>
            <a:r>
              <a:rPr dirty="0" err="1"/>
              <a:t>hai</a:t>
            </a:r>
            <a:r>
              <a:rPr dirty="0"/>
              <a:t>, actual research process </a:t>
            </a:r>
            <a:r>
              <a:rPr dirty="0" err="1"/>
              <a:t>ki</a:t>
            </a:r>
            <a:r>
              <a:rPr dirty="0"/>
              <a:t> messiness </a:t>
            </a:r>
            <a:r>
              <a:rPr dirty="0" err="1"/>
              <a:t>nahi</a:t>
            </a:r>
            <a:r>
              <a:rPr dirty="0"/>
              <a:t> — presentation purposes </a:t>
            </a:r>
            <a:r>
              <a:rPr dirty="0" err="1"/>
              <a:t>ke</a:t>
            </a:r>
            <a:r>
              <a:rPr dirty="0"/>
              <a:t> </a:t>
            </a:r>
            <a:r>
              <a:rPr dirty="0" err="1"/>
              <a:t>liye</a:t>
            </a:r>
            <a:r>
              <a:rPr dirty="0"/>
              <a:t> simplification </a:t>
            </a:r>
            <a:r>
              <a:rPr dirty="0" err="1"/>
              <a:t>zaroori</a:t>
            </a:r>
            <a:r>
              <a:rPr dirty="0"/>
              <a:t> </a:t>
            </a:r>
            <a:r>
              <a:rPr dirty="0" err="1"/>
              <a:t>hai</a:t>
            </a:r>
            <a:r>
              <a:rPr dirty="0"/>
              <a:t>, </a:t>
            </a:r>
            <a:r>
              <a:rPr dirty="0" err="1"/>
              <a:t>lekin</a:t>
            </a:r>
            <a:r>
              <a:rPr dirty="0"/>
              <a:t> underlying </a:t>
            </a:r>
            <a:r>
              <a:rPr dirty="0" err="1"/>
              <a:t>kaam</a:t>
            </a:r>
            <a:r>
              <a:rPr dirty="0"/>
              <a:t> </a:t>
            </a:r>
            <a:r>
              <a:rPr dirty="0" err="1"/>
              <a:t>mein</a:t>
            </a:r>
            <a:r>
              <a:rPr dirty="0"/>
              <a:t> iterations </a:t>
            </a:r>
            <a:r>
              <a:rPr dirty="0" err="1"/>
              <a:t>aur</a:t>
            </a:r>
            <a:r>
              <a:rPr dirty="0"/>
              <a:t> dead-ends </a:t>
            </a:r>
            <a:r>
              <a:rPr dirty="0" err="1"/>
              <a:t>bhi</a:t>
            </a:r>
            <a:r>
              <a:rPr dirty="0"/>
              <a:t> </a:t>
            </a:r>
            <a:r>
              <a:rPr dirty="0" err="1"/>
              <a:t>shamil</a:t>
            </a:r>
            <a:r>
              <a:rPr dirty="0"/>
              <a:t> </a:t>
            </a:r>
            <a:r>
              <a:rPr dirty="0" err="1"/>
              <a:t>hain</a:t>
            </a:r>
            <a:r>
              <a:rPr dirty="0"/>
              <a:t> jo diagram </a:t>
            </a:r>
            <a:r>
              <a:rPr dirty="0" err="1"/>
              <a:t>mein</a:t>
            </a:r>
            <a:r>
              <a:rPr dirty="0"/>
              <a:t> </a:t>
            </a:r>
            <a:r>
              <a:rPr dirty="0" err="1"/>
              <a:t>nahi</a:t>
            </a:r>
            <a:r>
              <a:rPr dirty="0"/>
              <a:t> </a:t>
            </a:r>
            <a:r>
              <a:rPr dirty="0" err="1"/>
              <a:t>dikhaye</a:t>
            </a:r>
            <a:r>
              <a:rPr dirty="0"/>
              <a:t> </a:t>
            </a:r>
            <a:r>
              <a:rPr dirty="0" err="1"/>
              <a:t>gaye</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Classical regression testing is the foundation of this work, but it cannot be transferred to a quantum </a:t>
            </a:r>
            <a:r>
              <a:rPr lang="en-US" dirty="0" err="1" smtClean="0"/>
              <a:t>transpiler</a:t>
            </a:r>
            <a:r>
              <a:rPr lang="en-US" dirty="0" smtClean="0"/>
              <a:t> without modification.</a:t>
            </a:r>
          </a:p>
          <a:p>
            <a:r>
              <a:rPr lang="en-US" dirty="0" smtClean="0"/>
              <a:t>First, in classical software, outputs are usually deterministic and directly </a:t>
            </a:r>
            <a:r>
              <a:rPr lang="en-US" dirty="0" err="1" smtClean="0"/>
              <a:t>inspectable</a:t>
            </a:r>
            <a:r>
              <a:rPr lang="en-US" dirty="0" smtClean="0"/>
              <a:t>. In quantum settings, observations can be probabilistic, and some relevant compiler properties are internal rather than visible in the final output.</a:t>
            </a:r>
          </a:p>
          <a:p>
            <a:r>
              <a:rPr lang="en-US" dirty="0" smtClean="0"/>
              <a:t>Second, classical correctness is normally based on expected output or observational equivalence. For quantum circuits, correctness has additional considerations such as global phase and qubit or layout permutations.</a:t>
            </a:r>
          </a:p>
          <a:p>
            <a:r>
              <a:rPr lang="en-US" dirty="0" smtClean="0"/>
              <a:t>Third, the fault model is richer. Classical systems mainly consider crashes, wrong values, and performance problems. A quantum </a:t>
            </a:r>
            <a:r>
              <a:rPr lang="en-US" dirty="0" err="1" smtClean="0"/>
              <a:t>transpiler</a:t>
            </a:r>
            <a:r>
              <a:rPr lang="en-US" dirty="0" smtClean="0"/>
              <a:t> can additionally have phase, entanglement, mapping, routing, and backend-related faults.</a:t>
            </a:r>
          </a:p>
          <a:p>
            <a:r>
              <a:rPr lang="en-US" dirty="0" smtClean="0"/>
              <a:t>Fourth, testing cost is different. Classical tests may need one CPU execution, while quantum-oriented checking can require repeated runs, simulation, and more expensive oracles.</a:t>
            </a:r>
          </a:p>
          <a:p>
            <a:r>
              <a:rPr lang="en-US" dirty="0" smtClean="0"/>
              <a:t>Fifth, a normal regression oracle may use expected outputs, assertions, or logs. For a quantum </a:t>
            </a:r>
            <a:r>
              <a:rPr lang="en-US" dirty="0" err="1" smtClean="0"/>
              <a:t>transpiler</a:t>
            </a:r>
            <a:r>
              <a:rPr lang="en-US" dirty="0" smtClean="0"/>
              <a:t>, final-output equivalence alone may miss problems in metadata, layout, or internal compiler properties.</a:t>
            </a:r>
          </a:p>
          <a:p>
            <a:r>
              <a:rPr lang="en-US" dirty="0" smtClean="0"/>
              <a:t>So, we keep the classical ideas of test selection, </a:t>
            </a:r>
            <a:r>
              <a:rPr lang="en-US" dirty="0" err="1" smtClean="0"/>
              <a:t>prioritisation</a:t>
            </a:r>
            <a:r>
              <a:rPr lang="en-US" dirty="0" smtClean="0"/>
              <a:t>, and cost-awareness, but we redefine the features, costs, and oracles for the quantum-</a:t>
            </a:r>
            <a:r>
              <a:rPr lang="en-US" dirty="0" err="1" smtClean="0"/>
              <a:t>transpiler</a:t>
            </a:r>
            <a:r>
              <a:rPr lang="en-US" dirty="0" smtClean="0"/>
              <a:t> setting.</a:t>
            </a:r>
          </a:p>
          <a:p>
            <a:endParaRPr lang="en-US" dirty="0" smtClean="0"/>
          </a:p>
          <a:p>
            <a:r>
              <a:rPr lang="en-US" dirty="0" smtClean="0"/>
              <a:t>Same foundation → different outputs → different correctness → richer faults → different cost → </a:t>
            </a:r>
            <a:r>
              <a:rPr lang="en-US" dirty="0" err="1" smtClean="0"/>
              <a:t>specialised</a:t>
            </a:r>
            <a:r>
              <a:rPr lang="en-US" dirty="0" smtClean="0"/>
              <a:t> oracles.</a:t>
            </a:r>
            <a:endParaRPr dirty="0"/>
          </a:p>
          <a:p>
            <a:r>
              <a:rPr dirty="0" err="1"/>
              <a:t>Mumkin</a:t>
            </a:r>
            <a:r>
              <a:rPr dirty="0"/>
              <a:t> examiner </a:t>
            </a:r>
            <a:r>
              <a:rPr dirty="0" err="1"/>
              <a:t>sawalat</a:t>
            </a:r>
            <a:r>
              <a:rPr dirty="0"/>
              <a:t>:</a:t>
            </a:r>
          </a:p>
          <a:p>
            <a:r>
              <a:rPr dirty="0"/>
              <a:t>S1: Agar classical principles 'retained but redefined' </a:t>
            </a:r>
            <a:r>
              <a:rPr dirty="0" err="1"/>
              <a:t>hain</a:t>
            </a:r>
            <a:r>
              <a:rPr dirty="0"/>
              <a:t>, to </a:t>
            </a:r>
            <a:r>
              <a:rPr dirty="0" err="1"/>
              <a:t>aapka</a:t>
            </a:r>
            <a:r>
              <a:rPr dirty="0"/>
              <a:t> actual contribution </a:t>
            </a:r>
            <a:r>
              <a:rPr dirty="0" err="1"/>
              <a:t>kitna</a:t>
            </a:r>
            <a:r>
              <a:rPr dirty="0"/>
              <a:t> </a:t>
            </a:r>
            <a:r>
              <a:rPr dirty="0" err="1"/>
              <a:t>naya</a:t>
            </a:r>
            <a:r>
              <a:rPr dirty="0"/>
              <a:t> </a:t>
            </a:r>
            <a:r>
              <a:rPr dirty="0" err="1"/>
              <a:t>hai</a:t>
            </a:r>
            <a:r>
              <a:rPr dirty="0"/>
              <a:t> </a:t>
            </a:r>
            <a:r>
              <a:rPr dirty="0" err="1"/>
              <a:t>aur</a:t>
            </a:r>
            <a:r>
              <a:rPr dirty="0"/>
              <a:t> </a:t>
            </a:r>
            <a:r>
              <a:rPr dirty="0" err="1"/>
              <a:t>kitna</a:t>
            </a:r>
            <a:r>
              <a:rPr dirty="0"/>
              <a:t> </a:t>
            </a:r>
            <a:r>
              <a:rPr dirty="0" err="1"/>
              <a:t>sirf</a:t>
            </a:r>
            <a:r>
              <a:rPr dirty="0"/>
              <a:t> adapted?</a:t>
            </a:r>
          </a:p>
          <a:p>
            <a:r>
              <a:rPr dirty="0"/>
              <a:t>J1: Selection </a:t>
            </a:r>
            <a:r>
              <a:rPr dirty="0" err="1"/>
              <a:t>aur</a:t>
            </a:r>
            <a:r>
              <a:rPr dirty="0"/>
              <a:t> prioritization </a:t>
            </a:r>
            <a:r>
              <a:rPr dirty="0" err="1"/>
              <a:t>ka</a:t>
            </a:r>
            <a:r>
              <a:rPr dirty="0"/>
              <a:t> basic concept (</a:t>
            </a:r>
            <a:r>
              <a:rPr dirty="0" err="1"/>
              <a:t>jaise</a:t>
            </a:r>
            <a:r>
              <a:rPr dirty="0"/>
              <a:t> APFD/</a:t>
            </a:r>
            <a:r>
              <a:rPr dirty="0" err="1"/>
              <a:t>APFDc</a:t>
            </a:r>
            <a:r>
              <a:rPr dirty="0"/>
              <a:t>) classical testing se </a:t>
            </a:r>
            <a:r>
              <a:rPr dirty="0" err="1"/>
              <a:t>aata</a:t>
            </a:r>
            <a:r>
              <a:rPr dirty="0"/>
              <a:t> </a:t>
            </a:r>
            <a:r>
              <a:rPr dirty="0" err="1"/>
              <a:t>hai</a:t>
            </a:r>
            <a:r>
              <a:rPr dirty="0"/>
              <a:t> — </a:t>
            </a:r>
            <a:r>
              <a:rPr dirty="0" err="1"/>
              <a:t>hamara</a:t>
            </a:r>
            <a:r>
              <a:rPr dirty="0"/>
              <a:t> novel contribution ye </a:t>
            </a:r>
            <a:r>
              <a:rPr dirty="0" err="1"/>
              <a:t>hai</a:t>
            </a:r>
            <a:r>
              <a:rPr dirty="0"/>
              <a:t> </a:t>
            </a:r>
            <a:r>
              <a:rPr dirty="0" err="1"/>
              <a:t>ke</a:t>
            </a:r>
            <a:r>
              <a:rPr dirty="0"/>
              <a:t> hum in principles </a:t>
            </a:r>
            <a:r>
              <a:rPr dirty="0" err="1"/>
              <a:t>ko</a:t>
            </a:r>
            <a:r>
              <a:rPr dirty="0"/>
              <a:t> quantum-specific fault model, oracle-matching, </a:t>
            </a:r>
            <a:r>
              <a:rPr dirty="0" err="1"/>
              <a:t>aur</a:t>
            </a:r>
            <a:r>
              <a:rPr dirty="0"/>
              <a:t> leakage-safety </a:t>
            </a:r>
            <a:r>
              <a:rPr dirty="0" err="1"/>
              <a:t>ke</a:t>
            </a:r>
            <a:r>
              <a:rPr dirty="0"/>
              <a:t> </a:t>
            </a:r>
            <a:r>
              <a:rPr dirty="0" err="1"/>
              <a:t>sath</a:t>
            </a:r>
            <a:r>
              <a:rPr dirty="0"/>
              <a:t> </a:t>
            </a:r>
            <a:r>
              <a:rPr dirty="0" err="1"/>
              <a:t>dobara</a:t>
            </a:r>
            <a:r>
              <a:rPr dirty="0"/>
              <a:t> define </a:t>
            </a:r>
            <a:r>
              <a:rPr dirty="0" err="1"/>
              <a:t>karte</a:t>
            </a:r>
            <a:r>
              <a:rPr dirty="0"/>
              <a:t> </a:t>
            </a:r>
            <a:r>
              <a:rPr dirty="0" err="1"/>
              <a:t>hain</a:t>
            </a:r>
            <a:r>
              <a:rPr dirty="0"/>
              <a:t>, jo classical </a:t>
            </a:r>
            <a:r>
              <a:rPr dirty="0" err="1"/>
              <a:t>mein</a:t>
            </a:r>
            <a:r>
              <a:rPr dirty="0"/>
              <a:t> </a:t>
            </a:r>
            <a:r>
              <a:rPr dirty="0" err="1"/>
              <a:t>zaroori</a:t>
            </a:r>
            <a:r>
              <a:rPr dirty="0"/>
              <a:t> </a:t>
            </a:r>
            <a:r>
              <a:rPr dirty="0" err="1"/>
              <a:t>nahi</a:t>
            </a:r>
            <a:r>
              <a:rPr dirty="0"/>
              <a:t> </a:t>
            </a:r>
            <a:r>
              <a:rPr dirty="0" err="1"/>
              <a:t>thay</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Agar 'foundation retained </a:t>
            </a:r>
            <a:r>
              <a:rPr dirty="0" err="1"/>
              <a:t>hai</a:t>
            </a:r>
            <a:r>
              <a:rPr dirty="0"/>
              <a:t>', to </a:t>
            </a:r>
            <a:r>
              <a:rPr dirty="0" err="1"/>
              <a:t>phir</a:t>
            </a:r>
            <a:r>
              <a:rPr dirty="0"/>
              <a:t> </a:t>
            </a:r>
            <a:r>
              <a:rPr dirty="0" err="1"/>
              <a:t>itna</a:t>
            </a:r>
            <a:r>
              <a:rPr dirty="0"/>
              <a:t> </a:t>
            </a:r>
            <a:r>
              <a:rPr dirty="0" err="1"/>
              <a:t>zor</a:t>
            </a:r>
            <a:r>
              <a:rPr dirty="0"/>
              <a:t> </a:t>
            </a:r>
            <a:r>
              <a:rPr dirty="0" err="1"/>
              <a:t>kyun</a:t>
            </a:r>
            <a:r>
              <a:rPr dirty="0"/>
              <a:t> de </a:t>
            </a:r>
            <a:r>
              <a:rPr dirty="0" err="1"/>
              <a:t>rahe</a:t>
            </a:r>
            <a:r>
              <a:rPr dirty="0"/>
              <a:t> </a:t>
            </a:r>
            <a:r>
              <a:rPr dirty="0" err="1"/>
              <a:t>hain</a:t>
            </a:r>
            <a:r>
              <a:rPr dirty="0"/>
              <a:t> </a:t>
            </a:r>
            <a:r>
              <a:rPr dirty="0" err="1"/>
              <a:t>ke</a:t>
            </a:r>
            <a:r>
              <a:rPr dirty="0"/>
              <a:t> ye </a:t>
            </a:r>
            <a:r>
              <a:rPr dirty="0" err="1"/>
              <a:t>kuch</a:t>
            </a:r>
            <a:r>
              <a:rPr dirty="0"/>
              <a:t> </a:t>
            </a:r>
            <a:r>
              <a:rPr dirty="0" err="1"/>
              <a:t>naya</a:t>
            </a:r>
            <a:r>
              <a:rPr dirty="0"/>
              <a:t> </a:t>
            </a:r>
            <a:r>
              <a:rPr dirty="0" err="1"/>
              <a:t>hai</a:t>
            </a:r>
            <a:r>
              <a:rPr dirty="0"/>
              <a:t>?</a:t>
            </a:r>
          </a:p>
          <a:p>
            <a:r>
              <a:rPr dirty="0"/>
              <a:t>J: Foundation — </a:t>
            </a:r>
            <a:r>
              <a:rPr dirty="0" err="1"/>
              <a:t>jaise</a:t>
            </a:r>
            <a:r>
              <a:rPr dirty="0"/>
              <a:t> selection/</a:t>
            </a:r>
            <a:r>
              <a:rPr dirty="0" err="1"/>
              <a:t>prioritisation</a:t>
            </a:r>
            <a:r>
              <a:rPr dirty="0"/>
              <a:t> </a:t>
            </a:r>
            <a:r>
              <a:rPr dirty="0" err="1"/>
              <a:t>ka</a:t>
            </a:r>
            <a:r>
              <a:rPr dirty="0"/>
              <a:t> basic concept — retained </a:t>
            </a:r>
            <a:r>
              <a:rPr dirty="0" err="1"/>
              <a:t>hai</a:t>
            </a:r>
            <a:r>
              <a:rPr dirty="0"/>
              <a:t>, </a:t>
            </a:r>
            <a:r>
              <a:rPr dirty="0" err="1"/>
              <a:t>lekin</a:t>
            </a:r>
            <a:r>
              <a:rPr dirty="0"/>
              <a:t> implementation </a:t>
            </a:r>
            <a:r>
              <a:rPr dirty="0" err="1"/>
              <a:t>aur</a:t>
            </a:r>
            <a:r>
              <a:rPr dirty="0"/>
              <a:t> oracle-matching mechanism completely quantum-specific </a:t>
            </a:r>
            <a:r>
              <a:rPr dirty="0" err="1"/>
              <a:t>hai</a:t>
            </a:r>
            <a:r>
              <a:rPr dirty="0"/>
              <a:t>. </a:t>
            </a:r>
            <a:r>
              <a:rPr dirty="0" err="1"/>
              <a:t>Jaise</a:t>
            </a:r>
            <a:r>
              <a:rPr dirty="0"/>
              <a:t> </a:t>
            </a:r>
            <a:r>
              <a:rPr dirty="0" err="1"/>
              <a:t>ek</a:t>
            </a:r>
            <a:r>
              <a:rPr dirty="0"/>
              <a:t> car </a:t>
            </a:r>
            <a:r>
              <a:rPr dirty="0" err="1"/>
              <a:t>ka</a:t>
            </a:r>
            <a:r>
              <a:rPr dirty="0"/>
              <a:t> concept electric car </a:t>
            </a:r>
            <a:r>
              <a:rPr dirty="0" err="1"/>
              <a:t>mein</a:t>
            </a:r>
            <a:r>
              <a:rPr dirty="0"/>
              <a:t> </a:t>
            </a:r>
            <a:r>
              <a:rPr dirty="0" err="1"/>
              <a:t>bhi</a:t>
            </a:r>
            <a:r>
              <a:rPr dirty="0"/>
              <a:t> retained </a:t>
            </a:r>
            <a:r>
              <a:rPr dirty="0" err="1"/>
              <a:t>hota</a:t>
            </a:r>
            <a:r>
              <a:rPr dirty="0"/>
              <a:t> </a:t>
            </a:r>
            <a:r>
              <a:rPr dirty="0" err="1"/>
              <a:t>hai</a:t>
            </a:r>
            <a:r>
              <a:rPr dirty="0"/>
              <a:t>, </a:t>
            </a:r>
            <a:r>
              <a:rPr dirty="0" err="1"/>
              <a:t>lekin</a:t>
            </a:r>
            <a:r>
              <a:rPr dirty="0"/>
              <a:t> engine </a:t>
            </a:r>
            <a:r>
              <a:rPr dirty="0" err="1"/>
              <a:t>bilkul</a:t>
            </a:r>
            <a:r>
              <a:rPr dirty="0"/>
              <a:t> different </a:t>
            </a:r>
            <a:r>
              <a:rPr dirty="0" err="1"/>
              <a:t>hota</a:t>
            </a:r>
            <a:r>
              <a:rPr dirty="0"/>
              <a:t> </a:t>
            </a:r>
            <a:r>
              <a:rPr dirty="0" err="1"/>
              <a:t>hai</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Ye evidence </a:t>
            </a:r>
            <a:r>
              <a:rPr dirty="0" err="1"/>
              <a:t>hai</a:t>
            </a:r>
            <a:r>
              <a:rPr dirty="0"/>
              <a:t> </a:t>
            </a:r>
            <a:r>
              <a:rPr dirty="0" err="1"/>
              <a:t>ke</a:t>
            </a:r>
            <a:r>
              <a:rPr dirty="0"/>
              <a:t> quantum testing classical se </a:t>
            </a:r>
            <a:r>
              <a:rPr dirty="0" err="1"/>
              <a:t>kyun</a:t>
            </a:r>
            <a:r>
              <a:rPr dirty="0"/>
              <a:t> different </a:t>
            </a:r>
            <a:r>
              <a:rPr dirty="0" err="1"/>
              <a:t>hai</a:t>
            </a:r>
            <a:r>
              <a:rPr dirty="0"/>
              <a:t> — real bugs </a:t>
            </a:r>
            <a:r>
              <a:rPr dirty="0" err="1"/>
              <a:t>ka</a:t>
            </a:r>
            <a:r>
              <a:rPr dirty="0"/>
              <a:t> pattern different </a:t>
            </a:r>
            <a:r>
              <a:rPr dirty="0" err="1"/>
              <a:t>hai</a:t>
            </a:r>
            <a:r>
              <a:rPr dirty="0"/>
              <a:t>, outputs exponentially large </a:t>
            </a:r>
            <a:r>
              <a:rPr dirty="0" err="1"/>
              <a:t>hain</a:t>
            </a:r>
            <a:r>
              <a:rPr dirty="0"/>
              <a:t>, </a:t>
            </a:r>
            <a:r>
              <a:rPr dirty="0" err="1"/>
              <a:t>aur</a:t>
            </a:r>
            <a:r>
              <a:rPr dirty="0"/>
              <a:t> equivalence checking </a:t>
            </a:r>
            <a:r>
              <a:rPr dirty="0" err="1"/>
              <a:t>ko</a:t>
            </a:r>
            <a:r>
              <a:rPr dirty="0"/>
              <a:t> reversibility, superposition, </a:t>
            </a:r>
            <a:r>
              <a:rPr lang="en-US" dirty="0" smtClean="0"/>
              <a:t>This slide gives evidence that quantum-</a:t>
            </a:r>
            <a:r>
              <a:rPr lang="en-US" dirty="0" err="1" smtClean="0"/>
              <a:t>transpiler</a:t>
            </a:r>
            <a:r>
              <a:rPr lang="en-US" dirty="0" smtClean="0"/>
              <a:t> testing has some requirements that classical testing does not fully capture.</a:t>
            </a:r>
          </a:p>
          <a:p>
            <a:r>
              <a:rPr lang="en-US" dirty="0" smtClean="0"/>
              <a:t>First, prior empirical work found that about </a:t>
            </a:r>
            <a:r>
              <a:rPr lang="en-US" b="1" dirty="0" smtClean="0"/>
              <a:t>39.9% of quantum-platform bugs are quantum-specific</a:t>
            </a:r>
            <a:r>
              <a:rPr lang="en-US" dirty="0" smtClean="0"/>
              <a:t>, with many of them concentrated around compilation and </a:t>
            </a:r>
            <a:r>
              <a:rPr lang="en-US" dirty="0" err="1" smtClean="0"/>
              <a:t>optimisation</a:t>
            </a:r>
            <a:r>
              <a:rPr lang="en-US" dirty="0" smtClean="0"/>
              <a:t> components. So a purely classical fault model is incomplete.</a:t>
            </a:r>
          </a:p>
          <a:p>
            <a:r>
              <a:rPr lang="en-US" dirty="0" smtClean="0"/>
              <a:t>Second, quantum outputs can represent very large probability distributions, and some faults, such as phase-related faults, may not be obvious from ordinary output checking.</a:t>
            </a:r>
          </a:p>
          <a:p>
            <a:r>
              <a:rPr lang="en-US" dirty="0" smtClean="0"/>
              <a:t>Third, one observation is often not enough to establish quantum-state </a:t>
            </a:r>
            <a:r>
              <a:rPr lang="en-US" dirty="0" err="1" smtClean="0"/>
              <a:t>behaviour</a:t>
            </a:r>
            <a:r>
              <a:rPr lang="en-US" dirty="0" smtClean="0"/>
              <a:t>. In some cases, repeated measurements or </a:t>
            </a:r>
            <a:r>
              <a:rPr lang="en-US" dirty="0" err="1" smtClean="0"/>
              <a:t>specialised</a:t>
            </a:r>
            <a:r>
              <a:rPr lang="en-US" dirty="0" smtClean="0"/>
              <a:t> oracles are needed to expose faults that do not simply appear as crashes.</a:t>
            </a:r>
          </a:p>
          <a:p>
            <a:r>
              <a:rPr lang="en-US" dirty="0" smtClean="0"/>
              <a:t>Fourth, even equivalence checking had to be redesigned for quantum properties such as reversibility, superposition, and entanglement. Classical equivalence techniques cannot simply be reused unchanged.</a:t>
            </a:r>
          </a:p>
          <a:p>
            <a:r>
              <a:rPr lang="en-US" dirty="0" smtClean="0"/>
              <a:t>Finally, when we reason about individual compiler passes, the checks must understand quantum semantics. Formal-verification work shows that this is both necessary and feasible.</a:t>
            </a:r>
          </a:p>
          <a:p>
            <a:r>
              <a:rPr lang="en-US" dirty="0" smtClean="0"/>
              <a:t>So the main message is: </a:t>
            </a:r>
            <a:r>
              <a:rPr lang="en-US" b="1" dirty="0" smtClean="0"/>
              <a:t>classical regression-testing principles are still useful, but their fault models, observability, equivalence checks, and oracle design cannot be transferred unchanged to the quantum-</a:t>
            </a:r>
            <a:r>
              <a:rPr lang="en-US" b="1" dirty="0" err="1" smtClean="0"/>
              <a:t>transpiler</a:t>
            </a:r>
            <a:r>
              <a:rPr lang="en-US" b="1" dirty="0" smtClean="0"/>
              <a:t> setting.</a:t>
            </a:r>
            <a:endParaRPr lang="en-US" dirty="0" smtClean="0"/>
          </a:p>
          <a:p>
            <a:endParaRPr dirty="0"/>
          </a:p>
          <a:p>
            <a:r>
              <a:rPr dirty="0" err="1"/>
              <a:t>Mumkin</a:t>
            </a:r>
            <a:r>
              <a:rPr dirty="0"/>
              <a:t> examiner </a:t>
            </a:r>
            <a:r>
              <a:rPr dirty="0" err="1"/>
              <a:t>sawalat</a:t>
            </a:r>
            <a:r>
              <a:rPr dirty="0"/>
              <a:t>:</a:t>
            </a:r>
          </a:p>
          <a:p>
            <a:r>
              <a:rPr dirty="0"/>
              <a:t>S1: 39.9% </a:t>
            </a:r>
            <a:r>
              <a:rPr dirty="0" err="1"/>
              <a:t>wala</a:t>
            </a:r>
            <a:r>
              <a:rPr dirty="0"/>
              <a:t> figure to </a:t>
            </a:r>
            <a:r>
              <a:rPr dirty="0" err="1"/>
              <a:t>poore</a:t>
            </a:r>
            <a:r>
              <a:rPr dirty="0"/>
              <a:t> quantum platform </a:t>
            </a:r>
            <a:r>
              <a:rPr dirty="0" err="1"/>
              <a:t>ke</a:t>
            </a:r>
            <a:r>
              <a:rPr dirty="0"/>
              <a:t> bugs </a:t>
            </a:r>
            <a:r>
              <a:rPr dirty="0" err="1"/>
              <a:t>ka</a:t>
            </a:r>
            <a:r>
              <a:rPr dirty="0"/>
              <a:t> </a:t>
            </a:r>
            <a:r>
              <a:rPr dirty="0" err="1"/>
              <a:t>hai</a:t>
            </a:r>
            <a:r>
              <a:rPr dirty="0"/>
              <a:t>, </a:t>
            </a:r>
            <a:r>
              <a:rPr dirty="0" err="1"/>
              <a:t>sirf</a:t>
            </a:r>
            <a:r>
              <a:rPr dirty="0"/>
              <a:t> </a:t>
            </a:r>
            <a:r>
              <a:rPr dirty="0" err="1"/>
              <a:t>transpiler</a:t>
            </a:r>
            <a:r>
              <a:rPr dirty="0"/>
              <a:t> </a:t>
            </a:r>
            <a:r>
              <a:rPr dirty="0" err="1"/>
              <a:t>ka</a:t>
            </a:r>
            <a:r>
              <a:rPr dirty="0"/>
              <a:t> </a:t>
            </a:r>
            <a:r>
              <a:rPr dirty="0" err="1"/>
              <a:t>nahi</a:t>
            </a:r>
            <a:r>
              <a:rPr dirty="0"/>
              <a:t> — </a:t>
            </a:r>
            <a:r>
              <a:rPr dirty="0" err="1"/>
              <a:t>kya</a:t>
            </a:r>
            <a:r>
              <a:rPr dirty="0"/>
              <a:t> </a:t>
            </a:r>
            <a:r>
              <a:rPr dirty="0" err="1"/>
              <a:t>ise</a:t>
            </a:r>
            <a:r>
              <a:rPr dirty="0"/>
              <a:t> </a:t>
            </a:r>
            <a:r>
              <a:rPr dirty="0" err="1"/>
              <a:t>yahan</a:t>
            </a:r>
            <a:r>
              <a:rPr dirty="0"/>
              <a:t> evidence </a:t>
            </a:r>
            <a:r>
              <a:rPr dirty="0" err="1"/>
              <a:t>ke</a:t>
            </a:r>
            <a:r>
              <a:rPr dirty="0"/>
              <a:t> tor par use </a:t>
            </a:r>
            <a:r>
              <a:rPr dirty="0" err="1"/>
              <a:t>karna</a:t>
            </a:r>
            <a:r>
              <a:rPr dirty="0"/>
              <a:t> </a:t>
            </a:r>
            <a:r>
              <a:rPr dirty="0" err="1"/>
              <a:t>sahi</a:t>
            </a:r>
            <a:r>
              <a:rPr dirty="0"/>
              <a:t> </a:t>
            </a:r>
            <a:r>
              <a:rPr dirty="0" err="1"/>
              <a:t>hai</a:t>
            </a:r>
            <a:r>
              <a:rPr dirty="0"/>
              <a:t>?</a:t>
            </a:r>
          </a:p>
          <a:p>
            <a:r>
              <a:rPr dirty="0"/>
              <a:t>J1: Ye figure </a:t>
            </a:r>
            <a:r>
              <a:rPr dirty="0" err="1"/>
              <a:t>poore</a:t>
            </a:r>
            <a:r>
              <a:rPr dirty="0"/>
              <a:t> platform </a:t>
            </a:r>
            <a:r>
              <a:rPr dirty="0" err="1"/>
              <a:t>ka</a:t>
            </a:r>
            <a:r>
              <a:rPr dirty="0"/>
              <a:t> </a:t>
            </a:r>
            <a:r>
              <a:rPr dirty="0" err="1"/>
              <a:t>hai</a:t>
            </a:r>
            <a:r>
              <a:rPr dirty="0"/>
              <a:t>, </a:t>
            </a:r>
            <a:r>
              <a:rPr dirty="0" err="1"/>
              <a:t>lekin</a:t>
            </a:r>
            <a:r>
              <a:rPr dirty="0"/>
              <a:t> paper </a:t>
            </a:r>
            <a:r>
              <a:rPr dirty="0" err="1"/>
              <a:t>khud</a:t>
            </a:r>
            <a:r>
              <a:rPr dirty="0"/>
              <a:t> </a:t>
            </a:r>
            <a:r>
              <a:rPr dirty="0" err="1"/>
              <a:t>bataata</a:t>
            </a:r>
            <a:r>
              <a:rPr dirty="0"/>
              <a:t> </a:t>
            </a:r>
            <a:r>
              <a:rPr dirty="0" err="1"/>
              <a:t>hai</a:t>
            </a:r>
            <a:r>
              <a:rPr dirty="0"/>
              <a:t> </a:t>
            </a:r>
            <a:r>
              <a:rPr dirty="0" err="1"/>
              <a:t>ke</a:t>
            </a:r>
            <a:r>
              <a:rPr dirty="0"/>
              <a:t> ye quantum-specific bugs compile/</a:t>
            </a:r>
            <a:r>
              <a:rPr dirty="0" err="1"/>
              <a:t>optimise</a:t>
            </a:r>
            <a:r>
              <a:rPr dirty="0"/>
              <a:t> components </a:t>
            </a:r>
            <a:r>
              <a:rPr dirty="0" err="1"/>
              <a:t>mein</a:t>
            </a:r>
            <a:r>
              <a:rPr dirty="0"/>
              <a:t> concentrated </a:t>
            </a:r>
            <a:r>
              <a:rPr dirty="0" err="1"/>
              <a:t>hain</a:t>
            </a:r>
            <a:r>
              <a:rPr dirty="0"/>
              <a:t>, jo directly </a:t>
            </a:r>
            <a:r>
              <a:rPr dirty="0" err="1"/>
              <a:t>transpiler</a:t>
            </a:r>
            <a:r>
              <a:rPr dirty="0"/>
              <a:t> se related </a:t>
            </a:r>
            <a:r>
              <a:rPr dirty="0" err="1"/>
              <a:t>hai</a:t>
            </a:r>
            <a:r>
              <a:rPr dirty="0"/>
              <a:t>. Isi </a:t>
            </a:r>
            <a:r>
              <a:rPr dirty="0" err="1"/>
              <a:t>liye</a:t>
            </a:r>
            <a:r>
              <a:rPr dirty="0"/>
              <a:t> hum </a:t>
            </a:r>
            <a:r>
              <a:rPr dirty="0" err="1"/>
              <a:t>ise</a:t>
            </a:r>
            <a:r>
              <a:rPr dirty="0"/>
              <a:t> relevant evidence </a:t>
            </a:r>
            <a:r>
              <a:rPr dirty="0" err="1"/>
              <a:t>ke</a:t>
            </a:r>
            <a:r>
              <a:rPr dirty="0"/>
              <a:t> tor par use </a:t>
            </a:r>
            <a:r>
              <a:rPr dirty="0" err="1"/>
              <a:t>kar</a:t>
            </a:r>
            <a:r>
              <a:rPr dirty="0"/>
              <a:t> </a:t>
            </a:r>
            <a:r>
              <a:rPr dirty="0" err="1"/>
              <a:t>rahe</a:t>
            </a:r>
            <a:r>
              <a:rPr dirty="0"/>
              <a:t> </a:t>
            </a:r>
            <a:r>
              <a:rPr dirty="0" err="1"/>
              <a:t>hain</a:t>
            </a:r>
            <a:r>
              <a:rPr dirty="0"/>
              <a:t>, </a:t>
            </a:r>
            <a:r>
              <a:rPr dirty="0" err="1"/>
              <a:t>poori</a:t>
            </a:r>
            <a:r>
              <a:rPr dirty="0"/>
              <a:t> certainty </a:t>
            </a:r>
            <a:r>
              <a:rPr dirty="0" err="1"/>
              <a:t>ke</a:t>
            </a:r>
            <a:r>
              <a:rPr dirty="0"/>
              <a:t> tor par </a:t>
            </a:r>
            <a:r>
              <a:rPr dirty="0" err="1"/>
              <a:t>nahi</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39.9% bugs quantum-specific </a:t>
            </a:r>
            <a:r>
              <a:rPr dirty="0" err="1"/>
              <a:t>hain</a:t>
            </a:r>
            <a:r>
              <a:rPr dirty="0"/>
              <a:t> — </a:t>
            </a:r>
            <a:r>
              <a:rPr dirty="0" err="1"/>
              <a:t>baaqi</a:t>
            </a:r>
            <a:r>
              <a:rPr dirty="0"/>
              <a:t> 60% to classical testing se hi solve ho </a:t>
            </a:r>
            <a:r>
              <a:rPr dirty="0" err="1"/>
              <a:t>sakte</a:t>
            </a:r>
            <a:r>
              <a:rPr dirty="0"/>
              <a:t> the, to </a:t>
            </a:r>
            <a:r>
              <a:rPr dirty="0" err="1"/>
              <a:t>itna</a:t>
            </a:r>
            <a:r>
              <a:rPr dirty="0"/>
              <a:t> </a:t>
            </a:r>
            <a:r>
              <a:rPr dirty="0" err="1"/>
              <a:t>zor</a:t>
            </a:r>
            <a:r>
              <a:rPr dirty="0"/>
              <a:t> quantum-specific approach par </a:t>
            </a:r>
            <a:r>
              <a:rPr dirty="0" err="1"/>
              <a:t>kyun</a:t>
            </a:r>
            <a:r>
              <a:rPr dirty="0"/>
              <a:t>?</a:t>
            </a:r>
          </a:p>
          <a:p>
            <a:r>
              <a:rPr dirty="0"/>
              <a:t>J: </a:t>
            </a:r>
            <a:r>
              <a:rPr dirty="0" err="1"/>
              <a:t>Baaqi</a:t>
            </a:r>
            <a:r>
              <a:rPr dirty="0"/>
              <a:t> bugs already classical testing se cover </a:t>
            </a:r>
            <a:r>
              <a:rPr dirty="0" err="1"/>
              <a:t>hote</a:t>
            </a:r>
            <a:r>
              <a:rPr dirty="0"/>
              <a:t> </a:t>
            </a:r>
            <a:r>
              <a:rPr dirty="0" err="1"/>
              <a:t>hain</a:t>
            </a:r>
            <a:r>
              <a:rPr dirty="0"/>
              <a:t> — </a:t>
            </a:r>
            <a:r>
              <a:rPr dirty="0" err="1"/>
              <a:t>hamara</a:t>
            </a:r>
            <a:r>
              <a:rPr dirty="0"/>
              <a:t> focus specifically un quantum-specific bugs (</a:t>
            </a:r>
            <a:r>
              <a:rPr dirty="0" err="1"/>
              <a:t>aur</a:t>
            </a:r>
            <a:r>
              <a:rPr dirty="0"/>
              <a:t> </a:t>
            </a:r>
            <a:r>
              <a:rPr dirty="0" err="1"/>
              <a:t>unmein</a:t>
            </a:r>
            <a:r>
              <a:rPr dirty="0"/>
              <a:t> se </a:t>
            </a:r>
            <a:r>
              <a:rPr dirty="0" err="1"/>
              <a:t>transpiler</a:t>
            </a:r>
            <a:r>
              <a:rPr dirty="0"/>
              <a:t>-related channels) par </a:t>
            </a:r>
            <a:r>
              <a:rPr dirty="0" err="1"/>
              <a:t>hai</a:t>
            </a:r>
            <a:r>
              <a:rPr dirty="0"/>
              <a:t> jo classical approaches miss </a:t>
            </a:r>
            <a:r>
              <a:rPr dirty="0" err="1"/>
              <a:t>karte</a:t>
            </a:r>
            <a:r>
              <a:rPr dirty="0"/>
              <a:t> </a:t>
            </a:r>
            <a:r>
              <a:rPr dirty="0" err="1"/>
              <a:t>hain</a:t>
            </a:r>
            <a:r>
              <a:rPr dirty="0"/>
              <a:t>, jo </a:t>
            </a:r>
            <a:r>
              <a:rPr dirty="0" err="1"/>
              <a:t>ek</a:t>
            </a:r>
            <a:r>
              <a:rPr dirty="0"/>
              <a:t> significant </a:t>
            </a:r>
            <a:r>
              <a:rPr dirty="0" err="1"/>
              <a:t>aur</a:t>
            </a:r>
            <a:r>
              <a:rPr dirty="0"/>
              <a:t> previously unaddressed portion </a:t>
            </a:r>
            <a:r>
              <a:rPr dirty="0" err="1"/>
              <a:t>hai</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slide shows the validity checks we used to confirm that the pipeline itself is working correctly before trusting any result.</a:t>
            </a:r>
          </a:p>
          <a:p>
            <a:r>
              <a:rPr lang="en-US" dirty="0" smtClean="0"/>
              <a:t>First, </a:t>
            </a:r>
            <a:r>
              <a:rPr lang="en-US" b="1" dirty="0" smtClean="0"/>
              <a:t>budget compliance</a:t>
            </a:r>
            <a:r>
              <a:rPr lang="en-US" dirty="0" smtClean="0"/>
              <a:t> checks that every selection strategy stays within the same fixed CPU-time budget.</a:t>
            </a:r>
          </a:p>
          <a:p>
            <a:r>
              <a:rPr lang="en-US" dirty="0" smtClean="0"/>
              <a:t>Second, </a:t>
            </a:r>
            <a:r>
              <a:rPr lang="en-US" b="1" dirty="0" smtClean="0"/>
              <a:t>reproducibility</a:t>
            </a:r>
            <a:r>
              <a:rPr lang="en-US" dirty="0" smtClean="0"/>
              <a:t> checks that using the same seed produces the same ranking.</a:t>
            </a:r>
          </a:p>
          <a:p>
            <a:r>
              <a:rPr lang="en-US" dirty="0" smtClean="0"/>
              <a:t>Third, </a:t>
            </a:r>
            <a:r>
              <a:rPr lang="en-US" b="1" dirty="0" smtClean="0"/>
              <a:t>leakage absence</a:t>
            </a:r>
            <a:r>
              <a:rPr lang="en-US" dirty="0" smtClean="0"/>
              <a:t> checks that the current event’s actual outcome cannot influence its ranking. This is important for making the evaluation genuinely leakage-safe.</a:t>
            </a:r>
          </a:p>
          <a:p>
            <a:r>
              <a:rPr lang="en-US" dirty="0" smtClean="0"/>
              <a:t>Fourth, </a:t>
            </a:r>
            <a:r>
              <a:rPr lang="en-US" b="1" dirty="0" smtClean="0"/>
              <a:t>label reproducibility</a:t>
            </a:r>
            <a:r>
              <a:rPr lang="en-US" dirty="0" smtClean="0"/>
              <a:t> checks that the event labels can be reconstructed consistently from our saved, write-once artifacts.</a:t>
            </a:r>
          </a:p>
          <a:p>
            <a:r>
              <a:rPr lang="en-US" dirty="0" smtClean="0"/>
              <a:t>Fifth, </a:t>
            </a:r>
            <a:r>
              <a:rPr lang="en-US" b="1" dirty="0" smtClean="0"/>
              <a:t>metric correctness</a:t>
            </a:r>
            <a:r>
              <a:rPr lang="en-US" dirty="0" smtClean="0"/>
              <a:t> checks our implementation against small hand-computed examples, so we know the reported metrics are calculated correctly.</a:t>
            </a:r>
          </a:p>
          <a:p>
            <a:r>
              <a:rPr lang="en-US" dirty="0" smtClean="0"/>
              <a:t>Finally, </a:t>
            </a:r>
            <a:r>
              <a:rPr lang="en-US" b="1" dirty="0" smtClean="0"/>
              <a:t>oracle coverage</a:t>
            </a:r>
            <a:r>
              <a:rPr lang="en-US" dirty="0" smtClean="0"/>
              <a:t> checks that the required fault channels have the appropriate oracle coverage in the pipeline.</a:t>
            </a:r>
          </a:p>
          <a:p>
            <a:r>
              <a:rPr lang="en-US" dirty="0" smtClean="0"/>
              <a:t>All six gates pass, so this gives us confidence that the pipeline implementation is internally consistent and suitable for the feasibility study.”</a:t>
            </a:r>
          </a:p>
          <a:p>
            <a:r>
              <a:rPr lang="en-US" dirty="0" smtClean="0"/>
              <a:t>Easy memory:</a:t>
            </a:r>
          </a:p>
          <a:p>
            <a:r>
              <a:rPr lang="en-US" b="1" dirty="0" smtClean="0"/>
              <a:t>Budget → Reproducibility → No leakage → Labels → Metrics → Oracles</a:t>
            </a:r>
            <a:endParaRPr lang="en-US" dirty="0" smtClean="0"/>
          </a:p>
          <a:p>
            <a:endParaRPr dirty="0"/>
          </a:p>
          <a:p>
            <a:r>
              <a:rPr dirty="0" err="1"/>
              <a:t>Mumkin</a:t>
            </a:r>
            <a:r>
              <a:rPr dirty="0"/>
              <a:t> examiner </a:t>
            </a:r>
            <a:r>
              <a:rPr dirty="0" err="1"/>
              <a:t>sawalat</a:t>
            </a:r>
            <a:r>
              <a:rPr dirty="0"/>
              <a:t>:</a:t>
            </a:r>
          </a:p>
          <a:p>
            <a:r>
              <a:rPr dirty="0"/>
              <a:t>S1: </a:t>
            </a:r>
            <a:r>
              <a:rPr dirty="0" err="1"/>
              <a:t>Chhe</a:t>
            </a:r>
            <a:r>
              <a:rPr dirty="0"/>
              <a:t> gates sab PASS </a:t>
            </a:r>
            <a:r>
              <a:rPr dirty="0" err="1"/>
              <a:t>hain</a:t>
            </a:r>
            <a:r>
              <a:rPr dirty="0"/>
              <a:t> — </a:t>
            </a:r>
            <a:r>
              <a:rPr dirty="0" err="1"/>
              <a:t>kya</a:t>
            </a:r>
            <a:r>
              <a:rPr dirty="0"/>
              <a:t> koi gate fail hone </a:t>
            </a:r>
            <a:r>
              <a:rPr dirty="0" err="1"/>
              <a:t>ke</a:t>
            </a:r>
            <a:r>
              <a:rPr dirty="0"/>
              <a:t> </a:t>
            </a:r>
            <a:r>
              <a:rPr dirty="0" err="1"/>
              <a:t>qareeb</a:t>
            </a:r>
            <a:r>
              <a:rPr dirty="0"/>
              <a:t> </a:t>
            </a:r>
            <a:r>
              <a:rPr dirty="0" err="1"/>
              <a:t>tha</a:t>
            </a:r>
            <a:r>
              <a:rPr dirty="0"/>
              <a:t>, </a:t>
            </a:r>
            <a:r>
              <a:rPr dirty="0" err="1"/>
              <a:t>ya</a:t>
            </a:r>
            <a:r>
              <a:rPr dirty="0"/>
              <a:t> ye sab easy passes </a:t>
            </a:r>
            <a:r>
              <a:rPr dirty="0" err="1"/>
              <a:t>thay</a:t>
            </a:r>
            <a:r>
              <a:rPr dirty="0"/>
              <a:t>?</a:t>
            </a:r>
          </a:p>
          <a:p>
            <a:r>
              <a:rPr dirty="0"/>
              <a:t>J1: Deck </a:t>
            </a:r>
            <a:r>
              <a:rPr dirty="0" err="1"/>
              <a:t>mein</a:t>
            </a:r>
            <a:r>
              <a:rPr dirty="0"/>
              <a:t> </a:t>
            </a:r>
            <a:r>
              <a:rPr dirty="0" err="1"/>
              <a:t>har</a:t>
            </a:r>
            <a:r>
              <a:rPr dirty="0"/>
              <a:t> gate </a:t>
            </a:r>
            <a:r>
              <a:rPr dirty="0" err="1"/>
              <a:t>ka</a:t>
            </a:r>
            <a:r>
              <a:rPr dirty="0"/>
              <a:t> exact margin specify </a:t>
            </a:r>
            <a:r>
              <a:rPr dirty="0" err="1"/>
              <a:t>nahi</a:t>
            </a:r>
            <a:r>
              <a:rPr dirty="0"/>
              <a:t> </a:t>
            </a:r>
            <a:r>
              <a:rPr dirty="0" err="1"/>
              <a:t>kiya</a:t>
            </a:r>
            <a:r>
              <a:rPr dirty="0"/>
              <a:t> </a:t>
            </a:r>
            <a:r>
              <a:rPr dirty="0" err="1"/>
              <a:t>gaya</a:t>
            </a:r>
            <a:r>
              <a:rPr dirty="0"/>
              <a:t>, </a:t>
            </a:r>
            <a:r>
              <a:rPr dirty="0" err="1"/>
              <a:t>sirf</a:t>
            </a:r>
            <a:r>
              <a:rPr dirty="0"/>
              <a:t> PASS/FAIL result </a:t>
            </a:r>
            <a:r>
              <a:rPr dirty="0" err="1"/>
              <a:t>diya</a:t>
            </a:r>
            <a:r>
              <a:rPr dirty="0"/>
              <a:t> </a:t>
            </a:r>
            <a:r>
              <a:rPr dirty="0" err="1"/>
              <a:t>gaya</a:t>
            </a:r>
            <a:r>
              <a:rPr dirty="0"/>
              <a:t> </a:t>
            </a:r>
            <a:r>
              <a:rPr dirty="0" err="1"/>
              <a:t>hai</a:t>
            </a:r>
            <a:r>
              <a:rPr dirty="0"/>
              <a:t>. Agar committee margin </a:t>
            </a:r>
            <a:r>
              <a:rPr dirty="0" err="1"/>
              <a:t>ya</a:t>
            </a:r>
            <a:r>
              <a:rPr dirty="0"/>
              <a:t> threshold detail </a:t>
            </a:r>
            <a:r>
              <a:rPr dirty="0" err="1"/>
              <a:t>poochein</a:t>
            </a:r>
            <a:r>
              <a:rPr dirty="0"/>
              <a:t>, to ye </a:t>
            </a:r>
            <a:r>
              <a:rPr dirty="0" err="1"/>
              <a:t>ek</a:t>
            </a:r>
            <a:r>
              <a:rPr dirty="0"/>
              <a:t> </a:t>
            </a:r>
            <a:r>
              <a:rPr dirty="0" err="1"/>
              <a:t>cheez</a:t>
            </a:r>
            <a:r>
              <a:rPr dirty="0"/>
              <a:t> </a:t>
            </a:r>
            <a:r>
              <a:rPr dirty="0" err="1"/>
              <a:t>hai</a:t>
            </a:r>
            <a:r>
              <a:rPr dirty="0"/>
              <a:t> jo thesis </a:t>
            </a:r>
            <a:r>
              <a:rPr dirty="0" err="1"/>
              <a:t>ke</a:t>
            </a:r>
            <a:r>
              <a:rPr dirty="0"/>
              <a:t> technical appendix </a:t>
            </a:r>
            <a:r>
              <a:rPr dirty="0" err="1"/>
              <a:t>mein</a:t>
            </a:r>
            <a:r>
              <a:rPr dirty="0"/>
              <a:t> add </a:t>
            </a:r>
            <a:r>
              <a:rPr dirty="0" err="1"/>
              <a:t>ki</a:t>
            </a:r>
            <a:r>
              <a:rPr dirty="0"/>
              <a:t> ja </a:t>
            </a:r>
            <a:r>
              <a:rPr dirty="0" err="1"/>
              <a:t>sakti</a:t>
            </a:r>
            <a:r>
              <a:rPr dirty="0"/>
              <a:t> </a:t>
            </a:r>
            <a:r>
              <a:rPr dirty="0" err="1"/>
              <a:t>hai</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Sab gates PASS </a:t>
            </a:r>
            <a:r>
              <a:rPr dirty="0" err="1"/>
              <a:t>hain</a:t>
            </a:r>
            <a:r>
              <a:rPr dirty="0"/>
              <a:t> — koi FAIL show hi </a:t>
            </a:r>
            <a:r>
              <a:rPr dirty="0" err="1"/>
              <a:t>nahi</a:t>
            </a:r>
            <a:r>
              <a:rPr dirty="0"/>
              <a:t> </a:t>
            </a:r>
            <a:r>
              <a:rPr dirty="0" err="1"/>
              <a:t>hota</a:t>
            </a:r>
            <a:r>
              <a:rPr dirty="0"/>
              <a:t>, </a:t>
            </a:r>
            <a:r>
              <a:rPr dirty="0" err="1"/>
              <a:t>kya</a:t>
            </a:r>
            <a:r>
              <a:rPr dirty="0"/>
              <a:t> ye suspicious </a:t>
            </a:r>
            <a:r>
              <a:rPr dirty="0" err="1"/>
              <a:t>nahi</a:t>
            </a:r>
            <a:r>
              <a:rPr dirty="0"/>
              <a:t> </a:t>
            </a:r>
            <a:r>
              <a:rPr dirty="0" err="1"/>
              <a:t>ke</a:t>
            </a:r>
            <a:r>
              <a:rPr dirty="0"/>
              <a:t> sab </a:t>
            </a:r>
            <a:r>
              <a:rPr dirty="0" err="1"/>
              <a:t>kuch</a:t>
            </a:r>
            <a:r>
              <a:rPr dirty="0"/>
              <a:t> perfect </a:t>
            </a:r>
            <a:r>
              <a:rPr dirty="0" err="1"/>
              <a:t>nikla</a:t>
            </a:r>
            <a:r>
              <a:rPr dirty="0"/>
              <a:t>?</a:t>
            </a:r>
          </a:p>
          <a:p>
            <a:r>
              <a:rPr dirty="0"/>
              <a:t>J: In gates </a:t>
            </a:r>
            <a:r>
              <a:rPr dirty="0" err="1"/>
              <a:t>ka</a:t>
            </a:r>
            <a:r>
              <a:rPr dirty="0"/>
              <a:t> design hi is </a:t>
            </a:r>
            <a:r>
              <a:rPr dirty="0" err="1"/>
              <a:t>tarah</a:t>
            </a:r>
            <a:r>
              <a:rPr dirty="0"/>
              <a:t> </a:t>
            </a:r>
            <a:r>
              <a:rPr dirty="0" err="1"/>
              <a:t>hai</a:t>
            </a:r>
            <a:r>
              <a:rPr dirty="0"/>
              <a:t> </a:t>
            </a:r>
            <a:r>
              <a:rPr dirty="0" err="1"/>
              <a:t>ke</a:t>
            </a:r>
            <a:r>
              <a:rPr dirty="0"/>
              <a:t> wo implementation correctness verify </a:t>
            </a:r>
            <a:r>
              <a:rPr dirty="0" err="1"/>
              <a:t>karte</a:t>
            </a:r>
            <a:r>
              <a:rPr dirty="0"/>
              <a:t> </a:t>
            </a:r>
            <a:r>
              <a:rPr dirty="0" err="1"/>
              <a:t>hain</a:t>
            </a:r>
            <a:r>
              <a:rPr dirty="0"/>
              <a:t> (</a:t>
            </a:r>
            <a:r>
              <a:rPr dirty="0" err="1"/>
              <a:t>jaise</a:t>
            </a:r>
            <a:r>
              <a:rPr dirty="0"/>
              <a:t> metric formula </a:t>
            </a:r>
            <a:r>
              <a:rPr dirty="0" err="1"/>
              <a:t>sahi</a:t>
            </a:r>
            <a:r>
              <a:rPr dirty="0"/>
              <a:t> </a:t>
            </a:r>
            <a:r>
              <a:rPr dirty="0" err="1"/>
              <a:t>hai</a:t>
            </a:r>
            <a:r>
              <a:rPr dirty="0"/>
              <a:t> </a:t>
            </a:r>
            <a:r>
              <a:rPr dirty="0" err="1"/>
              <a:t>ya</a:t>
            </a:r>
            <a:r>
              <a:rPr dirty="0"/>
              <a:t> </a:t>
            </a:r>
            <a:r>
              <a:rPr dirty="0" err="1"/>
              <a:t>nahi</a:t>
            </a:r>
            <a:r>
              <a:rPr dirty="0"/>
              <a:t>), statistical significance </a:t>
            </a:r>
            <a:r>
              <a:rPr dirty="0" err="1"/>
              <a:t>nahi</a:t>
            </a:r>
            <a:r>
              <a:rPr dirty="0"/>
              <a:t>. Isi </a:t>
            </a:r>
            <a:r>
              <a:rPr dirty="0" err="1"/>
              <a:t>liye</a:t>
            </a:r>
            <a:r>
              <a:rPr dirty="0"/>
              <a:t> </a:t>
            </a:r>
            <a:r>
              <a:rPr dirty="0" err="1"/>
              <a:t>inka</a:t>
            </a:r>
            <a:r>
              <a:rPr dirty="0"/>
              <a:t> PASS </a:t>
            </a:r>
            <a:r>
              <a:rPr dirty="0" err="1"/>
              <a:t>hona</a:t>
            </a:r>
            <a:r>
              <a:rPr dirty="0"/>
              <a:t> expected </a:t>
            </a:r>
            <a:r>
              <a:rPr dirty="0" err="1"/>
              <a:t>hai</a:t>
            </a:r>
            <a:r>
              <a:rPr dirty="0"/>
              <a:t> agar implementation </a:t>
            </a:r>
            <a:r>
              <a:rPr dirty="0" err="1"/>
              <a:t>sahi</a:t>
            </a:r>
            <a:r>
              <a:rPr dirty="0"/>
              <a:t> ho — ye claim </a:t>
            </a:r>
            <a:r>
              <a:rPr dirty="0" err="1"/>
              <a:t>nahi</a:t>
            </a:r>
            <a:r>
              <a:rPr dirty="0"/>
              <a:t> </a:t>
            </a:r>
            <a:r>
              <a:rPr dirty="0" err="1"/>
              <a:t>karte</a:t>
            </a:r>
            <a:r>
              <a:rPr dirty="0"/>
              <a:t> </a:t>
            </a:r>
            <a:r>
              <a:rPr dirty="0" err="1"/>
              <a:t>ke</a:t>
            </a:r>
            <a:r>
              <a:rPr dirty="0"/>
              <a:t> 'result </a:t>
            </a:r>
            <a:r>
              <a:rPr dirty="0" err="1"/>
              <a:t>acha</a:t>
            </a:r>
            <a:r>
              <a:rPr dirty="0"/>
              <a:t> </a:t>
            </a:r>
            <a:r>
              <a:rPr dirty="0" err="1"/>
              <a:t>hai</a:t>
            </a:r>
            <a:r>
              <a:rPr dirty="0"/>
              <a:t>', </a:t>
            </a:r>
            <a:r>
              <a:rPr dirty="0" err="1"/>
              <a:t>sirf</a:t>
            </a:r>
            <a:r>
              <a:rPr dirty="0"/>
              <a:t> ye </a:t>
            </a:r>
            <a:r>
              <a:rPr dirty="0" err="1"/>
              <a:t>ke</a:t>
            </a:r>
            <a:r>
              <a:rPr dirty="0"/>
              <a:t> 'measurement process </a:t>
            </a:r>
            <a:r>
              <a:rPr dirty="0" err="1"/>
              <a:t>sahi</a:t>
            </a:r>
            <a:r>
              <a:rPr dirty="0"/>
              <a:t> </a:t>
            </a:r>
            <a:r>
              <a:rPr dirty="0" err="1"/>
              <a:t>hai</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slide gives the formal definition of our </a:t>
            </a:r>
            <a:r>
              <a:rPr lang="en-US" dirty="0" err="1" smtClean="0"/>
              <a:t>risk_score</a:t>
            </a:r>
            <a:r>
              <a:rPr lang="en-US" dirty="0" smtClean="0"/>
              <a:t>.</a:t>
            </a:r>
          </a:p>
          <a:p>
            <a:r>
              <a:rPr lang="en-US" dirty="0" smtClean="0"/>
              <a:t>The main idea is still the same: a test gets a higher score if it is more likely to be useful for revealing the fault, and a lower score if it is expensive to run.</a:t>
            </a:r>
          </a:p>
          <a:p>
            <a:r>
              <a:rPr lang="en-US" dirty="0" smtClean="0"/>
              <a:t>The score combines several factors. CSM checks whether the test exercises the stage that changed. CBS captures how sensitive the circuit is to the backend. IP represents the expected impact or criticality of the fault. HR represents historical risk. OC represents how confident we are in the oracle, and NM gives more value to novel tests while down-weighting repeated ones.</a:t>
            </a:r>
          </a:p>
          <a:p>
            <a:r>
              <a:rPr lang="en-US" dirty="0" smtClean="0"/>
              <a:t>All of these are divided by EC, which is the expected execution cost, including </a:t>
            </a:r>
            <a:r>
              <a:rPr lang="en-US" dirty="0" err="1" smtClean="0"/>
              <a:t>transpilation</a:t>
            </a:r>
            <a:r>
              <a:rPr lang="en-US" dirty="0" smtClean="0"/>
              <a:t> time and oracle time.</a:t>
            </a:r>
          </a:p>
          <a:p>
            <a:r>
              <a:rPr lang="en-US" dirty="0" smtClean="0"/>
              <a:t>The small epsilon term is only a smoothing constant so the score does not collapse to zero in edge cases.</a:t>
            </a:r>
          </a:p>
          <a:p>
            <a:r>
              <a:rPr lang="en-US" dirty="0" smtClean="0"/>
              <a:t>Most importantly, this is a transparent, hand-set heuristic. It is not a calibrated probability and it is not a black-box machine-learning model. Every component of the score can be inspected and explained.”</a:t>
            </a:r>
          </a:p>
          <a:p>
            <a:r>
              <a:rPr lang="en-US" dirty="0" smtClean="0"/>
              <a:t>Easy memory:</a:t>
            </a:r>
          </a:p>
          <a:p>
            <a:r>
              <a:rPr lang="en-US" b="1" dirty="0" smtClean="0"/>
              <a:t>Stage match × sensitivity × impact × history × oracle confidence × novelty ÷ cost</a:t>
            </a:r>
            <a:endParaRPr lang="en-US" dirty="0" smtClean="0"/>
          </a:p>
          <a:p>
            <a:endParaRPr dirty="0"/>
          </a:p>
          <a:p>
            <a:r>
              <a:rPr dirty="0" err="1"/>
              <a:t>Mumkin</a:t>
            </a:r>
            <a:r>
              <a:rPr dirty="0"/>
              <a:t> examiner </a:t>
            </a:r>
            <a:r>
              <a:rPr dirty="0" err="1"/>
              <a:t>sawalat</a:t>
            </a:r>
            <a:r>
              <a:rPr dirty="0"/>
              <a:t>:</a:t>
            </a:r>
          </a:p>
          <a:p>
            <a:r>
              <a:rPr dirty="0"/>
              <a:t>S1: Oracle confidence (OC) </a:t>
            </a:r>
            <a:r>
              <a:rPr dirty="0" err="1"/>
              <a:t>ko</a:t>
            </a:r>
            <a:r>
              <a:rPr dirty="0"/>
              <a:t> </a:t>
            </a:r>
            <a:r>
              <a:rPr dirty="0" err="1"/>
              <a:t>baaki</a:t>
            </a:r>
            <a:r>
              <a:rPr dirty="0"/>
              <a:t> factors </a:t>
            </a:r>
            <a:r>
              <a:rPr dirty="0" err="1"/>
              <a:t>ke</a:t>
            </a:r>
            <a:r>
              <a:rPr dirty="0"/>
              <a:t> </a:t>
            </a:r>
            <a:r>
              <a:rPr dirty="0" err="1"/>
              <a:t>sath</a:t>
            </a:r>
            <a:r>
              <a:rPr dirty="0"/>
              <a:t> multiply </a:t>
            </a:r>
            <a:r>
              <a:rPr dirty="0" err="1"/>
              <a:t>kyun</a:t>
            </a:r>
            <a:r>
              <a:rPr dirty="0"/>
              <a:t> </a:t>
            </a:r>
            <a:r>
              <a:rPr dirty="0" err="1"/>
              <a:t>kiya</a:t>
            </a:r>
            <a:r>
              <a:rPr dirty="0"/>
              <a:t> </a:t>
            </a:r>
            <a:r>
              <a:rPr dirty="0" err="1"/>
              <a:t>gaya</a:t>
            </a:r>
            <a:r>
              <a:rPr dirty="0"/>
              <a:t> </a:t>
            </a:r>
            <a:r>
              <a:rPr dirty="0" err="1"/>
              <a:t>hai</a:t>
            </a:r>
            <a:r>
              <a:rPr dirty="0"/>
              <a:t>, add </a:t>
            </a:r>
            <a:r>
              <a:rPr dirty="0" err="1"/>
              <a:t>kyun</a:t>
            </a:r>
            <a:r>
              <a:rPr dirty="0"/>
              <a:t> </a:t>
            </a:r>
            <a:r>
              <a:rPr dirty="0" err="1"/>
              <a:t>nahi</a:t>
            </a:r>
            <a:r>
              <a:rPr dirty="0"/>
              <a:t>?</a:t>
            </a:r>
          </a:p>
          <a:p>
            <a:r>
              <a:rPr dirty="0"/>
              <a:t>J1: Multiplication is </a:t>
            </a:r>
            <a:r>
              <a:rPr dirty="0" err="1"/>
              <a:t>liye</a:t>
            </a:r>
            <a:r>
              <a:rPr dirty="0"/>
              <a:t> use </a:t>
            </a:r>
            <a:r>
              <a:rPr dirty="0" err="1"/>
              <a:t>hoti</a:t>
            </a:r>
            <a:r>
              <a:rPr dirty="0"/>
              <a:t> </a:t>
            </a:r>
            <a:r>
              <a:rPr dirty="0" err="1"/>
              <a:t>hai</a:t>
            </a:r>
            <a:r>
              <a:rPr dirty="0"/>
              <a:t> </a:t>
            </a:r>
            <a:r>
              <a:rPr dirty="0" err="1"/>
              <a:t>taake</a:t>
            </a:r>
            <a:r>
              <a:rPr dirty="0"/>
              <a:t> agar koi </a:t>
            </a:r>
            <a:r>
              <a:rPr dirty="0" err="1"/>
              <a:t>ek</a:t>
            </a:r>
            <a:r>
              <a:rPr dirty="0"/>
              <a:t> factor </a:t>
            </a:r>
            <a:r>
              <a:rPr dirty="0" err="1"/>
              <a:t>bohot</a:t>
            </a:r>
            <a:r>
              <a:rPr dirty="0"/>
              <a:t> </a:t>
            </a:r>
            <a:r>
              <a:rPr dirty="0" err="1"/>
              <a:t>kam</a:t>
            </a:r>
            <a:r>
              <a:rPr dirty="0"/>
              <a:t> ho (</a:t>
            </a:r>
            <a:r>
              <a:rPr dirty="0" err="1"/>
              <a:t>jaise</a:t>
            </a:r>
            <a:r>
              <a:rPr dirty="0"/>
              <a:t> oracle confidence </a:t>
            </a:r>
            <a:r>
              <a:rPr dirty="0" err="1"/>
              <a:t>bohot</a:t>
            </a:r>
            <a:r>
              <a:rPr dirty="0"/>
              <a:t> low ho) to overall score automatically </a:t>
            </a:r>
            <a:r>
              <a:rPr dirty="0" err="1"/>
              <a:t>kam</a:t>
            </a:r>
            <a:r>
              <a:rPr dirty="0"/>
              <a:t> ho </a:t>
            </a:r>
            <a:r>
              <a:rPr dirty="0" err="1"/>
              <a:t>jaye</a:t>
            </a:r>
            <a:r>
              <a:rPr dirty="0"/>
              <a:t> — additive formula </a:t>
            </a:r>
            <a:r>
              <a:rPr dirty="0" err="1"/>
              <a:t>mein</a:t>
            </a:r>
            <a:r>
              <a:rPr dirty="0"/>
              <a:t> </a:t>
            </a:r>
            <a:r>
              <a:rPr dirty="0" err="1"/>
              <a:t>ek</a:t>
            </a:r>
            <a:r>
              <a:rPr dirty="0"/>
              <a:t> low factor </a:t>
            </a:r>
            <a:r>
              <a:rPr dirty="0" err="1"/>
              <a:t>doosre</a:t>
            </a:r>
            <a:r>
              <a:rPr dirty="0"/>
              <a:t> high factors se compensate ho </a:t>
            </a:r>
            <a:r>
              <a:rPr dirty="0" err="1"/>
              <a:t>sakta</a:t>
            </a:r>
            <a:r>
              <a:rPr dirty="0"/>
              <a:t> </a:t>
            </a:r>
            <a:r>
              <a:rPr dirty="0" err="1"/>
              <a:t>tha</a:t>
            </a:r>
            <a:r>
              <a:rPr dirty="0"/>
              <a:t>, jo hum </a:t>
            </a:r>
            <a:r>
              <a:rPr dirty="0" err="1"/>
              <a:t>nahi</a:t>
            </a:r>
            <a:r>
              <a:rPr dirty="0"/>
              <a:t> </a:t>
            </a:r>
            <a:r>
              <a:rPr dirty="0" err="1"/>
              <a:t>chahte</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a:t>
            </a:r>
            <a:r>
              <a:rPr dirty="0" err="1"/>
              <a:t>Itni</a:t>
            </a:r>
            <a:r>
              <a:rPr dirty="0"/>
              <a:t> precise mathematical notation (Greek letters, multiplications) </a:t>
            </a:r>
            <a:r>
              <a:rPr dirty="0" err="1"/>
              <a:t>dikhne</a:t>
            </a:r>
            <a:r>
              <a:rPr dirty="0"/>
              <a:t> </a:t>
            </a:r>
            <a:r>
              <a:rPr dirty="0" err="1"/>
              <a:t>ke</a:t>
            </a:r>
            <a:r>
              <a:rPr dirty="0"/>
              <a:t> </a:t>
            </a:r>
            <a:r>
              <a:rPr dirty="0" err="1"/>
              <a:t>bawajood</a:t>
            </a:r>
            <a:r>
              <a:rPr dirty="0"/>
              <a:t>, </a:t>
            </a:r>
            <a:r>
              <a:rPr dirty="0" err="1"/>
              <a:t>aap</a:t>
            </a:r>
            <a:r>
              <a:rPr dirty="0"/>
              <a:t> </a:t>
            </a:r>
            <a:r>
              <a:rPr dirty="0" err="1"/>
              <a:t>khud</a:t>
            </a:r>
            <a:r>
              <a:rPr dirty="0"/>
              <a:t> </a:t>
            </a:r>
            <a:r>
              <a:rPr dirty="0" err="1"/>
              <a:t>kehte</a:t>
            </a:r>
            <a:r>
              <a:rPr dirty="0"/>
              <a:t> </a:t>
            </a:r>
            <a:r>
              <a:rPr dirty="0" err="1"/>
              <a:t>hain</a:t>
            </a:r>
            <a:r>
              <a:rPr dirty="0"/>
              <a:t> ye 'hand-set heuristic' </a:t>
            </a:r>
            <a:r>
              <a:rPr dirty="0" err="1"/>
              <a:t>hai</a:t>
            </a:r>
            <a:r>
              <a:rPr dirty="0"/>
              <a:t> — to </a:t>
            </a:r>
            <a:r>
              <a:rPr dirty="0" err="1"/>
              <a:t>phir</a:t>
            </a:r>
            <a:r>
              <a:rPr dirty="0"/>
              <a:t> </a:t>
            </a:r>
            <a:r>
              <a:rPr dirty="0" err="1"/>
              <a:t>itni</a:t>
            </a:r>
            <a:r>
              <a:rPr dirty="0"/>
              <a:t> mathematical </a:t>
            </a:r>
            <a:r>
              <a:rPr dirty="0" err="1"/>
              <a:t>dikhawa</a:t>
            </a:r>
            <a:r>
              <a:rPr dirty="0"/>
              <a:t> </a:t>
            </a:r>
            <a:r>
              <a:rPr dirty="0" err="1"/>
              <a:t>kyun</a:t>
            </a:r>
            <a:r>
              <a:rPr dirty="0"/>
              <a:t>?</a:t>
            </a:r>
          </a:p>
          <a:p>
            <a:r>
              <a:rPr dirty="0"/>
              <a:t>J: Formal notation </a:t>
            </a:r>
            <a:r>
              <a:rPr dirty="0" err="1"/>
              <a:t>isliye</a:t>
            </a:r>
            <a:r>
              <a:rPr dirty="0"/>
              <a:t> </a:t>
            </a:r>
            <a:r>
              <a:rPr dirty="0" err="1"/>
              <a:t>hai</a:t>
            </a:r>
            <a:r>
              <a:rPr dirty="0"/>
              <a:t> </a:t>
            </a:r>
            <a:r>
              <a:rPr dirty="0" err="1"/>
              <a:t>taake</a:t>
            </a:r>
            <a:r>
              <a:rPr dirty="0"/>
              <a:t> formula unambiguous </a:t>
            </a:r>
            <a:r>
              <a:rPr dirty="0" err="1"/>
              <a:t>aur</a:t>
            </a:r>
            <a:r>
              <a:rPr dirty="0"/>
              <a:t> reproducible ho. 'Hand-set' hone </a:t>
            </a:r>
            <a:r>
              <a:rPr dirty="0" err="1"/>
              <a:t>ka</a:t>
            </a:r>
            <a:r>
              <a:rPr dirty="0"/>
              <a:t> </a:t>
            </a:r>
            <a:r>
              <a:rPr dirty="0" err="1"/>
              <a:t>matlab</a:t>
            </a:r>
            <a:r>
              <a:rPr dirty="0"/>
              <a:t> ye </a:t>
            </a:r>
            <a:r>
              <a:rPr dirty="0" err="1"/>
              <a:t>nahi</a:t>
            </a:r>
            <a:r>
              <a:rPr dirty="0"/>
              <a:t> </a:t>
            </a:r>
            <a:r>
              <a:rPr dirty="0" err="1"/>
              <a:t>ke</a:t>
            </a:r>
            <a:r>
              <a:rPr dirty="0"/>
              <a:t> ye arbitrary </a:t>
            </a:r>
            <a:r>
              <a:rPr dirty="0" err="1"/>
              <a:t>hai</a:t>
            </a:r>
            <a:r>
              <a:rPr dirty="0"/>
              <a:t>, </a:t>
            </a:r>
            <a:r>
              <a:rPr dirty="0" err="1"/>
              <a:t>balke</a:t>
            </a:r>
            <a:r>
              <a:rPr dirty="0"/>
              <a:t> ye </a:t>
            </a:r>
            <a:r>
              <a:rPr dirty="0" err="1"/>
              <a:t>ke</a:t>
            </a:r>
            <a:r>
              <a:rPr dirty="0"/>
              <a:t> weights machine-learned </a:t>
            </a:r>
            <a:r>
              <a:rPr dirty="0" err="1"/>
              <a:t>nahi</a:t>
            </a:r>
            <a:r>
              <a:rPr dirty="0"/>
              <a:t>, expert-judgment se set </a:t>
            </a:r>
            <a:r>
              <a:rPr dirty="0" err="1"/>
              <a:t>kiye</a:t>
            </a:r>
            <a:r>
              <a:rPr dirty="0"/>
              <a:t> </a:t>
            </a:r>
            <a:r>
              <a:rPr dirty="0" err="1"/>
              <a:t>gaye</a:t>
            </a:r>
            <a:r>
              <a:rPr dirty="0"/>
              <a:t> </a:t>
            </a:r>
            <a:r>
              <a:rPr dirty="0" err="1"/>
              <a:t>hain</a:t>
            </a:r>
            <a:r>
              <a:rPr dirty="0"/>
              <a:t> — jo deliberately transparency </a:t>
            </a:r>
            <a:r>
              <a:rPr dirty="0" err="1"/>
              <a:t>ke</a:t>
            </a:r>
            <a:r>
              <a:rPr dirty="0"/>
              <a:t> </a:t>
            </a:r>
            <a:r>
              <a:rPr dirty="0" err="1"/>
              <a:t>liye</a:t>
            </a:r>
            <a:r>
              <a:rPr dirty="0"/>
              <a:t> </a:t>
            </a:r>
            <a:r>
              <a:rPr dirty="0" err="1"/>
              <a:t>kiya</a:t>
            </a:r>
            <a:r>
              <a:rPr dirty="0"/>
              <a:t> </a:t>
            </a:r>
            <a:r>
              <a:rPr dirty="0" err="1"/>
              <a:t>gaya</a:t>
            </a:r>
            <a:r>
              <a:rPr dirty="0"/>
              <a:t> </a:t>
            </a:r>
            <a:r>
              <a:rPr dirty="0" err="1"/>
              <a:t>hai</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Our method is new, but the way we evaluate it is based on standard regression-testing practice.</a:t>
            </a:r>
          </a:p>
          <a:p>
            <a:r>
              <a:rPr lang="en-US" dirty="0" smtClean="0"/>
              <a:t>First, we compare our selector against </a:t>
            </a:r>
            <a:r>
              <a:rPr lang="en-US" b="1" dirty="0" smtClean="0"/>
              <a:t>established baselines</a:t>
            </a:r>
            <a:r>
              <a:rPr lang="en-US" dirty="0" smtClean="0"/>
              <a:t>, such as random ordering, cost-based, history-based, coverage or diversity-based, and change-based heuristics. We do not need an identical rival method; we compare against the standard alternatives used in regression-test prioritization.</a:t>
            </a:r>
          </a:p>
          <a:p>
            <a:r>
              <a:rPr lang="en-US" dirty="0" smtClean="0"/>
              <a:t>Second, we use </a:t>
            </a:r>
            <a:r>
              <a:rPr lang="en-US" b="1" dirty="0" smtClean="0"/>
              <a:t>standard evaluation metrics</a:t>
            </a:r>
            <a:r>
              <a:rPr lang="en-US" dirty="0" smtClean="0"/>
              <a:t> from the literature, such as APFD, cost-aware </a:t>
            </a:r>
            <a:r>
              <a:rPr lang="en-US" dirty="0" err="1" smtClean="0"/>
              <a:t>APFDc</a:t>
            </a:r>
            <a:r>
              <a:rPr lang="en-US" dirty="0" smtClean="0"/>
              <a:t>, recall at budget, and detection-versus-budget AUC.</a:t>
            </a:r>
          </a:p>
          <a:p>
            <a:r>
              <a:rPr lang="en-US" dirty="0" smtClean="0"/>
              <a:t>Third, we evaluate on </a:t>
            </a:r>
            <a:r>
              <a:rPr lang="en-US" b="1" dirty="0" smtClean="0"/>
              <a:t>real historical </a:t>
            </a:r>
            <a:r>
              <a:rPr lang="en-US" b="1" dirty="0" err="1" smtClean="0"/>
              <a:t>Qiskit</a:t>
            </a:r>
            <a:r>
              <a:rPr lang="en-US" b="1" dirty="0" smtClean="0"/>
              <a:t> regressions</a:t>
            </a:r>
            <a:r>
              <a:rPr lang="en-US" dirty="0" smtClean="0"/>
              <a:t>, where the correct fault outcome is already known. This gives us real ground truth rather than only synthetic examples.</a:t>
            </a:r>
          </a:p>
          <a:p>
            <a:r>
              <a:rPr lang="en-US" dirty="0" smtClean="0"/>
              <a:t>Fourth, we use </a:t>
            </a:r>
            <a:r>
              <a:rPr lang="en-US" b="1" dirty="0" smtClean="0"/>
              <a:t>ablation studies</a:t>
            </a:r>
            <a:r>
              <a:rPr lang="en-US" dirty="0" smtClean="0"/>
              <a:t>. This means we switch off parts of our own method one at a time to see which components actually contribute to the result.</a:t>
            </a:r>
          </a:p>
          <a:p>
            <a:r>
              <a:rPr lang="en-US" dirty="0" smtClean="0"/>
              <a:t>Fifth, we apply our </a:t>
            </a:r>
            <a:r>
              <a:rPr lang="en-US" b="1" dirty="0" smtClean="0"/>
              <a:t>six validity gates</a:t>
            </a:r>
            <a:r>
              <a:rPr lang="en-US" dirty="0" smtClean="0"/>
              <a:t> so that the evaluation is reproducible and leakage-safe.</a:t>
            </a:r>
          </a:p>
          <a:p>
            <a:r>
              <a:rPr lang="en-US" dirty="0" smtClean="0"/>
              <a:t>Finally, the independent unit of analysis is the </a:t>
            </a:r>
            <a:r>
              <a:rPr lang="en-US" b="1" dirty="0" smtClean="0"/>
              <a:t>regression event</a:t>
            </a:r>
            <a:r>
              <a:rPr lang="en-US" dirty="0" smtClean="0"/>
              <a:t>, not every individual test-oracle pair. This avoids treating many observations from the same event as if they were independent experiments.</a:t>
            </a:r>
          </a:p>
          <a:p>
            <a:r>
              <a:rPr lang="en-US" dirty="0" smtClean="0"/>
              <a:t>So, although the proposed method is novel, the evaluation itself uses established baselines, standard metrics, real faults, ablation, and validity checks.</a:t>
            </a:r>
          </a:p>
          <a:p>
            <a:endParaRPr dirty="0"/>
          </a:p>
          <a:p>
            <a:r>
              <a:rPr dirty="0" err="1"/>
              <a:t>Mumkin</a:t>
            </a:r>
            <a:r>
              <a:rPr dirty="0"/>
              <a:t> examiner </a:t>
            </a:r>
            <a:r>
              <a:rPr dirty="0" err="1"/>
              <a:t>sawalat</a:t>
            </a:r>
            <a:r>
              <a:rPr dirty="0"/>
              <a:t>:</a:t>
            </a:r>
          </a:p>
          <a:p>
            <a:r>
              <a:rPr dirty="0"/>
              <a:t>S1: '</a:t>
            </a:r>
            <a:r>
              <a:rPr dirty="0" err="1"/>
              <a:t>Paanch</a:t>
            </a:r>
            <a:r>
              <a:rPr dirty="0"/>
              <a:t> baselines including random' — </a:t>
            </a:r>
            <a:r>
              <a:rPr dirty="0" err="1"/>
              <a:t>kya</a:t>
            </a:r>
            <a:r>
              <a:rPr dirty="0"/>
              <a:t> ye baselines </a:t>
            </a:r>
            <a:r>
              <a:rPr dirty="0" err="1"/>
              <a:t>aaj</a:t>
            </a:r>
            <a:r>
              <a:rPr dirty="0"/>
              <a:t> real-world CI pipelines </a:t>
            </a:r>
            <a:r>
              <a:rPr dirty="0" err="1"/>
              <a:t>mein</a:t>
            </a:r>
            <a:r>
              <a:rPr dirty="0"/>
              <a:t> actually use </a:t>
            </a:r>
            <a:r>
              <a:rPr dirty="0" err="1"/>
              <a:t>hote</a:t>
            </a:r>
            <a:r>
              <a:rPr dirty="0"/>
              <a:t> </a:t>
            </a:r>
            <a:r>
              <a:rPr dirty="0" err="1"/>
              <a:t>hain</a:t>
            </a:r>
            <a:r>
              <a:rPr dirty="0"/>
              <a:t>, </a:t>
            </a:r>
            <a:r>
              <a:rPr dirty="0" err="1"/>
              <a:t>ya</a:t>
            </a:r>
            <a:r>
              <a:rPr dirty="0"/>
              <a:t> </a:t>
            </a:r>
            <a:r>
              <a:rPr dirty="0" err="1"/>
              <a:t>zyada</a:t>
            </a:r>
            <a:r>
              <a:rPr dirty="0"/>
              <a:t> tar academic constructs </a:t>
            </a:r>
            <a:r>
              <a:rPr dirty="0" err="1"/>
              <a:t>hain</a:t>
            </a:r>
            <a:r>
              <a:rPr dirty="0"/>
              <a:t>?</a:t>
            </a:r>
          </a:p>
          <a:p>
            <a:r>
              <a:rPr dirty="0"/>
              <a:t>J1: Baselines </a:t>
            </a:r>
            <a:r>
              <a:rPr dirty="0" err="1"/>
              <a:t>jaise</a:t>
            </a:r>
            <a:r>
              <a:rPr dirty="0"/>
              <a:t> cost-based, history-based, </a:t>
            </a:r>
            <a:r>
              <a:rPr dirty="0" err="1"/>
              <a:t>aur</a:t>
            </a:r>
            <a:r>
              <a:rPr dirty="0"/>
              <a:t> coverage/diversity-based heuristics field-standard </a:t>
            </a:r>
            <a:r>
              <a:rPr dirty="0" err="1"/>
              <a:t>hain</a:t>
            </a:r>
            <a:r>
              <a:rPr dirty="0"/>
              <a:t> </a:t>
            </a:r>
            <a:r>
              <a:rPr dirty="0" err="1"/>
              <a:t>aur</a:t>
            </a:r>
            <a:r>
              <a:rPr dirty="0"/>
              <a:t> established regression-testing literature se inspired </a:t>
            </a:r>
            <a:r>
              <a:rPr dirty="0" err="1"/>
              <a:t>hain</a:t>
            </a:r>
            <a:r>
              <a:rPr dirty="0"/>
              <a:t> (</a:t>
            </a:r>
            <a:r>
              <a:rPr dirty="0" err="1"/>
              <a:t>Yoo</a:t>
            </a:r>
            <a:r>
              <a:rPr dirty="0"/>
              <a:t> &amp; Harman 2012; </a:t>
            </a:r>
            <a:r>
              <a:rPr dirty="0" err="1"/>
              <a:t>Rothermel</a:t>
            </a:r>
            <a:r>
              <a:rPr dirty="0"/>
              <a:t> et al. 2001) — </a:t>
            </a:r>
            <a:r>
              <a:rPr dirty="0" err="1"/>
              <a:t>kuch</a:t>
            </a:r>
            <a:r>
              <a:rPr dirty="0"/>
              <a:t> industry practice </a:t>
            </a:r>
            <a:r>
              <a:rPr dirty="0" err="1"/>
              <a:t>mein</a:t>
            </a:r>
            <a:r>
              <a:rPr dirty="0"/>
              <a:t> </a:t>
            </a:r>
            <a:r>
              <a:rPr dirty="0" err="1"/>
              <a:t>bhi</a:t>
            </a:r>
            <a:r>
              <a:rPr dirty="0"/>
              <a:t> use </a:t>
            </a:r>
            <a:r>
              <a:rPr dirty="0" err="1"/>
              <a:t>hote</a:t>
            </a:r>
            <a:r>
              <a:rPr dirty="0"/>
              <a:t> </a:t>
            </a:r>
            <a:r>
              <a:rPr dirty="0" err="1"/>
              <a:t>hain</a:t>
            </a:r>
            <a:r>
              <a:rPr dirty="0"/>
              <a:t>, </a:t>
            </a:r>
            <a:r>
              <a:rPr dirty="0" err="1"/>
              <a:t>lekin</a:t>
            </a:r>
            <a:r>
              <a:rPr dirty="0"/>
              <a:t> deck specifically ye </a:t>
            </a:r>
            <a:r>
              <a:rPr dirty="0" err="1"/>
              <a:t>nahi</a:t>
            </a:r>
            <a:r>
              <a:rPr dirty="0"/>
              <a:t> </a:t>
            </a:r>
            <a:r>
              <a:rPr dirty="0" err="1"/>
              <a:t>bataata</a:t>
            </a:r>
            <a:r>
              <a:rPr dirty="0"/>
              <a:t> </a:t>
            </a:r>
            <a:r>
              <a:rPr dirty="0" err="1"/>
              <a:t>ke</a:t>
            </a:r>
            <a:r>
              <a:rPr dirty="0"/>
              <a:t> </a:t>
            </a:r>
            <a:r>
              <a:rPr dirty="0" err="1"/>
              <a:t>kaunse</a:t>
            </a:r>
            <a:r>
              <a:rPr dirty="0"/>
              <a:t> baselines directly </a:t>
            </a:r>
            <a:r>
              <a:rPr dirty="0" err="1"/>
              <a:t>kisi</a:t>
            </a:r>
            <a:r>
              <a:rPr dirty="0"/>
              <a:t> specific company </a:t>
            </a:r>
            <a:r>
              <a:rPr dirty="0" err="1"/>
              <a:t>ki</a:t>
            </a:r>
            <a:r>
              <a:rPr dirty="0"/>
              <a:t> CI </a:t>
            </a:r>
            <a:r>
              <a:rPr dirty="0" err="1"/>
              <a:t>mein</a:t>
            </a:r>
            <a:r>
              <a:rPr dirty="0"/>
              <a:t> deploy </a:t>
            </a:r>
            <a:r>
              <a:rPr dirty="0" err="1"/>
              <a:t>hain</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Agar method </a:t>
            </a:r>
            <a:r>
              <a:rPr dirty="0" err="1"/>
              <a:t>itna</a:t>
            </a:r>
            <a:r>
              <a:rPr dirty="0"/>
              <a:t> 'novel' </a:t>
            </a:r>
            <a:r>
              <a:rPr dirty="0" err="1"/>
              <a:t>hai</a:t>
            </a:r>
            <a:r>
              <a:rPr dirty="0"/>
              <a:t> </a:t>
            </a:r>
            <a:r>
              <a:rPr dirty="0" err="1"/>
              <a:t>ke</a:t>
            </a:r>
            <a:r>
              <a:rPr dirty="0"/>
              <a:t> koi comparable rival </a:t>
            </a:r>
            <a:r>
              <a:rPr dirty="0" err="1"/>
              <a:t>nahi</a:t>
            </a:r>
            <a:r>
              <a:rPr dirty="0"/>
              <a:t>, to </a:t>
            </a:r>
            <a:r>
              <a:rPr dirty="0" err="1"/>
              <a:t>phir</a:t>
            </a:r>
            <a:r>
              <a:rPr dirty="0"/>
              <a:t> 'baselines' se compare </a:t>
            </a:r>
            <a:r>
              <a:rPr dirty="0" err="1"/>
              <a:t>karna</a:t>
            </a:r>
            <a:r>
              <a:rPr dirty="0"/>
              <a:t> </a:t>
            </a:r>
            <a:r>
              <a:rPr dirty="0" err="1"/>
              <a:t>kaise</a:t>
            </a:r>
            <a:r>
              <a:rPr dirty="0"/>
              <a:t> fair </a:t>
            </a:r>
            <a:r>
              <a:rPr dirty="0" err="1"/>
              <a:t>hai</a:t>
            </a:r>
            <a:r>
              <a:rPr dirty="0"/>
              <a:t> — ye apples-to-oranges </a:t>
            </a:r>
            <a:r>
              <a:rPr dirty="0" err="1"/>
              <a:t>nahi</a:t>
            </a:r>
            <a:r>
              <a:rPr dirty="0"/>
              <a:t>?</a:t>
            </a:r>
          </a:p>
          <a:p>
            <a:r>
              <a:rPr dirty="0"/>
              <a:t>J: Baselines direct competitors </a:t>
            </a:r>
            <a:r>
              <a:rPr dirty="0" err="1"/>
              <a:t>nahi</a:t>
            </a:r>
            <a:r>
              <a:rPr dirty="0"/>
              <a:t> </a:t>
            </a:r>
            <a:r>
              <a:rPr dirty="0" err="1"/>
              <a:t>hain</a:t>
            </a:r>
            <a:r>
              <a:rPr dirty="0"/>
              <a:t>, </a:t>
            </a:r>
            <a:r>
              <a:rPr dirty="0" err="1"/>
              <a:t>balke</a:t>
            </a:r>
            <a:r>
              <a:rPr dirty="0"/>
              <a:t> established regression-testing heuristics </a:t>
            </a:r>
            <a:r>
              <a:rPr dirty="0" err="1"/>
              <a:t>hain</a:t>
            </a:r>
            <a:r>
              <a:rPr dirty="0"/>
              <a:t> jo field </a:t>
            </a:r>
            <a:r>
              <a:rPr dirty="0" err="1"/>
              <a:t>mein</a:t>
            </a:r>
            <a:r>
              <a:rPr dirty="0"/>
              <a:t> standard practice </a:t>
            </a:r>
            <a:r>
              <a:rPr dirty="0" err="1"/>
              <a:t>hain</a:t>
            </a:r>
            <a:r>
              <a:rPr dirty="0"/>
              <a:t>. Comparison </a:t>
            </a:r>
            <a:r>
              <a:rPr dirty="0" err="1"/>
              <a:t>ka</a:t>
            </a:r>
            <a:r>
              <a:rPr dirty="0"/>
              <a:t> </a:t>
            </a:r>
            <a:r>
              <a:rPr dirty="0" err="1"/>
              <a:t>maqsad</a:t>
            </a:r>
            <a:r>
              <a:rPr dirty="0"/>
              <a:t> ye </a:t>
            </a:r>
            <a:r>
              <a:rPr dirty="0" err="1"/>
              <a:t>dikhana</a:t>
            </a:r>
            <a:r>
              <a:rPr dirty="0"/>
              <a:t> </a:t>
            </a:r>
            <a:r>
              <a:rPr dirty="0" err="1"/>
              <a:t>hai</a:t>
            </a:r>
            <a:r>
              <a:rPr dirty="0"/>
              <a:t> </a:t>
            </a:r>
            <a:r>
              <a:rPr dirty="0" err="1"/>
              <a:t>ke</a:t>
            </a:r>
            <a:r>
              <a:rPr dirty="0"/>
              <a:t> </a:t>
            </a:r>
            <a:r>
              <a:rPr dirty="0" err="1"/>
              <a:t>hamara</a:t>
            </a:r>
            <a:r>
              <a:rPr dirty="0"/>
              <a:t> method in existing practices se </a:t>
            </a:r>
            <a:r>
              <a:rPr dirty="0" err="1"/>
              <a:t>behtar</a:t>
            </a:r>
            <a:r>
              <a:rPr dirty="0"/>
              <a:t> (</a:t>
            </a:r>
            <a:r>
              <a:rPr dirty="0" err="1"/>
              <a:t>ya</a:t>
            </a:r>
            <a:r>
              <a:rPr dirty="0"/>
              <a:t> </a:t>
            </a:r>
            <a:r>
              <a:rPr dirty="0" err="1"/>
              <a:t>kam</a:t>
            </a:r>
            <a:r>
              <a:rPr dirty="0"/>
              <a:t> se </a:t>
            </a:r>
            <a:r>
              <a:rPr dirty="0" err="1"/>
              <a:t>kam</a:t>
            </a:r>
            <a:r>
              <a:rPr dirty="0"/>
              <a:t> comparable) </a:t>
            </a:r>
            <a:r>
              <a:rPr dirty="0" err="1"/>
              <a:t>hai</a:t>
            </a:r>
            <a:r>
              <a:rPr dirty="0"/>
              <a:t> — apples-to-oranges </a:t>
            </a:r>
            <a:r>
              <a:rPr dirty="0" err="1"/>
              <a:t>nahi</a:t>
            </a:r>
            <a:r>
              <a:rPr dirty="0"/>
              <a:t>, </a:t>
            </a:r>
            <a:r>
              <a:rPr dirty="0" err="1"/>
              <a:t>balke</a:t>
            </a:r>
            <a:r>
              <a:rPr dirty="0"/>
              <a:t> </a:t>
            </a:r>
            <a:r>
              <a:rPr dirty="0" err="1"/>
              <a:t>ek</a:t>
            </a:r>
            <a:r>
              <a:rPr dirty="0"/>
              <a:t> common yardstick </a:t>
            </a:r>
            <a:r>
              <a:rPr dirty="0" err="1"/>
              <a:t>hai</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slide explains where our historical regression cases come from and why we consider them reliable.</a:t>
            </a:r>
          </a:p>
          <a:p>
            <a:r>
              <a:rPr lang="en-US" dirty="0" smtClean="0"/>
              <a:t>First, the main source is the official </a:t>
            </a:r>
            <a:r>
              <a:rPr lang="en-US" dirty="0" err="1" smtClean="0"/>
              <a:t>Qiskit</a:t>
            </a:r>
            <a:r>
              <a:rPr lang="en-US" dirty="0" smtClean="0"/>
              <a:t> repository history: merged pull requests, linked issue discussions, and release notes. These records tell us what changed, why it changed, and which version introduced or fixed the problem.</a:t>
            </a:r>
          </a:p>
          <a:p>
            <a:r>
              <a:rPr lang="en-US" dirty="0" smtClean="0"/>
              <a:t>Second, this is not an unusual methodology. Mining bug-fix commits and repository history is a standard approach in empirical software engineering.</a:t>
            </a:r>
          </a:p>
          <a:p>
            <a:r>
              <a:rPr lang="en-US" dirty="0" smtClean="0"/>
              <a:t>Third, the same type of source has been used by established quantum-software bug datasets and empirical studies, such as Bugs4Q and the work of </a:t>
            </a:r>
            <a:r>
              <a:rPr lang="en-US" dirty="0" err="1" smtClean="0"/>
              <a:t>Paltenghi</a:t>
            </a:r>
            <a:r>
              <a:rPr lang="en-US" dirty="0" smtClean="0"/>
              <a:t> and </a:t>
            </a:r>
            <a:r>
              <a:rPr lang="en-US" dirty="0" err="1" smtClean="0"/>
              <a:t>Pradel</a:t>
            </a:r>
            <a:r>
              <a:rPr lang="en-US" dirty="0" smtClean="0"/>
              <a:t>.</a:t>
            </a:r>
          </a:p>
          <a:p>
            <a:r>
              <a:rPr lang="en-US" dirty="0" smtClean="0"/>
              <a:t>We also maintain full traceability. For every regression event, we keep the relevant pull request, issue thread, release note, revision information, and reproduction scripts.</a:t>
            </a:r>
          </a:p>
          <a:p>
            <a:r>
              <a:rPr lang="en-US" dirty="0" smtClean="0"/>
              <a:t>We do not rely mainly on </a:t>
            </a:r>
            <a:r>
              <a:rPr lang="en-US" dirty="0" err="1" smtClean="0"/>
              <a:t>Qiskit</a:t>
            </a:r>
            <a:r>
              <a:rPr lang="en-US" dirty="0" smtClean="0"/>
              <a:t> RFCs because RFCs usually describe larger design changes, while routine bug fixes are documented in pull requests, issues, and release notes.</a:t>
            </a:r>
          </a:p>
          <a:p>
            <a:r>
              <a:rPr lang="en-US" dirty="0" smtClean="0"/>
              <a:t>So the key point is that every regression we test can be traced back to a permanent and verifiable record in </a:t>
            </a:r>
            <a:r>
              <a:rPr lang="en-US" dirty="0" err="1" smtClean="0"/>
              <a:t>Qiskit’s</a:t>
            </a:r>
            <a:r>
              <a:rPr lang="en-US" dirty="0" smtClean="0"/>
              <a:t> own development history.</a:t>
            </a:r>
          </a:p>
          <a:p>
            <a:endParaRPr lang="en-US" dirty="0" smtClean="0"/>
          </a:p>
          <a:p>
            <a:r>
              <a:rPr lang="en-US" dirty="0" smtClean="0"/>
              <a:t>Official repo → standard mining method → used by prior studies → full traceability → not RFCs</a:t>
            </a:r>
            <a:endParaRPr dirty="0"/>
          </a:p>
          <a:p>
            <a:r>
              <a:rPr dirty="0" err="1"/>
              <a:t>Mumkin</a:t>
            </a:r>
            <a:r>
              <a:rPr dirty="0"/>
              <a:t> examiner </a:t>
            </a:r>
            <a:r>
              <a:rPr dirty="0" err="1"/>
              <a:t>sawalat</a:t>
            </a:r>
            <a:r>
              <a:rPr dirty="0"/>
              <a:t>:</a:t>
            </a:r>
          </a:p>
          <a:p>
            <a:r>
              <a:rPr dirty="0"/>
              <a:t>S1: Ye </a:t>
            </a:r>
            <a:r>
              <a:rPr dirty="0" err="1"/>
              <a:t>kaise</a:t>
            </a:r>
            <a:r>
              <a:rPr dirty="0"/>
              <a:t> </a:t>
            </a:r>
            <a:r>
              <a:rPr dirty="0" err="1"/>
              <a:t>pakka</a:t>
            </a:r>
            <a:r>
              <a:rPr dirty="0"/>
              <a:t> </a:t>
            </a:r>
            <a:r>
              <a:rPr dirty="0" err="1"/>
              <a:t>kiya</a:t>
            </a:r>
            <a:r>
              <a:rPr dirty="0"/>
              <a:t> </a:t>
            </a:r>
            <a:r>
              <a:rPr dirty="0" err="1"/>
              <a:t>ke</a:t>
            </a:r>
            <a:r>
              <a:rPr dirty="0"/>
              <a:t> jo 'fix' PR </a:t>
            </a:r>
            <a:r>
              <a:rPr dirty="0" err="1"/>
              <a:t>hai</a:t>
            </a:r>
            <a:r>
              <a:rPr dirty="0"/>
              <a:t> wo </a:t>
            </a:r>
            <a:r>
              <a:rPr dirty="0" err="1"/>
              <a:t>waqai</a:t>
            </a:r>
            <a:r>
              <a:rPr dirty="0"/>
              <a:t> </a:t>
            </a:r>
            <a:r>
              <a:rPr dirty="0" err="1"/>
              <a:t>usi</a:t>
            </a:r>
            <a:r>
              <a:rPr dirty="0"/>
              <a:t> regression </a:t>
            </a:r>
            <a:r>
              <a:rPr dirty="0" err="1"/>
              <a:t>ko</a:t>
            </a:r>
            <a:r>
              <a:rPr dirty="0"/>
              <a:t> fix </a:t>
            </a:r>
            <a:r>
              <a:rPr dirty="0" err="1"/>
              <a:t>kar</a:t>
            </a:r>
            <a:r>
              <a:rPr dirty="0"/>
              <a:t> </a:t>
            </a:r>
            <a:r>
              <a:rPr dirty="0" err="1"/>
              <a:t>raha</a:t>
            </a:r>
            <a:r>
              <a:rPr dirty="0"/>
              <a:t> </a:t>
            </a:r>
            <a:r>
              <a:rPr dirty="0" err="1"/>
              <a:t>hai</a:t>
            </a:r>
            <a:r>
              <a:rPr dirty="0"/>
              <a:t> jo </a:t>
            </a:r>
            <a:r>
              <a:rPr dirty="0" err="1"/>
              <a:t>aap</a:t>
            </a:r>
            <a:r>
              <a:rPr dirty="0"/>
              <a:t> attribute </a:t>
            </a:r>
            <a:r>
              <a:rPr dirty="0" err="1"/>
              <a:t>kar</a:t>
            </a:r>
            <a:r>
              <a:rPr dirty="0"/>
              <a:t> </a:t>
            </a:r>
            <a:r>
              <a:rPr dirty="0" err="1"/>
              <a:t>rahe</a:t>
            </a:r>
            <a:r>
              <a:rPr dirty="0"/>
              <a:t> </a:t>
            </a:r>
            <a:r>
              <a:rPr dirty="0" err="1"/>
              <a:t>hain</a:t>
            </a:r>
            <a:r>
              <a:rPr dirty="0"/>
              <a:t>, </a:t>
            </a:r>
            <a:r>
              <a:rPr dirty="0" err="1"/>
              <a:t>kisi</a:t>
            </a:r>
            <a:r>
              <a:rPr dirty="0"/>
              <a:t> </a:t>
            </a:r>
            <a:r>
              <a:rPr dirty="0" err="1"/>
              <a:t>aur</a:t>
            </a:r>
            <a:r>
              <a:rPr dirty="0"/>
              <a:t> unrelated </a:t>
            </a:r>
            <a:r>
              <a:rPr dirty="0" err="1"/>
              <a:t>cheez</a:t>
            </a:r>
            <a:r>
              <a:rPr dirty="0"/>
              <a:t> </a:t>
            </a:r>
            <a:r>
              <a:rPr dirty="0" err="1"/>
              <a:t>ko</a:t>
            </a:r>
            <a:r>
              <a:rPr dirty="0"/>
              <a:t> </a:t>
            </a:r>
            <a:r>
              <a:rPr dirty="0" err="1"/>
              <a:t>nahi</a:t>
            </a:r>
            <a:r>
              <a:rPr dirty="0"/>
              <a:t>?</a:t>
            </a:r>
          </a:p>
          <a:p>
            <a:r>
              <a:rPr dirty="0"/>
              <a:t>J1: </a:t>
            </a:r>
            <a:r>
              <a:rPr dirty="0" err="1"/>
              <a:t>Har</a:t>
            </a:r>
            <a:r>
              <a:rPr dirty="0"/>
              <a:t> event </a:t>
            </a:r>
            <a:r>
              <a:rPr dirty="0" err="1"/>
              <a:t>ko</a:t>
            </a:r>
            <a:r>
              <a:rPr dirty="0"/>
              <a:t> manually </a:t>
            </a:r>
            <a:r>
              <a:rPr dirty="0" err="1"/>
              <a:t>uske</a:t>
            </a:r>
            <a:r>
              <a:rPr dirty="0"/>
              <a:t> linked issue thread </a:t>
            </a:r>
            <a:r>
              <a:rPr dirty="0" err="1"/>
              <a:t>aur</a:t>
            </a:r>
            <a:r>
              <a:rPr dirty="0"/>
              <a:t> release note </a:t>
            </a:r>
            <a:r>
              <a:rPr dirty="0" err="1"/>
              <a:t>ke</a:t>
            </a:r>
            <a:r>
              <a:rPr dirty="0"/>
              <a:t> through trace </a:t>
            </a:r>
            <a:r>
              <a:rPr dirty="0" err="1"/>
              <a:t>kiya</a:t>
            </a:r>
            <a:r>
              <a:rPr dirty="0"/>
              <a:t> </a:t>
            </a:r>
            <a:r>
              <a:rPr dirty="0" err="1"/>
              <a:t>gaya</a:t>
            </a:r>
            <a:r>
              <a:rPr dirty="0"/>
              <a:t> </a:t>
            </a:r>
            <a:r>
              <a:rPr dirty="0" err="1"/>
              <a:t>hai</a:t>
            </a:r>
            <a:r>
              <a:rPr dirty="0"/>
              <a:t>, jo specifically us regression </a:t>
            </a:r>
            <a:r>
              <a:rPr dirty="0" err="1"/>
              <a:t>ko</a:t>
            </a:r>
            <a:r>
              <a:rPr dirty="0"/>
              <a:t> describe </a:t>
            </a:r>
            <a:r>
              <a:rPr dirty="0" err="1"/>
              <a:t>karte</a:t>
            </a:r>
            <a:r>
              <a:rPr dirty="0"/>
              <a:t> </a:t>
            </a:r>
            <a:r>
              <a:rPr dirty="0" err="1"/>
              <a:t>hain</a:t>
            </a:r>
            <a:r>
              <a:rPr dirty="0"/>
              <a:t> — is se confirm </a:t>
            </a:r>
            <a:r>
              <a:rPr dirty="0" err="1"/>
              <a:t>hota</a:t>
            </a:r>
            <a:r>
              <a:rPr dirty="0"/>
              <a:t> </a:t>
            </a:r>
            <a:r>
              <a:rPr dirty="0" err="1"/>
              <a:t>hai</a:t>
            </a:r>
            <a:r>
              <a:rPr dirty="0"/>
              <a:t> </a:t>
            </a:r>
            <a:r>
              <a:rPr dirty="0" err="1"/>
              <a:t>ke</a:t>
            </a:r>
            <a:r>
              <a:rPr dirty="0"/>
              <a:t> fix </a:t>
            </a:r>
            <a:r>
              <a:rPr dirty="0" err="1"/>
              <a:t>aur</a:t>
            </a:r>
            <a:r>
              <a:rPr dirty="0"/>
              <a:t> regression directly related </a:t>
            </a:r>
            <a:r>
              <a:rPr dirty="0" err="1"/>
              <a:t>hain</a:t>
            </a:r>
            <a:r>
              <a:rPr dirty="0"/>
              <a:t>, </a:t>
            </a:r>
            <a:r>
              <a:rPr dirty="0" err="1"/>
              <a:t>sirf</a:t>
            </a:r>
            <a:r>
              <a:rPr dirty="0"/>
              <a:t> coincidental commit </a:t>
            </a:r>
            <a:r>
              <a:rPr dirty="0" err="1"/>
              <a:t>nahi</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PRs </a:t>
            </a:r>
            <a:r>
              <a:rPr dirty="0" err="1"/>
              <a:t>aur</a:t>
            </a:r>
            <a:r>
              <a:rPr dirty="0"/>
              <a:t> release notes 'authoritative' </a:t>
            </a:r>
            <a:r>
              <a:rPr dirty="0" err="1"/>
              <a:t>bolte</a:t>
            </a:r>
            <a:r>
              <a:rPr dirty="0"/>
              <a:t> </a:t>
            </a:r>
            <a:r>
              <a:rPr dirty="0" err="1"/>
              <a:t>hain</a:t>
            </a:r>
            <a:r>
              <a:rPr dirty="0"/>
              <a:t>, </a:t>
            </a:r>
            <a:r>
              <a:rPr dirty="0" err="1"/>
              <a:t>lekin</a:t>
            </a:r>
            <a:r>
              <a:rPr dirty="0"/>
              <a:t> open-source projects </a:t>
            </a:r>
            <a:r>
              <a:rPr dirty="0" err="1"/>
              <a:t>mein</a:t>
            </a:r>
            <a:r>
              <a:rPr dirty="0"/>
              <a:t> PR descriptions incomplete </a:t>
            </a:r>
            <a:r>
              <a:rPr dirty="0" err="1"/>
              <a:t>ya</a:t>
            </a:r>
            <a:r>
              <a:rPr dirty="0"/>
              <a:t> misleading </a:t>
            </a:r>
            <a:r>
              <a:rPr dirty="0" err="1"/>
              <a:t>bhi</a:t>
            </a:r>
            <a:r>
              <a:rPr dirty="0"/>
              <a:t> ho </a:t>
            </a:r>
            <a:r>
              <a:rPr dirty="0" err="1"/>
              <a:t>sakti</a:t>
            </a:r>
            <a:r>
              <a:rPr dirty="0"/>
              <a:t> </a:t>
            </a:r>
            <a:r>
              <a:rPr dirty="0" err="1"/>
              <a:t>hain</a:t>
            </a:r>
            <a:r>
              <a:rPr dirty="0"/>
              <a:t>.</a:t>
            </a:r>
          </a:p>
          <a:p>
            <a:r>
              <a:rPr dirty="0"/>
              <a:t>J: </a:t>
            </a:r>
            <a:r>
              <a:rPr dirty="0" err="1"/>
              <a:t>Sahi</a:t>
            </a:r>
            <a:r>
              <a:rPr dirty="0"/>
              <a:t> concern </a:t>
            </a:r>
            <a:r>
              <a:rPr dirty="0" err="1"/>
              <a:t>hai</a:t>
            </a:r>
            <a:r>
              <a:rPr dirty="0"/>
              <a:t> — </a:t>
            </a:r>
            <a:r>
              <a:rPr dirty="0" err="1"/>
              <a:t>isi</a:t>
            </a:r>
            <a:r>
              <a:rPr dirty="0"/>
              <a:t> </a:t>
            </a:r>
            <a:r>
              <a:rPr dirty="0" err="1"/>
              <a:t>liye</a:t>
            </a:r>
            <a:r>
              <a:rPr dirty="0"/>
              <a:t> hum </a:t>
            </a:r>
            <a:r>
              <a:rPr dirty="0" err="1"/>
              <a:t>sirf</a:t>
            </a:r>
            <a:r>
              <a:rPr dirty="0"/>
              <a:t> PR description par depend </a:t>
            </a:r>
            <a:r>
              <a:rPr dirty="0" err="1"/>
              <a:t>nahi</a:t>
            </a:r>
            <a:r>
              <a:rPr dirty="0"/>
              <a:t> </a:t>
            </a:r>
            <a:r>
              <a:rPr dirty="0" err="1"/>
              <a:t>karte</a:t>
            </a:r>
            <a:r>
              <a:rPr dirty="0"/>
              <a:t>, </a:t>
            </a:r>
            <a:r>
              <a:rPr dirty="0" err="1"/>
              <a:t>balke</a:t>
            </a:r>
            <a:r>
              <a:rPr dirty="0"/>
              <a:t> linked issue thread </a:t>
            </a:r>
            <a:r>
              <a:rPr dirty="0" err="1"/>
              <a:t>aur</a:t>
            </a:r>
            <a:r>
              <a:rPr dirty="0"/>
              <a:t> release notes, </a:t>
            </a:r>
            <a:r>
              <a:rPr dirty="0" err="1"/>
              <a:t>teeno</a:t>
            </a:r>
            <a:r>
              <a:rPr dirty="0"/>
              <a:t> </a:t>
            </a:r>
            <a:r>
              <a:rPr dirty="0" err="1"/>
              <a:t>ko</a:t>
            </a:r>
            <a:r>
              <a:rPr dirty="0"/>
              <a:t> cross-reference </a:t>
            </a:r>
            <a:r>
              <a:rPr dirty="0" err="1"/>
              <a:t>karte</a:t>
            </a:r>
            <a:r>
              <a:rPr dirty="0"/>
              <a:t> </a:t>
            </a:r>
            <a:r>
              <a:rPr dirty="0" err="1"/>
              <a:t>hain</a:t>
            </a:r>
            <a:r>
              <a:rPr dirty="0"/>
              <a:t> provenance confirm </a:t>
            </a:r>
            <a:r>
              <a:rPr dirty="0" err="1"/>
              <a:t>karne</a:t>
            </a:r>
            <a:r>
              <a:rPr dirty="0"/>
              <a:t> </a:t>
            </a:r>
            <a:r>
              <a:rPr dirty="0" err="1"/>
              <a:t>ke</a:t>
            </a:r>
            <a:r>
              <a:rPr dirty="0"/>
              <a:t> </a:t>
            </a:r>
            <a:r>
              <a:rPr dirty="0" err="1"/>
              <a:t>liye</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slide explains why </a:t>
            </a:r>
            <a:r>
              <a:rPr lang="en-US" dirty="0" err="1" smtClean="0"/>
              <a:t>Qiskit</a:t>
            </a:r>
            <a:r>
              <a:rPr lang="en-US" dirty="0" smtClean="0"/>
              <a:t> is a suitable subject for this study.</a:t>
            </a:r>
          </a:p>
          <a:p>
            <a:r>
              <a:rPr lang="en-US" dirty="0" err="1" smtClean="0"/>
              <a:t>Qiskit</a:t>
            </a:r>
            <a:r>
              <a:rPr lang="en-US" dirty="0" smtClean="0"/>
              <a:t> is a fast-moving quantum SDK. In the 2.x series, it releases a new minor version roughly every three months, with additional patch releases in between.</a:t>
            </a:r>
          </a:p>
          <a:p>
            <a:r>
              <a:rPr lang="en-US" dirty="0" smtClean="0"/>
              <a:t>More importantly for our work, almost every release changes the </a:t>
            </a:r>
            <a:r>
              <a:rPr lang="en-US" dirty="0" err="1" smtClean="0"/>
              <a:t>transpiler</a:t>
            </a:r>
            <a:r>
              <a:rPr lang="en-US" dirty="0" smtClean="0"/>
              <a:t>. For example, recent releases changed </a:t>
            </a:r>
            <a:r>
              <a:rPr lang="en-US" dirty="0" err="1" smtClean="0"/>
              <a:t>transpilation</a:t>
            </a:r>
            <a:r>
              <a:rPr lang="en-US" dirty="0" smtClean="0"/>
              <a:t> performance, reworked layout passes such as VF2Layout and VF2PostLayout, and introduced further </a:t>
            </a:r>
            <a:r>
              <a:rPr lang="en-US" dirty="0" err="1" smtClean="0"/>
              <a:t>transpiler</a:t>
            </a:r>
            <a:r>
              <a:rPr lang="en-US" dirty="0" smtClean="0"/>
              <a:t>-level improvements.</a:t>
            </a:r>
          </a:p>
          <a:p>
            <a:r>
              <a:rPr lang="en-US" dirty="0" smtClean="0"/>
              <a:t>This matters because frequent compiler changes create repeated opportunities for regressions. In fact, VF2PostLayout, which is the location of our H4 performance regression, was itself reworked in a later release.</a:t>
            </a:r>
          </a:p>
          <a:p>
            <a:r>
              <a:rPr lang="en-US" dirty="0" smtClean="0"/>
              <a:t>So </a:t>
            </a:r>
            <a:r>
              <a:rPr lang="en-US" dirty="0" err="1" smtClean="0"/>
              <a:t>Qiskit</a:t>
            </a:r>
            <a:r>
              <a:rPr lang="en-US" dirty="0" smtClean="0"/>
              <a:t> gives us two things we need for this research: an actively changing </a:t>
            </a:r>
            <a:r>
              <a:rPr lang="en-US" dirty="0" err="1" smtClean="0"/>
              <a:t>transpiler</a:t>
            </a:r>
            <a:r>
              <a:rPr lang="en-US" dirty="0" smtClean="0"/>
              <a:t>, and a rich public history of real fixes and regressions that we can study and reproduce.</a:t>
            </a:r>
          </a:p>
          <a:p>
            <a:endParaRPr dirty="0"/>
          </a:p>
          <a:p>
            <a:r>
              <a:rPr dirty="0" err="1"/>
              <a:t>Mumkin</a:t>
            </a:r>
            <a:r>
              <a:rPr dirty="0"/>
              <a:t> examiner </a:t>
            </a:r>
            <a:r>
              <a:rPr dirty="0" err="1"/>
              <a:t>sawalat</a:t>
            </a:r>
            <a:r>
              <a:rPr dirty="0"/>
              <a:t>:</a:t>
            </a:r>
          </a:p>
          <a:p>
            <a:r>
              <a:rPr dirty="0"/>
              <a:t>S1: Agar </a:t>
            </a:r>
            <a:r>
              <a:rPr dirty="0" err="1"/>
              <a:t>Qiskit</a:t>
            </a:r>
            <a:r>
              <a:rPr dirty="0"/>
              <a:t> </a:t>
            </a:r>
            <a:r>
              <a:rPr dirty="0" err="1"/>
              <a:t>itni</a:t>
            </a:r>
            <a:r>
              <a:rPr dirty="0"/>
              <a:t> </a:t>
            </a:r>
            <a:r>
              <a:rPr dirty="0" err="1"/>
              <a:t>tezi</a:t>
            </a:r>
            <a:r>
              <a:rPr dirty="0"/>
              <a:t> se change </a:t>
            </a:r>
            <a:r>
              <a:rPr dirty="0" err="1"/>
              <a:t>hoti</a:t>
            </a:r>
            <a:r>
              <a:rPr dirty="0"/>
              <a:t> </a:t>
            </a:r>
            <a:r>
              <a:rPr dirty="0" err="1"/>
              <a:t>hai</a:t>
            </a:r>
            <a:r>
              <a:rPr dirty="0"/>
              <a:t>, to </a:t>
            </a:r>
            <a:r>
              <a:rPr dirty="0" err="1"/>
              <a:t>aapke</a:t>
            </a:r>
            <a:r>
              <a:rPr dirty="0"/>
              <a:t> findings 2.0-2.4 </a:t>
            </a:r>
            <a:r>
              <a:rPr dirty="0" err="1"/>
              <a:t>ke</a:t>
            </a:r>
            <a:r>
              <a:rPr dirty="0"/>
              <a:t> </a:t>
            </a:r>
            <a:r>
              <a:rPr dirty="0" err="1"/>
              <a:t>ilawa</a:t>
            </a:r>
            <a:r>
              <a:rPr dirty="0"/>
              <a:t> </a:t>
            </a:r>
            <a:r>
              <a:rPr dirty="0" err="1"/>
              <a:t>dusre</a:t>
            </a:r>
            <a:r>
              <a:rPr dirty="0"/>
              <a:t> versions </a:t>
            </a:r>
            <a:r>
              <a:rPr dirty="0" err="1"/>
              <a:t>ke</a:t>
            </a:r>
            <a:r>
              <a:rPr dirty="0"/>
              <a:t> </a:t>
            </a:r>
            <a:r>
              <a:rPr dirty="0" err="1"/>
              <a:t>liye</a:t>
            </a:r>
            <a:r>
              <a:rPr dirty="0"/>
              <a:t> </a:t>
            </a:r>
            <a:r>
              <a:rPr dirty="0" err="1"/>
              <a:t>kaise</a:t>
            </a:r>
            <a:r>
              <a:rPr dirty="0"/>
              <a:t> generalize </a:t>
            </a:r>
            <a:r>
              <a:rPr dirty="0" err="1"/>
              <a:t>honge</a:t>
            </a:r>
            <a:r>
              <a:rPr dirty="0"/>
              <a:t>?</a:t>
            </a:r>
          </a:p>
          <a:p>
            <a:r>
              <a:rPr dirty="0"/>
              <a:t>J1: Ye </a:t>
            </a:r>
            <a:r>
              <a:rPr dirty="0" err="1"/>
              <a:t>ek</a:t>
            </a:r>
            <a:r>
              <a:rPr dirty="0"/>
              <a:t> acknowledge </a:t>
            </a:r>
            <a:r>
              <a:rPr dirty="0" err="1"/>
              <a:t>ki</a:t>
            </a:r>
            <a:r>
              <a:rPr dirty="0"/>
              <a:t> </a:t>
            </a:r>
            <a:r>
              <a:rPr dirty="0" err="1"/>
              <a:t>gayi</a:t>
            </a:r>
            <a:r>
              <a:rPr dirty="0"/>
              <a:t> limitation </a:t>
            </a:r>
            <a:r>
              <a:rPr dirty="0" err="1"/>
              <a:t>hai</a:t>
            </a:r>
            <a:r>
              <a:rPr dirty="0"/>
              <a:t> — </a:t>
            </a:r>
            <a:r>
              <a:rPr dirty="0" err="1"/>
              <a:t>hamara</a:t>
            </a:r>
            <a:r>
              <a:rPr dirty="0"/>
              <a:t> study specifically </a:t>
            </a:r>
            <a:r>
              <a:rPr dirty="0" err="1"/>
              <a:t>Qiskit</a:t>
            </a:r>
            <a:r>
              <a:rPr dirty="0"/>
              <a:t> 2.x series par focus </a:t>
            </a:r>
            <a:r>
              <a:rPr dirty="0" err="1"/>
              <a:t>karta</a:t>
            </a:r>
            <a:r>
              <a:rPr dirty="0"/>
              <a:t> </a:t>
            </a:r>
            <a:r>
              <a:rPr dirty="0" err="1"/>
              <a:t>hai</a:t>
            </a:r>
            <a:r>
              <a:rPr dirty="0"/>
              <a:t>. Cross-version </a:t>
            </a:r>
            <a:r>
              <a:rPr dirty="0" err="1"/>
              <a:t>aur</a:t>
            </a:r>
            <a:r>
              <a:rPr dirty="0"/>
              <a:t> cross-SDK </a:t>
            </a:r>
            <a:r>
              <a:rPr dirty="0" err="1"/>
              <a:t>generalisation</a:t>
            </a:r>
            <a:r>
              <a:rPr dirty="0"/>
              <a:t> Phase 4 (stretch goal) </a:t>
            </a:r>
            <a:r>
              <a:rPr dirty="0" err="1"/>
              <a:t>mein</a:t>
            </a:r>
            <a:r>
              <a:rPr dirty="0"/>
              <a:t> planned </a:t>
            </a:r>
            <a:r>
              <a:rPr dirty="0" err="1"/>
              <a:t>hai</a:t>
            </a:r>
            <a:r>
              <a:rPr dirty="0"/>
              <a:t>, </a:t>
            </a:r>
            <a:r>
              <a:rPr dirty="0" err="1"/>
              <a:t>jaisa</a:t>
            </a:r>
            <a:r>
              <a:rPr dirty="0"/>
              <a:t> Work Plan slide par </a:t>
            </a:r>
            <a:r>
              <a:rPr dirty="0" err="1"/>
              <a:t>bataya</a:t>
            </a:r>
            <a:r>
              <a:rPr dirty="0"/>
              <a:t> </a:t>
            </a:r>
            <a:r>
              <a:rPr dirty="0" err="1"/>
              <a:t>gaya</a:t>
            </a:r>
            <a:r>
              <a:rPr dirty="0"/>
              <a:t> </a:t>
            </a:r>
            <a:r>
              <a:rPr dirty="0" err="1"/>
              <a:t>hai</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Agar </a:t>
            </a:r>
            <a:r>
              <a:rPr dirty="0" err="1"/>
              <a:t>Qiskit</a:t>
            </a:r>
            <a:r>
              <a:rPr dirty="0"/>
              <a:t> </a:t>
            </a:r>
            <a:r>
              <a:rPr dirty="0" err="1"/>
              <a:t>itni</a:t>
            </a:r>
            <a:r>
              <a:rPr dirty="0"/>
              <a:t> fast-changing </a:t>
            </a:r>
            <a:r>
              <a:rPr dirty="0" err="1"/>
              <a:t>hai</a:t>
            </a:r>
            <a:r>
              <a:rPr dirty="0"/>
              <a:t>, to </a:t>
            </a:r>
            <a:r>
              <a:rPr dirty="0" err="1"/>
              <a:t>kya</a:t>
            </a:r>
            <a:r>
              <a:rPr dirty="0"/>
              <a:t> </a:t>
            </a:r>
            <a:r>
              <a:rPr dirty="0" err="1"/>
              <a:t>aapke</a:t>
            </a:r>
            <a:r>
              <a:rPr dirty="0"/>
              <a:t> specific findings (</a:t>
            </a:r>
            <a:r>
              <a:rPr dirty="0" err="1"/>
              <a:t>jaise</a:t>
            </a:r>
            <a:r>
              <a:rPr dirty="0"/>
              <a:t> H4) </a:t>
            </a:r>
            <a:r>
              <a:rPr dirty="0" err="1"/>
              <a:t>agle</a:t>
            </a:r>
            <a:r>
              <a:rPr dirty="0"/>
              <a:t> version </a:t>
            </a:r>
            <a:r>
              <a:rPr dirty="0" err="1"/>
              <a:t>mein</a:t>
            </a:r>
            <a:r>
              <a:rPr dirty="0"/>
              <a:t> hi obsolete </a:t>
            </a:r>
            <a:r>
              <a:rPr dirty="0" err="1"/>
              <a:t>nahi</a:t>
            </a:r>
            <a:r>
              <a:rPr dirty="0"/>
              <a:t> ho </a:t>
            </a:r>
            <a:r>
              <a:rPr dirty="0" err="1"/>
              <a:t>jayenge</a:t>
            </a:r>
            <a:r>
              <a:rPr dirty="0"/>
              <a:t>?</a:t>
            </a:r>
          </a:p>
          <a:p>
            <a:r>
              <a:rPr dirty="0"/>
              <a:t>J: Individual regression instances specific versions se tied </a:t>
            </a:r>
            <a:r>
              <a:rPr dirty="0" err="1"/>
              <a:t>hoti</a:t>
            </a:r>
            <a:r>
              <a:rPr dirty="0"/>
              <a:t> </a:t>
            </a:r>
            <a:r>
              <a:rPr dirty="0" err="1"/>
              <a:t>hain</a:t>
            </a:r>
            <a:r>
              <a:rPr dirty="0"/>
              <a:t>, </a:t>
            </a:r>
            <a:r>
              <a:rPr dirty="0" err="1"/>
              <a:t>lekin</a:t>
            </a:r>
            <a:r>
              <a:rPr dirty="0"/>
              <a:t> </a:t>
            </a:r>
            <a:r>
              <a:rPr dirty="0" err="1"/>
              <a:t>hamara</a:t>
            </a:r>
            <a:r>
              <a:rPr dirty="0"/>
              <a:t> framework — cart pipeline, </a:t>
            </a:r>
            <a:r>
              <a:rPr dirty="0" err="1"/>
              <a:t>risk_score</a:t>
            </a:r>
            <a:r>
              <a:rPr dirty="0"/>
              <a:t>, oracle taxonomy — version-agnostic </a:t>
            </a:r>
            <a:r>
              <a:rPr dirty="0" err="1"/>
              <a:t>hai</a:t>
            </a:r>
            <a:r>
              <a:rPr dirty="0"/>
              <a:t>. Wo </a:t>
            </a:r>
            <a:r>
              <a:rPr dirty="0" err="1"/>
              <a:t>kisi</a:t>
            </a:r>
            <a:r>
              <a:rPr dirty="0"/>
              <a:t> </a:t>
            </a:r>
            <a:r>
              <a:rPr dirty="0" err="1"/>
              <a:t>bhi</a:t>
            </a:r>
            <a:r>
              <a:rPr dirty="0"/>
              <a:t> future </a:t>
            </a:r>
            <a:r>
              <a:rPr dirty="0" err="1"/>
              <a:t>Qiskit</a:t>
            </a:r>
            <a:r>
              <a:rPr dirty="0"/>
              <a:t> version par reapply ho </a:t>
            </a:r>
            <a:r>
              <a:rPr dirty="0" err="1"/>
              <a:t>sakta</a:t>
            </a:r>
            <a:r>
              <a:rPr dirty="0"/>
              <a:t> </a:t>
            </a:r>
            <a:r>
              <a:rPr dirty="0" err="1"/>
              <a:t>hai</a:t>
            </a:r>
            <a:r>
              <a:rPr dirty="0"/>
              <a:t>; </a:t>
            </a:r>
            <a:r>
              <a:rPr dirty="0" err="1"/>
              <a:t>sirf</a:t>
            </a:r>
            <a:r>
              <a:rPr dirty="0"/>
              <a:t> specific case-studies hi us </a:t>
            </a:r>
            <a:r>
              <a:rPr dirty="0" err="1"/>
              <a:t>waqt</a:t>
            </a:r>
            <a:r>
              <a:rPr dirty="0"/>
              <a:t> </a:t>
            </a:r>
            <a:r>
              <a:rPr dirty="0" err="1"/>
              <a:t>ki</a:t>
            </a:r>
            <a:r>
              <a:rPr dirty="0"/>
              <a:t> version se tied </a:t>
            </a:r>
            <a:r>
              <a:rPr dirty="0" err="1"/>
              <a:t>hain</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smtClean="0"/>
              <a:t>This slide provides current evidence that the output-equivalence limitation is not only based on older literature. It is also visible in </a:t>
            </a:r>
            <a:r>
              <a:rPr lang="en-US" dirty="0" err="1" smtClean="0"/>
              <a:t>Qiskit’s</a:t>
            </a:r>
            <a:r>
              <a:rPr lang="en-US" dirty="0" smtClean="0"/>
              <a:t> current own CI tests.</a:t>
            </a:r>
          </a:p>
          <a:p>
            <a:r>
              <a:rPr lang="en-US" dirty="0" smtClean="0"/>
              <a:t>We checked the </a:t>
            </a:r>
            <a:r>
              <a:rPr lang="en-US" dirty="0" err="1" smtClean="0"/>
              <a:t>Qiskit</a:t>
            </a:r>
            <a:r>
              <a:rPr lang="en-US" dirty="0" smtClean="0"/>
              <a:t> main branch used for this </a:t>
            </a:r>
            <a:r>
              <a:rPr lang="en-US" dirty="0" err="1" smtClean="0"/>
              <a:t>defence</a:t>
            </a:r>
            <a:r>
              <a:rPr lang="en-US" dirty="0" smtClean="0"/>
              <a:t> and looked at its </a:t>
            </a:r>
            <a:r>
              <a:rPr lang="en-US" dirty="0" err="1" smtClean="0"/>
              <a:t>transpiler</a:t>
            </a:r>
            <a:r>
              <a:rPr lang="en-US" dirty="0" smtClean="0"/>
              <a:t>-equivalence test.</a:t>
            </a:r>
          </a:p>
          <a:p>
            <a:r>
              <a:rPr lang="en-US" dirty="0" smtClean="0"/>
              <a:t>The test creates a random circuit, simulates it, </a:t>
            </a:r>
            <a:r>
              <a:rPr lang="en-US" dirty="0" err="1" smtClean="0"/>
              <a:t>transpiles</a:t>
            </a:r>
            <a:r>
              <a:rPr lang="en-US" dirty="0" smtClean="0"/>
              <a:t> it, simulates the </a:t>
            </a:r>
            <a:r>
              <a:rPr lang="en-US" dirty="0" err="1" smtClean="0"/>
              <a:t>transpiled</a:t>
            </a:r>
            <a:r>
              <a:rPr lang="en-US" dirty="0" smtClean="0"/>
              <a:t> circuit, and then checks whether the measurement counts match.</a:t>
            </a:r>
          </a:p>
          <a:p>
            <a:r>
              <a:rPr lang="en-US" dirty="0" smtClean="0"/>
              <a:t>So this is an output-level correctness check. It verifies that the observable result is preserved.</a:t>
            </a:r>
          </a:p>
          <a:p>
            <a:r>
              <a:rPr lang="en-US" dirty="0" smtClean="0"/>
              <a:t>However, it does not directly inspect internal properties such as the </a:t>
            </a:r>
            <a:r>
              <a:rPr lang="en-US" dirty="0" err="1" smtClean="0"/>
              <a:t>property_set</a:t>
            </a:r>
            <a:r>
              <a:rPr lang="en-US" dirty="0" smtClean="0"/>
              <a:t>, layout objects, or routing metadata.</a:t>
            </a:r>
          </a:p>
          <a:p>
            <a:r>
              <a:rPr lang="en-US" dirty="0" smtClean="0"/>
              <a:t>This supports our main argument: a final-output check can confirm semantic </a:t>
            </a:r>
            <a:r>
              <a:rPr lang="en-US" dirty="0" err="1" smtClean="0"/>
              <a:t>behaviour</a:t>
            </a:r>
            <a:r>
              <a:rPr lang="en-US" dirty="0" smtClean="0"/>
              <a:t>, but it may still miss faults in internal </a:t>
            </a:r>
            <a:r>
              <a:rPr lang="en-US" dirty="0" err="1" smtClean="0"/>
              <a:t>transpiler</a:t>
            </a:r>
            <a:r>
              <a:rPr lang="en-US" dirty="0" smtClean="0"/>
              <a:t> properties.</a:t>
            </a:r>
          </a:p>
          <a:p>
            <a:r>
              <a:rPr lang="en-US" dirty="0" smtClean="0"/>
              <a:t>And because this comes from </a:t>
            </a:r>
            <a:r>
              <a:rPr lang="en-US" dirty="0" err="1" smtClean="0"/>
              <a:t>Qiskit’s</a:t>
            </a:r>
            <a:r>
              <a:rPr lang="en-US" dirty="0" smtClean="0"/>
              <a:t> live test suite rather than only an older paper, the issue is still relevant to the current version.</a:t>
            </a:r>
          </a:p>
          <a:p>
            <a:endParaRPr dirty="0"/>
          </a:p>
          <a:p>
            <a:r>
              <a:rPr dirty="0" err="1"/>
              <a:t>Mumkin</a:t>
            </a:r>
            <a:r>
              <a:rPr dirty="0"/>
              <a:t> examiner </a:t>
            </a:r>
            <a:r>
              <a:rPr dirty="0" err="1"/>
              <a:t>sawalat</a:t>
            </a:r>
            <a:r>
              <a:rPr dirty="0"/>
              <a:t>:</a:t>
            </a:r>
          </a:p>
          <a:p>
            <a:r>
              <a:rPr dirty="0"/>
              <a:t>S1: </a:t>
            </a:r>
            <a:r>
              <a:rPr dirty="0" err="1"/>
              <a:t>Sirf</a:t>
            </a:r>
            <a:r>
              <a:rPr dirty="0"/>
              <a:t> is </a:t>
            </a:r>
            <a:r>
              <a:rPr dirty="0" err="1"/>
              <a:t>liye</a:t>
            </a:r>
            <a:r>
              <a:rPr dirty="0"/>
              <a:t> </a:t>
            </a:r>
            <a:r>
              <a:rPr dirty="0" err="1"/>
              <a:t>ke</a:t>
            </a:r>
            <a:r>
              <a:rPr dirty="0"/>
              <a:t> test file </a:t>
            </a:r>
            <a:r>
              <a:rPr dirty="0" err="1"/>
              <a:t>abhi</a:t>
            </a:r>
            <a:r>
              <a:rPr dirty="0"/>
              <a:t> </a:t>
            </a:r>
            <a:r>
              <a:rPr dirty="0" err="1"/>
              <a:t>sirf</a:t>
            </a:r>
            <a:r>
              <a:rPr dirty="0"/>
              <a:t> output counts check </a:t>
            </a:r>
            <a:r>
              <a:rPr dirty="0" err="1"/>
              <a:t>karti</a:t>
            </a:r>
            <a:r>
              <a:rPr dirty="0"/>
              <a:t> </a:t>
            </a:r>
            <a:r>
              <a:rPr dirty="0" err="1"/>
              <a:t>hai</a:t>
            </a:r>
            <a:r>
              <a:rPr dirty="0"/>
              <a:t>, </a:t>
            </a:r>
            <a:r>
              <a:rPr dirty="0" err="1"/>
              <a:t>kya</a:t>
            </a:r>
            <a:r>
              <a:rPr dirty="0"/>
              <a:t> </a:t>
            </a:r>
            <a:r>
              <a:rPr dirty="0" err="1"/>
              <a:t>iska</a:t>
            </a:r>
            <a:r>
              <a:rPr dirty="0"/>
              <a:t> </a:t>
            </a:r>
            <a:r>
              <a:rPr dirty="0" err="1"/>
              <a:t>matlab</a:t>
            </a:r>
            <a:r>
              <a:rPr dirty="0"/>
              <a:t> </a:t>
            </a:r>
            <a:r>
              <a:rPr dirty="0" err="1"/>
              <a:t>Qiskit</a:t>
            </a:r>
            <a:r>
              <a:rPr dirty="0"/>
              <a:t> developers is contract/metadata gap se unaware </a:t>
            </a:r>
            <a:r>
              <a:rPr dirty="0" err="1"/>
              <a:t>hain</a:t>
            </a:r>
            <a:r>
              <a:rPr dirty="0"/>
              <a:t>?</a:t>
            </a:r>
          </a:p>
          <a:p>
            <a:r>
              <a:rPr dirty="0"/>
              <a:t>J1: Ye </a:t>
            </a:r>
            <a:r>
              <a:rPr dirty="0" err="1"/>
              <a:t>zaroori</a:t>
            </a:r>
            <a:r>
              <a:rPr dirty="0"/>
              <a:t> </a:t>
            </a:r>
            <a:r>
              <a:rPr dirty="0" err="1"/>
              <a:t>nahi</a:t>
            </a:r>
            <a:r>
              <a:rPr dirty="0"/>
              <a:t> </a:t>
            </a:r>
            <a:r>
              <a:rPr dirty="0" err="1"/>
              <a:t>ke</a:t>
            </a:r>
            <a:r>
              <a:rPr dirty="0"/>
              <a:t> wo unaware hon — </a:t>
            </a:r>
            <a:r>
              <a:rPr dirty="0" err="1"/>
              <a:t>mumkin</a:t>
            </a:r>
            <a:r>
              <a:rPr dirty="0"/>
              <a:t> </a:t>
            </a:r>
            <a:r>
              <a:rPr dirty="0" err="1"/>
              <a:t>hai</a:t>
            </a:r>
            <a:r>
              <a:rPr dirty="0"/>
              <a:t> </a:t>
            </a:r>
            <a:r>
              <a:rPr dirty="0" err="1"/>
              <a:t>unka</a:t>
            </a:r>
            <a:r>
              <a:rPr dirty="0"/>
              <a:t> focus deliberately </a:t>
            </a:r>
            <a:r>
              <a:rPr dirty="0" err="1"/>
              <a:t>sirf</a:t>
            </a:r>
            <a:r>
              <a:rPr dirty="0"/>
              <a:t> functional correctness par ho. </a:t>
            </a:r>
            <a:r>
              <a:rPr dirty="0" err="1"/>
              <a:t>Hamara</a:t>
            </a:r>
            <a:r>
              <a:rPr dirty="0"/>
              <a:t> point ye </a:t>
            </a:r>
            <a:r>
              <a:rPr dirty="0" err="1"/>
              <a:t>hai</a:t>
            </a:r>
            <a:r>
              <a:rPr dirty="0"/>
              <a:t> </a:t>
            </a:r>
            <a:r>
              <a:rPr dirty="0" err="1"/>
              <a:t>ke</a:t>
            </a:r>
            <a:r>
              <a:rPr dirty="0"/>
              <a:t> </a:t>
            </a:r>
            <a:r>
              <a:rPr dirty="0" err="1"/>
              <a:t>chahe</a:t>
            </a:r>
            <a:r>
              <a:rPr dirty="0"/>
              <a:t> wo aware hon </a:t>
            </a:r>
            <a:r>
              <a:rPr dirty="0" err="1"/>
              <a:t>ya</a:t>
            </a:r>
            <a:r>
              <a:rPr dirty="0"/>
              <a:t> </a:t>
            </a:r>
            <a:r>
              <a:rPr dirty="0" err="1"/>
              <a:t>na</a:t>
            </a:r>
            <a:r>
              <a:rPr dirty="0"/>
              <a:t> hon, current reference test suite objectively in channels </a:t>
            </a:r>
            <a:r>
              <a:rPr dirty="0" err="1"/>
              <a:t>ko</a:t>
            </a:r>
            <a:r>
              <a:rPr dirty="0"/>
              <a:t> check </a:t>
            </a:r>
            <a:r>
              <a:rPr dirty="0" err="1"/>
              <a:t>nahi</a:t>
            </a:r>
            <a:r>
              <a:rPr dirty="0"/>
              <a:t> </a:t>
            </a:r>
            <a:r>
              <a:rPr dirty="0" err="1"/>
              <a:t>karta</a:t>
            </a:r>
            <a:r>
              <a:rPr dirty="0"/>
              <a:t> — </a:t>
            </a:r>
            <a:r>
              <a:rPr dirty="0" err="1"/>
              <a:t>yehi</a:t>
            </a:r>
            <a:r>
              <a:rPr dirty="0"/>
              <a:t> factual gap </a:t>
            </a:r>
            <a:r>
              <a:rPr dirty="0" err="1"/>
              <a:t>hai</a:t>
            </a:r>
            <a:r>
              <a:rPr dirty="0"/>
              <a:t> </a:t>
            </a:r>
            <a:r>
              <a:rPr dirty="0" err="1"/>
              <a:t>jise</a:t>
            </a:r>
            <a:r>
              <a:rPr dirty="0"/>
              <a:t> hum address </a:t>
            </a:r>
            <a:r>
              <a:rPr dirty="0" err="1"/>
              <a:t>kar</a:t>
            </a:r>
            <a:r>
              <a:rPr dirty="0"/>
              <a:t> </a:t>
            </a:r>
            <a:r>
              <a:rPr dirty="0" err="1"/>
              <a:t>rahe</a:t>
            </a:r>
            <a:r>
              <a:rPr dirty="0"/>
              <a:t> </a:t>
            </a:r>
            <a:r>
              <a:rPr dirty="0" err="1"/>
              <a:t>hain</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a:t>
            </a:r>
            <a:r>
              <a:rPr dirty="0" err="1"/>
              <a:t>Aap</a:t>
            </a:r>
            <a:r>
              <a:rPr dirty="0"/>
              <a:t> </a:t>
            </a:r>
            <a:r>
              <a:rPr dirty="0" err="1"/>
              <a:t>ek</a:t>
            </a:r>
            <a:r>
              <a:rPr dirty="0"/>
              <a:t> single test file </a:t>
            </a:r>
            <a:r>
              <a:rPr dirty="0" err="1"/>
              <a:t>dekh</a:t>
            </a:r>
            <a:r>
              <a:rPr dirty="0"/>
              <a:t> </a:t>
            </a:r>
            <a:r>
              <a:rPr dirty="0" err="1"/>
              <a:t>kar</a:t>
            </a:r>
            <a:r>
              <a:rPr dirty="0"/>
              <a:t> </a:t>
            </a:r>
            <a:r>
              <a:rPr dirty="0" err="1"/>
              <a:t>poore</a:t>
            </a:r>
            <a:r>
              <a:rPr dirty="0"/>
              <a:t> </a:t>
            </a:r>
            <a:r>
              <a:rPr dirty="0" err="1"/>
              <a:t>Qiskit</a:t>
            </a:r>
            <a:r>
              <a:rPr dirty="0"/>
              <a:t> CI </a:t>
            </a:r>
            <a:r>
              <a:rPr dirty="0" err="1"/>
              <a:t>ke</a:t>
            </a:r>
            <a:r>
              <a:rPr dirty="0"/>
              <a:t> </a:t>
            </a:r>
            <a:r>
              <a:rPr dirty="0" err="1"/>
              <a:t>baare</a:t>
            </a:r>
            <a:r>
              <a:rPr dirty="0"/>
              <a:t> </a:t>
            </a:r>
            <a:r>
              <a:rPr dirty="0" err="1"/>
              <a:t>mein</a:t>
            </a:r>
            <a:r>
              <a:rPr dirty="0"/>
              <a:t> generalize </a:t>
            </a:r>
            <a:r>
              <a:rPr dirty="0" err="1"/>
              <a:t>kar</a:t>
            </a:r>
            <a:r>
              <a:rPr dirty="0"/>
              <a:t> </a:t>
            </a:r>
            <a:r>
              <a:rPr dirty="0" err="1"/>
              <a:t>rahe</a:t>
            </a:r>
            <a:r>
              <a:rPr dirty="0"/>
              <a:t> </a:t>
            </a:r>
            <a:r>
              <a:rPr dirty="0" err="1"/>
              <a:t>hain</a:t>
            </a:r>
            <a:r>
              <a:rPr dirty="0"/>
              <a:t> — ye </a:t>
            </a:r>
            <a:r>
              <a:rPr dirty="0" err="1"/>
              <a:t>kaafi</a:t>
            </a:r>
            <a:r>
              <a:rPr dirty="0"/>
              <a:t> thin evidence </a:t>
            </a:r>
            <a:r>
              <a:rPr dirty="0" err="1"/>
              <a:t>nahi</a:t>
            </a:r>
            <a:r>
              <a:rPr dirty="0"/>
              <a:t>?</a:t>
            </a:r>
          </a:p>
          <a:p>
            <a:r>
              <a:rPr dirty="0"/>
              <a:t>J: Ye specific test file directly </a:t>
            </a:r>
            <a:r>
              <a:rPr dirty="0" err="1"/>
              <a:t>hamare</a:t>
            </a:r>
            <a:r>
              <a:rPr dirty="0"/>
              <a:t> claim se related </a:t>
            </a:r>
            <a:r>
              <a:rPr dirty="0" err="1"/>
              <a:t>hai</a:t>
            </a:r>
            <a:r>
              <a:rPr dirty="0"/>
              <a:t> — </a:t>
            </a:r>
            <a:r>
              <a:rPr dirty="0" err="1"/>
              <a:t>ke</a:t>
            </a:r>
            <a:r>
              <a:rPr dirty="0"/>
              <a:t> reference check </a:t>
            </a:r>
            <a:r>
              <a:rPr dirty="0" err="1"/>
              <a:t>sirf</a:t>
            </a:r>
            <a:r>
              <a:rPr dirty="0"/>
              <a:t> output equivalence </a:t>
            </a:r>
            <a:r>
              <a:rPr dirty="0" err="1"/>
              <a:t>dekhta</a:t>
            </a:r>
            <a:r>
              <a:rPr dirty="0"/>
              <a:t> </a:t>
            </a:r>
            <a:r>
              <a:rPr dirty="0" err="1"/>
              <a:t>hai</a:t>
            </a:r>
            <a:r>
              <a:rPr dirty="0"/>
              <a:t>. Hum </a:t>
            </a:r>
            <a:r>
              <a:rPr dirty="0" err="1"/>
              <a:t>poore</a:t>
            </a:r>
            <a:r>
              <a:rPr dirty="0"/>
              <a:t> CI suite </a:t>
            </a:r>
            <a:r>
              <a:rPr dirty="0" err="1"/>
              <a:t>ke</a:t>
            </a:r>
            <a:r>
              <a:rPr dirty="0"/>
              <a:t> </a:t>
            </a:r>
            <a:r>
              <a:rPr dirty="0" err="1"/>
              <a:t>baare</a:t>
            </a:r>
            <a:r>
              <a:rPr dirty="0"/>
              <a:t> </a:t>
            </a:r>
            <a:r>
              <a:rPr dirty="0" err="1"/>
              <a:t>mein</a:t>
            </a:r>
            <a:r>
              <a:rPr dirty="0"/>
              <a:t> generalize </a:t>
            </a:r>
            <a:r>
              <a:rPr dirty="0" err="1"/>
              <a:t>nahi</a:t>
            </a:r>
            <a:r>
              <a:rPr dirty="0"/>
              <a:t> </a:t>
            </a:r>
            <a:r>
              <a:rPr dirty="0" err="1"/>
              <a:t>kar</a:t>
            </a:r>
            <a:r>
              <a:rPr dirty="0"/>
              <a:t> </a:t>
            </a:r>
            <a:r>
              <a:rPr dirty="0" err="1"/>
              <a:t>rahe</a:t>
            </a:r>
            <a:r>
              <a:rPr dirty="0"/>
              <a:t>, </a:t>
            </a:r>
            <a:r>
              <a:rPr dirty="0" err="1"/>
              <a:t>sirf</a:t>
            </a:r>
            <a:r>
              <a:rPr dirty="0"/>
              <a:t> is specific, relevant test </a:t>
            </a:r>
            <a:r>
              <a:rPr dirty="0" err="1"/>
              <a:t>ke</a:t>
            </a:r>
            <a:r>
              <a:rPr dirty="0"/>
              <a:t> behavior </a:t>
            </a:r>
            <a:r>
              <a:rPr dirty="0" err="1"/>
              <a:t>ko</a:t>
            </a:r>
            <a:r>
              <a:rPr dirty="0"/>
              <a:t> document </a:t>
            </a:r>
            <a:r>
              <a:rPr dirty="0" err="1"/>
              <a:t>kar</a:t>
            </a:r>
            <a:r>
              <a:rPr dirty="0"/>
              <a:t> </a:t>
            </a:r>
            <a:r>
              <a:rPr dirty="0" err="1"/>
              <a:t>rahe</a:t>
            </a:r>
            <a:r>
              <a:rPr dirty="0"/>
              <a:t> </a:t>
            </a:r>
            <a:r>
              <a:rPr dirty="0" err="1"/>
              <a:t>hain</a:t>
            </a:r>
            <a:r>
              <a:rPr dirty="0"/>
              <a:t> jo verifiable </a:t>
            </a:r>
            <a:r>
              <a:rPr dirty="0" err="1"/>
              <a:t>hai</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slide clarifies that we do use quantum simulation, but we do not use quantum hardware.</a:t>
            </a:r>
          </a:p>
          <a:p>
            <a:r>
              <a:rPr lang="en-US" dirty="0" smtClean="0"/>
              <a:t>The simulator itself runs entirely on a classical CPU. It is simply classical software that calculates what the quantum circuit would do.</a:t>
            </a:r>
          </a:p>
          <a:p>
            <a:r>
              <a:rPr lang="en-US" dirty="0" smtClean="0"/>
              <a:t>Our main object of study is also classical software: the </a:t>
            </a:r>
            <a:r>
              <a:rPr lang="en-US" dirty="0" err="1" smtClean="0"/>
              <a:t>Qiskit</a:t>
            </a:r>
            <a:r>
              <a:rPr lang="en-US" dirty="0" smtClean="0"/>
              <a:t> </a:t>
            </a:r>
            <a:r>
              <a:rPr lang="en-US" dirty="0" err="1" smtClean="0"/>
              <a:t>transpiler</a:t>
            </a:r>
            <a:r>
              <a:rPr lang="en-US" dirty="0" smtClean="0"/>
              <a:t>. We are testing whether the compiler transforms circuits correctly, not performing a physical quantum experiment.</a:t>
            </a:r>
          </a:p>
          <a:p>
            <a:r>
              <a:rPr lang="en-US" dirty="0" smtClean="0"/>
              <a:t>For small circuits, we can compute the exact unitary and compare the original and </a:t>
            </a:r>
            <a:r>
              <a:rPr lang="en-US" dirty="0" err="1" smtClean="0"/>
              <a:t>transpiled</a:t>
            </a:r>
            <a:r>
              <a:rPr lang="en-US" dirty="0" smtClean="0"/>
              <a:t> circuits up to global phase. Our main corpus is limited to small circuits, so these checks are practical on an ordinary laptop.</a:t>
            </a:r>
          </a:p>
          <a:p>
            <a:r>
              <a:rPr lang="en-US" dirty="0" smtClean="0"/>
              <a:t>As circuit size grows, exact simulation becomes too expensive. At that point, we do not keep simulating larger circuits; we switch to structural checks instead.</a:t>
            </a:r>
          </a:p>
          <a:p>
            <a:r>
              <a:rPr lang="en-US" dirty="0" smtClean="0"/>
              <a:t>Even our 27-qubit H4 experiment does not simulate the quantum output. It only measures how long the </a:t>
            </a:r>
            <a:r>
              <a:rPr lang="en-US" dirty="0" err="1" smtClean="0"/>
              <a:t>transpiler</a:t>
            </a:r>
            <a:r>
              <a:rPr lang="en-US" dirty="0" smtClean="0"/>
              <a:t> takes to compile the circuit.</a:t>
            </a:r>
          </a:p>
          <a:p>
            <a:r>
              <a:rPr lang="en-US" dirty="0" smtClean="0"/>
              <a:t>So quantum hardware is not required for the main research question, because we are validating the compiler transformation itself. Physical noise and real-device fidelity are downstream questions and are outside the current scope.</a:t>
            </a:r>
          </a:p>
          <a:p>
            <a:r>
              <a:rPr lang="en-US" dirty="0" smtClean="0"/>
              <a:t>Simulator runs on CPU → small circuits exact → large circuits structural → H4 only times compiler → no QPU needed.</a:t>
            </a:r>
            <a:endParaRPr dirty="0"/>
          </a:p>
          <a:p>
            <a:r>
              <a:rPr dirty="0" err="1"/>
              <a:t>Mumkin</a:t>
            </a:r>
            <a:r>
              <a:rPr dirty="0"/>
              <a:t> examiner </a:t>
            </a:r>
            <a:r>
              <a:rPr dirty="0" err="1"/>
              <a:t>sawalat</a:t>
            </a:r>
            <a:r>
              <a:rPr dirty="0"/>
              <a:t>:</a:t>
            </a:r>
          </a:p>
          <a:p>
            <a:r>
              <a:rPr dirty="0"/>
              <a:t>S1: Agar </a:t>
            </a:r>
            <a:r>
              <a:rPr dirty="0" err="1"/>
              <a:t>aap</a:t>
            </a:r>
            <a:r>
              <a:rPr dirty="0"/>
              <a:t> </a:t>
            </a:r>
            <a:r>
              <a:rPr dirty="0" err="1"/>
              <a:t>kabhi</a:t>
            </a:r>
            <a:r>
              <a:rPr dirty="0"/>
              <a:t> real quantum hardware par run hi </a:t>
            </a:r>
            <a:r>
              <a:rPr dirty="0" err="1"/>
              <a:t>nahi</a:t>
            </a:r>
            <a:r>
              <a:rPr dirty="0"/>
              <a:t> </a:t>
            </a:r>
            <a:r>
              <a:rPr dirty="0" err="1"/>
              <a:t>karte</a:t>
            </a:r>
            <a:r>
              <a:rPr dirty="0"/>
              <a:t>, to </a:t>
            </a:r>
            <a:r>
              <a:rPr dirty="0" err="1"/>
              <a:t>aapko</a:t>
            </a:r>
            <a:r>
              <a:rPr dirty="0"/>
              <a:t> </a:t>
            </a:r>
            <a:r>
              <a:rPr dirty="0" err="1"/>
              <a:t>kaise</a:t>
            </a:r>
            <a:r>
              <a:rPr dirty="0"/>
              <a:t> </a:t>
            </a:r>
            <a:r>
              <a:rPr dirty="0" err="1"/>
              <a:t>pata</a:t>
            </a:r>
            <a:r>
              <a:rPr dirty="0"/>
              <a:t> </a:t>
            </a:r>
            <a:r>
              <a:rPr dirty="0" err="1"/>
              <a:t>ke</a:t>
            </a:r>
            <a:r>
              <a:rPr dirty="0"/>
              <a:t> </a:t>
            </a:r>
            <a:r>
              <a:rPr dirty="0" err="1"/>
              <a:t>aapke</a:t>
            </a:r>
            <a:r>
              <a:rPr dirty="0"/>
              <a:t> findings noisy quantum devices par </a:t>
            </a:r>
            <a:r>
              <a:rPr dirty="0" err="1"/>
              <a:t>bhi</a:t>
            </a:r>
            <a:r>
              <a:rPr dirty="0"/>
              <a:t> hold </a:t>
            </a:r>
            <a:r>
              <a:rPr dirty="0" err="1"/>
              <a:t>karenge</a:t>
            </a:r>
            <a:r>
              <a:rPr dirty="0"/>
              <a:t>?</a:t>
            </a:r>
          </a:p>
          <a:p>
            <a:r>
              <a:rPr dirty="0"/>
              <a:t>J1: </a:t>
            </a:r>
            <a:r>
              <a:rPr dirty="0" err="1"/>
              <a:t>Hamara</a:t>
            </a:r>
            <a:r>
              <a:rPr dirty="0"/>
              <a:t> research compiler transformation </a:t>
            </a:r>
            <a:r>
              <a:rPr dirty="0" err="1"/>
              <a:t>ki</a:t>
            </a:r>
            <a:r>
              <a:rPr dirty="0"/>
              <a:t> correctness check </a:t>
            </a:r>
            <a:r>
              <a:rPr dirty="0" err="1"/>
              <a:t>karta</a:t>
            </a:r>
            <a:r>
              <a:rPr dirty="0"/>
              <a:t> </a:t>
            </a:r>
            <a:r>
              <a:rPr dirty="0" err="1"/>
              <a:t>hai</a:t>
            </a:r>
            <a:r>
              <a:rPr dirty="0"/>
              <a:t>, physical execution </a:t>
            </a:r>
            <a:r>
              <a:rPr dirty="0" err="1"/>
              <a:t>ki</a:t>
            </a:r>
            <a:r>
              <a:rPr dirty="0"/>
              <a:t> </a:t>
            </a:r>
            <a:r>
              <a:rPr dirty="0" err="1"/>
              <a:t>nahi</a:t>
            </a:r>
            <a:r>
              <a:rPr dirty="0"/>
              <a:t> — </a:t>
            </a:r>
            <a:r>
              <a:rPr dirty="0" err="1"/>
              <a:t>jaisa</a:t>
            </a:r>
            <a:r>
              <a:rPr dirty="0"/>
              <a:t> slide par explicitly </a:t>
            </a:r>
            <a:r>
              <a:rPr dirty="0" err="1"/>
              <a:t>bataya</a:t>
            </a:r>
            <a:r>
              <a:rPr dirty="0"/>
              <a:t> </a:t>
            </a:r>
            <a:r>
              <a:rPr dirty="0" err="1"/>
              <a:t>gaya</a:t>
            </a:r>
            <a:r>
              <a:rPr dirty="0"/>
              <a:t> </a:t>
            </a:r>
            <a:r>
              <a:rPr dirty="0" err="1"/>
              <a:t>hai</a:t>
            </a:r>
            <a:r>
              <a:rPr dirty="0"/>
              <a:t>, physical-noise fidelity </a:t>
            </a:r>
            <a:r>
              <a:rPr dirty="0" err="1"/>
              <a:t>ek</a:t>
            </a:r>
            <a:r>
              <a:rPr dirty="0"/>
              <a:t> separate, downstream question </a:t>
            </a:r>
            <a:r>
              <a:rPr dirty="0" err="1"/>
              <a:t>hai</a:t>
            </a:r>
            <a:r>
              <a:rPr dirty="0"/>
              <a:t> jo is study </a:t>
            </a:r>
            <a:r>
              <a:rPr dirty="0" err="1"/>
              <a:t>ke</a:t>
            </a:r>
            <a:r>
              <a:rPr dirty="0"/>
              <a:t> scope se </a:t>
            </a:r>
            <a:r>
              <a:rPr dirty="0" err="1"/>
              <a:t>bahar</a:t>
            </a:r>
            <a:r>
              <a:rPr dirty="0"/>
              <a:t> </a:t>
            </a:r>
            <a:r>
              <a:rPr dirty="0" err="1"/>
              <a:t>hai</a:t>
            </a:r>
            <a:r>
              <a:rPr dirty="0"/>
              <a:t>. Hum </a:t>
            </a:r>
            <a:r>
              <a:rPr dirty="0" err="1"/>
              <a:t>sirf</a:t>
            </a:r>
            <a:r>
              <a:rPr dirty="0"/>
              <a:t> ye verify </a:t>
            </a:r>
            <a:r>
              <a:rPr dirty="0" err="1"/>
              <a:t>karte</a:t>
            </a:r>
            <a:r>
              <a:rPr dirty="0"/>
              <a:t> </a:t>
            </a:r>
            <a:r>
              <a:rPr dirty="0" err="1"/>
              <a:t>hain</a:t>
            </a:r>
            <a:r>
              <a:rPr dirty="0"/>
              <a:t> </a:t>
            </a:r>
            <a:r>
              <a:rPr dirty="0" err="1"/>
              <a:t>ke</a:t>
            </a:r>
            <a:r>
              <a:rPr dirty="0"/>
              <a:t> </a:t>
            </a:r>
            <a:r>
              <a:rPr dirty="0" err="1"/>
              <a:t>transpiler</a:t>
            </a:r>
            <a:r>
              <a:rPr dirty="0"/>
              <a:t> ne circuit </a:t>
            </a:r>
            <a:r>
              <a:rPr dirty="0" err="1"/>
              <a:t>ko</a:t>
            </a:r>
            <a:r>
              <a:rPr dirty="0"/>
              <a:t> </a:t>
            </a:r>
            <a:r>
              <a:rPr dirty="0" err="1"/>
              <a:t>sahi</a:t>
            </a:r>
            <a:r>
              <a:rPr dirty="0"/>
              <a:t> </a:t>
            </a:r>
            <a:r>
              <a:rPr dirty="0" err="1"/>
              <a:t>tarah</a:t>
            </a:r>
            <a:r>
              <a:rPr dirty="0"/>
              <a:t> transform </a:t>
            </a:r>
            <a:r>
              <a:rPr dirty="0" err="1"/>
              <a:t>kiya</a:t>
            </a:r>
            <a:r>
              <a:rPr dirty="0"/>
              <a:t>; hardware par </a:t>
            </a:r>
            <a:r>
              <a:rPr dirty="0" err="1"/>
              <a:t>uska</a:t>
            </a:r>
            <a:r>
              <a:rPr dirty="0"/>
              <a:t> physical behavior </a:t>
            </a:r>
            <a:r>
              <a:rPr dirty="0" err="1"/>
              <a:t>alag</a:t>
            </a:r>
            <a:r>
              <a:rPr dirty="0"/>
              <a:t> concern </a:t>
            </a:r>
            <a:r>
              <a:rPr dirty="0" err="1"/>
              <a:t>hai</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Agar hardware </a:t>
            </a:r>
            <a:r>
              <a:rPr dirty="0" err="1"/>
              <a:t>kabhi</a:t>
            </a:r>
            <a:r>
              <a:rPr dirty="0"/>
              <a:t> involve hi </a:t>
            </a:r>
            <a:r>
              <a:rPr dirty="0" err="1"/>
              <a:t>nahi</a:t>
            </a:r>
            <a:r>
              <a:rPr dirty="0"/>
              <a:t> </a:t>
            </a:r>
            <a:r>
              <a:rPr dirty="0" err="1"/>
              <a:t>hota</a:t>
            </a:r>
            <a:r>
              <a:rPr dirty="0"/>
              <a:t>, to 'quantum compiler' testing </a:t>
            </a:r>
            <a:r>
              <a:rPr dirty="0" err="1"/>
              <a:t>ka</a:t>
            </a:r>
            <a:r>
              <a:rPr dirty="0"/>
              <a:t> title </a:t>
            </a:r>
            <a:r>
              <a:rPr dirty="0" err="1"/>
              <a:t>kitna</a:t>
            </a:r>
            <a:r>
              <a:rPr dirty="0"/>
              <a:t> justified </a:t>
            </a:r>
            <a:r>
              <a:rPr dirty="0" err="1"/>
              <a:t>hai</a:t>
            </a:r>
            <a:r>
              <a:rPr dirty="0"/>
              <a:t> — ye to </a:t>
            </a:r>
            <a:r>
              <a:rPr dirty="0" err="1"/>
              <a:t>sirf</a:t>
            </a:r>
            <a:r>
              <a:rPr dirty="0"/>
              <a:t> classical software testing </a:t>
            </a:r>
            <a:r>
              <a:rPr dirty="0" err="1"/>
              <a:t>hai</a:t>
            </a:r>
            <a:r>
              <a:rPr dirty="0"/>
              <a:t>.</a:t>
            </a:r>
          </a:p>
          <a:p>
            <a:r>
              <a:rPr dirty="0"/>
              <a:t>J: Jo </a:t>
            </a:r>
            <a:r>
              <a:rPr dirty="0" err="1"/>
              <a:t>cheez</a:t>
            </a:r>
            <a:r>
              <a:rPr dirty="0"/>
              <a:t> test ho </a:t>
            </a:r>
            <a:r>
              <a:rPr dirty="0" err="1"/>
              <a:t>rahi</a:t>
            </a:r>
            <a:r>
              <a:rPr dirty="0"/>
              <a:t> </a:t>
            </a:r>
            <a:r>
              <a:rPr dirty="0" err="1"/>
              <a:t>hai</a:t>
            </a:r>
            <a:r>
              <a:rPr dirty="0"/>
              <a:t> (</a:t>
            </a:r>
            <a:r>
              <a:rPr dirty="0" err="1"/>
              <a:t>transpiler</a:t>
            </a:r>
            <a:r>
              <a:rPr dirty="0"/>
              <a:t>) wo classical software </a:t>
            </a:r>
            <a:r>
              <a:rPr dirty="0" err="1"/>
              <a:t>hai</a:t>
            </a:r>
            <a:r>
              <a:rPr dirty="0"/>
              <a:t>, </a:t>
            </a:r>
            <a:r>
              <a:rPr dirty="0" err="1"/>
              <a:t>lekin</a:t>
            </a:r>
            <a:r>
              <a:rPr dirty="0"/>
              <a:t> </a:t>
            </a:r>
            <a:r>
              <a:rPr dirty="0" err="1"/>
              <a:t>jis</a:t>
            </a:r>
            <a:r>
              <a:rPr dirty="0"/>
              <a:t> property </a:t>
            </a:r>
            <a:r>
              <a:rPr dirty="0" err="1"/>
              <a:t>ko</a:t>
            </a:r>
            <a:r>
              <a:rPr dirty="0"/>
              <a:t> verify </a:t>
            </a:r>
            <a:r>
              <a:rPr dirty="0" err="1"/>
              <a:t>kiya</a:t>
            </a:r>
            <a:r>
              <a:rPr dirty="0"/>
              <a:t> ja </a:t>
            </a:r>
            <a:r>
              <a:rPr dirty="0" err="1"/>
              <a:t>raha</a:t>
            </a:r>
            <a:r>
              <a:rPr dirty="0"/>
              <a:t> </a:t>
            </a:r>
            <a:r>
              <a:rPr dirty="0" err="1"/>
              <a:t>hai</a:t>
            </a:r>
            <a:r>
              <a:rPr dirty="0"/>
              <a:t> — unitary equivalence, quantum semantics — wo purely quantum concept </a:t>
            </a:r>
            <a:r>
              <a:rPr dirty="0" err="1"/>
              <a:t>hai</a:t>
            </a:r>
            <a:r>
              <a:rPr dirty="0"/>
              <a:t>. Isi </a:t>
            </a:r>
            <a:r>
              <a:rPr dirty="0" err="1"/>
              <a:t>liye</a:t>
            </a:r>
            <a:r>
              <a:rPr dirty="0"/>
              <a:t> ye legitimately 'quantum compiler testing' </a:t>
            </a:r>
            <a:r>
              <a:rPr dirty="0" err="1"/>
              <a:t>hai</a:t>
            </a:r>
            <a:r>
              <a:rPr dirty="0"/>
              <a:t>, </a:t>
            </a:r>
            <a:r>
              <a:rPr dirty="0" err="1"/>
              <a:t>chahe</a:t>
            </a:r>
            <a:r>
              <a:rPr dirty="0"/>
              <a:t> execution classical ho.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slide shows that evaluating quantum compilers without using a real quantum processor is already an established practice in the literature.</a:t>
            </a:r>
          </a:p>
          <a:p>
            <a:r>
              <a:rPr lang="en-US" dirty="0" smtClean="0"/>
              <a:t>The studies listed here come from strong venues and cover several types of quantum-software evaluation: formal verification, equivalence checking, metamorphic testing, mutation testing, bug benchmarks, statistical testing, fuzzing, and exact inference.</a:t>
            </a:r>
          </a:p>
          <a:p>
            <a:r>
              <a:rPr lang="en-US" dirty="0" smtClean="0"/>
              <a:t>The important point is that none of these studies required a QPU. They evaluated compiler </a:t>
            </a:r>
            <a:r>
              <a:rPr lang="en-US" dirty="0" err="1" smtClean="0"/>
              <a:t>behaviour</a:t>
            </a:r>
            <a:r>
              <a:rPr lang="en-US" dirty="0" smtClean="0"/>
              <a:t> using classical software, formal methods, or simulators.</a:t>
            </a:r>
          </a:p>
          <a:p>
            <a:r>
              <a:rPr lang="en-US" dirty="0" smtClean="0"/>
              <a:t>So our study follows the same established pattern. We are evaluating the correctness and </a:t>
            </a:r>
            <a:r>
              <a:rPr lang="en-US" dirty="0" err="1" smtClean="0"/>
              <a:t>behaviour</a:t>
            </a:r>
            <a:r>
              <a:rPr lang="en-US" dirty="0" smtClean="0"/>
              <a:t> of the </a:t>
            </a:r>
            <a:r>
              <a:rPr lang="en-US" dirty="0" err="1" smtClean="0"/>
              <a:t>transpiler</a:t>
            </a:r>
            <a:r>
              <a:rPr lang="en-US" dirty="0" smtClean="0"/>
              <a:t> transformation itself, not the physical execution of the final circuit on noisy hardware.</a:t>
            </a:r>
          </a:p>
          <a:p>
            <a:r>
              <a:rPr lang="en-US" smtClean="0"/>
              <a:t>This means that using an ordinary CPU and classical simulation is not a limitation unique to our work; it is consistent with prior top-venue research in quantum compiler and quantum software testing.</a:t>
            </a:r>
          </a:p>
          <a:p>
            <a:endParaRPr dirty="0"/>
          </a:p>
          <a:p>
            <a:r>
              <a:rPr dirty="0" err="1"/>
              <a:t>Mumkin</a:t>
            </a:r>
            <a:r>
              <a:rPr dirty="0"/>
              <a:t> examiner </a:t>
            </a:r>
            <a:r>
              <a:rPr dirty="0" err="1"/>
              <a:t>sawalat</a:t>
            </a:r>
            <a:r>
              <a:rPr dirty="0"/>
              <a:t>:</a:t>
            </a:r>
          </a:p>
          <a:p>
            <a:r>
              <a:rPr dirty="0"/>
              <a:t>S1: Ye </a:t>
            </a:r>
            <a:r>
              <a:rPr dirty="0" err="1"/>
              <a:t>saari</a:t>
            </a:r>
            <a:r>
              <a:rPr dirty="0"/>
              <a:t> precedent studies </a:t>
            </a:r>
            <a:r>
              <a:rPr dirty="0" err="1"/>
              <a:t>alag</a:t>
            </a:r>
            <a:r>
              <a:rPr dirty="0"/>
              <a:t> sub-areas (verification, mutation testing, fuzzing) </a:t>
            </a:r>
            <a:r>
              <a:rPr dirty="0" err="1"/>
              <a:t>ki</a:t>
            </a:r>
            <a:r>
              <a:rPr dirty="0"/>
              <a:t> </a:t>
            </a:r>
            <a:r>
              <a:rPr dirty="0" err="1"/>
              <a:t>hain</a:t>
            </a:r>
            <a:r>
              <a:rPr dirty="0"/>
              <a:t> — </a:t>
            </a:r>
            <a:r>
              <a:rPr dirty="0" err="1"/>
              <a:t>kya</a:t>
            </a:r>
            <a:r>
              <a:rPr dirty="0"/>
              <a:t> ye specifically regression testing </a:t>
            </a:r>
            <a:r>
              <a:rPr dirty="0" err="1"/>
              <a:t>ke</a:t>
            </a:r>
            <a:r>
              <a:rPr dirty="0"/>
              <a:t> </a:t>
            </a:r>
            <a:r>
              <a:rPr dirty="0" err="1"/>
              <a:t>liye</a:t>
            </a:r>
            <a:r>
              <a:rPr dirty="0"/>
              <a:t> hardware-skip </a:t>
            </a:r>
            <a:r>
              <a:rPr dirty="0" err="1"/>
              <a:t>karne</a:t>
            </a:r>
            <a:r>
              <a:rPr dirty="0"/>
              <a:t> </a:t>
            </a:r>
            <a:r>
              <a:rPr dirty="0" err="1"/>
              <a:t>ko</a:t>
            </a:r>
            <a:r>
              <a:rPr dirty="0"/>
              <a:t> justify </a:t>
            </a:r>
            <a:r>
              <a:rPr dirty="0" err="1"/>
              <a:t>karti</a:t>
            </a:r>
            <a:r>
              <a:rPr dirty="0"/>
              <a:t> </a:t>
            </a:r>
            <a:r>
              <a:rPr dirty="0" err="1"/>
              <a:t>hain</a:t>
            </a:r>
            <a:r>
              <a:rPr dirty="0"/>
              <a:t>?</a:t>
            </a:r>
          </a:p>
          <a:p>
            <a:r>
              <a:rPr dirty="0"/>
              <a:t>J1: Ye studies </a:t>
            </a:r>
            <a:r>
              <a:rPr dirty="0" err="1"/>
              <a:t>alag</a:t>
            </a:r>
            <a:r>
              <a:rPr dirty="0"/>
              <a:t> sub-areas </a:t>
            </a:r>
            <a:r>
              <a:rPr dirty="0" err="1"/>
              <a:t>ki</a:t>
            </a:r>
            <a:r>
              <a:rPr dirty="0"/>
              <a:t> </a:t>
            </a:r>
            <a:r>
              <a:rPr dirty="0" err="1"/>
              <a:t>hain</a:t>
            </a:r>
            <a:r>
              <a:rPr dirty="0"/>
              <a:t> </a:t>
            </a:r>
            <a:r>
              <a:rPr dirty="0" err="1"/>
              <a:t>lekin</a:t>
            </a:r>
            <a:r>
              <a:rPr dirty="0"/>
              <a:t> sab </a:t>
            </a:r>
            <a:r>
              <a:rPr dirty="0" err="1"/>
              <a:t>isi</a:t>
            </a:r>
            <a:r>
              <a:rPr dirty="0"/>
              <a:t> principle par based </a:t>
            </a:r>
            <a:r>
              <a:rPr dirty="0" err="1"/>
              <a:t>hain</a:t>
            </a:r>
            <a:r>
              <a:rPr dirty="0"/>
              <a:t> </a:t>
            </a:r>
            <a:r>
              <a:rPr dirty="0" err="1"/>
              <a:t>ke</a:t>
            </a:r>
            <a:r>
              <a:rPr dirty="0"/>
              <a:t> compiler transformation </a:t>
            </a:r>
            <a:r>
              <a:rPr dirty="0" err="1"/>
              <a:t>ki</a:t>
            </a:r>
            <a:r>
              <a:rPr dirty="0"/>
              <a:t> correctness classical simulation/verification se check </a:t>
            </a:r>
            <a:r>
              <a:rPr dirty="0" err="1"/>
              <a:t>ki</a:t>
            </a:r>
            <a:r>
              <a:rPr dirty="0"/>
              <a:t> ja </a:t>
            </a:r>
            <a:r>
              <a:rPr dirty="0" err="1"/>
              <a:t>sakti</a:t>
            </a:r>
            <a:r>
              <a:rPr dirty="0"/>
              <a:t> </a:t>
            </a:r>
            <a:r>
              <a:rPr dirty="0" err="1"/>
              <a:t>hai</a:t>
            </a:r>
            <a:r>
              <a:rPr dirty="0"/>
              <a:t>, hardware </a:t>
            </a:r>
            <a:r>
              <a:rPr dirty="0" err="1"/>
              <a:t>ki</a:t>
            </a:r>
            <a:r>
              <a:rPr dirty="0"/>
              <a:t> </a:t>
            </a:r>
            <a:r>
              <a:rPr dirty="0" err="1"/>
              <a:t>zaroorat</a:t>
            </a:r>
            <a:r>
              <a:rPr dirty="0"/>
              <a:t> </a:t>
            </a:r>
            <a:r>
              <a:rPr dirty="0" err="1"/>
              <a:t>nahi</a:t>
            </a:r>
            <a:r>
              <a:rPr dirty="0"/>
              <a:t>. </a:t>
            </a:r>
            <a:r>
              <a:rPr dirty="0" err="1"/>
              <a:t>Hamara</a:t>
            </a:r>
            <a:r>
              <a:rPr dirty="0"/>
              <a:t> approach </a:t>
            </a:r>
            <a:r>
              <a:rPr dirty="0" err="1"/>
              <a:t>bhi</a:t>
            </a:r>
            <a:r>
              <a:rPr dirty="0"/>
              <a:t> </a:t>
            </a:r>
            <a:r>
              <a:rPr dirty="0" err="1"/>
              <a:t>isi</a:t>
            </a:r>
            <a:r>
              <a:rPr dirty="0"/>
              <a:t> established pattern </a:t>
            </a:r>
            <a:r>
              <a:rPr dirty="0" err="1"/>
              <a:t>ko</a:t>
            </a:r>
            <a:r>
              <a:rPr dirty="0"/>
              <a:t> follow </a:t>
            </a:r>
            <a:r>
              <a:rPr dirty="0" err="1"/>
              <a:t>karta</a:t>
            </a:r>
            <a:r>
              <a:rPr dirty="0"/>
              <a:t> </a:t>
            </a:r>
            <a:r>
              <a:rPr dirty="0" err="1"/>
              <a:t>hai</a:t>
            </a:r>
            <a:r>
              <a:rPr dirty="0"/>
              <a:t>, specifically regression testing </a:t>
            </a:r>
            <a:r>
              <a:rPr dirty="0" err="1"/>
              <a:t>ke</a:t>
            </a:r>
            <a:r>
              <a:rPr dirty="0"/>
              <a:t> context </a:t>
            </a:r>
            <a:r>
              <a:rPr dirty="0" err="1"/>
              <a:t>mein</a:t>
            </a:r>
            <a:r>
              <a:rPr dirty="0"/>
              <a:t>.</a:t>
            </a:r>
          </a:p>
          <a:p>
            <a:endParaRPr dirty="0"/>
          </a:p>
          <a:p>
            <a:r>
              <a:rPr dirty="0"/>
              <a:t>Agar koi critic </a:t>
            </a:r>
            <a:r>
              <a:rPr dirty="0" err="1"/>
              <a:t>phasane</a:t>
            </a:r>
            <a:r>
              <a:rPr dirty="0"/>
              <a:t> </a:t>
            </a:r>
            <a:r>
              <a:rPr dirty="0" err="1"/>
              <a:t>ki</a:t>
            </a:r>
            <a:r>
              <a:rPr dirty="0"/>
              <a:t> </a:t>
            </a:r>
            <a:r>
              <a:rPr dirty="0" err="1"/>
              <a:t>koshish</a:t>
            </a:r>
            <a:r>
              <a:rPr dirty="0"/>
              <a:t> </a:t>
            </a:r>
            <a:r>
              <a:rPr dirty="0" err="1"/>
              <a:t>kare</a:t>
            </a:r>
            <a:r>
              <a:rPr dirty="0"/>
              <a:t> (</a:t>
            </a:r>
            <a:r>
              <a:rPr dirty="0" err="1"/>
              <a:t>tanqidi</a:t>
            </a:r>
            <a:r>
              <a:rPr dirty="0"/>
              <a:t> </a:t>
            </a:r>
            <a:r>
              <a:rPr dirty="0" err="1"/>
              <a:t>sawal</a:t>
            </a:r>
            <a:r>
              <a:rPr dirty="0"/>
              <a:t>):</a:t>
            </a:r>
          </a:p>
          <a:p>
            <a:r>
              <a:rPr dirty="0"/>
              <a:t>S: Ye </a:t>
            </a:r>
            <a:r>
              <a:rPr dirty="0" err="1"/>
              <a:t>saari</a:t>
            </a:r>
            <a:r>
              <a:rPr dirty="0"/>
              <a:t> precedent studies </a:t>
            </a:r>
            <a:r>
              <a:rPr dirty="0" err="1"/>
              <a:t>purani</a:t>
            </a:r>
            <a:r>
              <a:rPr dirty="0"/>
              <a:t> </a:t>
            </a:r>
            <a:r>
              <a:rPr dirty="0" err="1"/>
              <a:t>ya</a:t>
            </a:r>
            <a:r>
              <a:rPr dirty="0"/>
              <a:t> </a:t>
            </a:r>
            <a:r>
              <a:rPr dirty="0" err="1"/>
              <a:t>alag</a:t>
            </a:r>
            <a:r>
              <a:rPr dirty="0"/>
              <a:t> focus </a:t>
            </a:r>
            <a:r>
              <a:rPr dirty="0" err="1"/>
              <a:t>ki</a:t>
            </a:r>
            <a:r>
              <a:rPr dirty="0"/>
              <a:t> </a:t>
            </a:r>
            <a:r>
              <a:rPr dirty="0" err="1"/>
              <a:t>hain</a:t>
            </a:r>
            <a:r>
              <a:rPr dirty="0"/>
              <a:t> — </a:t>
            </a:r>
            <a:r>
              <a:rPr dirty="0" err="1"/>
              <a:t>kya</a:t>
            </a:r>
            <a:r>
              <a:rPr dirty="0"/>
              <a:t> </a:t>
            </a:r>
            <a:r>
              <a:rPr dirty="0" err="1"/>
              <a:t>inhe</a:t>
            </a:r>
            <a:r>
              <a:rPr dirty="0"/>
              <a:t> cherry-pick </a:t>
            </a:r>
            <a:r>
              <a:rPr dirty="0" err="1"/>
              <a:t>kar</a:t>
            </a:r>
            <a:r>
              <a:rPr dirty="0"/>
              <a:t> </a:t>
            </a:r>
            <a:r>
              <a:rPr dirty="0" err="1"/>
              <a:t>ke</a:t>
            </a:r>
            <a:r>
              <a:rPr dirty="0"/>
              <a:t> </a:t>
            </a:r>
            <a:r>
              <a:rPr dirty="0" err="1"/>
              <a:t>apne</a:t>
            </a:r>
            <a:r>
              <a:rPr dirty="0"/>
              <a:t> hardware-skip decision </a:t>
            </a:r>
            <a:r>
              <a:rPr dirty="0" err="1"/>
              <a:t>ko</a:t>
            </a:r>
            <a:r>
              <a:rPr dirty="0"/>
              <a:t> justify </a:t>
            </a:r>
            <a:r>
              <a:rPr dirty="0" err="1"/>
              <a:t>kiya</a:t>
            </a:r>
            <a:r>
              <a:rPr dirty="0"/>
              <a:t> ja </a:t>
            </a:r>
            <a:r>
              <a:rPr dirty="0" err="1"/>
              <a:t>raha</a:t>
            </a:r>
            <a:r>
              <a:rPr dirty="0"/>
              <a:t> </a:t>
            </a:r>
            <a:r>
              <a:rPr dirty="0" err="1"/>
              <a:t>hai</a:t>
            </a:r>
            <a:r>
              <a:rPr dirty="0"/>
              <a:t>?</a:t>
            </a:r>
          </a:p>
          <a:p>
            <a:r>
              <a:rPr dirty="0"/>
              <a:t>J: Ye studies systematically top-tier venues (CORE A*/A, Q1 journals) se select </a:t>
            </a:r>
            <a:r>
              <a:rPr dirty="0" err="1"/>
              <a:t>ki</a:t>
            </a:r>
            <a:r>
              <a:rPr dirty="0"/>
              <a:t> </a:t>
            </a:r>
            <a:r>
              <a:rPr dirty="0" err="1"/>
              <a:t>gayi</a:t>
            </a:r>
            <a:r>
              <a:rPr dirty="0"/>
              <a:t> </a:t>
            </a:r>
            <a:r>
              <a:rPr dirty="0" err="1"/>
              <a:t>hain</a:t>
            </a:r>
            <a:r>
              <a:rPr dirty="0"/>
              <a:t>, random </a:t>
            </a:r>
            <a:r>
              <a:rPr dirty="0" err="1"/>
              <a:t>ya</a:t>
            </a:r>
            <a:r>
              <a:rPr dirty="0"/>
              <a:t> cherry-picked </a:t>
            </a:r>
            <a:r>
              <a:rPr dirty="0" err="1"/>
              <a:t>nahi</a:t>
            </a:r>
            <a:r>
              <a:rPr dirty="0"/>
              <a:t>. Inka consistent pattern </a:t>
            </a:r>
            <a:r>
              <a:rPr dirty="0" err="1"/>
              <a:t>dikhata</a:t>
            </a:r>
            <a:r>
              <a:rPr dirty="0"/>
              <a:t> </a:t>
            </a:r>
            <a:r>
              <a:rPr dirty="0" err="1"/>
              <a:t>hai</a:t>
            </a:r>
            <a:r>
              <a:rPr dirty="0"/>
              <a:t> </a:t>
            </a:r>
            <a:r>
              <a:rPr dirty="0" err="1"/>
              <a:t>ke</a:t>
            </a:r>
            <a:r>
              <a:rPr dirty="0"/>
              <a:t> hardware-free evaluation is domain </a:t>
            </a:r>
            <a:r>
              <a:rPr dirty="0" err="1"/>
              <a:t>mein</a:t>
            </a:r>
            <a:r>
              <a:rPr dirty="0"/>
              <a:t> established, accepted practice </a:t>
            </a:r>
            <a:r>
              <a:rPr dirty="0" err="1"/>
              <a:t>hai</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834E8-6504-46CB-A7EF-334343022297}"/>
              </a:ext>
            </a:extLst>
          </p:cNvPr>
          <p:cNvSpPr>
            <a:spLocks noGrp="1"/>
          </p:cNvSpPr>
          <p:nvPr>
            <p:ph type="ctrTitle"/>
          </p:nvPr>
        </p:nvSpPr>
        <p:spPr>
          <a:xfrm>
            <a:off x="685800" y="2130425"/>
            <a:ext cx="7772400" cy="1470025"/>
          </a:xfrm>
        </p:spPr>
        <p:txBody>
          <a:bodyPr/>
          <a:lstStyle/>
          <a:p>
            <a:r>
              <a:t>Click to edit Master title style</a:t>
            </a:r>
            <a:endParaRPr/>
          </a:p>
        </p:txBody>
      </p:sp>
      <p:sp>
        <p:nvSpPr>
          <p:cNvPr id="3" name="Subtitle 2">
            <a:extLst>
              <a:ext uri="{FF2B5EF4-FFF2-40B4-BE49-F238E27FC236}">
                <a16:creationId xmlns:a16="http://schemas.microsoft.com/office/drawing/2014/main" id="{4A1E87CE-74C0-47E8-9093-06704190BF89}"/>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endParaRPr/>
          </a:p>
        </p:txBody>
      </p:sp>
      <p:sp>
        <p:nvSpPr>
          <p:cNvPr id="4" name="Date Placeholder 3">
            <a:extLst>
              <a:ext uri="{FF2B5EF4-FFF2-40B4-BE49-F238E27FC236}">
                <a16:creationId xmlns:a16="http://schemas.microsoft.com/office/drawing/2014/main" id="{7049C38E-84E3-4116-9C01-4E2A439C96B2}"/>
              </a:ext>
            </a:extLst>
          </p:cNvPr>
          <p:cNvSpPr>
            <a:spLocks noGrp="1"/>
          </p:cNvSpPr>
          <p:nvPr>
            <p:ph type="dt" idx="10"/>
          </p:nvPr>
        </p:nvSpPr>
        <p:spPr/>
        <p:txBody>
          <a:bodyPr/>
          <a:lstStyle/>
          <a:p>
            <a:fld id="{5BCAD085-E8A6-8845-BD4E-CB4CCA059FC4}" type="datetimeFigureOut">
              <a:t>8/31/2026</a:t>
            </a:fld>
            <a:endParaRPr/>
          </a:p>
        </p:txBody>
      </p:sp>
      <p:sp>
        <p:nvSpPr>
          <p:cNvPr id="5" name="Footer Placeholder 4">
            <a:extLst>
              <a:ext uri="{FF2B5EF4-FFF2-40B4-BE49-F238E27FC236}">
                <a16:creationId xmlns:a16="http://schemas.microsoft.com/office/drawing/2014/main" id="{8A31650D-FCE8-4A1A-B7BF-F351495620D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515C3707-E2CA-407B-8A56-37402A2DF08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06F52-7B04-403F-B68B-37CA7B9D3A46}"/>
              </a:ext>
            </a:extLst>
          </p:cNvPr>
          <p:cNvSpPr>
            <a:spLocks noGrp="1"/>
          </p:cNvSpPr>
          <p:nvPr>
            <p:ph type="title"/>
          </p:nvPr>
        </p:nvSpPr>
        <p:spPr/>
        <p:txBody>
          <a:bodyPr/>
          <a:lstStyle/>
          <a:p>
            <a:r>
              <a:t>Click to edit Master title style</a:t>
            </a:r>
            <a:endParaRPr/>
          </a:p>
        </p:txBody>
      </p:sp>
      <p:sp>
        <p:nvSpPr>
          <p:cNvPr id="3" name="Content Placeholder 2">
            <a:extLst>
              <a:ext uri="{FF2B5EF4-FFF2-40B4-BE49-F238E27FC236}">
                <a16:creationId xmlns:a16="http://schemas.microsoft.com/office/drawing/2014/main" id="{A62334A2-43E7-4CF9-BD7B-4D44D716ED39}"/>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4" name="Date Placeholder 3">
            <a:extLst>
              <a:ext uri="{FF2B5EF4-FFF2-40B4-BE49-F238E27FC236}">
                <a16:creationId xmlns:a16="http://schemas.microsoft.com/office/drawing/2014/main" id="{5739417B-BCBB-4A11-A3A1-5C7C6BF42E76}"/>
              </a:ext>
            </a:extLst>
          </p:cNvPr>
          <p:cNvSpPr>
            <a:spLocks noGrp="1"/>
          </p:cNvSpPr>
          <p:nvPr>
            <p:ph type="dt" idx="10"/>
          </p:nvPr>
        </p:nvSpPr>
        <p:spPr/>
        <p:txBody>
          <a:bodyPr/>
          <a:lstStyle/>
          <a:p>
            <a:fld id="{5BCAD085-E8A6-8845-BD4E-CB4CCA059FC4}" type="datetimeFigureOut">
              <a:t>8/31/2026</a:t>
            </a:fld>
            <a:endParaRPr/>
          </a:p>
        </p:txBody>
      </p:sp>
      <p:sp>
        <p:nvSpPr>
          <p:cNvPr id="5" name="Footer Placeholder 4">
            <a:extLst>
              <a:ext uri="{FF2B5EF4-FFF2-40B4-BE49-F238E27FC236}">
                <a16:creationId xmlns:a16="http://schemas.microsoft.com/office/drawing/2014/main" id="{F5B44C7D-777A-483E-8818-D99C8AEE782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439CB34-32C5-4A55-AEEC-172CAAB74FB7}"/>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18E15-9FB4-4822-8D95-C295A70EDDC7}"/>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endParaRPr/>
          </a:p>
        </p:txBody>
      </p:sp>
      <p:sp>
        <p:nvSpPr>
          <p:cNvPr id="3" name="Text Placeholder 2">
            <a:extLst>
              <a:ext uri="{FF2B5EF4-FFF2-40B4-BE49-F238E27FC236}">
                <a16:creationId xmlns:a16="http://schemas.microsoft.com/office/drawing/2014/main" id="{B481E305-1C42-4A3E-884F-44B5C9822801}"/>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30BDA6B9-9B03-4FC7-893E-356C6260D0D1}"/>
              </a:ext>
            </a:extLst>
          </p:cNvPr>
          <p:cNvSpPr>
            <a:spLocks noGrp="1"/>
          </p:cNvSpPr>
          <p:nvPr>
            <p:ph type="dt" idx="10"/>
          </p:nvPr>
        </p:nvSpPr>
        <p:spPr/>
        <p:txBody>
          <a:bodyPr/>
          <a:lstStyle/>
          <a:p>
            <a:fld id="{5BCAD085-E8A6-8845-BD4E-CB4CCA059FC4}" type="datetimeFigureOut">
              <a:t>8/31/2026</a:t>
            </a:fld>
            <a:endParaRPr/>
          </a:p>
        </p:txBody>
      </p:sp>
      <p:sp>
        <p:nvSpPr>
          <p:cNvPr id="5" name="Footer Placeholder 4">
            <a:extLst>
              <a:ext uri="{FF2B5EF4-FFF2-40B4-BE49-F238E27FC236}">
                <a16:creationId xmlns:a16="http://schemas.microsoft.com/office/drawing/2014/main" id="{6367E563-0ED1-47CC-9D47-CCF28AC76E4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F3555B3B-6C50-4BEC-899A-D4245F8CD22D}"/>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0FFF3-5474-4B13-B455-24C639409CF9}"/>
              </a:ext>
            </a:extLst>
          </p:cNvPr>
          <p:cNvSpPr>
            <a:spLocks noGrp="1"/>
          </p:cNvSpPr>
          <p:nvPr>
            <p:ph type="title"/>
          </p:nvPr>
        </p:nvSpPr>
        <p:spPr/>
        <p:txBody>
          <a:bodyPr/>
          <a:lstStyle/>
          <a:p>
            <a:r>
              <a:t>Click to edit Master title style</a:t>
            </a:r>
            <a:endParaRPr/>
          </a:p>
        </p:txBody>
      </p:sp>
      <p:sp>
        <p:nvSpPr>
          <p:cNvPr id="3" name="Content Placeholder 2">
            <a:extLst>
              <a:ext uri="{FF2B5EF4-FFF2-40B4-BE49-F238E27FC236}">
                <a16:creationId xmlns:a16="http://schemas.microsoft.com/office/drawing/2014/main" id="{B9EF1884-42AB-4553-ABB7-2C4CA2136A41}"/>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4" name="Content Placeholder 3">
            <a:extLst>
              <a:ext uri="{FF2B5EF4-FFF2-40B4-BE49-F238E27FC236}">
                <a16:creationId xmlns:a16="http://schemas.microsoft.com/office/drawing/2014/main" id="{BC219971-FFFC-45C4-8BC0-DE13CFC09B6A}"/>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5" name="Date Placeholder 4">
            <a:extLst>
              <a:ext uri="{FF2B5EF4-FFF2-40B4-BE49-F238E27FC236}">
                <a16:creationId xmlns:a16="http://schemas.microsoft.com/office/drawing/2014/main" id="{7FB86B5E-BD08-46B3-905F-12BE73DD4F13}"/>
              </a:ext>
            </a:extLst>
          </p:cNvPr>
          <p:cNvSpPr>
            <a:spLocks noGrp="1"/>
          </p:cNvSpPr>
          <p:nvPr>
            <p:ph type="dt" idx="10"/>
          </p:nvPr>
        </p:nvSpPr>
        <p:spPr/>
        <p:txBody>
          <a:bodyPr/>
          <a:lstStyle/>
          <a:p>
            <a:fld id="{5BCAD085-E8A6-8845-BD4E-CB4CCA059FC4}" type="datetimeFigureOut">
              <a:t>8/31/2026</a:t>
            </a:fld>
            <a:endParaRPr/>
          </a:p>
        </p:txBody>
      </p:sp>
      <p:sp>
        <p:nvSpPr>
          <p:cNvPr id="6" name="Footer Placeholder 5">
            <a:extLst>
              <a:ext uri="{FF2B5EF4-FFF2-40B4-BE49-F238E27FC236}">
                <a16:creationId xmlns:a16="http://schemas.microsoft.com/office/drawing/2014/main" id="{091C3957-0DA6-4605-A227-069C5A849EFD}"/>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64378532-4967-48C4-8B08-78F05A9A1CFC}"/>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A65B0-EDD9-472C-890F-32344705849E}"/>
              </a:ext>
            </a:extLst>
          </p:cNvPr>
          <p:cNvSpPr>
            <a:spLocks noGrp="1"/>
          </p:cNvSpPr>
          <p:nvPr>
            <p:ph type="title"/>
          </p:nvPr>
        </p:nvSpPr>
        <p:spPr/>
        <p:txBody>
          <a:bodyPr/>
          <a:lstStyle>
            <a:lvl1pPr>
              <a:buNone/>
              <a:defRPr/>
            </a:lvl1pPr>
          </a:lstStyle>
          <a:p>
            <a:r>
              <a:t>Click to edit Master title style</a:t>
            </a:r>
            <a:endParaRPr/>
          </a:p>
        </p:txBody>
      </p:sp>
      <p:sp>
        <p:nvSpPr>
          <p:cNvPr id="3" name="Text Placeholder 2">
            <a:extLst>
              <a:ext uri="{FF2B5EF4-FFF2-40B4-BE49-F238E27FC236}">
                <a16:creationId xmlns:a16="http://schemas.microsoft.com/office/drawing/2014/main" id="{066108E6-B216-45AC-8CBE-4AD8A12D0D9C}"/>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3210AE6-3F18-4DA2-A5B2-2F0F50E3E444}"/>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5" name="Text Placeholder 4">
            <a:extLst>
              <a:ext uri="{FF2B5EF4-FFF2-40B4-BE49-F238E27FC236}">
                <a16:creationId xmlns:a16="http://schemas.microsoft.com/office/drawing/2014/main" id="{14183947-16AA-489A-B116-719F61ECDFB5}"/>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364A1E21-357D-4C5B-A715-EA3ED766BD13}"/>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7" name="Date Placeholder 6">
            <a:extLst>
              <a:ext uri="{FF2B5EF4-FFF2-40B4-BE49-F238E27FC236}">
                <a16:creationId xmlns:a16="http://schemas.microsoft.com/office/drawing/2014/main" id="{FD39D588-A6A5-4B8C-9B73-97AC1D5A7541}"/>
              </a:ext>
            </a:extLst>
          </p:cNvPr>
          <p:cNvSpPr>
            <a:spLocks noGrp="1"/>
          </p:cNvSpPr>
          <p:nvPr>
            <p:ph type="dt" idx="10"/>
          </p:nvPr>
        </p:nvSpPr>
        <p:spPr/>
        <p:txBody>
          <a:bodyPr/>
          <a:lstStyle/>
          <a:p>
            <a:fld id="{5BCAD085-E8A6-8845-BD4E-CB4CCA059FC4}" type="datetimeFigureOut">
              <a:t>8/31/2026</a:t>
            </a:fld>
            <a:endParaRPr/>
          </a:p>
        </p:txBody>
      </p:sp>
      <p:sp>
        <p:nvSpPr>
          <p:cNvPr id="8" name="Footer Placeholder 7">
            <a:extLst>
              <a:ext uri="{FF2B5EF4-FFF2-40B4-BE49-F238E27FC236}">
                <a16:creationId xmlns:a16="http://schemas.microsoft.com/office/drawing/2014/main" id="{1CF5D95D-55C6-4135-A09A-CEB17419795C}"/>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837D95B1-F229-40F7-8783-75FA479D13A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03295-66D8-4994-B6CE-E70995614A58}"/>
              </a:ext>
            </a:extLst>
          </p:cNvPr>
          <p:cNvSpPr>
            <a:spLocks noGrp="1"/>
          </p:cNvSpPr>
          <p:nvPr>
            <p:ph type="title"/>
          </p:nvPr>
        </p:nvSpPr>
        <p:spPr/>
        <p:txBody>
          <a:bodyPr/>
          <a:lstStyle/>
          <a:p>
            <a:r>
              <a:t>Click to edit Master title style</a:t>
            </a:r>
            <a:endParaRPr/>
          </a:p>
        </p:txBody>
      </p:sp>
      <p:sp>
        <p:nvSpPr>
          <p:cNvPr id="3" name="Date Placeholder 2">
            <a:extLst>
              <a:ext uri="{FF2B5EF4-FFF2-40B4-BE49-F238E27FC236}">
                <a16:creationId xmlns:a16="http://schemas.microsoft.com/office/drawing/2014/main" id="{9B439DEC-851D-44E8-9DB7-5CCC97F6610A}"/>
              </a:ext>
            </a:extLst>
          </p:cNvPr>
          <p:cNvSpPr>
            <a:spLocks noGrp="1"/>
          </p:cNvSpPr>
          <p:nvPr>
            <p:ph type="dt" idx="10"/>
          </p:nvPr>
        </p:nvSpPr>
        <p:spPr/>
        <p:txBody>
          <a:bodyPr/>
          <a:lstStyle/>
          <a:p>
            <a:fld id="{5BCAD085-E8A6-8845-BD4E-CB4CCA059FC4}" type="datetimeFigureOut">
              <a:t>8/31/2026</a:t>
            </a:fld>
            <a:endParaRPr/>
          </a:p>
        </p:txBody>
      </p:sp>
      <p:sp>
        <p:nvSpPr>
          <p:cNvPr id="4" name="Footer Placeholder 3">
            <a:extLst>
              <a:ext uri="{FF2B5EF4-FFF2-40B4-BE49-F238E27FC236}">
                <a16:creationId xmlns:a16="http://schemas.microsoft.com/office/drawing/2014/main" id="{A63FF1DE-5FA1-4334-B036-49B32FF1CDA8}"/>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7C544EB2-0E55-4B90-8B98-0AF3DA0E8C4E}"/>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6528B5-FF84-4454-B67D-5CB7600A3B65}"/>
              </a:ext>
            </a:extLst>
          </p:cNvPr>
          <p:cNvSpPr>
            <a:spLocks noGrp="1"/>
          </p:cNvSpPr>
          <p:nvPr>
            <p:ph type="dt" idx="10"/>
          </p:nvPr>
        </p:nvSpPr>
        <p:spPr/>
        <p:txBody>
          <a:bodyPr/>
          <a:lstStyle/>
          <a:p>
            <a:fld id="{5BCAD085-E8A6-8845-BD4E-CB4CCA059FC4}" type="datetimeFigureOut">
              <a:t>8/31/2026</a:t>
            </a:fld>
            <a:endParaRPr/>
          </a:p>
        </p:txBody>
      </p:sp>
      <p:sp>
        <p:nvSpPr>
          <p:cNvPr id="3" name="Footer Placeholder 2">
            <a:extLst>
              <a:ext uri="{FF2B5EF4-FFF2-40B4-BE49-F238E27FC236}">
                <a16:creationId xmlns:a16="http://schemas.microsoft.com/office/drawing/2014/main" id="{570185FE-2F8F-41CD-BD5D-277A8E6804A1}"/>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7B0DAB8C-A75E-434E-9B0B-F658ADBFE64E}"/>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5E6CD-0377-483A-93FF-1DB68B26A55B}"/>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endParaRPr/>
          </a:p>
        </p:txBody>
      </p:sp>
      <p:sp>
        <p:nvSpPr>
          <p:cNvPr id="3" name="Content Placeholder 2">
            <a:extLst>
              <a:ext uri="{FF2B5EF4-FFF2-40B4-BE49-F238E27FC236}">
                <a16:creationId xmlns:a16="http://schemas.microsoft.com/office/drawing/2014/main" id="{D83BF4F3-DC9A-4221-9CC7-38CB826D59B5}"/>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4" name="Text Placeholder 3">
            <a:extLst>
              <a:ext uri="{FF2B5EF4-FFF2-40B4-BE49-F238E27FC236}">
                <a16:creationId xmlns:a16="http://schemas.microsoft.com/office/drawing/2014/main" id="{4BD3517F-DB6C-489F-9A59-1044ADE1D0DA}"/>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10B80B49-B25C-48F2-9A94-AED52648DCDD}"/>
              </a:ext>
            </a:extLst>
          </p:cNvPr>
          <p:cNvSpPr>
            <a:spLocks noGrp="1"/>
          </p:cNvSpPr>
          <p:nvPr>
            <p:ph type="dt" idx="10"/>
          </p:nvPr>
        </p:nvSpPr>
        <p:spPr/>
        <p:txBody>
          <a:bodyPr/>
          <a:lstStyle/>
          <a:p>
            <a:fld id="{5BCAD085-E8A6-8845-BD4E-CB4CCA059FC4}" type="datetimeFigureOut">
              <a:t>8/31/2026</a:t>
            </a:fld>
            <a:endParaRPr/>
          </a:p>
        </p:txBody>
      </p:sp>
      <p:sp>
        <p:nvSpPr>
          <p:cNvPr id="6" name="Footer Placeholder 5">
            <a:extLst>
              <a:ext uri="{FF2B5EF4-FFF2-40B4-BE49-F238E27FC236}">
                <a16:creationId xmlns:a16="http://schemas.microsoft.com/office/drawing/2014/main" id="{430874E3-C397-45F4-AF55-0C27E8257C7C}"/>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450717D4-FC52-463C-B8F8-E18B75A60B92}"/>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A01B4-6CE4-4A74-8477-CA25CA4E6DAE}"/>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endParaRPr/>
          </a:p>
        </p:txBody>
      </p:sp>
      <p:sp>
        <p:nvSpPr>
          <p:cNvPr id="3" name="Picture Placeholder 2">
            <a:extLst>
              <a:ext uri="{FF2B5EF4-FFF2-40B4-BE49-F238E27FC236}">
                <a16:creationId xmlns:a16="http://schemas.microsoft.com/office/drawing/2014/main" id="{B2197575-2E52-4600-8F90-48076FF1D43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C5C310B4-90FB-4EDE-A7CC-D5821D752316}"/>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DD9892E5-4BDB-4EDD-BD38-10A7BCFA7887}"/>
              </a:ext>
            </a:extLst>
          </p:cNvPr>
          <p:cNvSpPr>
            <a:spLocks noGrp="1"/>
          </p:cNvSpPr>
          <p:nvPr>
            <p:ph type="dt" idx="10"/>
          </p:nvPr>
        </p:nvSpPr>
        <p:spPr/>
        <p:txBody>
          <a:bodyPr/>
          <a:lstStyle/>
          <a:p>
            <a:fld id="{5BCAD085-E8A6-8845-BD4E-CB4CCA059FC4}" type="datetimeFigureOut">
              <a:t>8/31/2026</a:t>
            </a:fld>
            <a:endParaRPr/>
          </a:p>
        </p:txBody>
      </p:sp>
      <p:sp>
        <p:nvSpPr>
          <p:cNvPr id="6" name="Footer Placeholder 5">
            <a:extLst>
              <a:ext uri="{FF2B5EF4-FFF2-40B4-BE49-F238E27FC236}">
                <a16:creationId xmlns:a16="http://schemas.microsoft.com/office/drawing/2014/main" id="{282BF07E-7E05-4649-B81C-84DB004B71EE}"/>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D0108B7B-0BC7-45FA-A34C-9078E4C7BD27}"/>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F8941-7F50-44C0-82A8-18EC9CEA3B6A}"/>
              </a:ext>
            </a:extLst>
          </p:cNvPr>
          <p:cNvSpPr>
            <a:spLocks noGrp="1"/>
          </p:cNvSpPr>
          <p:nvPr>
            <p:ph type="title"/>
          </p:nvPr>
        </p:nvSpPr>
        <p:spPr/>
        <p:txBody>
          <a:bodyPr/>
          <a:lstStyle/>
          <a:p>
            <a:r>
              <a:t>Click to edit Master title style</a:t>
            </a:r>
            <a:endParaRPr/>
          </a:p>
        </p:txBody>
      </p:sp>
      <p:sp>
        <p:nvSpPr>
          <p:cNvPr id="3" name="Vertical Text Placeholder 2">
            <a:extLst>
              <a:ext uri="{FF2B5EF4-FFF2-40B4-BE49-F238E27FC236}">
                <a16:creationId xmlns:a16="http://schemas.microsoft.com/office/drawing/2014/main" id="{84229F71-153C-4444-9997-730A285D5F11}"/>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4" name="Date Placeholder 3">
            <a:extLst>
              <a:ext uri="{FF2B5EF4-FFF2-40B4-BE49-F238E27FC236}">
                <a16:creationId xmlns:a16="http://schemas.microsoft.com/office/drawing/2014/main" id="{91E31CAF-D166-4E9E-80B1-6D2982E6184F}"/>
              </a:ext>
            </a:extLst>
          </p:cNvPr>
          <p:cNvSpPr>
            <a:spLocks noGrp="1"/>
          </p:cNvSpPr>
          <p:nvPr>
            <p:ph type="dt" idx="10"/>
          </p:nvPr>
        </p:nvSpPr>
        <p:spPr/>
        <p:txBody>
          <a:bodyPr/>
          <a:lstStyle/>
          <a:p>
            <a:fld id="{5BCAD085-E8A6-8845-BD4E-CB4CCA059FC4}" type="datetimeFigureOut">
              <a:t>8/31/2026</a:t>
            </a:fld>
            <a:endParaRPr/>
          </a:p>
        </p:txBody>
      </p:sp>
      <p:sp>
        <p:nvSpPr>
          <p:cNvPr id="5" name="Footer Placeholder 4">
            <a:extLst>
              <a:ext uri="{FF2B5EF4-FFF2-40B4-BE49-F238E27FC236}">
                <a16:creationId xmlns:a16="http://schemas.microsoft.com/office/drawing/2014/main" id="{8586010B-9AA4-4AB2-9ED5-6BDF7373866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1441991C-CA88-4D1D-A5BA-8D931B59DD37}"/>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28DB58-AC47-454A-ABA3-3C4F6020678A}"/>
              </a:ext>
            </a:extLst>
          </p:cNvPr>
          <p:cNvSpPr>
            <a:spLocks noGrp="1"/>
          </p:cNvSpPr>
          <p:nvPr>
            <p:ph type="title"/>
          </p:nvPr>
        </p:nvSpPr>
        <p:spPr>
          <a:xfrm>
            <a:off x="6629400" y="274638"/>
            <a:ext cx="2057400" cy="5851525"/>
          </a:xfrm>
        </p:spPr>
        <p:txBody>
          <a:bodyPr vert="eaVert"/>
          <a:lstStyle/>
          <a:p>
            <a:r>
              <a:t>Click to edit Master title style</a:t>
            </a:r>
            <a:endParaRPr/>
          </a:p>
        </p:txBody>
      </p:sp>
      <p:sp>
        <p:nvSpPr>
          <p:cNvPr id="3" name="Vertical Text Placeholder 2">
            <a:extLst>
              <a:ext uri="{FF2B5EF4-FFF2-40B4-BE49-F238E27FC236}">
                <a16:creationId xmlns:a16="http://schemas.microsoft.com/office/drawing/2014/main" id="{2F6816B4-9CC5-4B1B-A681-355A0058AD84}"/>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4" name="Date Placeholder 3">
            <a:extLst>
              <a:ext uri="{FF2B5EF4-FFF2-40B4-BE49-F238E27FC236}">
                <a16:creationId xmlns:a16="http://schemas.microsoft.com/office/drawing/2014/main" id="{F678C5A3-6FAF-4971-B71D-B96F5E583FE9}"/>
              </a:ext>
            </a:extLst>
          </p:cNvPr>
          <p:cNvSpPr>
            <a:spLocks noGrp="1"/>
          </p:cNvSpPr>
          <p:nvPr>
            <p:ph type="dt" idx="10"/>
          </p:nvPr>
        </p:nvSpPr>
        <p:spPr/>
        <p:txBody>
          <a:bodyPr/>
          <a:lstStyle/>
          <a:p>
            <a:fld id="{5BCAD085-E8A6-8845-BD4E-CB4CCA059FC4}" type="datetimeFigureOut">
              <a:t>8/31/2026</a:t>
            </a:fld>
            <a:endParaRPr/>
          </a:p>
        </p:txBody>
      </p:sp>
      <p:sp>
        <p:nvSpPr>
          <p:cNvPr id="5" name="Footer Placeholder 4">
            <a:extLst>
              <a:ext uri="{FF2B5EF4-FFF2-40B4-BE49-F238E27FC236}">
                <a16:creationId xmlns:a16="http://schemas.microsoft.com/office/drawing/2014/main" id="{6369C069-BE71-484B-8A6A-3DE52E5B73D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D376FA5-0DA2-4D4D-A5B1-12E0ABAF4BDC}"/>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285B36-C54A-4686-A635-A875343CFDD9}"/>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endParaRPr/>
          </a:p>
        </p:txBody>
      </p:sp>
      <p:sp>
        <p:nvSpPr>
          <p:cNvPr id="3" name="Text Placeholder 2">
            <a:extLst>
              <a:ext uri="{FF2B5EF4-FFF2-40B4-BE49-F238E27FC236}">
                <a16:creationId xmlns:a16="http://schemas.microsoft.com/office/drawing/2014/main" id="{864B1E77-086B-4C7D-9591-36302353F1B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4" name="Date Placeholder 3">
            <a:extLst>
              <a:ext uri="{FF2B5EF4-FFF2-40B4-BE49-F238E27FC236}">
                <a16:creationId xmlns:a16="http://schemas.microsoft.com/office/drawing/2014/main" id="{418DA898-4347-4739-BA5A-84C8EF4A2DC1}"/>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8/31/2026</a:t>
            </a:fld>
            <a:endParaRPr/>
          </a:p>
        </p:txBody>
      </p:sp>
      <p:sp>
        <p:nvSpPr>
          <p:cNvPr id="5" name="Footer Placeholder 4">
            <a:extLst>
              <a:ext uri="{FF2B5EF4-FFF2-40B4-BE49-F238E27FC236}">
                <a16:creationId xmlns:a16="http://schemas.microsoft.com/office/drawing/2014/main" id="{76CD67FB-79AE-4505-88A3-7688FF5C7816}"/>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3DAAE360-CE2A-43AC-BA62-2BA7D5AB6D9F}"/>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B8FDCF4-13EC-4206-BD69-29EA0B757930}"/>
              </a:ext>
            </a:extLst>
          </p:cNvPr>
          <p:cNvSpPr>
            <a:spLocks noGrp="1"/>
          </p:cNvSpPr>
          <p:nvPr/>
        </p:nvSpPr>
        <p:spPr>
          <a:xfrm>
            <a:off x="-75895" y="0"/>
            <a:ext cx="12191695" cy="6858000"/>
          </a:xfrm>
          <a:prstGeom prst="rect">
            <a:avLst/>
          </a:prstGeom>
          <a:solidFill>
            <a:srgbClr val="14264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4" name="Rounded Rectangle 3">
            <a:extLst>
              <a:ext uri="{FF2B5EF4-FFF2-40B4-BE49-F238E27FC236}">
                <a16:creationId xmlns:a16="http://schemas.microsoft.com/office/drawing/2014/main" id="{5ADDF1F0-6E5F-4D08-A264-FCB96D83DC94}"/>
              </a:ext>
            </a:extLst>
          </p:cNvPr>
          <p:cNvSpPr>
            <a:spLocks noGrp="1"/>
          </p:cNvSpPr>
          <p:nvPr/>
        </p:nvSpPr>
        <p:spPr>
          <a:xfrm>
            <a:off x="747065" y="1143000"/>
            <a:ext cx="502920" cy="100584"/>
          </a:xfrm>
          <a:prstGeom prst="roundRect">
            <a:avLst/>
          </a:prstGeom>
          <a:solidFill>
            <a:srgbClr val="2F6FC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5" name="TextBox 4">
            <a:extLst>
              <a:ext uri="{FF2B5EF4-FFF2-40B4-BE49-F238E27FC236}">
                <a16:creationId xmlns:a16="http://schemas.microsoft.com/office/drawing/2014/main" id="{8EC87A27-2664-40B5-A744-4511D0A8F5D8}"/>
              </a:ext>
            </a:extLst>
          </p:cNvPr>
          <p:cNvSpPr>
            <a:spLocks noGrp="1"/>
          </p:cNvSpPr>
          <p:nvPr/>
        </p:nvSpPr>
        <p:spPr>
          <a:xfrm>
            <a:off x="747065" y="1325880"/>
            <a:ext cx="10332720" cy="344710"/>
          </a:xfrm>
          <a:prstGeom prst="rect">
            <a:avLst/>
          </a:prstGeom>
          <a:noFill/>
        </p:spPr>
        <p:txBody>
          <a:bodyPr wrap="square" lIns="36576" tIns="18288" rIns="36576" bIns="18288">
            <a:spAutoFit/>
          </a:bodyPr>
          <a:lstStyle/>
          <a:p>
            <a:r>
              <a:rPr sz="2000" b="1" i="0" dirty="0">
                <a:solidFill>
                  <a:srgbClr val="2F6FCB"/>
                </a:solidFill>
                <a:latin typeface="Calibri"/>
                <a:ea typeface="Calibri"/>
                <a:cs typeface="Calibri"/>
              </a:rPr>
              <a:t>PhD </a:t>
            </a:r>
            <a:r>
              <a:rPr sz="2000" b="1" i="0" dirty="0" smtClean="0">
                <a:solidFill>
                  <a:srgbClr val="2F6FCB"/>
                </a:solidFill>
                <a:latin typeface="Calibri"/>
                <a:ea typeface="Calibri"/>
                <a:cs typeface="Calibri"/>
              </a:rPr>
              <a:t>SYNOPSIS</a:t>
            </a:r>
            <a:endParaRPr sz="2000" b="1" i="0" dirty="0">
              <a:solidFill>
                <a:srgbClr val="2F6FCB"/>
              </a:solidFill>
              <a:latin typeface="Calibri"/>
              <a:ea typeface="Calibri"/>
              <a:cs typeface="Calibri"/>
            </a:endParaRPr>
          </a:p>
        </p:txBody>
      </p:sp>
      <p:sp>
        <p:nvSpPr>
          <p:cNvPr id="6" name="TextBox 5">
            <a:extLst>
              <a:ext uri="{FF2B5EF4-FFF2-40B4-BE49-F238E27FC236}">
                <a16:creationId xmlns:a16="http://schemas.microsoft.com/office/drawing/2014/main" id="{70444E23-AA2E-4EB2-9AB6-0503210C65B6}"/>
              </a:ext>
            </a:extLst>
          </p:cNvPr>
          <p:cNvSpPr>
            <a:spLocks noGrp="1"/>
          </p:cNvSpPr>
          <p:nvPr/>
        </p:nvSpPr>
        <p:spPr>
          <a:xfrm>
            <a:off x="747065" y="1828800"/>
            <a:ext cx="10607040" cy="1883593"/>
          </a:xfrm>
          <a:prstGeom prst="rect">
            <a:avLst/>
          </a:prstGeom>
          <a:noFill/>
        </p:spPr>
        <p:txBody>
          <a:bodyPr wrap="square" lIns="36576" tIns="18288" rIns="36576" bIns="18288">
            <a:spAutoFit/>
          </a:bodyPr>
          <a:lstStyle/>
          <a:p>
            <a:r>
              <a:rPr sz="4000" b="1" i="0">
                <a:solidFill>
                  <a:srgbClr val="FFFFFF"/>
                </a:solidFill>
                <a:latin typeface="Cambria"/>
                <a:ea typeface="Cambria"/>
                <a:cs typeface="Cambria"/>
              </a:rPr>
              <a:t>A Leakage-Safe Framework for Observability-Aware Regression Testing of Quantum Compilers</a:t>
            </a:r>
          </a:p>
        </p:txBody>
      </p:sp>
      <p:sp>
        <p:nvSpPr>
          <p:cNvPr id="8" name="TextBox 7">
            <a:extLst>
              <a:ext uri="{FF2B5EF4-FFF2-40B4-BE49-F238E27FC236}">
                <a16:creationId xmlns:a16="http://schemas.microsoft.com/office/drawing/2014/main" id="{DC3A5D53-9E9F-49A2-B6BF-1D8FA3BEEE9E}"/>
              </a:ext>
            </a:extLst>
          </p:cNvPr>
          <p:cNvSpPr>
            <a:spLocks noGrp="1"/>
          </p:cNvSpPr>
          <p:nvPr/>
        </p:nvSpPr>
        <p:spPr>
          <a:xfrm>
            <a:off x="747065" y="4271101"/>
            <a:ext cx="10424160" cy="2540183"/>
          </a:xfrm>
          <a:prstGeom prst="rect">
            <a:avLst/>
          </a:prstGeom>
          <a:noFill/>
        </p:spPr>
        <p:txBody>
          <a:bodyPr wrap="square" lIns="36576" tIns="18288" rIns="36576" bIns="18288">
            <a:spAutoFit/>
          </a:bodyPr>
          <a:lstStyle/>
          <a:p>
            <a:r>
              <a:rPr sz="2400" b="1" i="0" dirty="0">
                <a:solidFill>
                  <a:srgbClr val="FFFFFF"/>
                </a:solidFill>
                <a:latin typeface="Calibri"/>
                <a:ea typeface="Calibri"/>
                <a:cs typeface="Calibri"/>
              </a:rPr>
              <a:t>Furqan Nasir</a:t>
            </a:r>
          </a:p>
          <a:p>
            <a:pPr>
              <a:spcBef>
                <a:spcPts val="200"/>
              </a:spcBef>
              <a:buNone/>
            </a:pPr>
            <a:r>
              <a:rPr sz="2000" b="0" i="0" dirty="0">
                <a:solidFill>
                  <a:srgbClr val="D5E3F7"/>
                </a:solidFill>
                <a:latin typeface="Calibri"/>
                <a:ea typeface="Calibri"/>
                <a:cs typeface="Calibri"/>
              </a:rPr>
              <a:t>PhD </a:t>
            </a:r>
            <a:r>
              <a:rPr lang="en-US" sz="2000" b="0" i="0" dirty="0" smtClean="0">
                <a:solidFill>
                  <a:srgbClr val="D5E3F7"/>
                </a:solidFill>
                <a:latin typeface="Calibri"/>
                <a:ea typeface="Calibri"/>
                <a:cs typeface="Calibri"/>
              </a:rPr>
              <a:t>Scholar </a:t>
            </a:r>
            <a:r>
              <a:rPr sz="2000" b="0" i="0" dirty="0" smtClean="0">
                <a:solidFill>
                  <a:srgbClr val="D5E3F7"/>
                </a:solidFill>
                <a:latin typeface="Calibri"/>
                <a:ea typeface="Calibri"/>
                <a:cs typeface="Calibri"/>
              </a:rPr>
              <a:t>in </a:t>
            </a:r>
            <a:r>
              <a:rPr sz="2000" b="0" i="0" dirty="0">
                <a:solidFill>
                  <a:srgbClr val="D5E3F7"/>
                </a:solidFill>
                <a:latin typeface="Calibri"/>
                <a:ea typeface="Calibri"/>
                <a:cs typeface="Calibri"/>
              </a:rPr>
              <a:t>Computer </a:t>
            </a:r>
            <a:r>
              <a:rPr sz="2000" b="0" i="0" dirty="0" smtClean="0">
                <a:solidFill>
                  <a:srgbClr val="D5E3F7"/>
                </a:solidFill>
                <a:latin typeface="Calibri"/>
                <a:ea typeface="Calibri"/>
                <a:cs typeface="Calibri"/>
              </a:rPr>
              <a:t>Science</a:t>
            </a:r>
            <a:endParaRPr lang="en-US" sz="2000" b="0" i="0" dirty="0" smtClean="0">
              <a:solidFill>
                <a:srgbClr val="D5E3F7"/>
              </a:solidFill>
              <a:latin typeface="Calibri"/>
              <a:ea typeface="Calibri"/>
              <a:cs typeface="Calibri"/>
            </a:endParaRPr>
          </a:p>
          <a:p>
            <a:pPr>
              <a:spcBef>
                <a:spcPts val="200"/>
              </a:spcBef>
              <a:buNone/>
            </a:pPr>
            <a:r>
              <a:rPr lang="en-US" sz="2400" b="1" dirty="0" smtClean="0">
                <a:solidFill>
                  <a:srgbClr val="D5E3F7"/>
                </a:solidFill>
                <a:latin typeface="Calibri"/>
                <a:ea typeface="Calibri"/>
                <a:cs typeface="Calibri"/>
              </a:rPr>
              <a:t/>
            </a:r>
            <a:br>
              <a:rPr lang="en-US" sz="2400" b="1" dirty="0" smtClean="0">
                <a:solidFill>
                  <a:srgbClr val="D5E3F7"/>
                </a:solidFill>
                <a:latin typeface="Calibri"/>
                <a:ea typeface="Calibri"/>
                <a:cs typeface="Calibri"/>
              </a:rPr>
            </a:br>
            <a:r>
              <a:rPr sz="2400" b="1" dirty="0">
                <a:solidFill>
                  <a:srgbClr val="D5E3F7"/>
                </a:solidFill>
                <a:latin typeface="Calibri"/>
              </a:rPr>
              <a:t>Supervisor: Prof. Dr. </a:t>
            </a:r>
            <a:r>
              <a:rPr lang="en-US" sz="2400" b="1" dirty="0" smtClean="0">
                <a:solidFill>
                  <a:srgbClr val="D5E3F7"/>
                </a:solidFill>
                <a:latin typeface="Calibri"/>
              </a:rPr>
              <a:t>Muhammad </a:t>
            </a:r>
            <a:r>
              <a:rPr sz="2400" b="1" dirty="0" err="1" smtClean="0">
                <a:solidFill>
                  <a:srgbClr val="D5E3F7"/>
                </a:solidFill>
                <a:latin typeface="Calibri"/>
              </a:rPr>
              <a:t>Arif</a:t>
            </a:r>
            <a:r>
              <a:rPr sz="2400" b="1" dirty="0" smtClean="0">
                <a:solidFill>
                  <a:srgbClr val="D5E3F7"/>
                </a:solidFill>
                <a:latin typeface="Calibri"/>
              </a:rPr>
              <a:t> Shah</a:t>
            </a:r>
            <a:r>
              <a:rPr lang="en-US" sz="2400" b="1" dirty="0" smtClean="0">
                <a:solidFill>
                  <a:srgbClr val="D5E3F7"/>
                </a:solidFill>
                <a:latin typeface="Calibri"/>
                <a:ea typeface="Calibri"/>
                <a:cs typeface="Calibri"/>
              </a:rPr>
              <a:t/>
            </a:r>
            <a:br>
              <a:rPr lang="en-US" sz="2400" b="1" dirty="0" smtClean="0">
                <a:solidFill>
                  <a:srgbClr val="D5E3F7"/>
                </a:solidFill>
                <a:latin typeface="Calibri"/>
                <a:ea typeface="Calibri"/>
                <a:cs typeface="Calibri"/>
              </a:rPr>
            </a:br>
            <a:r>
              <a:rPr sz="2400" b="1" dirty="0">
                <a:solidFill>
                  <a:srgbClr val="D5E3F7"/>
                </a:solidFill>
                <a:latin typeface="Calibri"/>
              </a:rPr>
              <a:t>Co-Supervisor: Dr. </a:t>
            </a:r>
            <a:r>
              <a:rPr sz="2400" b="1" dirty="0" err="1">
                <a:solidFill>
                  <a:srgbClr val="D5E3F7"/>
                </a:solidFill>
                <a:latin typeface="Calibri"/>
              </a:rPr>
              <a:t>Iftikhar</a:t>
            </a:r>
            <a:r>
              <a:rPr sz="2400" b="1" dirty="0">
                <a:solidFill>
                  <a:srgbClr val="D5E3F7"/>
                </a:solidFill>
                <a:latin typeface="Calibri"/>
              </a:rPr>
              <a:t> </a:t>
            </a:r>
            <a:r>
              <a:rPr sz="2400" b="1" dirty="0" err="1">
                <a:solidFill>
                  <a:srgbClr val="D5E3F7"/>
                </a:solidFill>
                <a:latin typeface="Calibri"/>
              </a:rPr>
              <a:t>Alam</a:t>
            </a:r>
            <a:endParaRPr sz="2400" b="1" i="0" dirty="0">
              <a:solidFill>
                <a:srgbClr val="D5E3F7"/>
              </a:solidFill>
              <a:latin typeface="Calibri"/>
              <a:ea typeface="Calibri"/>
              <a:cs typeface="Calibri"/>
            </a:endParaRPr>
          </a:p>
          <a:p>
            <a:pPr>
              <a:spcBef>
                <a:spcPts val="200"/>
              </a:spcBef>
              <a:buNone/>
            </a:pPr>
            <a:r>
              <a:rPr sz="2000" b="0" i="0" dirty="0">
                <a:solidFill>
                  <a:srgbClr val="9FB2D6"/>
                </a:solidFill>
                <a:latin typeface="Calibri"/>
                <a:ea typeface="Calibri"/>
                <a:cs typeface="Calibri"/>
              </a:rPr>
              <a:t>City University of Science </a:t>
            </a:r>
            <a:r>
              <a:rPr lang="en-US" sz="2000" b="0" i="0" dirty="0" smtClean="0">
                <a:solidFill>
                  <a:srgbClr val="9FB2D6"/>
                </a:solidFill>
                <a:latin typeface="Calibri"/>
                <a:ea typeface="Calibri"/>
                <a:cs typeface="Calibri"/>
              </a:rPr>
              <a:t>and</a:t>
            </a:r>
            <a:r>
              <a:rPr sz="2000" b="0" i="0" dirty="0" smtClean="0">
                <a:solidFill>
                  <a:srgbClr val="9FB2D6"/>
                </a:solidFill>
                <a:latin typeface="Calibri"/>
                <a:ea typeface="Calibri"/>
                <a:cs typeface="Calibri"/>
              </a:rPr>
              <a:t> I</a:t>
            </a:r>
            <a:r>
              <a:rPr lang="en-US" sz="2000" b="0" i="0" dirty="0" smtClean="0">
                <a:solidFill>
                  <a:srgbClr val="9FB2D6"/>
                </a:solidFill>
                <a:latin typeface="Calibri"/>
                <a:ea typeface="Calibri"/>
                <a:cs typeface="Calibri"/>
              </a:rPr>
              <a:t>nformation </a:t>
            </a:r>
            <a:r>
              <a:rPr sz="2000" b="0" i="0" dirty="0" smtClean="0">
                <a:solidFill>
                  <a:srgbClr val="9FB2D6"/>
                </a:solidFill>
                <a:latin typeface="Calibri"/>
                <a:ea typeface="Calibri"/>
                <a:cs typeface="Calibri"/>
              </a:rPr>
              <a:t>T</a:t>
            </a:r>
            <a:r>
              <a:rPr lang="en-US" sz="2000" b="0" i="0" dirty="0" smtClean="0">
                <a:solidFill>
                  <a:srgbClr val="9FB2D6"/>
                </a:solidFill>
                <a:latin typeface="Calibri"/>
                <a:ea typeface="Calibri"/>
                <a:cs typeface="Calibri"/>
              </a:rPr>
              <a:t>echnology</a:t>
            </a:r>
            <a:r>
              <a:rPr sz="2000" b="0" i="0" dirty="0" smtClean="0">
                <a:solidFill>
                  <a:srgbClr val="9FB2D6"/>
                </a:solidFill>
                <a:latin typeface="Calibri"/>
                <a:ea typeface="Calibri"/>
                <a:cs typeface="Calibri"/>
              </a:rPr>
              <a:t>, </a:t>
            </a:r>
            <a:r>
              <a:rPr sz="2000" b="0" i="0" dirty="0">
                <a:solidFill>
                  <a:srgbClr val="9FB2D6"/>
                </a:solidFill>
                <a:latin typeface="Calibri"/>
                <a:ea typeface="Calibri"/>
                <a:cs typeface="Calibri"/>
              </a:rPr>
              <a:t>Peshawar</a:t>
            </a:r>
          </a:p>
          <a:p>
            <a:pPr>
              <a:spcBef>
                <a:spcPts val="200"/>
              </a:spcBef>
              <a:buNone/>
            </a:pPr>
            <a:r>
              <a:rPr lang="en-US" sz="2000" b="1" i="0" dirty="0" smtClean="0">
                <a:solidFill>
                  <a:srgbClr val="2F6FCB"/>
                </a:solidFill>
                <a:latin typeface="Calibri"/>
                <a:ea typeface="Calibri"/>
                <a:cs typeface="Calibri"/>
              </a:rPr>
              <a:t>August</a:t>
            </a:r>
            <a:r>
              <a:rPr sz="2000" b="1" i="0" dirty="0" smtClean="0">
                <a:solidFill>
                  <a:srgbClr val="2F6FCB"/>
                </a:solidFill>
                <a:latin typeface="Calibri"/>
                <a:ea typeface="Calibri"/>
                <a:cs typeface="Calibri"/>
              </a:rPr>
              <a:t> </a:t>
            </a:r>
            <a:r>
              <a:rPr sz="2000" b="1" i="0" dirty="0">
                <a:solidFill>
                  <a:srgbClr val="2F6FCB"/>
                </a:solidFill>
                <a:latin typeface="Calibri"/>
                <a:ea typeface="Calibri"/>
                <a:cs typeface="Calibri"/>
              </a:rPr>
              <a:t>2026</a:t>
            </a:r>
          </a:p>
        </p:txBody>
      </p:sp>
    </p:spTree>
    <p:extLst>
      <p:ext uri="{BB962C8B-B14F-4D97-AF65-F5344CB8AC3E}">
        <p14:creationId xmlns:p14="http://schemas.microsoft.com/office/powerpoint/2010/main" val="149062479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EB5573C-BB58-4039-82A4-B05CBD30AE4B}"/>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4" name="TextBox 3">
            <a:extLst>
              <a:ext uri="{FF2B5EF4-FFF2-40B4-BE49-F238E27FC236}">
                <a16:creationId xmlns:a16="http://schemas.microsoft.com/office/drawing/2014/main" id="{9736F494-55E2-4072-8BF1-3D11E5889EAA}"/>
              </a:ext>
            </a:extLst>
          </p:cNvPr>
          <p:cNvSpPr>
            <a:spLocks noGrp="1"/>
          </p:cNvSpPr>
          <p:nvPr/>
        </p:nvSpPr>
        <p:spPr>
          <a:xfrm>
            <a:off x="640080" y="694944"/>
            <a:ext cx="11155680" cy="714042"/>
          </a:xfrm>
          <a:prstGeom prst="rect">
            <a:avLst/>
          </a:prstGeom>
          <a:noFill/>
        </p:spPr>
        <p:txBody>
          <a:bodyPr wrap="square" lIns="36576" tIns="18288" rIns="36576" bIns="18288">
            <a:spAutoFit/>
          </a:bodyPr>
          <a:lstStyle/>
          <a:p>
            <a:r>
              <a:rPr sz="4400" b="1" i="0" dirty="0" smtClean="0">
                <a:solidFill>
                  <a:srgbClr val="1E2A44"/>
                </a:solidFill>
                <a:latin typeface="Cambria"/>
                <a:ea typeface="Cambria"/>
                <a:cs typeface="Cambria"/>
              </a:rPr>
              <a:t>Outline</a:t>
            </a:r>
            <a:r>
              <a:rPr lang="en-US" sz="4400" b="1" i="0" dirty="0" smtClean="0">
                <a:solidFill>
                  <a:srgbClr val="1E2A44"/>
                </a:solidFill>
                <a:latin typeface="Cambria"/>
                <a:ea typeface="Cambria"/>
                <a:cs typeface="Cambria"/>
              </a:rPr>
              <a:t>s</a:t>
            </a:r>
            <a:endParaRPr sz="4400" b="1" i="0" dirty="0">
              <a:solidFill>
                <a:srgbClr val="1E2A44"/>
              </a:solidFill>
              <a:latin typeface="Cambria"/>
              <a:ea typeface="Cambria"/>
              <a:cs typeface="Cambria"/>
            </a:endParaRPr>
          </a:p>
        </p:txBody>
      </p:sp>
      <p:sp>
        <p:nvSpPr>
          <p:cNvPr id="5" name="Rounded Rectangle 4">
            <a:extLst>
              <a:ext uri="{FF2B5EF4-FFF2-40B4-BE49-F238E27FC236}">
                <a16:creationId xmlns:a16="http://schemas.microsoft.com/office/drawing/2014/main" id="{E2C02959-6E32-4CA9-986D-30C932F199BB}"/>
              </a:ext>
            </a:extLst>
          </p:cNvPr>
          <p:cNvSpPr>
            <a:spLocks noGrp="1"/>
          </p:cNvSpPr>
          <p:nvPr/>
        </p:nvSpPr>
        <p:spPr>
          <a:xfrm>
            <a:off x="640080" y="1560000"/>
            <a:ext cx="5193792" cy="860000"/>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6" name="Rounded Rectangle 5">
            <a:extLst>
              <a:ext uri="{FF2B5EF4-FFF2-40B4-BE49-F238E27FC236}">
                <a16:creationId xmlns:a16="http://schemas.microsoft.com/office/drawing/2014/main" id="{7BB8D216-4363-4450-9FB2-EA3DB4D5473C}"/>
              </a:ext>
            </a:extLst>
          </p:cNvPr>
          <p:cNvSpPr>
            <a:spLocks noGrp="1"/>
          </p:cNvSpPr>
          <p:nvPr/>
        </p:nvSpPr>
        <p:spPr>
          <a:xfrm>
            <a:off x="840080" y="1750000"/>
            <a:ext cx="480000" cy="480000"/>
          </a:xfrm>
          <a:prstGeom prst="roundRect">
            <a:avLst>
              <a:gd name="adj" fmla="val 28000"/>
            </a:avLst>
          </a:prstGeom>
          <a:solidFill>
            <a:srgbClr val="2F6FCB"/>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2400" b="1">
                <a:solidFill>
                  <a:srgbClr val="FFFFFF"/>
                </a:solidFill>
                <a:latin typeface="Calibri"/>
                <a:ea typeface="Calibri"/>
                <a:cs typeface="Calibri"/>
              </a:rPr>
              <a:t>1</a:t>
            </a:r>
          </a:p>
        </p:txBody>
      </p:sp>
      <p:sp>
        <p:nvSpPr>
          <p:cNvPr id="7" name="TextBox 6">
            <a:extLst>
              <a:ext uri="{FF2B5EF4-FFF2-40B4-BE49-F238E27FC236}">
                <a16:creationId xmlns:a16="http://schemas.microsoft.com/office/drawing/2014/main" id="{4D339F3C-117F-4CC8-9DEC-AF1DC52467E4}"/>
              </a:ext>
            </a:extLst>
          </p:cNvPr>
          <p:cNvSpPr>
            <a:spLocks noGrp="1"/>
          </p:cNvSpPr>
          <p:nvPr/>
        </p:nvSpPr>
        <p:spPr>
          <a:xfrm>
            <a:off x="1470080" y="1680000"/>
            <a:ext cx="4213792" cy="620000"/>
          </a:xfrm>
          <a:prstGeom prst="rect">
            <a:avLst/>
          </a:prstGeom>
          <a:noFill/>
        </p:spPr>
        <p:txBody>
          <a:bodyPr wrap="square" lIns="36576" tIns="18288" rIns="36576" bIns="18288" anchor="ctr">
            <a:spAutoFit/>
          </a:bodyPr>
          <a:lstStyle/>
          <a:p>
            <a:r>
              <a:rPr sz="2000" b="1" i="0">
                <a:solidFill>
                  <a:srgbClr val="1E2A44"/>
                </a:solidFill>
                <a:latin typeface="Calibri"/>
                <a:ea typeface="Calibri"/>
                <a:cs typeface="Calibri"/>
              </a:rPr>
              <a:t>Introduction</a:t>
            </a:r>
          </a:p>
        </p:txBody>
      </p:sp>
      <p:sp>
        <p:nvSpPr>
          <p:cNvPr id="23" name="TextBox 22">
            <a:extLst>
              <a:ext uri="{FF2B5EF4-FFF2-40B4-BE49-F238E27FC236}">
                <a16:creationId xmlns:a16="http://schemas.microsoft.com/office/drawing/2014/main" id="{B8B113E6-85BC-4A23-B7E7-19376B71C455}"/>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24" name="TextBox 23">
            <a:extLst>
              <a:ext uri="{FF2B5EF4-FFF2-40B4-BE49-F238E27FC236}">
                <a16:creationId xmlns:a16="http://schemas.microsoft.com/office/drawing/2014/main" id="{814C86CB-0AF8-43CE-AFD6-036314F5207F}"/>
              </a:ext>
            </a:extLst>
          </p:cNvPr>
          <p:cNvSpPr>
            <a:spLocks noGrp="1"/>
          </p:cNvSpPr>
          <p:nvPr/>
        </p:nvSpPr>
        <p:spPr>
          <a:xfrm>
            <a:off x="11155680" y="6473952"/>
            <a:ext cx="822960" cy="206210"/>
          </a:xfrm>
          <a:prstGeom prst="rect">
            <a:avLst/>
          </a:prstGeom>
          <a:noFill/>
        </p:spPr>
        <p:txBody>
          <a:bodyPr wrap="square" lIns="36576" tIns="18288" rIns="36576" bIns="18288">
            <a:spAutoFit/>
          </a:bodyPr>
          <a:lstStyle/>
          <a:p>
            <a:pPr algn="r">
              <a:buNone/>
            </a:pPr>
            <a:r>
              <a:rPr sz="1100" b="1" i="0">
                <a:solidFill>
                  <a:srgbClr val="64748C"/>
                </a:solidFill>
                <a:latin typeface="Calibri"/>
                <a:ea typeface="Calibri"/>
                <a:cs typeface="Calibri"/>
              </a:rPr>
              <a:t>2</a:t>
            </a:r>
          </a:p>
        </p:txBody>
      </p:sp>
      <p:pic>
        <p:nvPicPr>
          <p:cNvPr id="25" name="Image 0" descr="/mnt/data/cusit_logo.png"/>
          <p:cNvPicPr>
            <a:picLocks noChangeAspect="1"/>
          </p:cNvPicPr>
          <p:nvPr/>
        </p:nvPicPr>
        <p:blipFill>
          <a:blip r:embed="rId3"/>
          <a:stretch>
            <a:fillRect/>
          </a:stretch>
        </p:blipFill>
        <p:spPr>
          <a:xfrm>
            <a:off x="10903999" y="23078"/>
            <a:ext cx="1269586" cy="634793"/>
          </a:xfrm>
          <a:prstGeom prst="rect">
            <a:avLst/>
          </a:prstGeom>
        </p:spPr>
      </p:pic>
      <p:sp>
        <p:nvSpPr>
          <p:cNvPr id="29" name="Rounded Rectangle Outline BG 2">
            <a:extLst>
              <a:ext uri="{FF2B5EF4-FFF2-40B4-BE49-F238E27FC236}">
                <a16:creationId xmlns:a16="http://schemas.microsoft.com/office/drawing/2014/main" id="{E2C02959-6E32-4CA9-986D-30C932F199BB}"/>
              </a:ext>
            </a:extLst>
          </p:cNvPr>
          <p:cNvSpPr>
            <a:spLocks noGrp="1"/>
          </p:cNvSpPr>
          <p:nvPr/>
        </p:nvSpPr>
        <p:spPr>
          <a:xfrm>
            <a:off x="6355080" y="1560000"/>
            <a:ext cx="5193792" cy="860000"/>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30" name="Rounded Rectangle Outline Num 2">
            <a:extLst>
              <a:ext uri="{FF2B5EF4-FFF2-40B4-BE49-F238E27FC236}">
                <a16:creationId xmlns:a16="http://schemas.microsoft.com/office/drawing/2014/main" id="{7BB8D216-4363-4450-9FB2-EA3DB4D5473C}"/>
              </a:ext>
            </a:extLst>
          </p:cNvPr>
          <p:cNvSpPr>
            <a:spLocks noGrp="1"/>
          </p:cNvSpPr>
          <p:nvPr/>
        </p:nvSpPr>
        <p:spPr>
          <a:xfrm>
            <a:off x="6555080" y="1750000"/>
            <a:ext cx="480000" cy="480000"/>
          </a:xfrm>
          <a:prstGeom prst="roundRect">
            <a:avLst>
              <a:gd name="adj" fmla="val 28000"/>
            </a:avLst>
          </a:prstGeom>
          <a:solidFill>
            <a:srgbClr val="2F6FCB"/>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2400" b="1">
                <a:solidFill>
                  <a:srgbClr val="FFFFFF"/>
                </a:solidFill>
                <a:latin typeface="Calibri"/>
                <a:ea typeface="Calibri"/>
                <a:cs typeface="Calibri"/>
              </a:rPr>
              <a:t>2</a:t>
            </a:r>
          </a:p>
        </p:txBody>
      </p:sp>
      <p:sp>
        <p:nvSpPr>
          <p:cNvPr id="31" name="TextBox Outline Label 2">
            <a:extLst>
              <a:ext uri="{FF2B5EF4-FFF2-40B4-BE49-F238E27FC236}">
                <a16:creationId xmlns:a16="http://schemas.microsoft.com/office/drawing/2014/main" id="{4D339F3C-117F-4CC8-9DEC-AF1DC52467E4}"/>
              </a:ext>
            </a:extLst>
          </p:cNvPr>
          <p:cNvSpPr>
            <a:spLocks noGrp="1"/>
          </p:cNvSpPr>
          <p:nvPr/>
        </p:nvSpPr>
        <p:spPr>
          <a:xfrm>
            <a:off x="7185080" y="1680000"/>
            <a:ext cx="4213792" cy="620000"/>
          </a:xfrm>
          <a:prstGeom prst="rect">
            <a:avLst/>
          </a:prstGeom>
          <a:noFill/>
        </p:spPr>
        <p:txBody>
          <a:bodyPr wrap="square" lIns="36576" tIns="18288" rIns="36576" bIns="18288" anchor="ctr">
            <a:spAutoFit/>
          </a:bodyPr>
          <a:lstStyle/>
          <a:p>
            <a:r>
              <a:rPr sz="2000" b="1" i="0">
                <a:solidFill>
                  <a:srgbClr val="1E2A44"/>
                </a:solidFill>
                <a:latin typeface="Calibri"/>
                <a:ea typeface="Calibri"/>
                <a:cs typeface="Calibri"/>
              </a:rPr>
              <a:t>Literature Review</a:t>
            </a:r>
          </a:p>
        </p:txBody>
      </p:sp>
      <p:sp>
        <p:nvSpPr>
          <p:cNvPr id="32" name="Rounded Rectangle Outline BG 3">
            <a:extLst>
              <a:ext uri="{FF2B5EF4-FFF2-40B4-BE49-F238E27FC236}">
                <a16:creationId xmlns:a16="http://schemas.microsoft.com/office/drawing/2014/main" id="{E2C02959-6E32-4CA9-986D-30C932F199BB}"/>
              </a:ext>
            </a:extLst>
          </p:cNvPr>
          <p:cNvSpPr>
            <a:spLocks noGrp="1"/>
          </p:cNvSpPr>
          <p:nvPr/>
        </p:nvSpPr>
        <p:spPr>
          <a:xfrm>
            <a:off x="640080" y="2545000"/>
            <a:ext cx="5193792" cy="860000"/>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33" name="Rounded Rectangle Outline Num 3">
            <a:extLst>
              <a:ext uri="{FF2B5EF4-FFF2-40B4-BE49-F238E27FC236}">
                <a16:creationId xmlns:a16="http://schemas.microsoft.com/office/drawing/2014/main" id="{7BB8D216-4363-4450-9FB2-EA3DB4D5473C}"/>
              </a:ext>
            </a:extLst>
          </p:cNvPr>
          <p:cNvSpPr>
            <a:spLocks noGrp="1"/>
          </p:cNvSpPr>
          <p:nvPr/>
        </p:nvSpPr>
        <p:spPr>
          <a:xfrm>
            <a:off x="840080" y="2735000"/>
            <a:ext cx="480000" cy="480000"/>
          </a:xfrm>
          <a:prstGeom prst="roundRect">
            <a:avLst>
              <a:gd name="adj" fmla="val 28000"/>
            </a:avLst>
          </a:prstGeom>
          <a:solidFill>
            <a:srgbClr val="2F6FCB"/>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2400" b="1">
                <a:solidFill>
                  <a:srgbClr val="FFFFFF"/>
                </a:solidFill>
                <a:latin typeface="Calibri"/>
                <a:ea typeface="Calibri"/>
                <a:cs typeface="Calibri"/>
              </a:rPr>
              <a:t>3</a:t>
            </a:r>
          </a:p>
        </p:txBody>
      </p:sp>
      <p:sp>
        <p:nvSpPr>
          <p:cNvPr id="34" name="TextBox Outline Label 3">
            <a:extLst>
              <a:ext uri="{FF2B5EF4-FFF2-40B4-BE49-F238E27FC236}">
                <a16:creationId xmlns:a16="http://schemas.microsoft.com/office/drawing/2014/main" id="{4D339F3C-117F-4CC8-9DEC-AF1DC52467E4}"/>
              </a:ext>
            </a:extLst>
          </p:cNvPr>
          <p:cNvSpPr>
            <a:spLocks noGrp="1"/>
          </p:cNvSpPr>
          <p:nvPr/>
        </p:nvSpPr>
        <p:spPr>
          <a:xfrm>
            <a:off x="1470080" y="2665000"/>
            <a:ext cx="4213792" cy="620000"/>
          </a:xfrm>
          <a:prstGeom prst="rect">
            <a:avLst/>
          </a:prstGeom>
          <a:noFill/>
        </p:spPr>
        <p:txBody>
          <a:bodyPr wrap="square" lIns="36576" tIns="18288" rIns="36576" bIns="18288" anchor="ctr">
            <a:spAutoFit/>
          </a:bodyPr>
          <a:lstStyle/>
          <a:p>
            <a:r>
              <a:rPr sz="2000" b="1" i="0">
                <a:solidFill>
                  <a:srgbClr val="1E2A44"/>
                </a:solidFill>
                <a:latin typeface="Calibri"/>
                <a:ea typeface="Calibri"/>
                <a:cs typeface="Calibri"/>
              </a:rPr>
              <a:t>Problem Statement</a:t>
            </a:r>
          </a:p>
        </p:txBody>
      </p:sp>
      <p:sp>
        <p:nvSpPr>
          <p:cNvPr id="35" name="Rounded Rectangle Outline BG 4">
            <a:extLst>
              <a:ext uri="{FF2B5EF4-FFF2-40B4-BE49-F238E27FC236}">
                <a16:creationId xmlns:a16="http://schemas.microsoft.com/office/drawing/2014/main" id="{E2C02959-6E32-4CA9-986D-30C932F199BB}"/>
              </a:ext>
            </a:extLst>
          </p:cNvPr>
          <p:cNvSpPr>
            <a:spLocks noGrp="1"/>
          </p:cNvSpPr>
          <p:nvPr/>
        </p:nvSpPr>
        <p:spPr>
          <a:xfrm>
            <a:off x="6355080" y="2545000"/>
            <a:ext cx="5193792" cy="860000"/>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36" name="Rounded Rectangle Outline Num 4">
            <a:extLst>
              <a:ext uri="{FF2B5EF4-FFF2-40B4-BE49-F238E27FC236}">
                <a16:creationId xmlns:a16="http://schemas.microsoft.com/office/drawing/2014/main" id="{7BB8D216-4363-4450-9FB2-EA3DB4D5473C}"/>
              </a:ext>
            </a:extLst>
          </p:cNvPr>
          <p:cNvSpPr>
            <a:spLocks noGrp="1"/>
          </p:cNvSpPr>
          <p:nvPr/>
        </p:nvSpPr>
        <p:spPr>
          <a:xfrm>
            <a:off x="6555080" y="2735000"/>
            <a:ext cx="480000" cy="480000"/>
          </a:xfrm>
          <a:prstGeom prst="roundRect">
            <a:avLst>
              <a:gd name="adj" fmla="val 28000"/>
            </a:avLst>
          </a:prstGeom>
          <a:solidFill>
            <a:srgbClr val="2F6FCB"/>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2400" b="1">
                <a:solidFill>
                  <a:srgbClr val="FFFFFF"/>
                </a:solidFill>
                <a:latin typeface="Calibri"/>
                <a:ea typeface="Calibri"/>
                <a:cs typeface="Calibri"/>
              </a:rPr>
              <a:t>4</a:t>
            </a:r>
          </a:p>
        </p:txBody>
      </p:sp>
      <p:sp>
        <p:nvSpPr>
          <p:cNvPr id="37" name="TextBox Outline Label 4">
            <a:extLst>
              <a:ext uri="{FF2B5EF4-FFF2-40B4-BE49-F238E27FC236}">
                <a16:creationId xmlns:a16="http://schemas.microsoft.com/office/drawing/2014/main" id="{4D339F3C-117F-4CC8-9DEC-AF1DC52467E4}"/>
              </a:ext>
            </a:extLst>
          </p:cNvPr>
          <p:cNvSpPr>
            <a:spLocks noGrp="1"/>
          </p:cNvSpPr>
          <p:nvPr/>
        </p:nvSpPr>
        <p:spPr>
          <a:xfrm>
            <a:off x="7185080" y="2665000"/>
            <a:ext cx="4213792" cy="620000"/>
          </a:xfrm>
          <a:prstGeom prst="rect">
            <a:avLst/>
          </a:prstGeom>
          <a:noFill/>
        </p:spPr>
        <p:txBody>
          <a:bodyPr wrap="square" lIns="36576" tIns="18288" rIns="36576" bIns="18288" anchor="ctr">
            <a:spAutoFit/>
          </a:bodyPr>
          <a:lstStyle/>
          <a:p>
            <a:r>
              <a:rPr sz="2000" b="1" i="0">
                <a:solidFill>
                  <a:srgbClr val="1E2A44"/>
                </a:solidFill>
                <a:latin typeface="Calibri"/>
                <a:ea typeface="Calibri"/>
                <a:cs typeface="Calibri"/>
              </a:rPr>
              <a:t>Research Questions &amp; Objectives</a:t>
            </a:r>
          </a:p>
        </p:txBody>
      </p:sp>
      <p:sp>
        <p:nvSpPr>
          <p:cNvPr id="38" name="Rounded Rectangle Outline BG 5">
            <a:extLst>
              <a:ext uri="{FF2B5EF4-FFF2-40B4-BE49-F238E27FC236}">
                <a16:creationId xmlns:a16="http://schemas.microsoft.com/office/drawing/2014/main" id="{E2C02959-6E32-4CA9-986D-30C932F199BB}"/>
              </a:ext>
            </a:extLst>
          </p:cNvPr>
          <p:cNvSpPr>
            <a:spLocks noGrp="1"/>
          </p:cNvSpPr>
          <p:nvPr/>
        </p:nvSpPr>
        <p:spPr>
          <a:xfrm>
            <a:off x="640080" y="3530000"/>
            <a:ext cx="5193792" cy="860000"/>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39" name="Rounded Rectangle Outline Num 5">
            <a:extLst>
              <a:ext uri="{FF2B5EF4-FFF2-40B4-BE49-F238E27FC236}">
                <a16:creationId xmlns:a16="http://schemas.microsoft.com/office/drawing/2014/main" id="{7BB8D216-4363-4450-9FB2-EA3DB4D5473C}"/>
              </a:ext>
            </a:extLst>
          </p:cNvPr>
          <p:cNvSpPr>
            <a:spLocks noGrp="1"/>
          </p:cNvSpPr>
          <p:nvPr/>
        </p:nvSpPr>
        <p:spPr>
          <a:xfrm>
            <a:off x="840080" y="3720000"/>
            <a:ext cx="480000" cy="480000"/>
          </a:xfrm>
          <a:prstGeom prst="roundRect">
            <a:avLst>
              <a:gd name="adj" fmla="val 28000"/>
            </a:avLst>
          </a:prstGeom>
          <a:solidFill>
            <a:srgbClr val="2F6FCB"/>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2400" b="1">
                <a:solidFill>
                  <a:srgbClr val="FFFFFF"/>
                </a:solidFill>
                <a:latin typeface="Calibri"/>
                <a:ea typeface="Calibri"/>
                <a:cs typeface="Calibri"/>
              </a:rPr>
              <a:t>5</a:t>
            </a:r>
          </a:p>
        </p:txBody>
      </p:sp>
      <p:sp>
        <p:nvSpPr>
          <p:cNvPr id="40" name="TextBox Outline Label 5">
            <a:extLst>
              <a:ext uri="{FF2B5EF4-FFF2-40B4-BE49-F238E27FC236}">
                <a16:creationId xmlns:a16="http://schemas.microsoft.com/office/drawing/2014/main" id="{4D339F3C-117F-4CC8-9DEC-AF1DC52467E4}"/>
              </a:ext>
            </a:extLst>
          </p:cNvPr>
          <p:cNvSpPr>
            <a:spLocks noGrp="1"/>
          </p:cNvSpPr>
          <p:nvPr/>
        </p:nvSpPr>
        <p:spPr>
          <a:xfrm>
            <a:off x="1470080" y="3650000"/>
            <a:ext cx="4213792" cy="620000"/>
          </a:xfrm>
          <a:prstGeom prst="rect">
            <a:avLst/>
          </a:prstGeom>
          <a:noFill/>
        </p:spPr>
        <p:txBody>
          <a:bodyPr wrap="square" lIns="36576" tIns="18288" rIns="36576" bIns="18288" anchor="ctr">
            <a:spAutoFit/>
          </a:bodyPr>
          <a:lstStyle/>
          <a:p>
            <a:r>
              <a:rPr sz="2000" b="1" i="0">
                <a:solidFill>
                  <a:srgbClr val="1E2A44"/>
                </a:solidFill>
                <a:latin typeface="Calibri"/>
                <a:ea typeface="Calibri"/>
                <a:cs typeface="Calibri"/>
              </a:rPr>
              <a:t>Proposed Methodology</a:t>
            </a:r>
          </a:p>
        </p:txBody>
      </p:sp>
      <p:sp>
        <p:nvSpPr>
          <p:cNvPr id="41" name="Rounded Rectangle Outline BG 6">
            <a:extLst>
              <a:ext uri="{FF2B5EF4-FFF2-40B4-BE49-F238E27FC236}">
                <a16:creationId xmlns:a16="http://schemas.microsoft.com/office/drawing/2014/main" id="{E2C02959-6E32-4CA9-986D-30C932F199BB}"/>
              </a:ext>
            </a:extLst>
          </p:cNvPr>
          <p:cNvSpPr>
            <a:spLocks noGrp="1"/>
          </p:cNvSpPr>
          <p:nvPr/>
        </p:nvSpPr>
        <p:spPr>
          <a:xfrm>
            <a:off x="6355080" y="3530000"/>
            <a:ext cx="5193792" cy="860000"/>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42" name="Rounded Rectangle Outline Num 6">
            <a:extLst>
              <a:ext uri="{FF2B5EF4-FFF2-40B4-BE49-F238E27FC236}">
                <a16:creationId xmlns:a16="http://schemas.microsoft.com/office/drawing/2014/main" id="{7BB8D216-4363-4450-9FB2-EA3DB4D5473C}"/>
              </a:ext>
            </a:extLst>
          </p:cNvPr>
          <p:cNvSpPr>
            <a:spLocks noGrp="1"/>
          </p:cNvSpPr>
          <p:nvPr/>
        </p:nvSpPr>
        <p:spPr>
          <a:xfrm>
            <a:off x="6555080" y="3720000"/>
            <a:ext cx="480000" cy="480000"/>
          </a:xfrm>
          <a:prstGeom prst="roundRect">
            <a:avLst>
              <a:gd name="adj" fmla="val 28000"/>
            </a:avLst>
          </a:prstGeom>
          <a:solidFill>
            <a:srgbClr val="2F6FCB"/>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2400" b="1">
                <a:solidFill>
                  <a:srgbClr val="FFFFFF"/>
                </a:solidFill>
                <a:latin typeface="Calibri"/>
                <a:ea typeface="Calibri"/>
                <a:cs typeface="Calibri"/>
              </a:rPr>
              <a:t>6</a:t>
            </a:r>
          </a:p>
        </p:txBody>
      </p:sp>
      <p:sp>
        <p:nvSpPr>
          <p:cNvPr id="43" name="TextBox Outline Label 6">
            <a:extLst>
              <a:ext uri="{FF2B5EF4-FFF2-40B4-BE49-F238E27FC236}">
                <a16:creationId xmlns:a16="http://schemas.microsoft.com/office/drawing/2014/main" id="{4D339F3C-117F-4CC8-9DEC-AF1DC52467E4}"/>
              </a:ext>
            </a:extLst>
          </p:cNvPr>
          <p:cNvSpPr>
            <a:spLocks noGrp="1"/>
          </p:cNvSpPr>
          <p:nvPr/>
        </p:nvSpPr>
        <p:spPr>
          <a:xfrm>
            <a:off x="7185080" y="3650000"/>
            <a:ext cx="4213792" cy="620000"/>
          </a:xfrm>
          <a:prstGeom prst="rect">
            <a:avLst/>
          </a:prstGeom>
          <a:noFill/>
        </p:spPr>
        <p:txBody>
          <a:bodyPr wrap="square" lIns="36576" tIns="18288" rIns="36576" bIns="18288" anchor="ctr">
            <a:spAutoFit/>
          </a:bodyPr>
          <a:lstStyle/>
          <a:p>
            <a:r>
              <a:rPr sz="2000" b="1" i="0">
                <a:solidFill>
                  <a:srgbClr val="1E2A44"/>
                </a:solidFill>
                <a:latin typeface="Calibri"/>
                <a:ea typeface="Calibri"/>
                <a:cs typeface="Calibri"/>
              </a:rPr>
              <a:t>Initial Results</a:t>
            </a:r>
          </a:p>
        </p:txBody>
      </p:sp>
      <p:sp>
        <p:nvSpPr>
          <p:cNvPr id="44" name="Rounded Rectangle Outline BG 7">
            <a:extLst>
              <a:ext uri="{FF2B5EF4-FFF2-40B4-BE49-F238E27FC236}">
                <a16:creationId xmlns:a16="http://schemas.microsoft.com/office/drawing/2014/main" id="{E2C02959-6E32-4CA9-986D-30C932F199BB}"/>
              </a:ext>
            </a:extLst>
          </p:cNvPr>
          <p:cNvSpPr>
            <a:spLocks noGrp="1"/>
          </p:cNvSpPr>
          <p:nvPr/>
        </p:nvSpPr>
        <p:spPr>
          <a:xfrm>
            <a:off x="640080" y="4515000"/>
            <a:ext cx="5193792" cy="860000"/>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45" name="Rounded Rectangle Outline Num 7">
            <a:extLst>
              <a:ext uri="{FF2B5EF4-FFF2-40B4-BE49-F238E27FC236}">
                <a16:creationId xmlns:a16="http://schemas.microsoft.com/office/drawing/2014/main" id="{7BB8D216-4363-4450-9FB2-EA3DB4D5473C}"/>
              </a:ext>
            </a:extLst>
          </p:cNvPr>
          <p:cNvSpPr>
            <a:spLocks noGrp="1"/>
          </p:cNvSpPr>
          <p:nvPr/>
        </p:nvSpPr>
        <p:spPr>
          <a:xfrm>
            <a:off x="840080" y="4705000"/>
            <a:ext cx="480000" cy="480000"/>
          </a:xfrm>
          <a:prstGeom prst="roundRect">
            <a:avLst>
              <a:gd name="adj" fmla="val 28000"/>
            </a:avLst>
          </a:prstGeom>
          <a:solidFill>
            <a:srgbClr val="2F6FCB"/>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2400" b="1">
                <a:solidFill>
                  <a:srgbClr val="FFFFFF"/>
                </a:solidFill>
                <a:latin typeface="Calibri"/>
                <a:ea typeface="Calibri"/>
                <a:cs typeface="Calibri"/>
              </a:rPr>
              <a:t>7</a:t>
            </a:r>
          </a:p>
        </p:txBody>
      </p:sp>
      <p:sp>
        <p:nvSpPr>
          <p:cNvPr id="46" name="TextBox Outline Label 7">
            <a:extLst>
              <a:ext uri="{FF2B5EF4-FFF2-40B4-BE49-F238E27FC236}">
                <a16:creationId xmlns:a16="http://schemas.microsoft.com/office/drawing/2014/main" id="{4D339F3C-117F-4CC8-9DEC-AF1DC52467E4}"/>
              </a:ext>
            </a:extLst>
          </p:cNvPr>
          <p:cNvSpPr>
            <a:spLocks noGrp="1"/>
          </p:cNvSpPr>
          <p:nvPr/>
        </p:nvSpPr>
        <p:spPr>
          <a:xfrm>
            <a:off x="1470080" y="4635000"/>
            <a:ext cx="4213792" cy="620000"/>
          </a:xfrm>
          <a:prstGeom prst="rect">
            <a:avLst/>
          </a:prstGeom>
          <a:noFill/>
        </p:spPr>
        <p:txBody>
          <a:bodyPr wrap="square" lIns="36576" tIns="18288" rIns="36576" bIns="18288" anchor="ctr">
            <a:spAutoFit/>
          </a:bodyPr>
          <a:lstStyle/>
          <a:p>
            <a:r>
              <a:rPr sz="2000" b="1" i="0">
                <a:solidFill>
                  <a:srgbClr val="1E2A44"/>
                </a:solidFill>
                <a:latin typeface="Calibri"/>
                <a:ea typeface="Calibri"/>
                <a:cs typeface="Calibri"/>
              </a:rPr>
              <a:t>Work Plan</a:t>
            </a:r>
          </a:p>
        </p:txBody>
      </p:sp>
      <p:sp>
        <p:nvSpPr>
          <p:cNvPr id="47" name="Rounded Rectangle Outline BG 8">
            <a:extLst>
              <a:ext uri="{FF2B5EF4-FFF2-40B4-BE49-F238E27FC236}">
                <a16:creationId xmlns:a16="http://schemas.microsoft.com/office/drawing/2014/main" id="{E2C02959-6E32-4CA9-986D-30C932F199BB}"/>
              </a:ext>
            </a:extLst>
          </p:cNvPr>
          <p:cNvSpPr>
            <a:spLocks noGrp="1"/>
          </p:cNvSpPr>
          <p:nvPr/>
        </p:nvSpPr>
        <p:spPr>
          <a:xfrm>
            <a:off x="6355080" y="4515000"/>
            <a:ext cx="5193792" cy="860000"/>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48" name="Rounded Rectangle Outline Num 8">
            <a:extLst>
              <a:ext uri="{FF2B5EF4-FFF2-40B4-BE49-F238E27FC236}">
                <a16:creationId xmlns:a16="http://schemas.microsoft.com/office/drawing/2014/main" id="{7BB8D216-4363-4450-9FB2-EA3DB4D5473C}"/>
              </a:ext>
            </a:extLst>
          </p:cNvPr>
          <p:cNvSpPr>
            <a:spLocks noGrp="1"/>
          </p:cNvSpPr>
          <p:nvPr/>
        </p:nvSpPr>
        <p:spPr>
          <a:xfrm>
            <a:off x="6555080" y="4705000"/>
            <a:ext cx="480000" cy="480000"/>
          </a:xfrm>
          <a:prstGeom prst="roundRect">
            <a:avLst>
              <a:gd name="adj" fmla="val 28000"/>
            </a:avLst>
          </a:prstGeom>
          <a:solidFill>
            <a:srgbClr val="2F6FCB"/>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2400" b="1">
                <a:solidFill>
                  <a:srgbClr val="FFFFFF"/>
                </a:solidFill>
                <a:latin typeface="Calibri"/>
                <a:ea typeface="Calibri"/>
                <a:cs typeface="Calibri"/>
              </a:rPr>
              <a:t>8</a:t>
            </a:r>
          </a:p>
        </p:txBody>
      </p:sp>
      <p:sp>
        <p:nvSpPr>
          <p:cNvPr id="49" name="TextBox Outline Label 8">
            <a:extLst>
              <a:ext uri="{FF2B5EF4-FFF2-40B4-BE49-F238E27FC236}">
                <a16:creationId xmlns:a16="http://schemas.microsoft.com/office/drawing/2014/main" id="{4D339F3C-117F-4CC8-9DEC-AF1DC52467E4}"/>
              </a:ext>
            </a:extLst>
          </p:cNvPr>
          <p:cNvSpPr>
            <a:spLocks noGrp="1"/>
          </p:cNvSpPr>
          <p:nvPr/>
        </p:nvSpPr>
        <p:spPr>
          <a:xfrm>
            <a:off x="7185080" y="4635000"/>
            <a:ext cx="4213792" cy="620000"/>
          </a:xfrm>
          <a:prstGeom prst="rect">
            <a:avLst/>
          </a:prstGeom>
          <a:noFill/>
        </p:spPr>
        <p:txBody>
          <a:bodyPr wrap="square" lIns="36576" tIns="18288" rIns="36576" bIns="18288" anchor="ctr">
            <a:spAutoFit/>
          </a:bodyPr>
          <a:lstStyle/>
          <a:p>
            <a:r>
              <a:rPr sz="2000" b="1" i="0">
                <a:solidFill>
                  <a:srgbClr val="1E2A44"/>
                </a:solidFill>
                <a:latin typeface="Calibri"/>
                <a:ea typeface="Calibri"/>
                <a:cs typeface="Calibri"/>
              </a:rPr>
              <a:t>Summary &amp; Q&amp;A</a:t>
            </a:r>
          </a:p>
        </p:txBody>
      </p:sp>
    </p:spTree>
    <p:extLst>
      <p:ext uri="{BB962C8B-B14F-4D97-AF65-F5344CB8AC3E}">
        <p14:creationId xmlns:p14="http://schemas.microsoft.com/office/powerpoint/2010/main" val="14522564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859A2E-20FA-4770-9E1B-C586789A7A98}"/>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26A81DFF-AA2D-44FF-9E4F-329199A84746}"/>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dirty="0">
                <a:solidFill>
                  <a:srgbClr val="2F6FCB"/>
                </a:solidFill>
                <a:latin typeface="Calibri"/>
                <a:ea typeface="Calibri"/>
                <a:cs typeface="Calibri"/>
              </a:rPr>
              <a:t>INTRODUCTION</a:t>
            </a:r>
          </a:p>
        </p:txBody>
      </p:sp>
      <p:sp>
        <p:nvSpPr>
          <p:cNvPr id="4" name="TextBox 3">
            <a:extLst>
              <a:ext uri="{FF2B5EF4-FFF2-40B4-BE49-F238E27FC236}">
                <a16:creationId xmlns:a16="http://schemas.microsoft.com/office/drawing/2014/main" id="{A490E76B-21BA-4A58-8A22-FE4E02499271}"/>
              </a:ext>
            </a:extLst>
          </p:cNvPr>
          <p:cNvSpPr>
            <a:spLocks noGrp="1"/>
          </p:cNvSpPr>
          <p:nvPr/>
        </p:nvSpPr>
        <p:spPr>
          <a:xfrm>
            <a:off x="640080" y="694944"/>
            <a:ext cx="11155680" cy="590931"/>
          </a:xfrm>
          <a:prstGeom prst="rect">
            <a:avLst/>
          </a:prstGeom>
          <a:noFill/>
        </p:spPr>
        <p:txBody>
          <a:bodyPr wrap="square" lIns="36576" tIns="18288" rIns="36576" bIns="18288">
            <a:spAutoFit/>
          </a:bodyPr>
          <a:lstStyle/>
          <a:p>
            <a:r>
              <a:rPr sz="3600" b="1" i="0">
                <a:solidFill>
                  <a:srgbClr val="1E2A44"/>
                </a:solidFill>
                <a:latin typeface="Cambria"/>
                <a:ea typeface="Cambria"/>
                <a:cs typeface="Cambria"/>
              </a:rPr>
              <a:t>What Is Quantum Computing?</a:t>
            </a:r>
          </a:p>
        </p:txBody>
      </p:sp>
      <p:sp>
        <p:nvSpPr>
          <p:cNvPr id="5" name="TextBox 4">
            <a:extLst>
              <a:ext uri="{FF2B5EF4-FFF2-40B4-BE49-F238E27FC236}">
                <a16:creationId xmlns:a16="http://schemas.microsoft.com/office/drawing/2014/main" id="{8DF49E98-2B92-4D48-B7EE-1995ECE63C96}"/>
              </a:ext>
            </a:extLst>
          </p:cNvPr>
          <p:cNvSpPr>
            <a:spLocks noGrp="1"/>
          </p:cNvSpPr>
          <p:nvPr/>
        </p:nvSpPr>
        <p:spPr>
          <a:xfrm>
            <a:off x="640080" y="1737360"/>
            <a:ext cx="6100000" cy="3237809"/>
          </a:xfrm>
          <a:prstGeom prst="rect">
            <a:avLst/>
          </a:prstGeom>
          <a:noFill/>
        </p:spPr>
        <p:txBody>
          <a:bodyPr wrap="square" lIns="36576" tIns="18288" rIns="36576" bIns="18288">
            <a:spAutoFit/>
          </a:bodyPr>
          <a:lstStyle/>
          <a:p>
            <a:pPr>
              <a:buNone/>
            </a:pPr>
            <a:r>
              <a:rPr sz="2000" b="1" dirty="0">
                <a:solidFill>
                  <a:srgbClr val="2F6FCB"/>
                </a:solidFill>
                <a:latin typeface="Calibri"/>
              </a:rPr>
              <a:t>▪  </a:t>
            </a:r>
            <a:r>
              <a:rPr sz="2000" b="0" dirty="0">
                <a:solidFill>
                  <a:srgbClr val="1E2A44"/>
                </a:solidFill>
                <a:latin typeface="Calibri"/>
              </a:rPr>
              <a:t>Bit = 0 or 1; Qubit = superposition of both</a:t>
            </a:r>
          </a:p>
          <a:p>
            <a:pPr>
              <a:spcAft>
                <a:spcPts val="1400"/>
              </a:spcAft>
              <a:buNone/>
            </a:pPr>
            <a:r>
              <a:rPr sz="2000" b="1" dirty="0">
                <a:solidFill>
                  <a:srgbClr val="2F6FCB"/>
                </a:solidFill>
                <a:latin typeface="Calibri"/>
              </a:rPr>
              <a:t>▪  </a:t>
            </a:r>
            <a:r>
              <a:rPr sz="2000" b="0" dirty="0">
                <a:solidFill>
                  <a:srgbClr val="1E2A44"/>
                </a:solidFill>
                <a:latin typeface="Calibri"/>
              </a:rPr>
              <a:t>Entanglement: linked qubit states</a:t>
            </a:r>
          </a:p>
          <a:p>
            <a:pPr>
              <a:spcAft>
                <a:spcPts val="1400"/>
              </a:spcAft>
              <a:buNone/>
            </a:pPr>
            <a:r>
              <a:rPr sz="2000" b="1" dirty="0">
                <a:solidFill>
                  <a:srgbClr val="2F6FCB"/>
                </a:solidFill>
                <a:latin typeface="Calibri"/>
              </a:rPr>
              <a:t>▪  </a:t>
            </a:r>
            <a:r>
              <a:rPr sz="2000" b="0" dirty="0">
                <a:solidFill>
                  <a:srgbClr val="1E2A44"/>
                </a:solidFill>
                <a:latin typeface="Calibri"/>
              </a:rPr>
              <a:t>Quantum program = circuit (gates on qubits, in sequence)</a:t>
            </a:r>
          </a:p>
          <a:p>
            <a:pPr>
              <a:spcAft>
                <a:spcPts val="1400"/>
              </a:spcAft>
              <a:buNone/>
            </a:pPr>
            <a:r>
              <a:rPr sz="2000" b="1" dirty="0">
                <a:solidFill>
                  <a:srgbClr val="2F6FCB"/>
                </a:solidFill>
                <a:latin typeface="Calibri"/>
              </a:rPr>
              <a:t>▪  </a:t>
            </a:r>
            <a:r>
              <a:rPr sz="2000" b="0" dirty="0">
                <a:solidFill>
                  <a:srgbClr val="1E2A44"/>
                </a:solidFill>
                <a:latin typeface="Calibri"/>
              </a:rPr>
              <a:t>Hardware limits: fixed gate set, limited connectivity</a:t>
            </a:r>
          </a:p>
          <a:p>
            <a:pPr>
              <a:spcAft>
                <a:spcPts val="1400"/>
              </a:spcAft>
              <a:buNone/>
            </a:pPr>
            <a:r>
              <a:rPr sz="2000" b="1" dirty="0">
                <a:solidFill>
                  <a:srgbClr val="2F6FCB"/>
                </a:solidFill>
                <a:latin typeface="Calibri"/>
              </a:rPr>
              <a:t>▪  </a:t>
            </a:r>
            <a:r>
              <a:rPr sz="2000" b="0" dirty="0">
                <a:solidFill>
                  <a:srgbClr val="1E2A44"/>
                </a:solidFill>
                <a:latin typeface="Calibri"/>
              </a:rPr>
              <a:t>Compiler needed: fits circuit to device</a:t>
            </a:r>
          </a:p>
        </p:txBody>
      </p:sp>
      <p:sp>
        <p:nvSpPr>
          <p:cNvPr id="6" name="TextBox 5">
            <a:extLst>
              <a:ext uri="{FF2B5EF4-FFF2-40B4-BE49-F238E27FC236}">
                <a16:creationId xmlns:a16="http://schemas.microsoft.com/office/drawing/2014/main" id="{FC529F13-AE71-4614-BBA4-483C80C08D0D}"/>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lang="en-US" sz="1000" dirty="0">
                <a:solidFill>
                  <a:srgbClr val="64748C"/>
                </a:solidFill>
                <a:ea typeface="Calibri"/>
                <a:cs typeface="Calibri"/>
              </a:rPr>
              <a:t>PhD Synopsis  ·  A Leakage-Safe Framework for Observability-Aware Regression Testing of Quantum Compilers</a:t>
            </a:r>
          </a:p>
        </p:txBody>
      </p:sp>
      <p:sp>
        <p:nvSpPr>
          <p:cNvPr id="7" name="TextBox 6">
            <a:extLst>
              <a:ext uri="{FF2B5EF4-FFF2-40B4-BE49-F238E27FC236}">
                <a16:creationId xmlns:a16="http://schemas.microsoft.com/office/drawing/2014/main" id="{85DEE56B-5FD8-4748-BA85-46F49E66C73A}"/>
              </a:ext>
            </a:extLst>
          </p:cNvPr>
          <p:cNvSpPr>
            <a:spLocks noGrp="1"/>
          </p:cNvSpPr>
          <p:nvPr/>
        </p:nvSpPr>
        <p:spPr>
          <a:xfrm>
            <a:off x="11155680" y="6473952"/>
            <a:ext cx="822960" cy="190821"/>
          </a:xfrm>
          <a:prstGeom prst="rect">
            <a:avLst/>
          </a:prstGeom>
          <a:noFill/>
        </p:spPr>
        <p:txBody>
          <a:bodyPr wrap="square" lIns="36576" tIns="18288" rIns="36576" bIns="18288">
            <a:spAutoFit/>
          </a:bodyPr>
          <a:lstStyle/>
          <a:p>
            <a:pPr algn="r">
              <a:buNone/>
            </a:pPr>
            <a:r>
              <a:rPr sz="1000" b="1" i="0">
                <a:solidFill>
                  <a:srgbClr val="64748C"/>
                </a:solidFill>
                <a:latin typeface="Calibri"/>
                <a:ea typeface="Calibri"/>
                <a:cs typeface="Calibri"/>
              </a:rPr>
              <a:t>3</a:t>
            </a:r>
          </a:p>
        </p:txBody>
      </p:sp>
      <p:pic>
        <p:nvPicPr>
          <p:cNvPr id="8" name="Image 0" descr="/mnt/data/cusit_logo.png"/>
          <p:cNvPicPr>
            <a:picLocks noChangeAspect="1"/>
          </p:cNvPicPr>
          <p:nvPr/>
        </p:nvPicPr>
        <p:blipFill>
          <a:blip r:embed="rId3"/>
          <a:stretch>
            <a:fillRect/>
          </a:stretch>
        </p:blipFill>
        <p:spPr>
          <a:xfrm>
            <a:off x="10903999" y="23078"/>
            <a:ext cx="1269586" cy="634793"/>
          </a:xfrm>
          <a:prstGeom prst="rect">
            <a:avLst/>
          </a:prstGeom>
        </p:spPr>
      </p:pic>
      <p:pic>
        <p:nvPicPr>
          <p:cNvPr id="9" name="Picture 8" descr="quantum_photo.jpg"/>
          <p:cNvPicPr>
            <a:picLocks noChangeAspect="1"/>
          </p:cNvPicPr>
          <p:nvPr/>
        </p:nvPicPr>
        <p:blipFill>
          <a:blip r:embed="rId4"/>
          <a:stretch>
            <a:fillRect/>
          </a:stretch>
        </p:blipFill>
        <p:spPr>
          <a:xfrm>
            <a:off x="7051920" y="2350000"/>
            <a:ext cx="4500000" cy="3000000"/>
          </a:xfrm>
          <a:prstGeom prst="rect">
            <a:avLst/>
          </a:prstGeom>
          <a:ln w="15875">
            <a:solidFill>
              <a:srgbClr val="14264F"/>
            </a:solidFill>
          </a:ln>
        </p:spPr>
      </p:pic>
      <p:sp>
        <p:nvSpPr>
          <p:cNvPr id="10" name="TextBox 9"/>
          <p:cNvSpPr txBox="1"/>
          <p:nvPr/>
        </p:nvSpPr>
        <p:spPr>
          <a:xfrm>
            <a:off x="7051920" y="5410000"/>
            <a:ext cx="4500000" cy="220000"/>
          </a:xfrm>
          <a:prstGeom prst="rect">
            <a:avLst/>
          </a:prstGeom>
          <a:noFill/>
        </p:spPr>
        <p:txBody>
          <a:bodyPr wrap="square">
            <a:spAutoFit/>
          </a:bodyPr>
          <a:lstStyle/>
          <a:p>
            <a:pPr algn="ctr"/>
            <a:r>
              <a:rPr sz="900" i="1">
                <a:solidFill>
                  <a:srgbClr val="64748C"/>
                </a:solidFill>
                <a:latin typeface="Calibri"/>
              </a:rPr>
              <a:t>IBM Q System One quantum processor (Engadget, 2019)</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859A2E-20FA-4770-9E1B-C586789A7A98}"/>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26A81DFF-AA2D-44FF-9E4F-329199A84746}"/>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dirty="0" smtClean="0">
                <a:solidFill>
                  <a:srgbClr val="2F6FCB"/>
                </a:solidFill>
                <a:latin typeface="Calibri"/>
                <a:ea typeface="Calibri"/>
                <a:cs typeface="Calibri"/>
              </a:rPr>
              <a:t>INTRODUCTION</a:t>
            </a:r>
            <a:r>
              <a:rPr lang="en-US" sz="1600" b="1" i="0" dirty="0" smtClean="0">
                <a:solidFill>
                  <a:srgbClr val="2F6FCB"/>
                </a:solidFill>
                <a:latin typeface="Calibri"/>
                <a:ea typeface="Calibri"/>
                <a:cs typeface="Calibri"/>
              </a:rPr>
              <a:t> CONTINUE</a:t>
            </a:r>
            <a:endParaRPr sz="1600" b="1" i="0" dirty="0">
              <a:solidFill>
                <a:srgbClr val="2F6FCB"/>
              </a:solidFill>
              <a:latin typeface="Calibri"/>
              <a:ea typeface="Calibri"/>
              <a:cs typeface="Calibri"/>
            </a:endParaRPr>
          </a:p>
        </p:txBody>
      </p:sp>
      <p:sp>
        <p:nvSpPr>
          <p:cNvPr id="4" name="TextBox 3">
            <a:extLst>
              <a:ext uri="{FF2B5EF4-FFF2-40B4-BE49-F238E27FC236}">
                <a16:creationId xmlns:a16="http://schemas.microsoft.com/office/drawing/2014/main" id="{A490E76B-21BA-4A58-8A22-FE4E02499271}"/>
              </a:ext>
            </a:extLst>
          </p:cNvPr>
          <p:cNvSpPr>
            <a:spLocks noGrp="1"/>
          </p:cNvSpPr>
          <p:nvPr/>
        </p:nvSpPr>
        <p:spPr>
          <a:xfrm>
            <a:off x="640080" y="694944"/>
            <a:ext cx="11155680" cy="590931"/>
          </a:xfrm>
          <a:prstGeom prst="rect">
            <a:avLst/>
          </a:prstGeom>
          <a:noFill/>
        </p:spPr>
        <p:txBody>
          <a:bodyPr wrap="square" lIns="36576" tIns="18288" rIns="36576" bIns="18288">
            <a:spAutoFit/>
          </a:bodyPr>
          <a:lstStyle/>
          <a:p>
            <a:r>
              <a:rPr sz="3600" b="1" i="0" dirty="0">
                <a:solidFill>
                  <a:srgbClr val="1E2A44"/>
                </a:solidFill>
                <a:latin typeface="Cambria"/>
                <a:ea typeface="Cambria"/>
                <a:cs typeface="Cambria"/>
              </a:rPr>
              <a:t>What This Research Is </a:t>
            </a:r>
            <a:r>
              <a:rPr sz="3600" b="1" i="0" dirty="0" smtClean="0">
                <a:solidFill>
                  <a:srgbClr val="1E2A44"/>
                </a:solidFill>
                <a:latin typeface="Cambria"/>
                <a:ea typeface="Cambria"/>
                <a:cs typeface="Cambria"/>
              </a:rPr>
              <a:t>About</a:t>
            </a:r>
            <a:r>
              <a:rPr lang="en-US" sz="3600" b="1" i="0" dirty="0" smtClean="0">
                <a:solidFill>
                  <a:srgbClr val="1E2A44"/>
                </a:solidFill>
                <a:latin typeface="Cambria"/>
                <a:ea typeface="Cambria"/>
                <a:cs typeface="Cambria"/>
              </a:rPr>
              <a:t>?</a:t>
            </a:r>
            <a:endParaRPr sz="3600" b="1" i="0" dirty="0">
              <a:solidFill>
                <a:srgbClr val="1E2A44"/>
              </a:solidFill>
              <a:latin typeface="Cambria"/>
              <a:ea typeface="Cambria"/>
              <a:cs typeface="Cambria"/>
            </a:endParaRPr>
          </a:p>
        </p:txBody>
      </p:sp>
      <p:sp>
        <p:nvSpPr>
          <p:cNvPr id="5" name="TextBox 4">
            <a:extLst>
              <a:ext uri="{FF2B5EF4-FFF2-40B4-BE49-F238E27FC236}">
                <a16:creationId xmlns:a16="http://schemas.microsoft.com/office/drawing/2014/main" id="{8DF49E98-2B92-4D48-B7EE-1995ECE63C96}"/>
              </a:ext>
            </a:extLst>
          </p:cNvPr>
          <p:cNvSpPr>
            <a:spLocks noGrp="1"/>
          </p:cNvSpPr>
          <p:nvPr/>
        </p:nvSpPr>
        <p:spPr>
          <a:xfrm>
            <a:off x="640080" y="1737360"/>
            <a:ext cx="11064240" cy="1934889"/>
          </a:xfrm>
          <a:prstGeom prst="rect">
            <a:avLst/>
          </a:prstGeom>
          <a:noFill/>
        </p:spPr>
        <p:txBody>
          <a:bodyPr wrap="square" lIns="36576" tIns="18288" rIns="36576" bIns="18288">
            <a:spAutoFit/>
          </a:bodyPr>
          <a:lstStyle/>
          <a:p>
            <a:r>
              <a:rPr lang="en-US" sz="2000" b="1" dirty="0">
                <a:solidFill>
                  <a:srgbClr val="2F6FCB"/>
                </a:solidFill>
              </a:rPr>
              <a:t>▪  </a:t>
            </a:r>
            <a:r>
              <a:rPr lang="en-US" sz="2000" dirty="0" err="1">
                <a:solidFill>
                  <a:srgbClr val="1E2A44"/>
                </a:solidFill>
              </a:rPr>
              <a:t>Qiskit</a:t>
            </a:r>
            <a:r>
              <a:rPr lang="en-US" sz="2000" dirty="0">
                <a:solidFill>
                  <a:srgbClr val="1E2A44"/>
                </a:solidFill>
              </a:rPr>
              <a:t>: most active, widely-used SDK (</a:t>
            </a:r>
            <a:r>
              <a:rPr lang="en-US" sz="2000" dirty="0" err="1">
                <a:solidFill>
                  <a:srgbClr val="1E2A44"/>
                </a:solidFill>
              </a:rPr>
              <a:t>Javadi-Abhari</a:t>
            </a:r>
            <a:r>
              <a:rPr lang="en-US" sz="2000" dirty="0">
                <a:solidFill>
                  <a:srgbClr val="1E2A44"/>
                </a:solidFill>
              </a:rPr>
              <a:t> et al., 2024</a:t>
            </a:r>
            <a:r>
              <a:rPr lang="en-US" sz="2000" dirty="0" smtClean="0">
                <a:solidFill>
                  <a:srgbClr val="1E2A44"/>
                </a:solidFill>
              </a:rPr>
              <a:t>).</a:t>
            </a:r>
            <a:endParaRPr lang="en-US" sz="2000" b="1" dirty="0" smtClean="0">
              <a:solidFill>
                <a:srgbClr val="2F6FCB"/>
              </a:solidFill>
              <a:latin typeface="Calibri"/>
            </a:endParaRPr>
          </a:p>
          <a:p>
            <a:pPr>
              <a:buNone/>
            </a:pPr>
            <a:r>
              <a:rPr sz="2000" b="1" dirty="0" smtClean="0">
                <a:solidFill>
                  <a:srgbClr val="2F6FCB"/>
                </a:solidFill>
                <a:latin typeface="Calibri"/>
              </a:rPr>
              <a:t>▪  </a:t>
            </a:r>
            <a:r>
              <a:rPr sz="2000" b="0" dirty="0" smtClean="0">
                <a:solidFill>
                  <a:srgbClr val="1E2A44"/>
                </a:solidFill>
                <a:latin typeface="Calibri"/>
              </a:rPr>
              <a:t>Compiler in </a:t>
            </a:r>
            <a:r>
              <a:rPr sz="2000" b="0" dirty="0" err="1" smtClean="0">
                <a:solidFill>
                  <a:srgbClr val="1E2A44"/>
                </a:solidFill>
                <a:latin typeface="Calibri"/>
              </a:rPr>
              <a:t>Qiskit</a:t>
            </a:r>
            <a:r>
              <a:rPr sz="2000" b="0" dirty="0" smtClean="0">
                <a:solidFill>
                  <a:srgbClr val="1E2A44"/>
                </a:solidFill>
                <a:latin typeface="Calibri"/>
              </a:rPr>
              <a:t> = ‘</a:t>
            </a:r>
            <a:r>
              <a:rPr sz="2000" b="0" dirty="0" err="1" smtClean="0">
                <a:solidFill>
                  <a:srgbClr val="1E2A44"/>
                </a:solidFill>
                <a:latin typeface="Calibri"/>
              </a:rPr>
              <a:t>transpiler</a:t>
            </a:r>
            <a:r>
              <a:rPr sz="2000" b="0" dirty="0" smtClean="0">
                <a:solidFill>
                  <a:srgbClr val="1E2A44"/>
                </a:solidFill>
                <a:latin typeface="Calibri"/>
              </a:rPr>
              <a:t>’ (</a:t>
            </a:r>
            <a:r>
              <a:rPr sz="2000" b="0" dirty="0" err="1" smtClean="0">
                <a:solidFill>
                  <a:srgbClr val="1E2A44"/>
                </a:solidFill>
                <a:latin typeface="Calibri"/>
              </a:rPr>
              <a:t>Javadi-Abhari</a:t>
            </a:r>
            <a:r>
              <a:rPr sz="2000" b="0" dirty="0" smtClean="0">
                <a:solidFill>
                  <a:srgbClr val="1E2A44"/>
                </a:solidFill>
                <a:latin typeface="Calibri"/>
              </a:rPr>
              <a:t> et al., 2024).</a:t>
            </a:r>
          </a:p>
          <a:p>
            <a:pPr>
              <a:spcAft>
                <a:spcPts val="1400"/>
              </a:spcAft>
              <a:buNone/>
            </a:pPr>
            <a:r>
              <a:rPr sz="2000" b="1" dirty="0" smtClean="0">
                <a:solidFill>
                  <a:srgbClr val="2F6FCB"/>
                </a:solidFill>
                <a:latin typeface="Calibri"/>
              </a:rPr>
              <a:t>▪  </a:t>
            </a:r>
            <a:r>
              <a:rPr sz="2000" b="0" dirty="0">
                <a:solidFill>
                  <a:srgbClr val="1E2A44"/>
                </a:solidFill>
                <a:latin typeface="Calibri"/>
              </a:rPr>
              <a:t>Frequent changes cause regression risk (</a:t>
            </a:r>
            <a:r>
              <a:rPr sz="2000" b="0" dirty="0" err="1">
                <a:solidFill>
                  <a:srgbClr val="1E2A44"/>
                </a:solidFill>
                <a:latin typeface="Calibri"/>
              </a:rPr>
              <a:t>Paltenghi</a:t>
            </a:r>
            <a:r>
              <a:rPr sz="2000" b="0" dirty="0">
                <a:solidFill>
                  <a:srgbClr val="1E2A44"/>
                </a:solidFill>
                <a:latin typeface="Calibri"/>
              </a:rPr>
              <a:t> &amp; </a:t>
            </a:r>
            <a:r>
              <a:rPr sz="2000" b="0" dirty="0" err="1">
                <a:solidFill>
                  <a:srgbClr val="1E2A44"/>
                </a:solidFill>
                <a:latin typeface="Calibri"/>
              </a:rPr>
              <a:t>Pradel</a:t>
            </a:r>
            <a:r>
              <a:rPr sz="2000" b="0" dirty="0">
                <a:solidFill>
                  <a:srgbClr val="1E2A44"/>
                </a:solidFill>
                <a:latin typeface="Calibri"/>
              </a:rPr>
              <a:t>, 2022).</a:t>
            </a:r>
          </a:p>
          <a:p>
            <a:pPr>
              <a:spcAft>
                <a:spcPts val="1400"/>
              </a:spcAft>
              <a:buNone/>
            </a:pPr>
            <a:r>
              <a:rPr sz="2000" b="1" dirty="0">
                <a:solidFill>
                  <a:srgbClr val="2F6FCB"/>
                </a:solidFill>
                <a:latin typeface="Calibri"/>
              </a:rPr>
              <a:t>▪  </a:t>
            </a:r>
            <a:r>
              <a:rPr sz="2000" b="0" dirty="0">
                <a:solidFill>
                  <a:srgbClr val="1E2A44"/>
                </a:solidFill>
                <a:latin typeface="Calibri"/>
              </a:rPr>
              <a:t>Regression = wrong result, worse circuit, or slower compile</a:t>
            </a:r>
          </a:p>
          <a:p>
            <a:pPr>
              <a:spcAft>
                <a:spcPts val="1400"/>
              </a:spcAft>
              <a:buNone/>
            </a:pPr>
            <a:r>
              <a:rPr sz="2000" b="1" dirty="0">
                <a:solidFill>
                  <a:srgbClr val="2F6FCB"/>
                </a:solidFill>
                <a:latin typeface="Calibri"/>
              </a:rPr>
              <a:t>▪  </a:t>
            </a:r>
            <a:r>
              <a:rPr sz="2000" b="0" dirty="0">
                <a:solidFill>
                  <a:srgbClr val="1E2A44"/>
                </a:solidFill>
                <a:latin typeface="Calibri"/>
              </a:rPr>
              <a:t>Need: </a:t>
            </a:r>
            <a:r>
              <a:rPr sz="2000" b="0" dirty="0" smtClean="0">
                <a:solidFill>
                  <a:srgbClr val="1E2A44"/>
                </a:solidFill>
                <a:latin typeface="Calibri"/>
              </a:rPr>
              <a:t>affordable</a:t>
            </a:r>
            <a:r>
              <a:rPr sz="2000" b="0" dirty="0">
                <a:solidFill>
                  <a:srgbClr val="1E2A44"/>
                </a:solidFill>
                <a:latin typeface="Calibri"/>
              </a:rPr>
              <a:t>, early-catching tests</a:t>
            </a:r>
            <a:r>
              <a:rPr sz="2000" b="0" dirty="0" smtClean="0">
                <a:solidFill>
                  <a:srgbClr val="1E2A44"/>
                </a:solidFill>
                <a:latin typeface="Calibri"/>
              </a:rPr>
              <a:t>.</a:t>
            </a:r>
            <a:endParaRPr sz="2000" b="0" dirty="0">
              <a:solidFill>
                <a:srgbClr val="1E2A44"/>
              </a:solidFill>
              <a:latin typeface="Calibri"/>
            </a:endParaRPr>
          </a:p>
        </p:txBody>
      </p:sp>
      <p:sp>
        <p:nvSpPr>
          <p:cNvPr id="6" name="TextBox 5">
            <a:extLst>
              <a:ext uri="{FF2B5EF4-FFF2-40B4-BE49-F238E27FC236}">
                <a16:creationId xmlns:a16="http://schemas.microsoft.com/office/drawing/2014/main" id="{FC529F13-AE71-4614-BBA4-483C80C08D0D}"/>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lang="en-US" sz="1000" dirty="0">
                <a:solidFill>
                  <a:srgbClr val="64748C"/>
                </a:solidFill>
                <a:ea typeface="Calibri"/>
                <a:cs typeface="Calibri"/>
              </a:rPr>
              <a:t>PhD Synopsis  ·  A Leakage-Safe Framework for Observability-Aware Regression Testing of Quantum Compilers</a:t>
            </a:r>
          </a:p>
        </p:txBody>
      </p:sp>
      <p:sp>
        <p:nvSpPr>
          <p:cNvPr id="7" name="TextBox 6">
            <a:extLst>
              <a:ext uri="{FF2B5EF4-FFF2-40B4-BE49-F238E27FC236}">
                <a16:creationId xmlns:a16="http://schemas.microsoft.com/office/drawing/2014/main" id="{85DEE56B-5FD8-4748-BA85-46F49E66C73A}"/>
              </a:ext>
            </a:extLst>
          </p:cNvPr>
          <p:cNvSpPr>
            <a:spLocks noGrp="1"/>
          </p:cNvSpPr>
          <p:nvPr/>
        </p:nvSpPr>
        <p:spPr>
          <a:xfrm>
            <a:off x="11155680" y="6473952"/>
            <a:ext cx="822960" cy="190821"/>
          </a:xfrm>
          <a:prstGeom prst="rect">
            <a:avLst/>
          </a:prstGeom>
          <a:noFill/>
        </p:spPr>
        <p:txBody>
          <a:bodyPr wrap="square" lIns="36576" tIns="18288" rIns="36576" bIns="18288">
            <a:spAutoFit/>
          </a:bodyPr>
          <a:lstStyle/>
          <a:p>
            <a:pPr algn="r">
              <a:buNone/>
            </a:pPr>
            <a:r>
              <a:rPr sz="1000" b="1" i="0">
                <a:solidFill>
                  <a:srgbClr val="64748C"/>
                </a:solidFill>
                <a:latin typeface="Calibri"/>
                <a:ea typeface="Calibri"/>
                <a:cs typeface="Calibri"/>
              </a:rPr>
              <a:t>4</a:t>
            </a:r>
          </a:p>
        </p:txBody>
      </p:sp>
      <p:pic>
        <p:nvPicPr>
          <p:cNvPr id="8" name="Image 0" descr="/mnt/data/cusit_logo.png"/>
          <p:cNvPicPr>
            <a:picLocks noChangeAspect="1"/>
          </p:cNvPicPr>
          <p:nvPr/>
        </p:nvPicPr>
        <p:blipFill>
          <a:blip r:embed="rId3"/>
          <a:stretch>
            <a:fillRect/>
          </a:stretch>
        </p:blipFill>
        <p:spPr>
          <a:xfrm>
            <a:off x="10903999" y="23078"/>
            <a:ext cx="1269586" cy="634793"/>
          </a:xfrm>
          <a:prstGeom prst="rect">
            <a:avLst/>
          </a:prstGeom>
        </p:spPr>
      </p:pic>
      <p:pic>
        <p:nvPicPr>
          <p:cNvPr id="9" name="Picture 8" descr="pre_transpiled.png"/>
          <p:cNvPicPr>
            <a:picLocks noChangeAspect="1"/>
          </p:cNvPicPr>
          <p:nvPr/>
        </p:nvPicPr>
        <p:blipFill>
          <a:blip r:embed="rId4"/>
          <a:stretch>
            <a:fillRect/>
          </a:stretch>
        </p:blipFill>
        <p:spPr>
          <a:xfrm>
            <a:off x="4435338" y="4620925"/>
            <a:ext cx="1814188" cy="1450000"/>
          </a:xfrm>
          <a:prstGeom prst="rect">
            <a:avLst/>
          </a:prstGeom>
          <a:ln w="12700">
            <a:solidFill>
              <a:srgbClr val="14264F"/>
            </a:solidFill>
          </a:ln>
        </p:spPr>
      </p:pic>
      <p:sp>
        <p:nvSpPr>
          <p:cNvPr id="10" name="Right Arrow 9"/>
          <p:cNvSpPr/>
          <p:nvPr/>
        </p:nvSpPr>
        <p:spPr>
          <a:xfrm>
            <a:off x="6396985" y="5182000"/>
            <a:ext cx="500000" cy="400000"/>
          </a:xfrm>
          <a:prstGeom prst="rightArrow">
            <a:avLst/>
          </a:prstGeom>
          <a:solidFill>
            <a:srgbClr val="2F6F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transpiled.png"/>
          <p:cNvPicPr>
            <a:picLocks noChangeAspect="1"/>
          </p:cNvPicPr>
          <p:nvPr/>
        </p:nvPicPr>
        <p:blipFill>
          <a:blip r:embed="rId5"/>
          <a:stretch>
            <a:fillRect/>
          </a:stretch>
        </p:blipFill>
        <p:spPr>
          <a:xfrm>
            <a:off x="7115760" y="4620925"/>
            <a:ext cx="4556666" cy="1450000"/>
          </a:xfrm>
          <a:prstGeom prst="rect">
            <a:avLst/>
          </a:prstGeom>
          <a:ln w="12700">
            <a:solidFill>
              <a:srgbClr val="14264F"/>
            </a:solidFill>
          </a:ln>
        </p:spPr>
      </p:pic>
      <p:sp>
        <p:nvSpPr>
          <p:cNvPr id="12" name="TextBox 11"/>
          <p:cNvSpPr txBox="1"/>
          <p:nvPr/>
        </p:nvSpPr>
        <p:spPr>
          <a:xfrm>
            <a:off x="4600347" y="4276088"/>
            <a:ext cx="1484169" cy="261610"/>
          </a:xfrm>
          <a:prstGeom prst="rect">
            <a:avLst/>
          </a:prstGeom>
          <a:noFill/>
        </p:spPr>
        <p:txBody>
          <a:bodyPr wrap="square">
            <a:spAutoFit/>
          </a:bodyPr>
          <a:lstStyle/>
          <a:p>
            <a:pPr algn="ctr"/>
            <a:r>
              <a:rPr lang="en-US" sz="1100" b="1" dirty="0" smtClean="0">
                <a:solidFill>
                  <a:srgbClr val="1E2A44"/>
                </a:solidFill>
                <a:latin typeface="Calibri"/>
              </a:rPr>
              <a:t>Logical </a:t>
            </a:r>
            <a:r>
              <a:rPr sz="1100" b="1" dirty="0" smtClean="0">
                <a:solidFill>
                  <a:srgbClr val="1E2A44"/>
                </a:solidFill>
                <a:latin typeface="Calibri"/>
              </a:rPr>
              <a:t>Input </a:t>
            </a:r>
            <a:r>
              <a:rPr sz="1100" b="1" dirty="0">
                <a:solidFill>
                  <a:srgbClr val="1E2A44"/>
                </a:solidFill>
                <a:latin typeface="Calibri"/>
              </a:rPr>
              <a:t>circuit</a:t>
            </a:r>
          </a:p>
        </p:txBody>
      </p:sp>
      <p:sp>
        <p:nvSpPr>
          <p:cNvPr id="13" name="TextBox 12"/>
          <p:cNvSpPr txBox="1"/>
          <p:nvPr/>
        </p:nvSpPr>
        <p:spPr>
          <a:xfrm>
            <a:off x="7115761" y="4317429"/>
            <a:ext cx="4556666" cy="261610"/>
          </a:xfrm>
          <a:prstGeom prst="rect">
            <a:avLst/>
          </a:prstGeom>
          <a:noFill/>
        </p:spPr>
        <p:txBody>
          <a:bodyPr wrap="square">
            <a:spAutoFit/>
          </a:bodyPr>
          <a:lstStyle/>
          <a:p>
            <a:pPr algn="ctr"/>
            <a:r>
              <a:rPr sz="1100" b="1" dirty="0">
                <a:solidFill>
                  <a:srgbClr val="1E2A44"/>
                </a:solidFill>
                <a:latin typeface="Calibri"/>
              </a:rPr>
              <a:t>After </a:t>
            </a:r>
            <a:r>
              <a:rPr sz="1100" b="1" dirty="0" err="1">
                <a:solidFill>
                  <a:srgbClr val="1E2A44"/>
                </a:solidFill>
                <a:latin typeface="Calibri"/>
              </a:rPr>
              <a:t>transpilation</a:t>
            </a:r>
            <a:r>
              <a:rPr sz="1100" b="1" dirty="0">
                <a:solidFill>
                  <a:srgbClr val="1E2A44"/>
                </a:solidFill>
                <a:latin typeface="Calibri"/>
              </a:rPr>
              <a:t> (hardware-native gates)</a:t>
            </a:r>
          </a:p>
        </p:txBody>
      </p:sp>
      <p:sp>
        <p:nvSpPr>
          <p:cNvPr id="14" name="TextBox 13"/>
          <p:cNvSpPr txBox="1"/>
          <p:nvPr/>
        </p:nvSpPr>
        <p:spPr>
          <a:xfrm>
            <a:off x="2786816" y="6148857"/>
            <a:ext cx="5490607" cy="261610"/>
          </a:xfrm>
          <a:prstGeom prst="rect">
            <a:avLst/>
          </a:prstGeom>
          <a:noFill/>
        </p:spPr>
        <p:txBody>
          <a:bodyPr wrap="none">
            <a:spAutoFit/>
          </a:bodyPr>
          <a:lstStyle/>
          <a:p>
            <a:pPr algn="ctr"/>
            <a:r>
              <a:rPr sz="1100" i="1" dirty="0">
                <a:solidFill>
                  <a:srgbClr val="64748C"/>
                </a:solidFill>
                <a:latin typeface="Calibri"/>
              </a:rPr>
              <a:t>Example </a:t>
            </a:r>
            <a:r>
              <a:rPr sz="1100" i="1" dirty="0" err="1">
                <a:solidFill>
                  <a:srgbClr val="64748C"/>
                </a:solidFill>
                <a:latin typeface="Calibri"/>
              </a:rPr>
              <a:t>transpilation</a:t>
            </a:r>
            <a:r>
              <a:rPr sz="1100" i="1" dirty="0">
                <a:solidFill>
                  <a:srgbClr val="64748C"/>
                </a:solidFill>
                <a:latin typeface="Calibri"/>
              </a:rPr>
              <a:t> of a 2-qubit circuit (IBM Quantum Documentation, 2026, CC BY-SA 4.0)</a:t>
            </a:r>
          </a:p>
        </p:txBody>
      </p:sp>
      <p:pic>
        <p:nvPicPr>
          <p:cNvPr id="15" name="Picture 14"/>
          <p:cNvPicPr>
            <a:picLocks noChangeAspect="1"/>
          </p:cNvPicPr>
          <p:nvPr/>
        </p:nvPicPr>
        <p:blipFill>
          <a:blip r:embed="rId6"/>
          <a:stretch>
            <a:fillRect/>
          </a:stretch>
        </p:blipFill>
        <p:spPr>
          <a:xfrm>
            <a:off x="255582" y="4537698"/>
            <a:ext cx="3313522" cy="1561983"/>
          </a:xfrm>
          <a:prstGeom prst="rect">
            <a:avLst/>
          </a:prstGeom>
        </p:spPr>
      </p:pic>
      <p:sp>
        <p:nvSpPr>
          <p:cNvPr id="16" name="TextBox 15"/>
          <p:cNvSpPr txBox="1"/>
          <p:nvPr/>
        </p:nvSpPr>
        <p:spPr>
          <a:xfrm>
            <a:off x="725948" y="4317698"/>
            <a:ext cx="2039341" cy="261610"/>
          </a:xfrm>
          <a:prstGeom prst="rect">
            <a:avLst/>
          </a:prstGeom>
          <a:noFill/>
        </p:spPr>
        <p:txBody>
          <a:bodyPr wrap="none">
            <a:spAutoFit/>
          </a:bodyPr>
          <a:lstStyle/>
          <a:p>
            <a:pPr algn="ctr"/>
            <a:r>
              <a:rPr lang="en-US" sz="1100" b="1" dirty="0" err="1" smtClean="0"/>
              <a:t>Qiskit</a:t>
            </a:r>
            <a:r>
              <a:rPr lang="en-US" sz="1100" b="1" dirty="0" smtClean="0"/>
              <a:t> </a:t>
            </a:r>
            <a:r>
              <a:rPr lang="en-US" sz="1100" b="1" dirty="0"/>
              <a:t>Code for the Input Circuit</a:t>
            </a:r>
            <a:endParaRPr sz="1100" b="1" dirty="0">
              <a:solidFill>
                <a:srgbClr val="1E2A44"/>
              </a:solidFill>
            </a:endParaRPr>
          </a:p>
        </p:txBody>
      </p:sp>
      <p:sp>
        <p:nvSpPr>
          <p:cNvPr id="17" name="Right Arrow 16"/>
          <p:cNvSpPr/>
          <p:nvPr/>
        </p:nvSpPr>
        <p:spPr>
          <a:xfrm>
            <a:off x="3791713" y="5118689"/>
            <a:ext cx="500000" cy="400000"/>
          </a:xfrm>
          <a:prstGeom prst="rightArrow">
            <a:avLst/>
          </a:prstGeom>
          <a:solidFill>
            <a:srgbClr val="2F6F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37550" y="4011052"/>
            <a:ext cx="1484169" cy="261610"/>
          </a:xfrm>
          <a:prstGeom prst="rect">
            <a:avLst/>
          </a:prstGeom>
          <a:noFill/>
        </p:spPr>
        <p:txBody>
          <a:bodyPr wrap="square">
            <a:spAutoFit/>
          </a:bodyPr>
          <a:lstStyle/>
          <a:p>
            <a:pPr algn="ctr"/>
            <a:r>
              <a:rPr lang="en-US" sz="1100" b="1" dirty="0" err="1"/>
              <a:t>transpile</a:t>
            </a:r>
            <a:r>
              <a:rPr lang="en-US" sz="1100" b="1" dirty="0"/>
              <a:t>(qc, backend)</a:t>
            </a:r>
            <a:endParaRPr sz="1100" b="1" dirty="0">
              <a:solidFill>
                <a:srgbClr val="1E2A44"/>
              </a:solidFill>
              <a:latin typeface="Calibri"/>
            </a:endParaRPr>
          </a:p>
        </p:txBody>
      </p:sp>
      <p:cxnSp>
        <p:nvCxnSpPr>
          <p:cNvPr id="22" name="Straight Arrow Connector 21"/>
          <p:cNvCxnSpPr>
            <a:stCxn id="18" idx="2"/>
            <a:endCxn id="10" idx="0"/>
          </p:cNvCxnSpPr>
          <p:nvPr/>
        </p:nvCxnSpPr>
        <p:spPr>
          <a:xfrm>
            <a:off x="6679635" y="4272662"/>
            <a:ext cx="17350" cy="9093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374253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A94160-0F84-484F-848E-108A27625A86}"/>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280923F9-709F-4BBF-9A22-9AD20211EF3E}"/>
              </a:ext>
            </a:extLst>
          </p:cNvPr>
          <p:cNvSpPr>
            <a:spLocks noGrp="1"/>
          </p:cNvSpPr>
          <p:nvPr/>
        </p:nvSpPr>
        <p:spPr>
          <a:xfrm>
            <a:off x="640080" y="384048"/>
            <a:ext cx="10972800" cy="301621"/>
          </a:xfrm>
          <a:prstGeom prst="rect">
            <a:avLst/>
          </a:prstGeom>
          <a:noFill/>
        </p:spPr>
        <p:txBody>
          <a:bodyPr wrap="square" lIns="27432" tIns="27432" rIns="27432" bIns="27432">
            <a:spAutoFit/>
          </a:bodyPr>
          <a:lstStyle/>
          <a:p>
            <a:r>
              <a:rPr sz="1600" b="1" i="0">
                <a:solidFill>
                  <a:srgbClr val="2F6FCB"/>
                </a:solidFill>
                <a:latin typeface="Calibri"/>
                <a:ea typeface="Calibri"/>
                <a:cs typeface="Calibri"/>
              </a:rPr>
              <a:t>INTRODUCTION CONTINUE</a:t>
            </a:r>
          </a:p>
        </p:txBody>
      </p:sp>
      <p:sp>
        <p:nvSpPr>
          <p:cNvPr id="4" name="TextBox 3">
            <a:extLst>
              <a:ext uri="{FF2B5EF4-FFF2-40B4-BE49-F238E27FC236}">
                <a16:creationId xmlns:a16="http://schemas.microsoft.com/office/drawing/2014/main" id="{A4B67305-D667-44B1-8350-2414188D8187}"/>
              </a:ext>
            </a:extLst>
          </p:cNvPr>
          <p:cNvSpPr>
            <a:spLocks noGrp="1"/>
          </p:cNvSpPr>
          <p:nvPr/>
        </p:nvSpPr>
        <p:spPr>
          <a:xfrm>
            <a:off x="640080" y="694944"/>
            <a:ext cx="11155680" cy="455509"/>
          </a:xfrm>
          <a:prstGeom prst="rect">
            <a:avLst/>
          </a:prstGeom>
          <a:noFill/>
        </p:spPr>
        <p:txBody>
          <a:bodyPr wrap="square" lIns="27432" tIns="27432" rIns="27432" bIns="27432">
            <a:spAutoFit/>
          </a:bodyPr>
          <a:lstStyle/>
          <a:p>
            <a:r>
              <a:rPr sz="2600" b="1" i="0" dirty="0">
                <a:solidFill>
                  <a:srgbClr val="1E2A44"/>
                </a:solidFill>
                <a:latin typeface="Cambria"/>
                <a:ea typeface="Cambria"/>
                <a:cs typeface="Cambria"/>
              </a:rPr>
              <a:t>Traditional Compiler vs. Quantum Compiler</a:t>
            </a:r>
          </a:p>
        </p:txBody>
      </p:sp>
      <p:sp>
        <p:nvSpPr>
          <p:cNvPr id="5" name="TextBox 4">
            <a:extLst>
              <a:ext uri="{FF2B5EF4-FFF2-40B4-BE49-F238E27FC236}">
                <a16:creationId xmlns:a16="http://schemas.microsoft.com/office/drawing/2014/main" id="{8C212C32-3FF6-4071-B0D9-0BDC2044A37A}"/>
              </a:ext>
            </a:extLst>
          </p:cNvPr>
          <p:cNvSpPr>
            <a:spLocks noGrp="1"/>
          </p:cNvSpPr>
          <p:nvPr/>
        </p:nvSpPr>
        <p:spPr>
          <a:xfrm>
            <a:off x="640080" y="1280856"/>
            <a:ext cx="11064240" cy="301621"/>
          </a:xfrm>
          <a:prstGeom prst="rect">
            <a:avLst/>
          </a:prstGeom>
          <a:noFill/>
        </p:spPr>
        <p:txBody>
          <a:bodyPr wrap="square" lIns="27432" tIns="27432" rIns="27432" bIns="27432">
            <a:spAutoFit/>
          </a:bodyPr>
          <a:lstStyle/>
          <a:p>
            <a:r>
              <a:rPr sz="1600" b="0" i="1" dirty="0">
                <a:solidFill>
                  <a:srgbClr val="1E2A44"/>
                </a:solidFill>
                <a:latin typeface="Calibri"/>
                <a:ea typeface="Calibri"/>
                <a:cs typeface="Calibri"/>
              </a:rPr>
              <a:t>Compiling means rewriting a program description. It never means running the program, quantum or classical.</a:t>
            </a:r>
          </a:p>
        </p:txBody>
      </p:sp>
      <p:sp>
        <p:nvSpPr>
          <p:cNvPr id="7" name="TextBox 6">
            <a:extLst>
              <a:ext uri="{FF2B5EF4-FFF2-40B4-BE49-F238E27FC236}">
                <a16:creationId xmlns:a16="http://schemas.microsoft.com/office/drawing/2014/main" id="{CF832E91-A189-49C5-B3EC-5A6DAF72DE01}"/>
              </a:ext>
            </a:extLst>
          </p:cNvPr>
          <p:cNvSpPr>
            <a:spLocks noGrp="1"/>
          </p:cNvSpPr>
          <p:nvPr/>
        </p:nvSpPr>
        <p:spPr>
          <a:xfrm>
            <a:off x="603504" y="5644896"/>
            <a:ext cx="10424160" cy="547842"/>
          </a:xfrm>
          <a:prstGeom prst="rect">
            <a:avLst/>
          </a:prstGeom>
          <a:noFill/>
        </p:spPr>
        <p:txBody>
          <a:bodyPr wrap="square" lIns="27432" tIns="27432" rIns="27432" bIns="27432">
            <a:spAutoFit/>
          </a:bodyPr>
          <a:lstStyle/>
          <a:p>
            <a:r>
              <a:rPr sz="1600" i="1" dirty="0">
                <a:solidFill>
                  <a:srgbClr val="64748C"/>
                </a:solidFill>
                <a:latin typeface="Calibri"/>
                <a:ea typeface="Calibri"/>
                <a:cs typeface="Calibri"/>
              </a:rPr>
              <a:t>A compiler only rewrites a symbolic description of a program. It never has to run it. That is why the </a:t>
            </a:r>
            <a:r>
              <a:rPr sz="1600" i="1" dirty="0" err="1">
                <a:solidFill>
                  <a:srgbClr val="64748C"/>
                </a:solidFill>
                <a:latin typeface="Calibri"/>
                <a:ea typeface="Calibri"/>
                <a:cs typeface="Calibri"/>
              </a:rPr>
              <a:t>transpiler</a:t>
            </a:r>
            <a:r>
              <a:rPr sz="1600" i="1" dirty="0">
                <a:solidFill>
                  <a:srgbClr val="64748C"/>
                </a:solidFill>
                <a:latin typeface="Calibri"/>
                <a:ea typeface="Calibri"/>
                <a:cs typeface="Calibri"/>
              </a:rPr>
              <a:t>, like any compiler, runs entirely on an ordinary </a:t>
            </a:r>
            <a:r>
              <a:rPr lang="en-US" sz="1600" i="1" dirty="0" smtClean="0">
                <a:solidFill>
                  <a:srgbClr val="64748C"/>
                </a:solidFill>
                <a:latin typeface="Calibri"/>
                <a:ea typeface="Calibri"/>
                <a:cs typeface="Calibri"/>
              </a:rPr>
              <a:t>computing device</a:t>
            </a:r>
            <a:r>
              <a:rPr sz="1600" i="1" dirty="0" smtClean="0">
                <a:solidFill>
                  <a:srgbClr val="64748C"/>
                </a:solidFill>
                <a:latin typeface="Calibri"/>
                <a:ea typeface="Calibri"/>
                <a:cs typeface="Calibri"/>
              </a:rPr>
              <a:t>.</a:t>
            </a:r>
            <a:endParaRPr sz="1600" i="1" dirty="0">
              <a:solidFill>
                <a:srgbClr val="64748C"/>
              </a:solidFill>
              <a:latin typeface="Calibri"/>
              <a:ea typeface="Calibri"/>
              <a:cs typeface="Calibri"/>
            </a:endParaRPr>
          </a:p>
        </p:txBody>
      </p:sp>
      <p:sp>
        <p:nvSpPr>
          <p:cNvPr id="8" name="TextBox 7">
            <a:extLst>
              <a:ext uri="{FF2B5EF4-FFF2-40B4-BE49-F238E27FC236}">
                <a16:creationId xmlns:a16="http://schemas.microsoft.com/office/drawing/2014/main" id="{99530AA0-2DBC-43C9-99A1-4BCA46C2CC9F}"/>
              </a:ext>
            </a:extLst>
          </p:cNvPr>
          <p:cNvSpPr>
            <a:spLocks noGrp="1"/>
          </p:cNvSpPr>
          <p:nvPr/>
        </p:nvSpPr>
        <p:spPr>
          <a:xfrm>
            <a:off x="11155680" y="6473952"/>
            <a:ext cx="822960" cy="274320"/>
          </a:xfrm>
          <a:prstGeom prst="rect">
            <a:avLst/>
          </a:prstGeom>
          <a:noFill/>
        </p:spPr>
        <p:txBody>
          <a:bodyPr wrap="square" lIns="27432" tIns="27432" rIns="27432" bIns="27432">
            <a:spAutoFit/>
          </a:bodyPr>
          <a:lstStyle/>
          <a:p>
            <a:pPr algn="r">
              <a:buNone/>
            </a:pPr>
            <a:r>
              <a:rPr sz="850" b="1" i="0">
                <a:solidFill>
                  <a:srgbClr val="64748C"/>
                </a:solidFill>
                <a:latin typeface="Calibri"/>
                <a:ea typeface="Calibri"/>
                <a:cs typeface="Calibri"/>
              </a:rPr>
              <a:t>5</a:t>
            </a:r>
          </a:p>
        </p:txBody>
      </p:sp>
      <p:sp>
        <p:nvSpPr>
          <p:cNvPr id="9" name="TextBox 8">
            <a:extLst>
              <a:ext uri="{FF2B5EF4-FFF2-40B4-BE49-F238E27FC236}">
                <a16:creationId xmlns:a16="http://schemas.microsoft.com/office/drawing/2014/main" id="{770B5568-7A6A-4E9A-828A-8CF5B57465C3}"/>
              </a:ext>
            </a:extLst>
          </p:cNvPr>
          <p:cNvSpPr>
            <a:spLocks noGrp="1"/>
          </p:cNvSpPr>
          <p:nvPr/>
        </p:nvSpPr>
        <p:spPr>
          <a:xfrm>
            <a:off x="640080" y="6473952"/>
            <a:ext cx="9692640" cy="209288"/>
          </a:xfrm>
          <a:prstGeom prst="rect">
            <a:avLst/>
          </a:prstGeom>
          <a:noFill/>
        </p:spPr>
        <p:txBody>
          <a:bodyPr wrap="square" lIns="27432" tIns="27432" rIns="27432" bIns="27432">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pic>
        <p:nvPicPr>
          <p:cNvPr id="10" name="Image 0" descr="/mnt/data/cusit_logo.png"/>
          <p:cNvPicPr>
            <a:picLocks noChangeAspect="1"/>
          </p:cNvPicPr>
          <p:nvPr/>
        </p:nvPicPr>
        <p:blipFill>
          <a:blip r:embed="rId3"/>
          <a:stretch>
            <a:fillRect/>
          </a:stretch>
        </p:blipFill>
        <p:spPr>
          <a:xfrm>
            <a:off x="10903999" y="23078"/>
            <a:ext cx="1269586" cy="634793"/>
          </a:xfrm>
          <a:prstGeom prst="rect">
            <a:avLst/>
          </a:prstGeom>
        </p:spPr>
      </p:pic>
      <p:graphicFrame>
        <p:nvGraphicFramePr>
          <p:cNvPr id="11" name="Table 10"/>
          <p:cNvGraphicFramePr>
            <a:graphicFrameLocks noGrp="1"/>
          </p:cNvGraphicFramePr>
          <p:nvPr>
            <p:extLst>
              <p:ext uri="{D42A27DB-BD31-4B8C-83A1-F6EECF244321}">
                <p14:modId xmlns:p14="http://schemas.microsoft.com/office/powerpoint/2010/main" val="963150774"/>
              </p:ext>
            </p:extLst>
          </p:nvPr>
        </p:nvGraphicFramePr>
        <p:xfrm>
          <a:off x="603504" y="1582477"/>
          <a:ext cx="10424160" cy="3849185"/>
        </p:xfrm>
        <a:graphic>
          <a:graphicData uri="http://schemas.openxmlformats.org/drawingml/2006/table">
            <a:tbl>
              <a:tblPr firstRow="1" bandRow="1">
                <a:tableStyleId>{5C22544A-7EE6-4342-B048-85BDC9FD1C3A}</a:tableStyleId>
              </a:tblPr>
              <a:tblGrid>
                <a:gridCol w="1723007">
                  <a:extLst>
                    <a:ext uri="{9D8B030D-6E8A-4147-A177-3AD203B41FA5}">
                      <a16:colId xmlns:a16="http://schemas.microsoft.com/office/drawing/2014/main" val="20000"/>
                    </a:ext>
                  </a:extLst>
                </a:gridCol>
                <a:gridCol w="4282633">
                  <a:extLst>
                    <a:ext uri="{9D8B030D-6E8A-4147-A177-3AD203B41FA5}">
                      <a16:colId xmlns:a16="http://schemas.microsoft.com/office/drawing/2014/main" val="20001"/>
                    </a:ext>
                  </a:extLst>
                </a:gridCol>
                <a:gridCol w="4418520">
                  <a:extLst>
                    <a:ext uri="{9D8B030D-6E8A-4147-A177-3AD203B41FA5}">
                      <a16:colId xmlns:a16="http://schemas.microsoft.com/office/drawing/2014/main" val="20002"/>
                    </a:ext>
                  </a:extLst>
                </a:gridCol>
              </a:tblGrid>
              <a:tr h="513805">
                <a:tc>
                  <a:txBody>
                    <a:bodyPr/>
                    <a:lstStyle/>
                    <a:p>
                      <a:r>
                        <a:rPr sz="2000" b="1" dirty="0">
                          <a:solidFill>
                            <a:srgbClr val="FFFFFF"/>
                          </a:solidFill>
                          <a:latin typeface="Calibri"/>
                        </a:rPr>
                        <a:t>Aspect</a:t>
                      </a:r>
                    </a:p>
                  </a:txBody>
                  <a:tcPr anchor="ctr">
                    <a:solidFill>
                      <a:srgbClr val="14264F"/>
                    </a:solidFill>
                  </a:tcPr>
                </a:tc>
                <a:tc>
                  <a:txBody>
                    <a:bodyPr/>
                    <a:lstStyle/>
                    <a:p>
                      <a:r>
                        <a:rPr sz="2000" b="1">
                          <a:solidFill>
                            <a:srgbClr val="FFFFFF"/>
                          </a:solidFill>
                          <a:latin typeface="Calibri"/>
                        </a:rPr>
                        <a:t>Traditional compiler</a:t>
                      </a:r>
                    </a:p>
                  </a:txBody>
                  <a:tcPr anchor="ctr">
                    <a:solidFill>
                      <a:srgbClr val="14264F"/>
                    </a:solidFill>
                  </a:tcPr>
                </a:tc>
                <a:tc>
                  <a:txBody>
                    <a:bodyPr/>
                    <a:lstStyle/>
                    <a:p>
                      <a:r>
                        <a:rPr sz="2000" b="1">
                          <a:solidFill>
                            <a:srgbClr val="FFFFFF"/>
                          </a:solidFill>
                          <a:latin typeface="Calibri"/>
                        </a:rPr>
                        <a:t>Quantum compiler (transpiler)</a:t>
                      </a:r>
                    </a:p>
                  </a:txBody>
                  <a:tcPr anchor="ctr">
                    <a:solidFill>
                      <a:srgbClr val="14264F"/>
                    </a:solidFill>
                  </a:tcPr>
                </a:tc>
                <a:extLst>
                  <a:ext uri="{0D108BD9-81ED-4DB2-BD59-A6C34878D82A}">
                    <a16:rowId xmlns:a16="http://schemas.microsoft.com/office/drawing/2014/main" val="10000"/>
                  </a:ext>
                </a:extLst>
              </a:tr>
              <a:tr h="513805">
                <a:tc>
                  <a:txBody>
                    <a:bodyPr/>
                    <a:lstStyle/>
                    <a:p>
                      <a:r>
                        <a:rPr sz="1800" b="1" dirty="0">
                          <a:solidFill>
                            <a:srgbClr val="1E2A44"/>
                          </a:solidFill>
                          <a:latin typeface="Calibri"/>
                        </a:rPr>
                        <a:t>Input</a:t>
                      </a:r>
                    </a:p>
                  </a:txBody>
                  <a:tcPr anchor="ctr">
                    <a:solidFill>
                      <a:srgbClr val="FFFFFF"/>
                    </a:solidFill>
                  </a:tcPr>
                </a:tc>
                <a:tc>
                  <a:txBody>
                    <a:bodyPr/>
                    <a:lstStyle/>
                    <a:p>
                      <a:r>
                        <a:rPr sz="1800" b="0">
                          <a:solidFill>
                            <a:srgbClr val="1E2A44"/>
                          </a:solidFill>
                          <a:latin typeface="Calibri"/>
                        </a:rPr>
                        <a:t>Source code (text)</a:t>
                      </a:r>
                    </a:p>
                  </a:txBody>
                  <a:tcPr anchor="ctr">
                    <a:solidFill>
                      <a:srgbClr val="FFFFFF"/>
                    </a:solidFill>
                  </a:tcPr>
                </a:tc>
                <a:tc>
                  <a:txBody>
                    <a:bodyPr/>
                    <a:lstStyle/>
                    <a:p>
                      <a:r>
                        <a:rPr sz="1800" b="0">
                          <a:solidFill>
                            <a:srgbClr val="1E2A44"/>
                          </a:solidFill>
                          <a:latin typeface="Calibri"/>
                        </a:rPr>
                        <a:t>A circuit: a list of gates and qubit indices</a:t>
                      </a:r>
                    </a:p>
                  </a:txBody>
                  <a:tcPr anchor="ctr">
                    <a:solidFill>
                      <a:srgbClr val="FFFFFF"/>
                    </a:solidFill>
                  </a:tcPr>
                </a:tc>
                <a:extLst>
                  <a:ext uri="{0D108BD9-81ED-4DB2-BD59-A6C34878D82A}">
                    <a16:rowId xmlns:a16="http://schemas.microsoft.com/office/drawing/2014/main" val="10001"/>
                  </a:ext>
                </a:extLst>
              </a:tr>
              <a:tr h="513805">
                <a:tc>
                  <a:txBody>
                    <a:bodyPr/>
                    <a:lstStyle/>
                    <a:p>
                      <a:r>
                        <a:rPr sz="1800" b="1">
                          <a:solidFill>
                            <a:srgbClr val="1E2A44"/>
                          </a:solidFill>
                          <a:latin typeface="Calibri"/>
                        </a:rPr>
                        <a:t>Must respect</a:t>
                      </a:r>
                    </a:p>
                  </a:txBody>
                  <a:tcPr anchor="ctr">
                    <a:solidFill>
                      <a:srgbClr val="F2F5FA"/>
                    </a:solidFill>
                  </a:tcPr>
                </a:tc>
                <a:tc>
                  <a:txBody>
                    <a:bodyPr/>
                    <a:lstStyle/>
                    <a:p>
                      <a:r>
                        <a:rPr sz="1800" b="0" dirty="0">
                          <a:solidFill>
                            <a:srgbClr val="1E2A44"/>
                          </a:solidFill>
                          <a:latin typeface="Calibri"/>
                        </a:rPr>
                        <a:t>The CPU's instruction set</a:t>
                      </a:r>
                    </a:p>
                  </a:txBody>
                  <a:tcPr anchor="ctr">
                    <a:solidFill>
                      <a:srgbClr val="F2F5FA"/>
                    </a:solidFill>
                  </a:tcPr>
                </a:tc>
                <a:tc>
                  <a:txBody>
                    <a:bodyPr/>
                    <a:lstStyle/>
                    <a:p>
                      <a:r>
                        <a:rPr sz="1800" b="0">
                          <a:solidFill>
                            <a:srgbClr val="1E2A44"/>
                          </a:solidFill>
                          <a:latin typeface="Calibri"/>
                        </a:rPr>
                        <a:t>The device's native gates and qubit connectivity</a:t>
                      </a:r>
                    </a:p>
                  </a:txBody>
                  <a:tcPr anchor="ctr">
                    <a:solidFill>
                      <a:srgbClr val="F2F5FA"/>
                    </a:solidFill>
                  </a:tcPr>
                </a:tc>
                <a:extLst>
                  <a:ext uri="{0D108BD9-81ED-4DB2-BD59-A6C34878D82A}">
                    <a16:rowId xmlns:a16="http://schemas.microsoft.com/office/drawing/2014/main" val="10002"/>
                  </a:ext>
                </a:extLst>
              </a:tr>
              <a:tr h="513805">
                <a:tc>
                  <a:txBody>
                    <a:bodyPr/>
                    <a:lstStyle/>
                    <a:p>
                      <a:r>
                        <a:rPr sz="1800" b="1">
                          <a:solidFill>
                            <a:srgbClr val="1E2A44"/>
                          </a:solidFill>
                          <a:latin typeface="Calibri"/>
                        </a:rPr>
                        <a:t>Key operation</a:t>
                      </a:r>
                    </a:p>
                  </a:txBody>
                  <a:tcPr anchor="ctr">
                    <a:solidFill>
                      <a:srgbClr val="FFFFFF"/>
                    </a:solidFill>
                  </a:tcPr>
                </a:tc>
                <a:tc>
                  <a:txBody>
                    <a:bodyPr/>
                    <a:lstStyle/>
                    <a:p>
                      <a:r>
                        <a:rPr sz="1800" b="0">
                          <a:solidFill>
                            <a:srgbClr val="1E2A44"/>
                          </a:solidFill>
                          <a:latin typeface="Calibri"/>
                        </a:rPr>
                        <a:t>Instruction selection, register allocation</a:t>
                      </a:r>
                    </a:p>
                  </a:txBody>
                  <a:tcPr anchor="ctr">
                    <a:solidFill>
                      <a:srgbClr val="FFFFFF"/>
                    </a:solidFill>
                  </a:tcPr>
                </a:tc>
                <a:tc>
                  <a:txBody>
                    <a:bodyPr/>
                    <a:lstStyle/>
                    <a:p>
                      <a:r>
                        <a:rPr sz="1800" b="0">
                          <a:solidFill>
                            <a:srgbClr val="1E2A44"/>
                          </a:solidFill>
                          <a:latin typeface="Calibri"/>
                        </a:rPr>
                        <a:t>Gate decomposition, qubit routing, layout mapping</a:t>
                      </a:r>
                    </a:p>
                  </a:txBody>
                  <a:tcPr anchor="ctr">
                    <a:solidFill>
                      <a:srgbClr val="FFFFFF"/>
                    </a:solidFill>
                  </a:tcPr>
                </a:tc>
                <a:extLst>
                  <a:ext uri="{0D108BD9-81ED-4DB2-BD59-A6C34878D82A}">
                    <a16:rowId xmlns:a16="http://schemas.microsoft.com/office/drawing/2014/main" val="10003"/>
                  </a:ext>
                </a:extLst>
              </a:tr>
              <a:tr h="513805">
                <a:tc>
                  <a:txBody>
                    <a:bodyPr/>
                    <a:lstStyle/>
                    <a:p>
                      <a:r>
                        <a:rPr sz="1800" b="1">
                          <a:solidFill>
                            <a:srgbClr val="1E2A44"/>
                          </a:solidFill>
                          <a:latin typeface="Calibri"/>
                        </a:rPr>
                        <a:t>Must preserve</a:t>
                      </a:r>
                    </a:p>
                  </a:txBody>
                  <a:tcPr anchor="ctr">
                    <a:solidFill>
                      <a:srgbClr val="F2F5FA"/>
                    </a:solidFill>
                  </a:tcPr>
                </a:tc>
                <a:tc>
                  <a:txBody>
                    <a:bodyPr/>
                    <a:lstStyle/>
                    <a:p>
                      <a:r>
                        <a:rPr sz="1800" b="0">
                          <a:solidFill>
                            <a:srgbClr val="1E2A44"/>
                          </a:solidFill>
                          <a:latin typeface="Calibri"/>
                        </a:rPr>
                        <a:t>Same input-output behaviour</a:t>
                      </a:r>
                    </a:p>
                  </a:txBody>
                  <a:tcPr anchor="ctr">
                    <a:solidFill>
                      <a:srgbClr val="F2F5FA"/>
                    </a:solidFill>
                  </a:tcPr>
                </a:tc>
                <a:tc>
                  <a:txBody>
                    <a:bodyPr/>
                    <a:lstStyle/>
                    <a:p>
                      <a:r>
                        <a:rPr sz="1800" b="0" dirty="0">
                          <a:solidFill>
                            <a:srgbClr val="1E2A44"/>
                          </a:solidFill>
                          <a:latin typeface="Calibri"/>
                        </a:rPr>
                        <a:t>Same unitary </a:t>
                      </a:r>
                      <a:r>
                        <a:rPr sz="1800" b="0" dirty="0" smtClean="0">
                          <a:solidFill>
                            <a:srgbClr val="1E2A44"/>
                          </a:solidFill>
                          <a:latin typeface="Calibri"/>
                        </a:rPr>
                        <a:t>transformation</a:t>
                      </a:r>
                      <a:endParaRPr sz="1800" b="0" dirty="0">
                        <a:solidFill>
                          <a:srgbClr val="1E2A44"/>
                        </a:solidFill>
                        <a:latin typeface="Calibri"/>
                      </a:endParaRPr>
                    </a:p>
                  </a:txBody>
                  <a:tcPr anchor="ctr">
                    <a:solidFill>
                      <a:srgbClr val="F2F5FA"/>
                    </a:solidFill>
                  </a:tcPr>
                </a:tc>
                <a:extLst>
                  <a:ext uri="{0D108BD9-81ED-4DB2-BD59-A6C34878D82A}">
                    <a16:rowId xmlns:a16="http://schemas.microsoft.com/office/drawing/2014/main" val="10004"/>
                  </a:ext>
                </a:extLst>
              </a:tr>
              <a:tr h="513805">
                <a:tc>
                  <a:txBody>
                    <a:bodyPr/>
                    <a:lstStyle/>
                    <a:p>
                      <a:r>
                        <a:rPr sz="1800" b="1">
                          <a:solidFill>
                            <a:srgbClr val="1E2A44"/>
                          </a:solidFill>
                          <a:latin typeface="Calibri"/>
                        </a:rPr>
                        <a:t>What it touches</a:t>
                      </a:r>
                    </a:p>
                  </a:txBody>
                  <a:tcPr anchor="ctr">
                    <a:solidFill>
                      <a:srgbClr val="FFFFFF"/>
                    </a:solidFill>
                  </a:tcPr>
                </a:tc>
                <a:tc>
                  <a:txBody>
                    <a:bodyPr/>
                    <a:lstStyle/>
                    <a:p>
                      <a:r>
                        <a:rPr sz="1800" b="0" dirty="0">
                          <a:solidFill>
                            <a:srgbClr val="1E2A44"/>
                          </a:solidFill>
                          <a:latin typeface="Calibri"/>
                        </a:rPr>
                        <a:t>A symbolic program description</a:t>
                      </a:r>
                    </a:p>
                  </a:txBody>
                  <a:tcPr anchor="ctr">
                    <a:solidFill>
                      <a:srgbClr val="FFFFFF"/>
                    </a:solidFill>
                  </a:tcPr>
                </a:tc>
                <a:tc>
                  <a:txBody>
                    <a:bodyPr/>
                    <a:lstStyle/>
                    <a:p>
                      <a:r>
                        <a:rPr sz="1800" b="0" dirty="0">
                          <a:solidFill>
                            <a:srgbClr val="1E2A44"/>
                          </a:solidFill>
                          <a:latin typeface="Calibri"/>
                        </a:rPr>
                        <a:t>A symbolic circuit </a:t>
                      </a:r>
                      <a:r>
                        <a:rPr sz="1800" b="0" dirty="0" smtClean="0">
                          <a:solidFill>
                            <a:srgbClr val="1E2A44"/>
                          </a:solidFill>
                          <a:latin typeface="Calibri"/>
                        </a:rPr>
                        <a:t>description</a:t>
                      </a:r>
                      <a:endParaRPr sz="1800" b="0" dirty="0">
                        <a:solidFill>
                          <a:srgbClr val="1E2A44"/>
                        </a:solidFill>
                        <a:latin typeface="Calibri"/>
                      </a:endParaRPr>
                    </a:p>
                  </a:txBody>
                  <a:tcPr anchor="ctr">
                    <a:solidFill>
                      <a:srgbClr val="FFFFFF"/>
                    </a:solidFill>
                  </a:tcPr>
                </a:tc>
                <a:extLst>
                  <a:ext uri="{0D108BD9-81ED-4DB2-BD59-A6C34878D82A}">
                    <a16:rowId xmlns:a16="http://schemas.microsoft.com/office/drawing/2014/main" val="10005"/>
                  </a:ext>
                </a:extLst>
              </a:tr>
              <a:tr h="513805">
                <a:tc>
                  <a:txBody>
                    <a:bodyPr/>
                    <a:lstStyle/>
                    <a:p>
                      <a:r>
                        <a:rPr sz="1800" b="1" dirty="0">
                          <a:solidFill>
                            <a:srgbClr val="1E2A44"/>
                          </a:solidFill>
                          <a:latin typeface="Calibri"/>
                        </a:rPr>
                        <a:t>Where it runs</a:t>
                      </a:r>
                    </a:p>
                  </a:txBody>
                  <a:tcPr anchor="ctr">
                    <a:solidFill>
                      <a:srgbClr val="F2F5FA"/>
                    </a:solidFill>
                  </a:tcPr>
                </a:tc>
                <a:tc>
                  <a:txBody>
                    <a:bodyPr/>
                    <a:lstStyle/>
                    <a:p>
                      <a:r>
                        <a:rPr sz="1800" b="0">
                          <a:solidFill>
                            <a:srgbClr val="1E2A44"/>
                          </a:solidFill>
                          <a:latin typeface="Calibri"/>
                        </a:rPr>
                        <a:t>An ordinary CPU</a:t>
                      </a:r>
                    </a:p>
                  </a:txBody>
                  <a:tcPr anchor="ctr">
                    <a:solidFill>
                      <a:srgbClr val="F2F5FA"/>
                    </a:solidFill>
                  </a:tcPr>
                </a:tc>
                <a:tc>
                  <a:txBody>
                    <a:bodyPr/>
                    <a:lstStyle/>
                    <a:p>
                      <a:r>
                        <a:rPr sz="1800" b="0" dirty="0">
                          <a:solidFill>
                            <a:srgbClr val="1E2A44"/>
                          </a:solidFill>
                          <a:latin typeface="Calibri"/>
                        </a:rPr>
                        <a:t>An ordinary </a:t>
                      </a:r>
                      <a:r>
                        <a:rPr sz="1800" b="0" dirty="0" smtClean="0">
                          <a:solidFill>
                            <a:srgbClr val="1E2A44"/>
                          </a:solidFill>
                          <a:latin typeface="Calibri"/>
                        </a:rPr>
                        <a:t>CPU</a:t>
                      </a:r>
                      <a:endParaRPr sz="1800" b="0" dirty="0">
                        <a:solidFill>
                          <a:srgbClr val="1E2A44"/>
                        </a:solidFill>
                        <a:latin typeface="Calibri"/>
                      </a:endParaRPr>
                    </a:p>
                  </a:txBody>
                  <a:tcPr anchor="ctr">
                    <a:solidFill>
                      <a:srgbClr val="F2F5FA"/>
                    </a:solidFill>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2BCB95-49C8-4BD5-B307-9B6BF13832A9}"/>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LITERATURE REVIEW</a:t>
            </a:r>
          </a:p>
        </p:txBody>
      </p:sp>
      <p:sp>
        <p:nvSpPr>
          <p:cNvPr id="4" name="TextBox 3">
            <a:extLst>
              <a:ext uri="{FF2B5EF4-FFF2-40B4-BE49-F238E27FC236}">
                <a16:creationId xmlns:a16="http://schemas.microsoft.com/office/drawing/2014/main" id="{2B0B49CA-C187-4B75-8FB8-FE98D0E482BC}"/>
              </a:ext>
            </a:extLst>
          </p:cNvPr>
          <p:cNvSpPr>
            <a:spLocks noGrp="1"/>
          </p:cNvSpPr>
          <p:nvPr/>
        </p:nvSpPr>
        <p:spPr>
          <a:xfrm>
            <a:off x="640080" y="694944"/>
            <a:ext cx="11155680" cy="590931"/>
          </a:xfrm>
          <a:prstGeom prst="rect">
            <a:avLst/>
          </a:prstGeom>
          <a:noFill/>
        </p:spPr>
        <p:txBody>
          <a:bodyPr wrap="square" lIns="36576" tIns="18288" rIns="36576" bIns="18288">
            <a:spAutoFit/>
          </a:bodyPr>
          <a:lstStyle/>
          <a:p>
            <a:r>
              <a:rPr sz="3600" b="1" i="0" dirty="0">
                <a:solidFill>
                  <a:srgbClr val="1E2A44"/>
                </a:solidFill>
                <a:latin typeface="Cambria"/>
                <a:ea typeface="Cambria"/>
                <a:cs typeface="Cambria"/>
              </a:rPr>
              <a:t>What Others Have </a:t>
            </a:r>
            <a:r>
              <a:rPr sz="3600" b="1" i="0" dirty="0" smtClean="0">
                <a:solidFill>
                  <a:srgbClr val="1E2A44"/>
                </a:solidFill>
                <a:latin typeface="Cambria"/>
                <a:ea typeface="Cambria"/>
                <a:cs typeface="Cambria"/>
              </a:rPr>
              <a:t>Done</a:t>
            </a:r>
            <a:r>
              <a:rPr lang="en-US" sz="3600" b="1" i="0" dirty="0" smtClean="0">
                <a:solidFill>
                  <a:srgbClr val="1E2A44"/>
                </a:solidFill>
                <a:latin typeface="Cambria"/>
                <a:ea typeface="Cambria"/>
                <a:cs typeface="Cambria"/>
              </a:rPr>
              <a:t>?</a:t>
            </a:r>
            <a:endParaRPr sz="3600" b="1" i="0" dirty="0">
              <a:solidFill>
                <a:srgbClr val="1E2A44"/>
              </a:solidFill>
              <a:latin typeface="Cambria"/>
              <a:ea typeface="Cambria"/>
              <a:cs typeface="Cambria"/>
            </a:endParaRPr>
          </a:p>
        </p:txBody>
      </p:sp>
      <p:sp>
        <p:nvSpPr>
          <p:cNvPr id="5" name="TextBox 4">
            <a:extLst>
              <a:ext uri="{FF2B5EF4-FFF2-40B4-BE49-F238E27FC236}">
                <a16:creationId xmlns:a16="http://schemas.microsoft.com/office/drawing/2014/main" id="{3D3821F7-3F64-47BF-8406-F86ACB3B87B5}"/>
              </a:ext>
            </a:extLst>
          </p:cNvPr>
          <p:cNvSpPr>
            <a:spLocks noGrp="1"/>
          </p:cNvSpPr>
          <p:nvPr/>
        </p:nvSpPr>
        <p:spPr>
          <a:xfrm>
            <a:off x="640080" y="1402068"/>
            <a:ext cx="11064240" cy="2140073"/>
          </a:xfrm>
          <a:prstGeom prst="rect">
            <a:avLst/>
          </a:prstGeom>
          <a:noFill/>
        </p:spPr>
        <p:txBody>
          <a:bodyPr wrap="square" lIns="36576" tIns="18288" rIns="36576" bIns="18288">
            <a:spAutoFit/>
          </a:bodyPr>
          <a:lstStyle/>
          <a:p>
            <a:pPr>
              <a:buNone/>
            </a:pPr>
            <a:r>
              <a:rPr sz="2000" b="1" dirty="0">
                <a:solidFill>
                  <a:srgbClr val="2F6FCB"/>
                </a:solidFill>
                <a:latin typeface="Calibri"/>
              </a:rPr>
              <a:t>▪  </a:t>
            </a:r>
            <a:r>
              <a:rPr sz="2000" b="1" dirty="0" smtClean="0">
                <a:solidFill>
                  <a:srgbClr val="1E2A44"/>
                </a:solidFill>
                <a:latin typeface="Calibri"/>
              </a:rPr>
              <a:t>Classical testing:  </a:t>
            </a:r>
            <a:r>
              <a:rPr sz="2000" b="0" dirty="0">
                <a:solidFill>
                  <a:srgbClr val="1E2A44"/>
                </a:solidFill>
                <a:latin typeface="Calibri"/>
              </a:rPr>
              <a:t>pick and order tests under a time budget (</a:t>
            </a:r>
            <a:r>
              <a:rPr sz="2000" b="0" dirty="0" err="1">
                <a:solidFill>
                  <a:srgbClr val="1E2A44"/>
                </a:solidFill>
                <a:latin typeface="Calibri"/>
              </a:rPr>
              <a:t>Yoo</a:t>
            </a:r>
            <a:r>
              <a:rPr sz="2000" b="0" dirty="0">
                <a:solidFill>
                  <a:srgbClr val="1E2A44"/>
                </a:solidFill>
                <a:latin typeface="Calibri"/>
              </a:rPr>
              <a:t> &amp; Harman, 2012; </a:t>
            </a:r>
            <a:r>
              <a:rPr sz="2000" b="0" dirty="0" err="1">
                <a:solidFill>
                  <a:srgbClr val="1E2A44"/>
                </a:solidFill>
                <a:latin typeface="Calibri"/>
              </a:rPr>
              <a:t>Elsner</a:t>
            </a:r>
            <a:r>
              <a:rPr sz="2000" b="0" dirty="0">
                <a:solidFill>
                  <a:srgbClr val="1E2A44"/>
                </a:solidFill>
                <a:latin typeface="Calibri"/>
              </a:rPr>
              <a:t> et al., 2021).</a:t>
            </a:r>
          </a:p>
          <a:p>
            <a:pPr>
              <a:spcAft>
                <a:spcPts val="1000"/>
              </a:spcAft>
              <a:buNone/>
            </a:pPr>
            <a:r>
              <a:rPr sz="2000" b="1" dirty="0">
                <a:solidFill>
                  <a:srgbClr val="2F6FCB"/>
                </a:solidFill>
                <a:latin typeface="Calibri"/>
              </a:rPr>
              <a:t>▪  </a:t>
            </a:r>
            <a:r>
              <a:rPr sz="2000" b="1" dirty="0" smtClean="0">
                <a:solidFill>
                  <a:srgbClr val="1E2A44"/>
                </a:solidFill>
                <a:latin typeface="Calibri"/>
              </a:rPr>
              <a:t>Quantum testing:  </a:t>
            </a:r>
            <a:r>
              <a:rPr sz="2000" b="0" dirty="0">
                <a:solidFill>
                  <a:srgbClr val="1E2A44"/>
                </a:solidFill>
                <a:latin typeface="Calibri"/>
              </a:rPr>
              <a:t>find bugs and generate tests for quantum programs (</a:t>
            </a:r>
            <a:r>
              <a:rPr sz="2000" b="0" dirty="0" err="1">
                <a:solidFill>
                  <a:srgbClr val="1E2A44"/>
                </a:solidFill>
                <a:latin typeface="Calibri"/>
              </a:rPr>
              <a:t>Paltenghi</a:t>
            </a:r>
            <a:r>
              <a:rPr sz="2000" b="0" dirty="0">
                <a:solidFill>
                  <a:srgbClr val="1E2A44"/>
                </a:solidFill>
                <a:latin typeface="Calibri"/>
              </a:rPr>
              <a:t> &amp; </a:t>
            </a:r>
            <a:r>
              <a:rPr sz="2000" b="0" dirty="0" err="1">
                <a:solidFill>
                  <a:srgbClr val="1E2A44"/>
                </a:solidFill>
                <a:latin typeface="Calibri"/>
              </a:rPr>
              <a:t>Pradel</a:t>
            </a:r>
            <a:r>
              <a:rPr sz="2000" b="0" dirty="0">
                <a:solidFill>
                  <a:srgbClr val="1E2A44"/>
                </a:solidFill>
                <a:latin typeface="Calibri"/>
              </a:rPr>
              <a:t>, 2023; Luo et al., 2026).</a:t>
            </a:r>
          </a:p>
          <a:p>
            <a:pPr>
              <a:spcAft>
                <a:spcPts val="1000"/>
              </a:spcAft>
              <a:buNone/>
            </a:pPr>
            <a:r>
              <a:rPr sz="2000" b="1" dirty="0">
                <a:solidFill>
                  <a:srgbClr val="2F6FCB"/>
                </a:solidFill>
                <a:latin typeface="Calibri"/>
              </a:rPr>
              <a:t>▪  </a:t>
            </a:r>
            <a:r>
              <a:rPr sz="2000" b="1" dirty="0" smtClean="0">
                <a:solidFill>
                  <a:srgbClr val="1E2A44"/>
                </a:solidFill>
                <a:latin typeface="Calibri"/>
              </a:rPr>
              <a:t>Equivalence checking:  </a:t>
            </a:r>
            <a:r>
              <a:rPr sz="2000" b="0" dirty="0">
                <a:solidFill>
                  <a:srgbClr val="1E2A44"/>
                </a:solidFill>
                <a:latin typeface="Calibri"/>
              </a:rPr>
              <a:t>compare circuits up to global phase (</a:t>
            </a:r>
            <a:r>
              <a:rPr sz="2000" b="0" dirty="0" err="1">
                <a:solidFill>
                  <a:srgbClr val="1E2A44"/>
                </a:solidFill>
                <a:latin typeface="Calibri"/>
              </a:rPr>
              <a:t>Burgholzer</a:t>
            </a:r>
            <a:r>
              <a:rPr sz="2000" b="0" dirty="0">
                <a:solidFill>
                  <a:srgbClr val="1E2A44"/>
                </a:solidFill>
                <a:latin typeface="Calibri"/>
              </a:rPr>
              <a:t> &amp; </a:t>
            </a:r>
            <a:r>
              <a:rPr sz="2000" b="0" dirty="0" err="1">
                <a:solidFill>
                  <a:srgbClr val="1E2A44"/>
                </a:solidFill>
                <a:latin typeface="Calibri"/>
              </a:rPr>
              <a:t>Wille</a:t>
            </a:r>
            <a:r>
              <a:rPr sz="2000" b="0" dirty="0">
                <a:solidFill>
                  <a:srgbClr val="1E2A44"/>
                </a:solidFill>
                <a:latin typeface="Calibri"/>
              </a:rPr>
              <a:t>, 2021; Mei et al., 2026).</a:t>
            </a:r>
          </a:p>
          <a:p>
            <a:pPr>
              <a:spcAft>
                <a:spcPts val="1000"/>
              </a:spcAft>
              <a:buNone/>
            </a:pPr>
            <a:r>
              <a:rPr sz="2000" b="1" dirty="0">
                <a:solidFill>
                  <a:srgbClr val="2F6FCB"/>
                </a:solidFill>
                <a:latin typeface="Calibri"/>
              </a:rPr>
              <a:t>▪  </a:t>
            </a:r>
            <a:r>
              <a:rPr sz="2000" b="1" dirty="0" smtClean="0">
                <a:solidFill>
                  <a:srgbClr val="1E2A44"/>
                </a:solidFill>
                <a:latin typeface="Calibri"/>
              </a:rPr>
              <a:t>Internal checks:  </a:t>
            </a:r>
            <a:r>
              <a:rPr sz="2000" b="0" dirty="0">
                <a:solidFill>
                  <a:srgbClr val="1E2A44"/>
                </a:solidFill>
                <a:latin typeface="Calibri"/>
              </a:rPr>
              <a:t>inspect the compiler's internal passes and state directly (Shi et al., 2019; Choudhury et al., 2025).</a:t>
            </a:r>
          </a:p>
        </p:txBody>
      </p:sp>
      <p:sp>
        <p:nvSpPr>
          <p:cNvPr id="8" name="TextBox 7">
            <a:extLst>
              <a:ext uri="{FF2B5EF4-FFF2-40B4-BE49-F238E27FC236}">
                <a16:creationId xmlns:a16="http://schemas.microsoft.com/office/drawing/2014/main" id="{17BEBB54-D7B7-41AC-8C01-CC6A29194D00}"/>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9" name="TextBox 8">
            <a:extLst>
              <a:ext uri="{FF2B5EF4-FFF2-40B4-BE49-F238E27FC236}">
                <a16:creationId xmlns:a16="http://schemas.microsoft.com/office/drawing/2014/main" id="{5537A5C9-2FFF-4DA9-BFCE-6E152BF64745}"/>
              </a:ext>
            </a:extLst>
          </p:cNvPr>
          <p:cNvSpPr>
            <a:spLocks noGrp="1"/>
          </p:cNvSpPr>
          <p:nvPr/>
        </p:nvSpPr>
        <p:spPr>
          <a:xfrm>
            <a:off x="11155680" y="6473952"/>
            <a:ext cx="822960" cy="190821"/>
          </a:xfrm>
          <a:prstGeom prst="rect">
            <a:avLst/>
          </a:prstGeom>
          <a:noFill/>
        </p:spPr>
        <p:txBody>
          <a:bodyPr wrap="square" lIns="36576" tIns="18288" rIns="36576" bIns="18288">
            <a:spAutoFit/>
          </a:bodyPr>
          <a:lstStyle/>
          <a:p>
            <a:pPr algn="r">
              <a:buNone/>
            </a:pPr>
            <a:r>
              <a:rPr sz="1000" b="1" i="0">
                <a:solidFill>
                  <a:srgbClr val="64748C"/>
                </a:solidFill>
                <a:latin typeface="Calibri"/>
                <a:ea typeface="Calibri"/>
                <a:cs typeface="Calibri"/>
              </a:rPr>
              <a:t>6</a:t>
            </a:r>
          </a:p>
        </p:txBody>
      </p:sp>
      <p:pic>
        <p:nvPicPr>
          <p:cNvPr id="10" name="Image 0" descr="/mnt/data/cusit_logo.png"/>
          <p:cNvPicPr>
            <a:picLocks noChangeAspect="1"/>
          </p:cNvPicPr>
          <p:nvPr/>
        </p:nvPicPr>
        <p:blipFill>
          <a:blip r:embed="rId3"/>
          <a:stretch>
            <a:fillRect/>
          </a:stretch>
        </p:blipFill>
        <p:spPr>
          <a:xfrm>
            <a:off x="10903999" y="23078"/>
            <a:ext cx="1269586" cy="634793"/>
          </a:xfrm>
          <a:prstGeom prst="rect">
            <a:avLst/>
          </a:prstGeom>
        </p:spPr>
      </p:pic>
      <p:sp>
        <p:nvSpPr>
          <p:cNvPr id="11" name="TextBox 10"/>
          <p:cNvSpPr txBox="1"/>
          <p:nvPr/>
        </p:nvSpPr>
        <p:spPr>
          <a:xfrm>
            <a:off x="563727" y="4001996"/>
            <a:ext cx="11064240" cy="260000"/>
          </a:xfrm>
          <a:prstGeom prst="rect">
            <a:avLst/>
          </a:prstGeom>
          <a:noFill/>
        </p:spPr>
        <p:txBody>
          <a:bodyPr wrap="square">
            <a:spAutoFit/>
          </a:bodyPr>
          <a:lstStyle/>
          <a:p>
            <a:r>
              <a:rPr sz="1300" i="1">
                <a:solidFill>
                  <a:srgbClr val="1E2A44"/>
                </a:solidFill>
                <a:latin typeface="Calibri"/>
              </a:rPr>
              <a:t>These four lines span more than a decade and are all still active today. They run in parallel, not in sequence.</a:t>
            </a:r>
          </a:p>
        </p:txBody>
      </p:sp>
    </p:spTree>
    <p:extLst>
      <p:ext uri="{BB962C8B-B14F-4D97-AF65-F5344CB8AC3E}">
        <p14:creationId xmlns:p14="http://schemas.microsoft.com/office/powerpoint/2010/main" val="105332898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1B0C0EB-B8B8-4349-9353-E22CD32AFDCC}"/>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C8BED7BE-2241-456A-A5CB-D508AFC7AF28}"/>
              </a:ext>
            </a:extLst>
          </p:cNvPr>
          <p:cNvSpPr>
            <a:spLocks noGrp="1"/>
          </p:cNvSpPr>
          <p:nvPr/>
        </p:nvSpPr>
        <p:spPr>
          <a:xfrm>
            <a:off x="640080" y="335280"/>
            <a:ext cx="1097280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LITERATURE</a:t>
            </a:r>
            <a:r>
              <a:rPr sz="1250" b="1" i="0">
                <a:solidFill>
                  <a:srgbClr val="2F6FCB"/>
                </a:solidFill>
                <a:latin typeface="Calibri"/>
                <a:ea typeface="Calibri"/>
                <a:cs typeface="Calibri"/>
              </a:rPr>
              <a:t> </a:t>
            </a:r>
            <a:r>
              <a:rPr sz="1600" b="1" i="0">
                <a:solidFill>
                  <a:srgbClr val="2F6FCB"/>
                </a:solidFill>
                <a:latin typeface="Calibri"/>
                <a:ea typeface="Calibri"/>
                <a:cs typeface="Calibri"/>
              </a:rPr>
              <a:t>REVIEW</a:t>
            </a:r>
            <a:endParaRPr sz="1250" b="1" i="0">
              <a:solidFill>
                <a:srgbClr val="2F6FCB"/>
              </a:solidFill>
              <a:latin typeface="Calibri"/>
              <a:ea typeface="Calibri"/>
              <a:cs typeface="Calibri"/>
            </a:endParaRPr>
          </a:p>
        </p:txBody>
      </p:sp>
      <p:sp>
        <p:nvSpPr>
          <p:cNvPr id="4" name="TextBox 3">
            <a:extLst>
              <a:ext uri="{FF2B5EF4-FFF2-40B4-BE49-F238E27FC236}">
                <a16:creationId xmlns:a16="http://schemas.microsoft.com/office/drawing/2014/main" id="{7281E0DE-5653-4D33-A0A2-D9C19FBAC86F}"/>
              </a:ext>
            </a:extLst>
          </p:cNvPr>
          <p:cNvSpPr>
            <a:spLocks noGrp="1"/>
          </p:cNvSpPr>
          <p:nvPr/>
        </p:nvSpPr>
        <p:spPr>
          <a:xfrm>
            <a:off x="640080" y="633387"/>
            <a:ext cx="11155680" cy="590931"/>
          </a:xfrm>
          <a:prstGeom prst="rect">
            <a:avLst/>
          </a:prstGeom>
          <a:noFill/>
        </p:spPr>
        <p:txBody>
          <a:bodyPr wrap="square" lIns="36576" tIns="18288" rIns="36576" bIns="18288">
            <a:spAutoFit/>
          </a:bodyPr>
          <a:lstStyle/>
          <a:p>
            <a:r>
              <a:rPr sz="3600" b="1" i="0" dirty="0">
                <a:solidFill>
                  <a:srgbClr val="1E2A44"/>
                </a:solidFill>
                <a:latin typeface="Cambria"/>
                <a:ea typeface="Cambria"/>
                <a:cs typeface="Cambria"/>
              </a:rPr>
              <a:t>How This Work Compares? (1 of 2)</a:t>
            </a:r>
            <a:endParaRPr sz="3200" b="1" i="0" dirty="0">
              <a:solidFill>
                <a:srgbClr val="1E2A44"/>
              </a:solidFill>
              <a:latin typeface="Cambria"/>
              <a:ea typeface="Cambria"/>
              <a:cs typeface="Cambria"/>
            </a:endParaRPr>
          </a:p>
        </p:txBody>
      </p:sp>
      <p:graphicFrame>
        <p:nvGraphicFramePr>
          <p:cNvPr id="12" name="Table 4"/>
          <p:cNvGraphicFramePr/>
          <p:nvPr>
            <p:extLst>
              <p:ext uri="{D42A27DB-BD31-4B8C-83A1-F6EECF244321}">
                <p14:modId xmlns:p14="http://schemas.microsoft.com/office/powerpoint/2010/main" val="1497309237"/>
              </p:ext>
            </p:extLst>
          </p:nvPr>
        </p:nvGraphicFramePr>
        <p:xfrm>
          <a:off x="613458" y="1336990"/>
          <a:ext cx="10510672" cy="4558511"/>
        </p:xfrm>
        <a:graphic>
          <a:graphicData uri="http://schemas.openxmlformats.org/drawingml/2006/table">
            <a:tbl>
              <a:tblPr>
                <a:tableStyleId>{5C22544A-7EE6-4342-B048-85BDC9FD1C3A}</a:tableStyleId>
              </a:tblPr>
              <a:tblGrid>
                <a:gridCol w="2311502">
                  <a:extLst>
                    <a:ext uri="{9D8B030D-6E8A-4147-A177-3AD203B41FA5}">
                      <a16:colId xmlns:a16="http://schemas.microsoft.com/office/drawing/2014/main" val="20000"/>
                    </a:ext>
                  </a:extLst>
                </a:gridCol>
                <a:gridCol w="2157173">
                  <a:extLst>
                    <a:ext uri="{9D8B030D-6E8A-4147-A177-3AD203B41FA5}">
                      <a16:colId xmlns:a16="http://schemas.microsoft.com/office/drawing/2014/main" val="20001"/>
                    </a:ext>
                  </a:extLst>
                </a:gridCol>
                <a:gridCol w="1040875">
                  <a:extLst>
                    <a:ext uri="{9D8B030D-6E8A-4147-A177-3AD203B41FA5}">
                      <a16:colId xmlns:a16="http://schemas.microsoft.com/office/drawing/2014/main" val="20002"/>
                    </a:ext>
                  </a:extLst>
                </a:gridCol>
                <a:gridCol w="1342663">
                  <a:extLst>
                    <a:ext uri="{9D8B030D-6E8A-4147-A177-3AD203B41FA5}">
                      <a16:colId xmlns:a16="http://schemas.microsoft.com/office/drawing/2014/main" val="20007"/>
                    </a:ext>
                  </a:extLst>
                </a:gridCol>
                <a:gridCol w="980776">
                  <a:extLst>
                    <a:ext uri="{9D8B030D-6E8A-4147-A177-3AD203B41FA5}">
                      <a16:colId xmlns:a16="http://schemas.microsoft.com/office/drawing/2014/main" val="20003"/>
                    </a:ext>
                  </a:extLst>
                </a:gridCol>
                <a:gridCol w="1375019">
                  <a:extLst>
                    <a:ext uri="{9D8B030D-6E8A-4147-A177-3AD203B41FA5}">
                      <a16:colId xmlns:a16="http://schemas.microsoft.com/office/drawing/2014/main" val="20004"/>
                    </a:ext>
                  </a:extLst>
                </a:gridCol>
                <a:gridCol w="1302664">
                  <a:extLst>
                    <a:ext uri="{9D8B030D-6E8A-4147-A177-3AD203B41FA5}">
                      <a16:colId xmlns:a16="http://schemas.microsoft.com/office/drawing/2014/main" val="20005"/>
                    </a:ext>
                  </a:extLst>
                </a:gridCol>
              </a:tblGrid>
              <a:tr h="739795">
                <a:tc>
                  <a:txBody>
                    <a:bodyPr/>
                    <a:lstStyle/>
                    <a:p>
                      <a:r>
                        <a:rPr sz="1600" b="1">
                          <a:solidFill>
                            <a:srgbClr val="FFFFFF"/>
                          </a:solidFill>
                          <a:latin typeface="Calibri"/>
                          <a:ea typeface="Calibri"/>
                          <a:cs typeface="Calibri"/>
                        </a:rPr>
                        <a:t>Approach</a:t>
                      </a:r>
                    </a:p>
                  </a:txBody>
                  <a:tcPr marL="54864" marR="54864" marT="18288" marB="18288" anchor="ctr">
                    <a:solidFill>
                      <a:srgbClr val="14264F"/>
                    </a:solidFill>
                  </a:tcPr>
                </a:tc>
                <a:tc>
                  <a:txBody>
                    <a:bodyPr/>
                    <a:lstStyle/>
                    <a:p>
                      <a:r>
                        <a:rPr sz="1600" b="1">
                          <a:solidFill>
                            <a:srgbClr val="FFFFFF"/>
                          </a:solidFill>
                          <a:latin typeface="Calibri"/>
                          <a:ea typeface="Calibri"/>
                          <a:cs typeface="Calibri"/>
                        </a:rPr>
                        <a:t>Primary goal</a:t>
                      </a:r>
                    </a:p>
                  </a:txBody>
                  <a:tcPr marL="54864" marR="54864" marT="18288" marB="18288" anchor="ctr">
                    <a:solidFill>
                      <a:srgbClr val="14264F"/>
                    </a:solidFill>
                  </a:tcPr>
                </a:tc>
                <a:tc>
                  <a:txBody>
                    <a:bodyPr/>
                    <a:lstStyle/>
                    <a:p>
                      <a:r>
                        <a:rPr sz="1600" b="1">
                          <a:solidFill>
                            <a:srgbClr val="FFFFFF"/>
                          </a:solidFill>
                          <a:latin typeface="Calibri"/>
                          <a:ea typeface="Calibri"/>
                          <a:cs typeface="Calibri"/>
                        </a:rPr>
                        <a:t>QA oracle</a:t>
                      </a:r>
                    </a:p>
                  </a:txBody>
                  <a:tcPr marL="54864" marR="54864" marT="18288" marB="18288" anchor="ctr">
                    <a:solidFill>
                      <a:srgbClr val="14264F"/>
                    </a:solidFill>
                  </a:tcPr>
                </a:tc>
                <a:tc>
                  <a:txBody>
                    <a:bodyPr/>
                    <a:lstStyle/>
                    <a:p>
                      <a:r>
                        <a:rPr sz="1600" b="1" dirty="0">
                          <a:solidFill>
                            <a:srgbClr val="FFFFFF"/>
                          </a:solidFill>
                          <a:latin typeface="Calibri"/>
                          <a:ea typeface="Calibri"/>
                          <a:cs typeface="Calibri"/>
                        </a:rPr>
                        <a:t>Internal </a:t>
                      </a:r>
                      <a:r>
                        <a:rPr sz="1600" b="1" dirty="0" smtClean="0">
                          <a:solidFill>
                            <a:srgbClr val="FFFFFF"/>
                          </a:solidFill>
                          <a:latin typeface="Calibri"/>
                          <a:ea typeface="Calibri"/>
                          <a:cs typeface="Calibri"/>
                        </a:rPr>
                        <a:t>obs</a:t>
                      </a:r>
                      <a:r>
                        <a:rPr lang="en-US" sz="1600" b="1" dirty="0" smtClean="0">
                          <a:solidFill>
                            <a:srgbClr val="FFFFFF"/>
                          </a:solidFill>
                          <a:latin typeface="Calibri"/>
                          <a:ea typeface="Calibri"/>
                          <a:cs typeface="Calibri"/>
                        </a:rPr>
                        <a:t>ervability</a:t>
                      </a:r>
                      <a:endParaRPr sz="1600" b="1" dirty="0">
                        <a:solidFill>
                          <a:srgbClr val="FFFFFF"/>
                        </a:solidFill>
                        <a:latin typeface="Calibri"/>
                        <a:ea typeface="Calibri"/>
                        <a:cs typeface="Calibri"/>
                      </a:endParaRPr>
                    </a:p>
                  </a:txBody>
                  <a:tcPr marL="54864" marR="54864" marT="18288" marB="18288" anchor="ctr">
                    <a:solidFill>
                      <a:srgbClr val="14264F"/>
                    </a:solidFill>
                  </a:tcPr>
                </a:tc>
                <a:tc>
                  <a:txBody>
                    <a:bodyPr/>
                    <a:lstStyle/>
                    <a:p>
                      <a:r>
                        <a:rPr sz="1600" b="1">
                          <a:solidFill>
                            <a:srgbClr val="FFFFFF"/>
                          </a:solidFill>
                          <a:latin typeface="Calibri"/>
                          <a:ea typeface="Calibri"/>
                          <a:cs typeface="Calibri"/>
                        </a:rPr>
                        <a:t>Cost-aware</a:t>
                      </a:r>
                    </a:p>
                  </a:txBody>
                  <a:tcPr marL="54864" marR="54864" marT="18288" marB="18288" anchor="ctr">
                    <a:solidFill>
                      <a:srgbClr val="14264F"/>
                    </a:solidFill>
                  </a:tcPr>
                </a:tc>
                <a:tc>
                  <a:txBody>
                    <a:bodyPr/>
                    <a:lstStyle/>
                    <a:p>
                      <a:r>
                        <a:rPr sz="1600" b="1">
                          <a:solidFill>
                            <a:srgbClr val="FFFFFF"/>
                          </a:solidFill>
                          <a:latin typeface="Calibri"/>
                          <a:ea typeface="Calibri"/>
                          <a:cs typeface="Calibri"/>
                        </a:rPr>
                        <a:t>Selects / orders existing</a:t>
                      </a:r>
                    </a:p>
                  </a:txBody>
                  <a:tcPr marL="54864" marR="54864" marT="18288" marB="18288" anchor="ctr">
                    <a:solidFill>
                      <a:srgbClr val="14264F"/>
                    </a:solidFill>
                  </a:tcPr>
                </a:tc>
                <a:tc>
                  <a:txBody>
                    <a:bodyPr/>
                    <a:lstStyle/>
                    <a:p>
                      <a:r>
                        <a:rPr sz="1600" b="1" dirty="0">
                          <a:solidFill>
                            <a:srgbClr val="FFFFFF"/>
                          </a:solidFill>
                          <a:latin typeface="Calibri"/>
                          <a:ea typeface="Calibri"/>
                          <a:cs typeface="Calibri"/>
                        </a:rPr>
                        <a:t>Leakage-safe temporal</a:t>
                      </a:r>
                    </a:p>
                  </a:txBody>
                  <a:tcPr marL="54864" marR="54864" marT="18288" marB="18288" anchor="ctr">
                    <a:solidFill>
                      <a:srgbClr val="14264F"/>
                    </a:solidFill>
                  </a:tcPr>
                </a:tc>
                <a:extLst>
                  <a:ext uri="{0D108BD9-81ED-4DB2-BD59-A6C34878D82A}">
                    <a16:rowId xmlns:a16="http://schemas.microsoft.com/office/drawing/2014/main" val="10000"/>
                  </a:ext>
                </a:extLst>
              </a:tr>
              <a:tr h="739795">
                <a:tc>
                  <a:txBody>
                    <a:bodyPr/>
                    <a:lstStyle/>
                    <a:p>
                      <a:r>
                        <a:rPr sz="1800" dirty="0">
                          <a:solidFill>
                            <a:srgbClr val="1E2A44"/>
                          </a:solidFill>
                          <a:latin typeface="Calibri"/>
                          <a:ea typeface="Calibri"/>
                          <a:cs typeface="Calibri"/>
                        </a:rPr>
                        <a:t>Classical RTP/TCP (Yoo &amp; Harman, 2012)</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prioritise tests of a program</a:t>
                      </a:r>
                    </a:p>
                  </a:txBody>
                  <a:tcPr marL="54864" marR="54864" marT="18288" marB="18288" anchor="ctr">
                    <a:solidFill>
                      <a:srgbClr val="FFFFFF"/>
                    </a:solidFill>
                  </a:tcPr>
                </a:tc>
                <a:tc>
                  <a:txBody>
                    <a:bodyPr/>
                    <a:lstStyle/>
                    <a:p>
                      <a:r>
                        <a:rPr sz="1500" dirty="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500" dirty="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500" dirty="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500" dirty="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500" dirty="0">
                          <a:solidFill>
                            <a:srgbClr val="1E2A44"/>
                          </a:solidFill>
                          <a:latin typeface="Calibri"/>
                          <a:ea typeface="Calibri"/>
                          <a:cs typeface="Calibri"/>
                        </a:rPr>
                        <a:t>◐</a:t>
                      </a:r>
                    </a:p>
                  </a:txBody>
                  <a:tcPr marL="54864" marR="54864" marT="18288" marB="18288" anchor="ctr">
                    <a:solidFill>
                      <a:srgbClr val="FFFFFF"/>
                    </a:solidFill>
                  </a:tcPr>
                </a:tc>
                <a:extLst>
                  <a:ext uri="{0D108BD9-81ED-4DB2-BD59-A6C34878D82A}">
                    <a16:rowId xmlns:a16="http://schemas.microsoft.com/office/drawing/2014/main" val="10001"/>
                  </a:ext>
                </a:extLst>
              </a:tr>
              <a:tr h="739795">
                <a:tc>
                  <a:txBody>
                    <a:bodyPr/>
                    <a:lstStyle/>
                    <a:p>
                      <a:r>
                        <a:rPr sz="1800" dirty="0">
                          <a:solidFill>
                            <a:srgbClr val="1E2A44"/>
                          </a:solidFill>
                          <a:latin typeface="Calibri"/>
                          <a:ea typeface="Calibri"/>
                          <a:cs typeface="Calibri"/>
                        </a:rPr>
                        <a:t>Predictive selection (Machalica et al., 2019)</a:t>
                      </a:r>
                    </a:p>
                  </a:txBody>
                  <a:tcPr marL="54864" marR="54864" marT="18288" marB="18288" anchor="ctr">
                    <a:solidFill>
                      <a:srgbClr val="EFF4FA"/>
                    </a:solidFill>
                  </a:tcPr>
                </a:tc>
                <a:tc>
                  <a:txBody>
                    <a:bodyPr/>
                    <a:lstStyle/>
                    <a:p>
                      <a:r>
                        <a:rPr sz="1800">
                          <a:solidFill>
                            <a:srgbClr val="1E2A44"/>
                          </a:solidFill>
                          <a:latin typeface="Calibri"/>
                          <a:ea typeface="Calibri"/>
                          <a:cs typeface="Calibri"/>
                        </a:rPr>
                        <a:t>learned selection at scale</a:t>
                      </a:r>
                    </a:p>
                  </a:txBody>
                  <a:tcPr marL="54864" marR="54864" marT="18288" marB="18288" anchor="ctr">
                    <a:solidFill>
                      <a:srgbClr val="EFF4FA"/>
                    </a:solidFill>
                  </a:tcPr>
                </a:tc>
                <a:tc>
                  <a:txBody>
                    <a:bodyPr/>
                    <a:lstStyle/>
                    <a:p>
                      <a:r>
                        <a:rPr sz="15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500" dirty="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5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5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500" dirty="0">
                          <a:solidFill>
                            <a:srgbClr val="1E2A44"/>
                          </a:solidFill>
                          <a:latin typeface="Calibri"/>
                          <a:ea typeface="Calibri"/>
                          <a:cs typeface="Calibri"/>
                        </a:rPr>
                        <a:t>✓</a:t>
                      </a:r>
                    </a:p>
                  </a:txBody>
                  <a:tcPr marL="54864" marR="54864" marT="18288" marB="18288" anchor="ctr">
                    <a:solidFill>
                      <a:srgbClr val="EFF4FA"/>
                    </a:solidFill>
                  </a:tcPr>
                </a:tc>
                <a:extLst>
                  <a:ext uri="{0D108BD9-81ED-4DB2-BD59-A6C34878D82A}">
                    <a16:rowId xmlns:a16="http://schemas.microsoft.com/office/drawing/2014/main" val="10002"/>
                  </a:ext>
                </a:extLst>
              </a:tr>
              <a:tr h="815231">
                <a:tc>
                  <a:txBody>
                    <a:bodyPr/>
                    <a:lstStyle/>
                    <a:p>
                      <a:r>
                        <a:rPr sz="1800">
                          <a:solidFill>
                            <a:srgbClr val="1E2A44"/>
                          </a:solidFill>
                          <a:latin typeface="Calibri"/>
                          <a:ea typeface="Calibri"/>
                          <a:cs typeface="Calibri"/>
                        </a:rPr>
                        <a:t>MorphQ / MorphQ++ (Paltenghi &amp; Pradel, 2023; Kitt et al., 2024)</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metamorphic bug finding</a:t>
                      </a:r>
                    </a:p>
                  </a:txBody>
                  <a:tcPr marL="54864" marR="54864" marT="18288" marB="18288" anchor="ctr">
                    <a:solidFill>
                      <a:srgbClr val="FFFFFF"/>
                    </a:solidFill>
                  </a:tcPr>
                </a:tc>
                <a:tc>
                  <a:txBody>
                    <a:bodyPr/>
                    <a:lstStyle/>
                    <a:p>
                      <a:r>
                        <a:rPr sz="1500" dirty="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5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5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5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500">
                          <a:solidFill>
                            <a:srgbClr val="1E2A44"/>
                          </a:solidFill>
                          <a:latin typeface="Calibri"/>
                          <a:ea typeface="Calibri"/>
                          <a:cs typeface="Calibri"/>
                        </a:rPr>
                        <a:t>✗</a:t>
                      </a:r>
                    </a:p>
                  </a:txBody>
                  <a:tcPr marL="54864" marR="54864" marT="18288" marB="18288" anchor="ctr">
                    <a:solidFill>
                      <a:srgbClr val="FFFFFF"/>
                    </a:solidFill>
                  </a:tcPr>
                </a:tc>
                <a:extLst>
                  <a:ext uri="{0D108BD9-81ED-4DB2-BD59-A6C34878D82A}">
                    <a16:rowId xmlns:a16="http://schemas.microsoft.com/office/drawing/2014/main" val="10003"/>
                  </a:ext>
                </a:extLst>
              </a:tr>
              <a:tr h="739795">
                <a:tc>
                  <a:txBody>
                    <a:bodyPr/>
                    <a:lstStyle/>
                    <a:p>
                      <a:r>
                        <a:rPr sz="1800" dirty="0" err="1">
                          <a:solidFill>
                            <a:srgbClr val="1E2A44"/>
                          </a:solidFill>
                          <a:latin typeface="Calibri"/>
                          <a:ea typeface="Calibri"/>
                          <a:cs typeface="Calibri"/>
                        </a:rPr>
                        <a:t>QuCheck (Pontolillo et al., 2025)</a:t>
                      </a:r>
                      <a:endParaRPr sz="1800" dirty="0">
                        <a:solidFill>
                          <a:srgbClr val="1E2A44"/>
                        </a:solidFill>
                        <a:latin typeface="Calibri"/>
                        <a:ea typeface="Calibri"/>
                        <a:cs typeface="Calibri"/>
                      </a:endParaRPr>
                    </a:p>
                  </a:txBody>
                  <a:tcPr marL="54864" marR="54864" marT="18288" marB="18288" anchor="ctr">
                    <a:solidFill>
                      <a:srgbClr val="EFF4FA"/>
                    </a:solidFill>
                  </a:tcPr>
                </a:tc>
                <a:tc>
                  <a:txBody>
                    <a:bodyPr/>
                    <a:lstStyle/>
                    <a:p>
                      <a:r>
                        <a:rPr sz="1800" dirty="0">
                          <a:solidFill>
                            <a:srgbClr val="1E2A44"/>
                          </a:solidFill>
                          <a:latin typeface="Calibri"/>
                          <a:ea typeface="Calibri"/>
                          <a:cs typeface="Calibri"/>
                        </a:rPr>
                        <a:t>property-based testing</a:t>
                      </a:r>
                    </a:p>
                  </a:txBody>
                  <a:tcPr marL="54864" marR="54864" marT="18288" marB="18288" anchor="ctr">
                    <a:solidFill>
                      <a:srgbClr val="EFF4FA"/>
                    </a:solidFill>
                  </a:tcPr>
                </a:tc>
                <a:tc>
                  <a:txBody>
                    <a:bodyPr/>
                    <a:lstStyle/>
                    <a:p>
                      <a:r>
                        <a:rPr sz="15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500" dirty="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500" dirty="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500" dirty="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500" dirty="0">
                          <a:solidFill>
                            <a:srgbClr val="1E2A44"/>
                          </a:solidFill>
                          <a:latin typeface="Calibri"/>
                          <a:ea typeface="Calibri"/>
                          <a:cs typeface="Calibri"/>
                        </a:rPr>
                        <a:t>✗</a:t>
                      </a:r>
                    </a:p>
                  </a:txBody>
                  <a:tcPr marL="54864" marR="54864" marT="18288" marB="18288" anchor="ctr">
                    <a:solidFill>
                      <a:srgbClr val="EFF4FA"/>
                    </a:solidFill>
                  </a:tcPr>
                </a:tc>
                <a:extLst>
                  <a:ext uri="{0D108BD9-81ED-4DB2-BD59-A6C34878D82A}">
                    <a16:rowId xmlns:a16="http://schemas.microsoft.com/office/drawing/2014/main" val="10004"/>
                  </a:ext>
                </a:extLst>
              </a:tr>
              <a:tr h="739795">
                <a:tc>
                  <a:txBody>
                    <a:bodyPr/>
                    <a:lstStyle/>
                    <a:p>
                      <a:r>
                        <a:rPr sz="1800" dirty="0">
                          <a:solidFill>
                            <a:srgbClr val="1E2A44"/>
                          </a:solidFill>
                          <a:latin typeface="Calibri"/>
                          <a:ea typeface="Calibri"/>
                          <a:cs typeface="Calibri"/>
                        </a:rPr>
                        <a:t>QEMI (Luo et al., 2026)</a:t>
                      </a:r>
                    </a:p>
                  </a:txBody>
                  <a:tcPr marL="54864" marR="54864" marT="18288" marB="18288" anchor="ctr">
                    <a:solidFill>
                      <a:srgbClr val="FFFFFF"/>
                    </a:solidFill>
                  </a:tcPr>
                </a:tc>
                <a:tc>
                  <a:txBody>
                    <a:bodyPr/>
                    <a:lstStyle/>
                    <a:p>
                      <a:r>
                        <a:rPr sz="1800" dirty="0">
                          <a:solidFill>
                            <a:srgbClr val="1E2A44"/>
                          </a:solidFill>
                          <a:latin typeface="Calibri"/>
                          <a:ea typeface="Calibri"/>
                          <a:cs typeface="Calibri"/>
                        </a:rPr>
                        <a:t>EMI stack bug finding</a:t>
                      </a:r>
                    </a:p>
                  </a:txBody>
                  <a:tcPr marL="54864" marR="54864" marT="18288" marB="18288" anchor="ctr">
                    <a:solidFill>
                      <a:srgbClr val="FFFFFF"/>
                    </a:solidFill>
                  </a:tcPr>
                </a:tc>
                <a:tc>
                  <a:txBody>
                    <a:bodyPr/>
                    <a:lstStyle/>
                    <a:p>
                      <a:r>
                        <a:rPr sz="1500" dirty="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500" dirty="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500" dirty="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500" dirty="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500" dirty="0">
                          <a:solidFill>
                            <a:srgbClr val="1E2A44"/>
                          </a:solidFill>
                          <a:latin typeface="Calibri"/>
                          <a:ea typeface="Calibri"/>
                          <a:cs typeface="Calibri"/>
                        </a:rPr>
                        <a:t>✗</a:t>
                      </a:r>
                    </a:p>
                  </a:txBody>
                  <a:tcPr marL="54864" marR="54864"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6" name="TextBox 5">
            <a:extLst>
              <a:ext uri="{FF2B5EF4-FFF2-40B4-BE49-F238E27FC236}">
                <a16:creationId xmlns:a16="http://schemas.microsoft.com/office/drawing/2014/main" id="{C6ACC585-9E0C-4BA3-9864-8DCFB4273F32}"/>
              </a:ext>
            </a:extLst>
          </p:cNvPr>
          <p:cNvSpPr>
            <a:spLocks noGrp="1"/>
          </p:cNvSpPr>
          <p:nvPr/>
        </p:nvSpPr>
        <p:spPr>
          <a:xfrm>
            <a:off x="640080" y="6501385"/>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7" name="TextBox 6">
            <a:extLst>
              <a:ext uri="{FF2B5EF4-FFF2-40B4-BE49-F238E27FC236}">
                <a16:creationId xmlns:a16="http://schemas.microsoft.com/office/drawing/2014/main" id="{89FA11DE-C3D5-4BE5-BEE2-5BCBC38DC781}"/>
              </a:ext>
            </a:extLst>
          </p:cNvPr>
          <p:cNvSpPr>
            <a:spLocks noGrp="1"/>
          </p:cNvSpPr>
          <p:nvPr/>
        </p:nvSpPr>
        <p:spPr>
          <a:xfrm>
            <a:off x="11155680" y="6473952"/>
            <a:ext cx="822960" cy="274320"/>
          </a:xfrm>
          <a:prstGeom prst="rect">
            <a:avLst/>
          </a:prstGeom>
          <a:noFill/>
        </p:spPr>
        <p:txBody>
          <a:bodyPr wrap="square" lIns="36576" tIns="18288" rIns="36576" bIns="18288">
            <a:spAutoFit/>
          </a:bodyPr>
          <a:lstStyle/>
          <a:p>
            <a:pPr algn="r">
              <a:buNone/>
            </a:pPr>
            <a:r>
              <a:rPr sz="850" b="1" i="0">
                <a:solidFill>
                  <a:srgbClr val="64748C"/>
                </a:solidFill>
                <a:latin typeface="Calibri"/>
                <a:ea typeface="Calibri"/>
                <a:cs typeface="Calibri"/>
              </a:rPr>
              <a:t>7</a:t>
            </a:r>
          </a:p>
        </p:txBody>
      </p:sp>
      <p:pic>
        <p:nvPicPr>
          <p:cNvPr id="8" name="Image 0" descr="/mnt/data/cusit_logo.png"/>
          <p:cNvPicPr>
            <a:picLocks noChangeAspect="1"/>
          </p:cNvPicPr>
          <p:nvPr/>
        </p:nvPicPr>
        <p:blipFill>
          <a:blip r:embed="rId3"/>
          <a:stretch>
            <a:fillRect/>
          </a:stretch>
        </p:blipFill>
        <p:spPr>
          <a:xfrm>
            <a:off x="10903999" y="23078"/>
            <a:ext cx="1269586" cy="634793"/>
          </a:xfrm>
          <a:prstGeom prst="rect">
            <a:avLst/>
          </a:prstGeom>
        </p:spPr>
      </p:pic>
      <p:sp>
        <p:nvSpPr>
          <p:cNvPr id="11" name="TextBox 10">
            <a:extLst>
              <a:ext uri="{FF2B5EF4-FFF2-40B4-BE49-F238E27FC236}">
                <a16:creationId xmlns:a16="http://schemas.microsoft.com/office/drawing/2014/main" id="{8C3EA295-C07A-40E3-89F5-7EEAAC5BD553}"/>
              </a:ext>
            </a:extLst>
          </p:cNvPr>
          <p:cNvSpPr>
            <a:spLocks noGrp="1"/>
          </p:cNvSpPr>
          <p:nvPr/>
        </p:nvSpPr>
        <p:spPr>
          <a:xfrm>
            <a:off x="641700" y="5842763"/>
            <a:ext cx="11064240" cy="369332"/>
          </a:xfrm>
          <a:prstGeom prst="rect">
            <a:avLst/>
          </a:prstGeom>
          <a:noFill/>
        </p:spPr>
        <p:txBody>
          <a:bodyPr wrap="square">
            <a:spAutoFit/>
          </a:bodyPr>
          <a:lstStyle/>
          <a:p>
            <a:r>
              <a:rPr i="1" dirty="0">
                <a:solidFill>
                  <a:srgbClr val="64748C"/>
                </a:solidFill>
                <a:latin typeface="Calibri"/>
                <a:ea typeface="Calibri"/>
                <a:cs typeface="Calibri"/>
              </a:rPr>
              <a:t>✓  Yes   ·   ◐  Partial   ·   ✗  No</a:t>
            </a:r>
          </a:p>
        </p:txBody>
      </p:sp>
    </p:spTree>
    <p:extLst>
      <p:ext uri="{BB962C8B-B14F-4D97-AF65-F5344CB8AC3E}">
        <p14:creationId xmlns:p14="http://schemas.microsoft.com/office/powerpoint/2010/main" val="194337114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1B0C0EB-B8B8-4349-9353-E22CD32AFDCC}"/>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C8BED7BE-2241-456A-A5CB-D508AFC7AF28}"/>
              </a:ext>
            </a:extLst>
          </p:cNvPr>
          <p:cNvSpPr>
            <a:spLocks noGrp="1"/>
          </p:cNvSpPr>
          <p:nvPr/>
        </p:nvSpPr>
        <p:spPr>
          <a:xfrm>
            <a:off x="640080" y="335280"/>
            <a:ext cx="1097280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LITERATURE</a:t>
            </a:r>
            <a:r>
              <a:rPr sz="1250" b="1" i="0">
                <a:solidFill>
                  <a:srgbClr val="2F6FCB"/>
                </a:solidFill>
                <a:latin typeface="Calibri"/>
                <a:ea typeface="Calibri"/>
                <a:cs typeface="Calibri"/>
              </a:rPr>
              <a:t> </a:t>
            </a:r>
            <a:r>
              <a:rPr sz="1600" b="1" i="0">
                <a:solidFill>
                  <a:srgbClr val="2F6FCB"/>
                </a:solidFill>
                <a:latin typeface="Calibri"/>
                <a:ea typeface="Calibri"/>
                <a:cs typeface="Calibri"/>
              </a:rPr>
              <a:t>REVIEW</a:t>
            </a:r>
            <a:endParaRPr sz="1250" b="1" i="0">
              <a:solidFill>
                <a:srgbClr val="2F6FCB"/>
              </a:solidFill>
              <a:latin typeface="Calibri"/>
              <a:ea typeface="Calibri"/>
              <a:cs typeface="Calibri"/>
            </a:endParaRPr>
          </a:p>
        </p:txBody>
      </p:sp>
      <p:sp>
        <p:nvSpPr>
          <p:cNvPr id="4" name="TextBox 3">
            <a:extLst>
              <a:ext uri="{FF2B5EF4-FFF2-40B4-BE49-F238E27FC236}">
                <a16:creationId xmlns:a16="http://schemas.microsoft.com/office/drawing/2014/main" id="{7281E0DE-5653-4D33-A0A2-D9C19FBAC86F}"/>
              </a:ext>
            </a:extLst>
          </p:cNvPr>
          <p:cNvSpPr>
            <a:spLocks noGrp="1"/>
          </p:cNvSpPr>
          <p:nvPr/>
        </p:nvSpPr>
        <p:spPr>
          <a:xfrm>
            <a:off x="640080" y="633387"/>
            <a:ext cx="11155680" cy="590931"/>
          </a:xfrm>
          <a:prstGeom prst="rect">
            <a:avLst/>
          </a:prstGeom>
          <a:noFill/>
        </p:spPr>
        <p:txBody>
          <a:bodyPr wrap="square" lIns="36576" tIns="18288" rIns="36576" bIns="18288">
            <a:spAutoFit/>
          </a:bodyPr>
          <a:lstStyle/>
          <a:p>
            <a:r>
              <a:rPr sz="3600" b="1" i="0" dirty="0">
                <a:solidFill>
                  <a:srgbClr val="1E2A44"/>
                </a:solidFill>
                <a:latin typeface="Cambria"/>
                <a:ea typeface="Cambria"/>
                <a:cs typeface="Cambria"/>
              </a:rPr>
              <a:t>How This Work Compares? (2 of 2)</a:t>
            </a:r>
            <a:endParaRPr sz="3200" b="1" i="0" dirty="0">
              <a:solidFill>
                <a:srgbClr val="1E2A44"/>
              </a:solidFill>
              <a:latin typeface="Cambria"/>
              <a:ea typeface="Cambria"/>
              <a:cs typeface="Cambria"/>
            </a:endParaRPr>
          </a:p>
        </p:txBody>
      </p:sp>
      <p:graphicFrame>
        <p:nvGraphicFramePr>
          <p:cNvPr id="12" name="Table 4"/>
          <p:cNvGraphicFramePr/>
          <p:nvPr>
            <p:extLst>
              <p:ext uri="{D42A27DB-BD31-4B8C-83A1-F6EECF244321}">
                <p14:modId xmlns:p14="http://schemas.microsoft.com/office/powerpoint/2010/main" val="138622981"/>
              </p:ext>
            </p:extLst>
          </p:nvPr>
        </p:nvGraphicFramePr>
        <p:xfrm>
          <a:off x="603504" y="1162763"/>
          <a:ext cx="10520626" cy="4839072"/>
        </p:xfrm>
        <a:graphic>
          <a:graphicData uri="http://schemas.openxmlformats.org/drawingml/2006/table">
            <a:tbl>
              <a:tblPr>
                <a:tableStyleId>{5C22544A-7EE6-4342-B048-85BDC9FD1C3A}</a:tableStyleId>
              </a:tblPr>
              <a:tblGrid>
                <a:gridCol w="2321456">
                  <a:extLst>
                    <a:ext uri="{9D8B030D-6E8A-4147-A177-3AD203B41FA5}">
                      <a16:colId xmlns:a16="http://schemas.microsoft.com/office/drawing/2014/main" val="20000"/>
                    </a:ext>
                  </a:extLst>
                </a:gridCol>
                <a:gridCol w="2157173">
                  <a:extLst>
                    <a:ext uri="{9D8B030D-6E8A-4147-A177-3AD203B41FA5}">
                      <a16:colId xmlns:a16="http://schemas.microsoft.com/office/drawing/2014/main" val="20001"/>
                    </a:ext>
                  </a:extLst>
                </a:gridCol>
                <a:gridCol w="1052449">
                  <a:extLst>
                    <a:ext uri="{9D8B030D-6E8A-4147-A177-3AD203B41FA5}">
                      <a16:colId xmlns:a16="http://schemas.microsoft.com/office/drawing/2014/main" val="20002"/>
                    </a:ext>
                  </a:extLst>
                </a:gridCol>
                <a:gridCol w="1423686">
                  <a:extLst>
                    <a:ext uri="{9D8B030D-6E8A-4147-A177-3AD203B41FA5}">
                      <a16:colId xmlns:a16="http://schemas.microsoft.com/office/drawing/2014/main" val="20007"/>
                    </a:ext>
                  </a:extLst>
                </a:gridCol>
                <a:gridCol w="888179">
                  <a:extLst>
                    <a:ext uri="{9D8B030D-6E8A-4147-A177-3AD203B41FA5}">
                      <a16:colId xmlns:a16="http://schemas.microsoft.com/office/drawing/2014/main" val="20003"/>
                    </a:ext>
                  </a:extLst>
                </a:gridCol>
                <a:gridCol w="1375019">
                  <a:extLst>
                    <a:ext uri="{9D8B030D-6E8A-4147-A177-3AD203B41FA5}">
                      <a16:colId xmlns:a16="http://schemas.microsoft.com/office/drawing/2014/main" val="20004"/>
                    </a:ext>
                  </a:extLst>
                </a:gridCol>
                <a:gridCol w="1302664">
                  <a:extLst>
                    <a:ext uri="{9D8B030D-6E8A-4147-A177-3AD203B41FA5}">
                      <a16:colId xmlns:a16="http://schemas.microsoft.com/office/drawing/2014/main" val="20005"/>
                    </a:ext>
                  </a:extLst>
                </a:gridCol>
              </a:tblGrid>
              <a:tr h="780000">
                <a:tc>
                  <a:txBody>
                    <a:bodyPr/>
                    <a:lstStyle/>
                    <a:p>
                      <a:r>
                        <a:rPr sz="1800" b="1" dirty="0">
                          <a:solidFill>
                            <a:srgbClr val="FFFFFF"/>
                          </a:solidFill>
                          <a:latin typeface="Calibri"/>
                          <a:ea typeface="Calibri"/>
                          <a:cs typeface="Calibri"/>
                        </a:rPr>
                        <a:t>Approach</a:t>
                      </a:r>
                    </a:p>
                  </a:txBody>
                  <a:tcPr marL="54864" marR="54864" marT="18288" marB="18288" anchor="ctr">
                    <a:solidFill>
                      <a:srgbClr val="14264F"/>
                    </a:solidFill>
                  </a:tcPr>
                </a:tc>
                <a:tc>
                  <a:txBody>
                    <a:bodyPr/>
                    <a:lstStyle/>
                    <a:p>
                      <a:r>
                        <a:rPr sz="1800" b="1" dirty="0">
                          <a:solidFill>
                            <a:srgbClr val="FFFFFF"/>
                          </a:solidFill>
                          <a:latin typeface="Calibri"/>
                          <a:ea typeface="Calibri"/>
                          <a:cs typeface="Calibri"/>
                        </a:rPr>
                        <a:t>Primary goal</a:t>
                      </a:r>
                    </a:p>
                  </a:txBody>
                  <a:tcPr marL="54864" marR="54864" marT="18288" marB="18288" anchor="ctr">
                    <a:solidFill>
                      <a:srgbClr val="14264F"/>
                    </a:solidFill>
                  </a:tcPr>
                </a:tc>
                <a:tc>
                  <a:txBody>
                    <a:bodyPr/>
                    <a:lstStyle/>
                    <a:p>
                      <a:r>
                        <a:rPr sz="1800" b="1" dirty="0">
                          <a:solidFill>
                            <a:srgbClr val="FFFFFF"/>
                          </a:solidFill>
                          <a:latin typeface="Calibri"/>
                          <a:ea typeface="Calibri"/>
                          <a:cs typeface="Calibri"/>
                        </a:rPr>
                        <a:t>QA oracle</a:t>
                      </a:r>
                    </a:p>
                  </a:txBody>
                  <a:tcPr marL="54864" marR="54864" marT="18288" marB="18288" anchor="ctr">
                    <a:solidFill>
                      <a:srgbClr val="14264F"/>
                    </a:solidFill>
                  </a:tcPr>
                </a:tc>
                <a:tc>
                  <a:txBody>
                    <a:bodyPr/>
                    <a:lstStyle/>
                    <a:p>
                      <a:r>
                        <a:rPr sz="1800" b="1" dirty="0">
                          <a:solidFill>
                            <a:srgbClr val="FFFFFF"/>
                          </a:solidFill>
                          <a:latin typeface="Calibri"/>
                          <a:ea typeface="Calibri"/>
                          <a:cs typeface="Calibri"/>
                        </a:rPr>
                        <a:t>Internal </a:t>
                      </a:r>
                      <a:r>
                        <a:rPr sz="1800" b="1" dirty="0" smtClean="0">
                          <a:solidFill>
                            <a:srgbClr val="FFFFFF"/>
                          </a:solidFill>
                          <a:latin typeface="Calibri"/>
                          <a:ea typeface="Calibri"/>
                          <a:cs typeface="Calibri"/>
                        </a:rPr>
                        <a:t>obs</a:t>
                      </a:r>
                      <a:r>
                        <a:rPr lang="en-US" sz="1800" b="1" dirty="0" smtClean="0">
                          <a:solidFill>
                            <a:srgbClr val="FFFFFF"/>
                          </a:solidFill>
                          <a:latin typeface="Calibri"/>
                          <a:ea typeface="Calibri"/>
                          <a:cs typeface="Calibri"/>
                        </a:rPr>
                        <a:t>ervability</a:t>
                      </a:r>
                      <a:endParaRPr sz="1800" b="1" dirty="0">
                        <a:solidFill>
                          <a:srgbClr val="FFFFFF"/>
                        </a:solidFill>
                        <a:latin typeface="Calibri"/>
                        <a:ea typeface="Calibri"/>
                        <a:cs typeface="Calibri"/>
                      </a:endParaRPr>
                    </a:p>
                  </a:txBody>
                  <a:tcPr marL="54864" marR="54864" marT="18288" marB="18288" anchor="ctr">
                    <a:solidFill>
                      <a:srgbClr val="14264F"/>
                    </a:solidFill>
                  </a:tcPr>
                </a:tc>
                <a:tc>
                  <a:txBody>
                    <a:bodyPr/>
                    <a:lstStyle/>
                    <a:p>
                      <a:r>
                        <a:rPr sz="1800" b="1" dirty="0">
                          <a:solidFill>
                            <a:srgbClr val="FFFFFF"/>
                          </a:solidFill>
                          <a:latin typeface="Calibri"/>
                          <a:ea typeface="Calibri"/>
                          <a:cs typeface="Calibri"/>
                        </a:rPr>
                        <a:t>Cost-aware</a:t>
                      </a:r>
                    </a:p>
                  </a:txBody>
                  <a:tcPr marL="54864" marR="54864" marT="18288" marB="18288" anchor="ctr">
                    <a:solidFill>
                      <a:srgbClr val="14264F"/>
                    </a:solidFill>
                  </a:tcPr>
                </a:tc>
                <a:tc>
                  <a:txBody>
                    <a:bodyPr/>
                    <a:lstStyle/>
                    <a:p>
                      <a:r>
                        <a:rPr sz="1800" b="1" dirty="0">
                          <a:solidFill>
                            <a:srgbClr val="FFFFFF"/>
                          </a:solidFill>
                          <a:latin typeface="Calibri"/>
                          <a:ea typeface="Calibri"/>
                          <a:cs typeface="Calibri"/>
                        </a:rPr>
                        <a:t>Selects / orders existing</a:t>
                      </a:r>
                    </a:p>
                  </a:txBody>
                  <a:tcPr marL="54864" marR="54864" marT="18288" marB="18288" anchor="ctr">
                    <a:solidFill>
                      <a:srgbClr val="14264F"/>
                    </a:solidFill>
                  </a:tcPr>
                </a:tc>
                <a:tc>
                  <a:txBody>
                    <a:bodyPr/>
                    <a:lstStyle/>
                    <a:p>
                      <a:r>
                        <a:rPr sz="1800" b="1" dirty="0">
                          <a:solidFill>
                            <a:srgbClr val="FFFFFF"/>
                          </a:solidFill>
                          <a:latin typeface="Calibri"/>
                          <a:ea typeface="Calibri"/>
                          <a:cs typeface="Calibri"/>
                        </a:rPr>
                        <a:t>Leakage-safe temporal</a:t>
                      </a:r>
                    </a:p>
                  </a:txBody>
                  <a:tcPr marL="54864" marR="54864" marT="18288" marB="18288" anchor="ctr">
                    <a:solidFill>
                      <a:srgbClr val="14264F"/>
                    </a:solidFill>
                  </a:tcPr>
                </a:tc>
                <a:extLst>
                  <a:ext uri="{0D108BD9-81ED-4DB2-BD59-A6C34878D82A}">
                    <a16:rowId xmlns:a16="http://schemas.microsoft.com/office/drawing/2014/main" val="10000"/>
                  </a:ext>
                </a:extLst>
              </a:tr>
              <a:tr h="780000">
                <a:tc>
                  <a:txBody>
                    <a:bodyPr/>
                    <a:lstStyle/>
                    <a:p>
                      <a:r>
                        <a:rPr sz="1800">
                          <a:solidFill>
                            <a:srgbClr val="1E2A44"/>
                          </a:solidFill>
                          <a:latin typeface="Calibri"/>
                          <a:ea typeface="Calibri"/>
                          <a:cs typeface="Calibri"/>
                        </a:rPr>
                        <a:t>QDiff (Wang et al., 2021)</a:t>
                      </a:r>
                    </a:p>
                  </a:txBody>
                  <a:tcPr marL="54864" marR="54864" marT="18288" marB="18288" anchor="ctr">
                    <a:solidFill>
                      <a:srgbClr val="EFF4FA"/>
                    </a:solidFill>
                  </a:tcPr>
                </a:tc>
                <a:tc>
                  <a:txBody>
                    <a:bodyPr/>
                    <a:lstStyle/>
                    <a:p>
                      <a:r>
                        <a:rPr sz="1800" dirty="0">
                          <a:solidFill>
                            <a:srgbClr val="1E2A44"/>
                          </a:solidFill>
                          <a:latin typeface="Calibri"/>
                          <a:ea typeface="Calibri"/>
                          <a:cs typeface="Calibri"/>
                        </a:rPr>
                        <a:t>differential stack bug finding</a:t>
                      </a:r>
                    </a:p>
                  </a:txBody>
                  <a:tcPr marL="54864" marR="54864" marT="18288" marB="18288" anchor="ctr">
                    <a:solidFill>
                      <a:srgbClr val="EFF4FA"/>
                    </a:solidFill>
                  </a:tcPr>
                </a:tc>
                <a:tc>
                  <a:txBody>
                    <a:bodyPr/>
                    <a:lstStyle/>
                    <a:p>
                      <a:r>
                        <a:rPr sz="15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5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5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5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500" dirty="0">
                          <a:solidFill>
                            <a:srgbClr val="1E2A44"/>
                          </a:solidFill>
                          <a:latin typeface="Calibri"/>
                          <a:ea typeface="Calibri"/>
                          <a:cs typeface="Calibri"/>
                        </a:rPr>
                        <a:t>✗</a:t>
                      </a:r>
                    </a:p>
                  </a:txBody>
                  <a:tcPr marL="54864" marR="54864" marT="18288" marB="18288" anchor="ctr">
                    <a:solidFill>
                      <a:srgbClr val="EFF4FA"/>
                    </a:solidFill>
                  </a:tcPr>
                </a:tc>
                <a:extLst>
                  <a:ext uri="{0D108BD9-81ED-4DB2-BD59-A6C34878D82A}">
                    <a16:rowId xmlns:a16="http://schemas.microsoft.com/office/drawing/2014/main" val="10006"/>
                  </a:ext>
                </a:extLst>
              </a:tr>
              <a:tr h="780000">
                <a:tc>
                  <a:txBody>
                    <a:bodyPr/>
                    <a:lstStyle/>
                    <a:p>
                      <a:r>
                        <a:rPr sz="1800">
                          <a:solidFill>
                            <a:srgbClr val="1E2A44"/>
                          </a:solidFill>
                          <a:latin typeface="Calibri"/>
                          <a:ea typeface="Calibri"/>
                          <a:cs typeface="Calibri"/>
                        </a:rPr>
                        <a:t>QSPE (Ye et al., 2026)</a:t>
                      </a:r>
                    </a:p>
                  </a:txBody>
                  <a:tcPr marL="54864" marR="54864" marT="18288" marB="18288" anchor="ctr">
                    <a:solidFill>
                      <a:srgbClr val="FFFFFF"/>
                    </a:solidFill>
                  </a:tcPr>
                </a:tc>
                <a:tc>
                  <a:txBody>
                    <a:bodyPr/>
                    <a:lstStyle/>
                    <a:p>
                      <a:r>
                        <a:rPr sz="1800" dirty="0">
                          <a:solidFill>
                            <a:srgbClr val="1E2A44"/>
                          </a:solidFill>
                          <a:latin typeface="Calibri"/>
                          <a:ea typeface="Calibri"/>
                          <a:cs typeface="Calibri"/>
                        </a:rPr>
                        <a:t>skeletal-program differential testing</a:t>
                      </a:r>
                    </a:p>
                  </a:txBody>
                  <a:tcPr marL="54864" marR="54864" marT="18288" marB="18288" anchor="ctr">
                    <a:solidFill>
                      <a:srgbClr val="FFFFFF"/>
                    </a:solidFill>
                  </a:tcPr>
                </a:tc>
                <a:tc>
                  <a:txBody>
                    <a:bodyPr/>
                    <a:lstStyle/>
                    <a:p>
                      <a:r>
                        <a:rPr sz="15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5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5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5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500" dirty="0">
                          <a:solidFill>
                            <a:srgbClr val="1E2A44"/>
                          </a:solidFill>
                          <a:latin typeface="Calibri"/>
                          <a:ea typeface="Calibri"/>
                          <a:cs typeface="Calibri"/>
                        </a:rPr>
                        <a:t>✗</a:t>
                      </a:r>
                    </a:p>
                  </a:txBody>
                  <a:tcPr marL="54864" marR="54864" marT="18288" marB="18288" anchor="ctr">
                    <a:solidFill>
                      <a:srgbClr val="FFFFFF"/>
                    </a:solidFill>
                  </a:tcPr>
                </a:tc>
                <a:extLst>
                  <a:ext uri="{0D108BD9-81ED-4DB2-BD59-A6C34878D82A}">
                    <a16:rowId xmlns:a16="http://schemas.microsoft.com/office/drawing/2014/main" val="10007"/>
                  </a:ext>
                </a:extLst>
              </a:tr>
              <a:tr h="780000">
                <a:tc>
                  <a:txBody>
                    <a:bodyPr/>
                    <a:lstStyle/>
                    <a:p>
                      <a:r>
                        <a:rPr sz="1800" dirty="0" err="1">
                          <a:solidFill>
                            <a:srgbClr val="1E2A44"/>
                          </a:solidFill>
                          <a:latin typeface="Calibri"/>
                          <a:ea typeface="Calibri"/>
                          <a:cs typeface="Calibri"/>
                        </a:rPr>
                        <a:t>Giallar</a:t>
                      </a:r>
                      <a:r>
                        <a:rPr sz="1800" dirty="0">
                          <a:solidFill>
                            <a:srgbClr val="1E2A44"/>
                          </a:solidFill>
                          <a:latin typeface="Calibri"/>
                          <a:ea typeface="Calibri"/>
                          <a:cs typeface="Calibri"/>
                        </a:rPr>
                        <a:t> (Tao et al., 2022)</a:t>
                      </a:r>
                    </a:p>
                  </a:txBody>
                  <a:tcPr marL="54864" marR="54864" marT="18288" marB="18288" anchor="ctr">
                    <a:solidFill>
                      <a:srgbClr val="EFF4FA"/>
                    </a:solidFill>
                  </a:tcPr>
                </a:tc>
                <a:tc>
                  <a:txBody>
                    <a:bodyPr/>
                    <a:lstStyle/>
                    <a:p>
                      <a:r>
                        <a:rPr sz="1800">
                          <a:solidFill>
                            <a:srgbClr val="1E2A44"/>
                          </a:solidFill>
                          <a:latin typeface="Calibri"/>
                          <a:ea typeface="Calibri"/>
                          <a:cs typeface="Calibri"/>
                        </a:rPr>
                        <a:t>formal Qiskit-pass verification</a:t>
                      </a:r>
                    </a:p>
                  </a:txBody>
                  <a:tcPr marL="54864" marR="54864" marT="18288" marB="18288" anchor="ctr">
                    <a:solidFill>
                      <a:srgbClr val="EFF4FA"/>
                    </a:solidFill>
                  </a:tcPr>
                </a:tc>
                <a:tc>
                  <a:txBody>
                    <a:bodyPr/>
                    <a:lstStyle/>
                    <a:p>
                      <a:r>
                        <a:rPr sz="15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5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5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5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500" dirty="0">
                          <a:solidFill>
                            <a:srgbClr val="1E2A44"/>
                          </a:solidFill>
                          <a:latin typeface="Calibri"/>
                          <a:ea typeface="Calibri"/>
                          <a:cs typeface="Calibri"/>
                        </a:rPr>
                        <a:t>✗</a:t>
                      </a:r>
                    </a:p>
                  </a:txBody>
                  <a:tcPr marL="54864" marR="54864" marT="18288" marB="18288" anchor="ctr">
                    <a:solidFill>
                      <a:srgbClr val="EFF4FA"/>
                    </a:solidFill>
                  </a:tcPr>
                </a:tc>
                <a:extLst>
                  <a:ext uri="{0D108BD9-81ED-4DB2-BD59-A6C34878D82A}">
                    <a16:rowId xmlns:a16="http://schemas.microsoft.com/office/drawing/2014/main" val="10008"/>
                  </a:ext>
                </a:extLst>
              </a:tr>
              <a:tr h="780000">
                <a:tc>
                  <a:txBody>
                    <a:bodyPr/>
                    <a:lstStyle/>
                    <a:p>
                      <a:r>
                        <a:rPr sz="1800">
                          <a:solidFill>
                            <a:srgbClr val="1E2A44"/>
                          </a:solidFill>
                          <a:latin typeface="Calibri"/>
                          <a:ea typeface="Calibri"/>
                          <a:cs typeface="Calibri"/>
                        </a:rPr>
                        <a:t>Benchpress (Nation et al., 2025)</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SDK compilation benchmarking</a:t>
                      </a:r>
                    </a:p>
                  </a:txBody>
                  <a:tcPr marL="54864" marR="54864" marT="18288" marB="18288" anchor="ctr">
                    <a:solidFill>
                      <a:srgbClr val="FFFFFF"/>
                    </a:solidFill>
                  </a:tcPr>
                </a:tc>
                <a:tc>
                  <a:txBody>
                    <a:bodyPr/>
                    <a:lstStyle/>
                    <a:p>
                      <a:r>
                        <a:rPr sz="15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5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5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5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500" dirty="0">
                          <a:solidFill>
                            <a:srgbClr val="1E2A44"/>
                          </a:solidFill>
                          <a:latin typeface="Calibri"/>
                          <a:ea typeface="Calibri"/>
                          <a:cs typeface="Calibri"/>
                        </a:rPr>
                        <a:t>✗</a:t>
                      </a:r>
                    </a:p>
                  </a:txBody>
                  <a:tcPr marL="54864" marR="54864" marT="18288" marB="18288" anchor="ctr">
                    <a:solidFill>
                      <a:srgbClr val="FFFFFF"/>
                    </a:solidFill>
                  </a:tcPr>
                </a:tc>
                <a:extLst>
                  <a:ext uri="{0D108BD9-81ED-4DB2-BD59-A6C34878D82A}">
                    <a16:rowId xmlns:a16="http://schemas.microsoft.com/office/drawing/2014/main" val="10009"/>
                  </a:ext>
                </a:extLst>
              </a:tr>
              <a:tr h="780000">
                <a:tc>
                  <a:txBody>
                    <a:bodyPr/>
                    <a:lstStyle/>
                    <a:p>
                      <a:r>
                        <a:rPr lang="en-US" sz="1800" dirty="0" smtClean="0">
                          <a:solidFill>
                            <a:srgbClr val="1E2A44"/>
                          </a:solidFill>
                          <a:latin typeface="Calibri"/>
                          <a:ea typeface="Calibri"/>
                          <a:cs typeface="Calibri"/>
                        </a:rPr>
                        <a:t>Proposed</a:t>
                      </a:r>
                      <a:r>
                        <a:rPr sz="1800" dirty="0" smtClean="0">
                          <a:solidFill>
                            <a:srgbClr val="1E2A44"/>
                          </a:solidFill>
                          <a:latin typeface="Calibri"/>
                          <a:ea typeface="Calibri"/>
                          <a:cs typeface="Calibri"/>
                        </a:rPr>
                        <a:t> </a:t>
                      </a:r>
                      <a:r>
                        <a:rPr sz="1800" dirty="0">
                          <a:solidFill>
                            <a:srgbClr val="1E2A44"/>
                          </a:solidFill>
                          <a:latin typeface="Calibri"/>
                          <a:ea typeface="Calibri"/>
                          <a:cs typeface="Calibri"/>
                        </a:rPr>
                        <a:t>work</a:t>
                      </a:r>
                    </a:p>
                  </a:txBody>
                  <a:tcPr marL="54864" marR="54864" marT="18288" marB="18288" anchor="ctr">
                    <a:solidFill>
                      <a:srgbClr val="EFF4FA"/>
                    </a:solidFill>
                  </a:tcPr>
                </a:tc>
                <a:tc>
                  <a:txBody>
                    <a:bodyPr/>
                    <a:lstStyle/>
                    <a:p>
                      <a:r>
                        <a:rPr sz="1800" dirty="0">
                          <a:solidFill>
                            <a:srgbClr val="1E2A44"/>
                          </a:solidFill>
                          <a:latin typeface="Calibri"/>
                          <a:ea typeface="Calibri"/>
                          <a:cs typeface="Calibri"/>
                        </a:rPr>
                        <a:t>computational cost-aware test selection for the </a:t>
                      </a:r>
                      <a:r>
                        <a:rPr sz="1800" dirty="0" err="1">
                          <a:solidFill>
                            <a:srgbClr val="1E2A44"/>
                          </a:solidFill>
                          <a:latin typeface="Calibri"/>
                          <a:ea typeface="Calibri"/>
                          <a:cs typeface="Calibri"/>
                        </a:rPr>
                        <a:t>transpiler</a:t>
                      </a:r>
                      <a:endParaRPr sz="1800" dirty="0">
                        <a:solidFill>
                          <a:srgbClr val="1E2A44"/>
                        </a:solidFill>
                        <a:latin typeface="Calibri"/>
                        <a:ea typeface="Calibri"/>
                        <a:cs typeface="Calibri"/>
                      </a:endParaRPr>
                    </a:p>
                  </a:txBody>
                  <a:tcPr marL="54864" marR="54864" marT="18288" marB="18288" anchor="ctr">
                    <a:solidFill>
                      <a:srgbClr val="EFF4FA"/>
                    </a:solidFill>
                  </a:tcPr>
                </a:tc>
                <a:tc>
                  <a:txBody>
                    <a:bodyPr/>
                    <a:lstStyle/>
                    <a:p>
                      <a:r>
                        <a:rPr sz="15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5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5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5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500" dirty="0">
                          <a:solidFill>
                            <a:srgbClr val="1E2A44"/>
                          </a:solidFill>
                          <a:latin typeface="Calibri"/>
                          <a:ea typeface="Calibri"/>
                          <a:cs typeface="Calibri"/>
                        </a:rPr>
                        <a:t>✓</a:t>
                      </a:r>
                    </a:p>
                  </a:txBody>
                  <a:tcPr marL="54864" marR="54864" marT="18288" marB="18288" anchor="ctr">
                    <a:solidFill>
                      <a:srgbClr val="EFF4FA"/>
                    </a:solidFill>
                  </a:tcPr>
                </a:tc>
                <a:extLst>
                  <a:ext uri="{0D108BD9-81ED-4DB2-BD59-A6C34878D82A}">
                    <a16:rowId xmlns:a16="http://schemas.microsoft.com/office/drawing/2014/main" val="10010"/>
                  </a:ext>
                </a:extLst>
              </a:tr>
            </a:tbl>
          </a:graphicData>
        </a:graphic>
      </p:graphicFrame>
      <p:sp>
        <p:nvSpPr>
          <p:cNvPr id="6" name="TextBox 5">
            <a:extLst>
              <a:ext uri="{FF2B5EF4-FFF2-40B4-BE49-F238E27FC236}">
                <a16:creationId xmlns:a16="http://schemas.microsoft.com/office/drawing/2014/main" id="{C6ACC585-9E0C-4BA3-9864-8DCFB4273F32}"/>
              </a:ext>
            </a:extLst>
          </p:cNvPr>
          <p:cNvSpPr>
            <a:spLocks noGrp="1"/>
          </p:cNvSpPr>
          <p:nvPr/>
        </p:nvSpPr>
        <p:spPr>
          <a:xfrm>
            <a:off x="640080" y="6501385"/>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7" name="TextBox 6">
            <a:extLst>
              <a:ext uri="{FF2B5EF4-FFF2-40B4-BE49-F238E27FC236}">
                <a16:creationId xmlns:a16="http://schemas.microsoft.com/office/drawing/2014/main" id="{89FA11DE-C3D5-4BE5-BEE2-5BCBC38DC781}"/>
              </a:ext>
            </a:extLst>
          </p:cNvPr>
          <p:cNvSpPr>
            <a:spLocks noGrp="1"/>
          </p:cNvSpPr>
          <p:nvPr/>
        </p:nvSpPr>
        <p:spPr>
          <a:xfrm>
            <a:off x="11155680" y="6473952"/>
            <a:ext cx="822960" cy="274320"/>
          </a:xfrm>
          <a:prstGeom prst="rect">
            <a:avLst/>
          </a:prstGeom>
          <a:noFill/>
        </p:spPr>
        <p:txBody>
          <a:bodyPr wrap="square" lIns="36576" tIns="18288" rIns="36576" bIns="18288">
            <a:spAutoFit/>
          </a:bodyPr>
          <a:lstStyle/>
          <a:p>
            <a:pPr algn="r">
              <a:buNone/>
            </a:pPr>
            <a:r>
              <a:rPr sz="850" b="1" i="0">
                <a:solidFill>
                  <a:srgbClr val="64748C"/>
                </a:solidFill>
                <a:latin typeface="Calibri"/>
                <a:ea typeface="Calibri"/>
                <a:cs typeface="Calibri"/>
              </a:rPr>
              <a:t>8</a:t>
            </a:r>
          </a:p>
        </p:txBody>
      </p:sp>
      <p:pic>
        <p:nvPicPr>
          <p:cNvPr id="8" name="Image 0" descr="/mnt/data/cusit_logo.png"/>
          <p:cNvPicPr>
            <a:picLocks noChangeAspect="1"/>
          </p:cNvPicPr>
          <p:nvPr/>
        </p:nvPicPr>
        <p:blipFill>
          <a:blip r:embed="rId3"/>
          <a:stretch>
            <a:fillRect/>
          </a:stretch>
        </p:blipFill>
        <p:spPr>
          <a:xfrm>
            <a:off x="10903999" y="23078"/>
            <a:ext cx="1269586" cy="634793"/>
          </a:xfrm>
          <a:prstGeom prst="rect">
            <a:avLst/>
          </a:prstGeom>
        </p:spPr>
      </p:pic>
      <p:sp>
        <p:nvSpPr>
          <p:cNvPr id="11" name="TextBox 10">
            <a:extLst>
              <a:ext uri="{FF2B5EF4-FFF2-40B4-BE49-F238E27FC236}">
                <a16:creationId xmlns:a16="http://schemas.microsoft.com/office/drawing/2014/main" id="{8C3EA295-C07A-40E3-89F5-7EEAAC5BD553}"/>
              </a:ext>
            </a:extLst>
          </p:cNvPr>
          <p:cNvSpPr>
            <a:spLocks noGrp="1"/>
          </p:cNvSpPr>
          <p:nvPr/>
        </p:nvSpPr>
        <p:spPr>
          <a:xfrm>
            <a:off x="640080" y="6000000"/>
            <a:ext cx="11064240" cy="369332"/>
          </a:xfrm>
          <a:prstGeom prst="rect">
            <a:avLst/>
          </a:prstGeom>
          <a:noFill/>
        </p:spPr>
        <p:txBody>
          <a:bodyPr wrap="square">
            <a:spAutoFit/>
          </a:bodyPr>
          <a:lstStyle/>
          <a:p>
            <a:r>
              <a:rPr i="1" dirty="0">
                <a:solidFill>
                  <a:srgbClr val="64748C"/>
                </a:solidFill>
                <a:latin typeface="Calibri"/>
                <a:ea typeface="Calibri"/>
                <a:cs typeface="Calibri"/>
              </a:rPr>
              <a:t>✓  Yes   ·   ◐  Partial   ·   ✗  No</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F22466-AF26-4553-988C-F5207D3A8F5E}"/>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800"/>
          </a:p>
        </p:txBody>
      </p:sp>
      <p:sp>
        <p:nvSpPr>
          <p:cNvPr id="3" name="TextBox 2">
            <a:extLst>
              <a:ext uri="{FF2B5EF4-FFF2-40B4-BE49-F238E27FC236}">
                <a16:creationId xmlns:a16="http://schemas.microsoft.com/office/drawing/2014/main" id="{F2A60DC3-5578-40E0-9BCA-AFB35E5C485E}"/>
              </a:ext>
            </a:extLst>
          </p:cNvPr>
          <p:cNvSpPr>
            <a:spLocks noGrp="1"/>
          </p:cNvSpPr>
          <p:nvPr/>
        </p:nvSpPr>
        <p:spPr>
          <a:xfrm>
            <a:off x="640080" y="384048"/>
            <a:ext cx="10972800" cy="305276"/>
          </a:xfrm>
          <a:prstGeom prst="rect">
            <a:avLst/>
          </a:prstGeom>
          <a:noFill/>
        </p:spPr>
        <p:txBody>
          <a:bodyPr wrap="square" lIns="27432" tIns="27432" rIns="27432" bIns="27432" anchor="t">
            <a:spAutoFit/>
          </a:bodyPr>
          <a:lstStyle/>
          <a:p>
            <a:pPr algn="l">
              <a:lnSpc>
                <a:spcPct val="106000"/>
              </a:lnSpc>
              <a:spcAft>
                <a:spcPts val="300"/>
              </a:spcAft>
              <a:buNone/>
            </a:pPr>
            <a:r>
              <a:rPr sz="1600" b="1">
                <a:solidFill>
                  <a:srgbClr val="2F6FCB"/>
                </a:solidFill>
                <a:latin typeface="Calibri"/>
                <a:ea typeface="Calibri"/>
                <a:cs typeface="Calibri"/>
              </a:rPr>
              <a:t>LITERATURE REVIEW</a:t>
            </a:r>
          </a:p>
        </p:txBody>
      </p:sp>
      <p:sp>
        <p:nvSpPr>
          <p:cNvPr id="4" name="TextBox 3">
            <a:extLst>
              <a:ext uri="{FF2B5EF4-FFF2-40B4-BE49-F238E27FC236}">
                <a16:creationId xmlns:a16="http://schemas.microsoft.com/office/drawing/2014/main" id="{23E7B06B-26A3-4CEF-9140-10056A6DB6D1}"/>
              </a:ext>
            </a:extLst>
          </p:cNvPr>
          <p:cNvSpPr>
            <a:spLocks noGrp="1"/>
          </p:cNvSpPr>
          <p:nvPr/>
        </p:nvSpPr>
        <p:spPr>
          <a:xfrm>
            <a:off x="640080" y="676656"/>
            <a:ext cx="11338560" cy="642612"/>
          </a:xfrm>
          <a:prstGeom prst="rect">
            <a:avLst/>
          </a:prstGeom>
          <a:noFill/>
        </p:spPr>
        <p:txBody>
          <a:bodyPr wrap="square" lIns="27432" tIns="27432" rIns="27432" bIns="27432" anchor="t">
            <a:spAutoFit/>
          </a:bodyPr>
          <a:lstStyle/>
          <a:p>
            <a:pPr algn="l">
              <a:lnSpc>
                <a:spcPct val="106000"/>
              </a:lnSpc>
              <a:spcAft>
                <a:spcPts val="300"/>
              </a:spcAft>
              <a:buNone/>
            </a:pPr>
            <a:r>
              <a:rPr sz="3600" b="1">
                <a:solidFill>
                  <a:srgbClr val="1E2A44"/>
                </a:solidFill>
                <a:latin typeface="Cambria"/>
                <a:ea typeface="Cambria"/>
                <a:cs typeface="Cambria"/>
              </a:rPr>
              <a:t>Seven Ways a Regression Shows Up</a:t>
            </a:r>
          </a:p>
        </p:txBody>
      </p:sp>
      <p:sp>
        <p:nvSpPr>
          <p:cNvPr id="5" name="Rounded Rectangle 4">
            <a:extLst>
              <a:ext uri="{FF2B5EF4-FFF2-40B4-BE49-F238E27FC236}">
                <a16:creationId xmlns:a16="http://schemas.microsoft.com/office/drawing/2014/main" id="{28862F75-DEFE-486D-9212-046C8FFCD7B4}"/>
              </a:ext>
            </a:extLst>
          </p:cNvPr>
          <p:cNvSpPr>
            <a:spLocks noGrp="1"/>
          </p:cNvSpPr>
          <p:nvPr/>
        </p:nvSpPr>
        <p:spPr>
          <a:xfrm>
            <a:off x="640080" y="1463040"/>
            <a:ext cx="10927080" cy="786384"/>
          </a:xfrm>
          <a:prstGeom prst="roundRect">
            <a:avLst/>
          </a:prstGeom>
          <a:solidFill>
            <a:srgbClr val="F1F6FC"/>
          </a:solidFill>
          <a:ln w="15875">
            <a:solidFill>
              <a:srgbClr val="2F6FC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800"/>
          </a:p>
        </p:txBody>
      </p:sp>
      <p:sp>
        <p:nvSpPr>
          <p:cNvPr id="6" name="TextBox 5">
            <a:extLst>
              <a:ext uri="{FF2B5EF4-FFF2-40B4-BE49-F238E27FC236}">
                <a16:creationId xmlns:a16="http://schemas.microsoft.com/office/drawing/2014/main" id="{FF05ED1E-3C79-4347-8FD9-468E843D87C9}"/>
              </a:ext>
            </a:extLst>
          </p:cNvPr>
          <p:cNvSpPr>
            <a:spLocks noGrp="1"/>
          </p:cNvSpPr>
          <p:nvPr/>
        </p:nvSpPr>
        <p:spPr>
          <a:xfrm>
            <a:off x="841248" y="1534926"/>
            <a:ext cx="10561320" cy="642612"/>
          </a:xfrm>
          <a:prstGeom prst="rect">
            <a:avLst/>
          </a:prstGeom>
          <a:noFill/>
        </p:spPr>
        <p:txBody>
          <a:bodyPr wrap="square" lIns="27432" tIns="27432" rIns="27432" bIns="27432" anchor="ctr">
            <a:spAutoFit/>
          </a:bodyPr>
          <a:lstStyle/>
          <a:p>
            <a:pPr algn="l">
              <a:lnSpc>
                <a:spcPct val="106000"/>
              </a:lnSpc>
              <a:spcAft>
                <a:spcPts val="300"/>
              </a:spcAft>
              <a:buNone/>
            </a:pPr>
            <a:r>
              <a:rPr b="0">
                <a:solidFill>
                  <a:srgbClr val="1D4E89"/>
                </a:solidFill>
                <a:latin typeface="Calibri"/>
                <a:ea typeface="Calibri"/>
                <a:cs typeface="Calibri"/>
              </a:rPr>
              <a:t>A single transpiler regression can surface through seven channels. The reference screen watches four of them. The other three have no standard oracle, and that blind spot is the observability gap this research targets.</a:t>
            </a:r>
          </a:p>
        </p:txBody>
      </p:sp>
      <p:sp>
        <p:nvSpPr>
          <p:cNvPr id="7" name="Rounded Rectangle 6">
            <a:extLst>
              <a:ext uri="{FF2B5EF4-FFF2-40B4-BE49-F238E27FC236}">
                <a16:creationId xmlns:a16="http://schemas.microsoft.com/office/drawing/2014/main" id="{CB87DFBD-AF2F-4262-80F9-998667B21B49}"/>
              </a:ext>
            </a:extLst>
          </p:cNvPr>
          <p:cNvSpPr>
            <a:spLocks noGrp="1"/>
          </p:cNvSpPr>
          <p:nvPr/>
        </p:nvSpPr>
        <p:spPr>
          <a:xfrm>
            <a:off x="640080" y="2468880"/>
            <a:ext cx="6956080" cy="3611880"/>
          </a:xfrm>
          <a:prstGeom prst="roundRect">
            <a:avLst/>
          </a:prstGeom>
          <a:solidFill>
            <a:srgbClr val="F2F5FA"/>
          </a:solidFill>
          <a:ln w="15875">
            <a:solidFill>
              <a:srgbClr val="2F6FC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800"/>
          </a:p>
        </p:txBody>
      </p:sp>
      <p:sp>
        <p:nvSpPr>
          <p:cNvPr id="8" name="TextBox 7">
            <a:extLst>
              <a:ext uri="{FF2B5EF4-FFF2-40B4-BE49-F238E27FC236}">
                <a16:creationId xmlns:a16="http://schemas.microsoft.com/office/drawing/2014/main" id="{7B779E08-2C1C-4FC0-BE26-98259269F1F8}"/>
              </a:ext>
            </a:extLst>
          </p:cNvPr>
          <p:cNvSpPr>
            <a:spLocks noGrp="1"/>
          </p:cNvSpPr>
          <p:nvPr/>
        </p:nvSpPr>
        <p:spPr>
          <a:xfrm>
            <a:off x="868680" y="2596896"/>
            <a:ext cx="6766560" cy="349006"/>
          </a:xfrm>
          <a:prstGeom prst="rect">
            <a:avLst/>
          </a:prstGeom>
          <a:noFill/>
        </p:spPr>
        <p:txBody>
          <a:bodyPr wrap="square" lIns="27432" tIns="27432" rIns="27432" bIns="27432" anchor="t">
            <a:spAutoFit/>
          </a:bodyPr>
          <a:lstStyle/>
          <a:p>
            <a:pPr algn="l">
              <a:lnSpc>
                <a:spcPct val="106000"/>
              </a:lnSpc>
              <a:spcAft>
                <a:spcPts val="300"/>
              </a:spcAft>
              <a:buNone/>
            </a:pPr>
            <a:r>
              <a:rPr b="1">
                <a:solidFill>
                  <a:srgbClr val="1D4E89"/>
                </a:solidFill>
                <a:latin typeface="Calibri"/>
                <a:ea typeface="Calibri"/>
                <a:cs typeface="Calibri"/>
              </a:rPr>
              <a:t>WATCHED BY THE REFERENCE SCREEN</a:t>
            </a:r>
          </a:p>
        </p:txBody>
      </p:sp>
      <p:sp>
        <p:nvSpPr>
          <p:cNvPr id="9" name="TextBox 8">
            <a:extLst>
              <a:ext uri="{FF2B5EF4-FFF2-40B4-BE49-F238E27FC236}">
                <a16:creationId xmlns:a16="http://schemas.microsoft.com/office/drawing/2014/main" id="{7A9445A5-FC19-4F69-9937-A70A7DF97D6F}"/>
              </a:ext>
            </a:extLst>
          </p:cNvPr>
          <p:cNvSpPr>
            <a:spLocks noGrp="1"/>
          </p:cNvSpPr>
          <p:nvPr/>
        </p:nvSpPr>
        <p:spPr>
          <a:xfrm>
            <a:off x="868680" y="3044952"/>
            <a:ext cx="6766560" cy="598112"/>
          </a:xfrm>
          <a:prstGeom prst="rect">
            <a:avLst/>
          </a:prstGeom>
          <a:noFill/>
        </p:spPr>
        <p:txBody>
          <a:bodyPr wrap="square" lIns="27432" tIns="27432" rIns="27432" bIns="27432" anchor="t">
            <a:spAutoFit/>
          </a:bodyPr>
          <a:lstStyle/>
          <a:p>
            <a:pPr algn="l">
              <a:lnSpc>
                <a:spcPct val="105000"/>
              </a:lnSpc>
              <a:spcAft>
                <a:spcPts val="200"/>
              </a:spcAft>
              <a:buNone/>
            </a:pPr>
            <a:r>
              <a:rPr b="1">
                <a:solidFill>
                  <a:srgbClr val="2F6FCB"/>
                </a:solidFill>
                <a:latin typeface="Calibri"/>
                <a:ea typeface="Calibri"/>
                <a:cs typeface="Calibri"/>
              </a:rPr>
              <a:t>▪  </a:t>
            </a:r>
            <a:r>
              <a:rPr b="1">
                <a:solidFill>
                  <a:srgbClr val="1E2A44"/>
                </a:solidFill>
                <a:latin typeface="Calibri"/>
                <a:ea typeface="Calibri"/>
                <a:cs typeface="Calibri"/>
              </a:rPr>
              <a:t>Semantic difference</a:t>
            </a:r>
          </a:p>
          <a:p>
            <a:pPr algn="l">
              <a:lnSpc>
                <a:spcPct val="105000"/>
              </a:lnSpc>
              <a:spcAft>
                <a:spcPts val="200"/>
              </a:spcAft>
              <a:buNone/>
            </a:pPr>
            <a:r>
              <a:rPr sz="1400" b="0">
                <a:solidFill>
                  <a:srgbClr val="64748C"/>
                </a:solidFill>
                <a:latin typeface="Calibri"/>
                <a:ea typeface="Calibri"/>
                <a:cs typeface="Calibri"/>
              </a:rPr>
              <a:t>     The compiled circuit now computes a different unitary (Burgholzer &amp; Wille, 2021; Mei et al., 2026).</a:t>
            </a:r>
          </a:p>
        </p:txBody>
      </p:sp>
      <p:sp>
        <p:nvSpPr>
          <p:cNvPr id="10" name="TextBox 9">
            <a:extLst>
              <a:ext uri="{FF2B5EF4-FFF2-40B4-BE49-F238E27FC236}">
                <a16:creationId xmlns:a16="http://schemas.microsoft.com/office/drawing/2014/main" id="{7F5343B3-E6C3-447E-880B-0741B106D503}"/>
              </a:ext>
            </a:extLst>
          </p:cNvPr>
          <p:cNvSpPr>
            <a:spLocks noGrp="1"/>
          </p:cNvSpPr>
          <p:nvPr/>
        </p:nvSpPr>
        <p:spPr>
          <a:xfrm>
            <a:off x="868680" y="3776472"/>
            <a:ext cx="6766560" cy="598112"/>
          </a:xfrm>
          <a:prstGeom prst="rect">
            <a:avLst/>
          </a:prstGeom>
          <a:noFill/>
        </p:spPr>
        <p:txBody>
          <a:bodyPr wrap="square" lIns="27432" tIns="27432" rIns="27432" bIns="27432" anchor="t">
            <a:spAutoFit/>
          </a:bodyPr>
          <a:lstStyle/>
          <a:p>
            <a:pPr algn="l">
              <a:lnSpc>
                <a:spcPct val="105000"/>
              </a:lnSpc>
              <a:spcAft>
                <a:spcPts val="200"/>
              </a:spcAft>
              <a:buNone/>
            </a:pPr>
            <a:r>
              <a:rPr b="1">
                <a:solidFill>
                  <a:srgbClr val="2F6FCB"/>
                </a:solidFill>
                <a:latin typeface="Calibri"/>
                <a:ea typeface="Calibri"/>
                <a:cs typeface="Calibri"/>
              </a:rPr>
              <a:t>▪  </a:t>
            </a:r>
            <a:r>
              <a:rPr b="1">
                <a:solidFill>
                  <a:srgbClr val="1E2A44"/>
                </a:solidFill>
                <a:latin typeface="Calibri"/>
                <a:ea typeface="Calibri"/>
                <a:cs typeface="Calibri"/>
              </a:rPr>
              <a:t>Compilation failure</a:t>
            </a:r>
          </a:p>
          <a:p>
            <a:pPr algn="l">
              <a:lnSpc>
                <a:spcPct val="105000"/>
              </a:lnSpc>
              <a:spcAft>
                <a:spcPts val="200"/>
              </a:spcAft>
              <a:buNone/>
            </a:pPr>
            <a:r>
              <a:rPr sz="1400" b="0">
                <a:solidFill>
                  <a:srgbClr val="64748C"/>
                </a:solidFill>
                <a:latin typeface="Calibri"/>
                <a:ea typeface="Calibri"/>
                <a:cs typeface="Calibri"/>
              </a:rPr>
              <a:t>     The transpiler crashes or refuses to produce a circuit (Paltenghi &amp; Pradel, 2022).</a:t>
            </a:r>
          </a:p>
        </p:txBody>
      </p:sp>
      <p:sp>
        <p:nvSpPr>
          <p:cNvPr id="11" name="TextBox 10">
            <a:extLst>
              <a:ext uri="{FF2B5EF4-FFF2-40B4-BE49-F238E27FC236}">
                <a16:creationId xmlns:a16="http://schemas.microsoft.com/office/drawing/2014/main" id="{787C829E-8172-4FB0-937D-89FA8489740B}"/>
              </a:ext>
            </a:extLst>
          </p:cNvPr>
          <p:cNvSpPr>
            <a:spLocks noGrp="1"/>
          </p:cNvSpPr>
          <p:nvPr/>
        </p:nvSpPr>
        <p:spPr>
          <a:xfrm>
            <a:off x="868680" y="4507992"/>
            <a:ext cx="6766560" cy="598112"/>
          </a:xfrm>
          <a:prstGeom prst="rect">
            <a:avLst/>
          </a:prstGeom>
          <a:noFill/>
        </p:spPr>
        <p:txBody>
          <a:bodyPr wrap="square" lIns="27432" tIns="27432" rIns="27432" bIns="27432" anchor="t">
            <a:spAutoFit/>
          </a:bodyPr>
          <a:lstStyle/>
          <a:p>
            <a:pPr algn="l">
              <a:lnSpc>
                <a:spcPct val="105000"/>
              </a:lnSpc>
              <a:spcAft>
                <a:spcPts val="200"/>
              </a:spcAft>
              <a:buNone/>
            </a:pPr>
            <a:r>
              <a:rPr b="1">
                <a:solidFill>
                  <a:srgbClr val="2F6FCB"/>
                </a:solidFill>
                <a:latin typeface="Calibri"/>
                <a:ea typeface="Calibri"/>
                <a:cs typeface="Calibri"/>
              </a:rPr>
              <a:t>▪  </a:t>
            </a:r>
            <a:r>
              <a:rPr b="1">
                <a:solidFill>
                  <a:srgbClr val="1E2A44"/>
                </a:solidFill>
                <a:latin typeface="Calibri"/>
                <a:ea typeface="Calibri"/>
                <a:cs typeface="Calibri"/>
              </a:rPr>
              <a:t>Circuit-quality regression</a:t>
            </a:r>
          </a:p>
          <a:p>
            <a:pPr algn="l">
              <a:lnSpc>
                <a:spcPct val="105000"/>
              </a:lnSpc>
              <a:spcAft>
                <a:spcPts val="200"/>
              </a:spcAft>
              <a:buNone/>
            </a:pPr>
            <a:r>
              <a:rPr sz="1400" b="0">
                <a:solidFill>
                  <a:srgbClr val="64748C"/>
                </a:solidFill>
                <a:latin typeface="Calibri"/>
                <a:ea typeface="Calibri"/>
                <a:cs typeface="Calibri"/>
              </a:rPr>
              <a:t>     The output is correct but has more gates or greater depth (Choudhury et al., 2025).</a:t>
            </a:r>
          </a:p>
        </p:txBody>
      </p:sp>
      <p:sp>
        <p:nvSpPr>
          <p:cNvPr id="12" name="TextBox 11">
            <a:extLst>
              <a:ext uri="{FF2B5EF4-FFF2-40B4-BE49-F238E27FC236}">
                <a16:creationId xmlns:a16="http://schemas.microsoft.com/office/drawing/2014/main" id="{D07D66B4-D3F1-497D-BBBF-B4C885BF97B2}"/>
              </a:ext>
            </a:extLst>
          </p:cNvPr>
          <p:cNvSpPr>
            <a:spLocks noGrp="1"/>
          </p:cNvSpPr>
          <p:nvPr/>
        </p:nvSpPr>
        <p:spPr>
          <a:xfrm>
            <a:off x="868680" y="5239512"/>
            <a:ext cx="6766560" cy="598112"/>
          </a:xfrm>
          <a:prstGeom prst="rect">
            <a:avLst/>
          </a:prstGeom>
          <a:noFill/>
        </p:spPr>
        <p:txBody>
          <a:bodyPr wrap="square" lIns="27432" tIns="27432" rIns="27432" bIns="27432" anchor="t">
            <a:spAutoFit/>
          </a:bodyPr>
          <a:lstStyle/>
          <a:p>
            <a:pPr algn="l">
              <a:lnSpc>
                <a:spcPct val="105000"/>
              </a:lnSpc>
              <a:spcAft>
                <a:spcPts val="200"/>
              </a:spcAft>
              <a:buNone/>
            </a:pPr>
            <a:r>
              <a:rPr b="1">
                <a:solidFill>
                  <a:srgbClr val="2F6FCB"/>
                </a:solidFill>
                <a:latin typeface="Calibri"/>
                <a:ea typeface="Calibri"/>
                <a:cs typeface="Calibri"/>
              </a:rPr>
              <a:t>▪  </a:t>
            </a:r>
            <a:r>
              <a:rPr b="1">
                <a:solidFill>
                  <a:srgbClr val="1E2A44"/>
                </a:solidFill>
                <a:latin typeface="Calibri"/>
                <a:ea typeface="Calibri"/>
                <a:cs typeface="Calibri"/>
              </a:rPr>
              <a:t>Performance regression</a:t>
            </a:r>
          </a:p>
          <a:p>
            <a:pPr algn="l">
              <a:lnSpc>
                <a:spcPct val="105000"/>
              </a:lnSpc>
              <a:spcAft>
                <a:spcPts val="200"/>
              </a:spcAft>
              <a:buNone/>
            </a:pPr>
            <a:r>
              <a:rPr sz="1400" b="0">
                <a:solidFill>
                  <a:srgbClr val="64748C"/>
                </a:solidFill>
                <a:latin typeface="Calibri"/>
                <a:ea typeface="Calibri"/>
                <a:cs typeface="Calibri"/>
              </a:rPr>
              <a:t>     The circuit is correct, but transpilation takes far longer (Nation et al., 2025).</a:t>
            </a:r>
          </a:p>
        </p:txBody>
      </p:sp>
      <p:sp>
        <p:nvSpPr>
          <p:cNvPr id="13" name="Rounded Rectangle 12">
            <a:extLst>
              <a:ext uri="{FF2B5EF4-FFF2-40B4-BE49-F238E27FC236}">
                <a16:creationId xmlns:a16="http://schemas.microsoft.com/office/drawing/2014/main" id="{02249842-BA9E-4945-A9CE-5DA2424F17B0}"/>
              </a:ext>
            </a:extLst>
          </p:cNvPr>
          <p:cNvSpPr>
            <a:spLocks noGrp="1"/>
          </p:cNvSpPr>
          <p:nvPr/>
        </p:nvSpPr>
        <p:spPr>
          <a:xfrm>
            <a:off x="7831000" y="2468880"/>
            <a:ext cx="4126160" cy="3611880"/>
          </a:xfrm>
          <a:prstGeom prst="roundRect">
            <a:avLst/>
          </a:prstGeom>
          <a:solidFill>
            <a:srgbClr val="F2F5FA"/>
          </a:solidFill>
          <a:ln w="15875">
            <a:solidFill>
              <a:srgbClr val="2F6FC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800"/>
          </a:p>
        </p:txBody>
      </p:sp>
      <p:sp>
        <p:nvSpPr>
          <p:cNvPr id="14" name="TextBox 13">
            <a:extLst>
              <a:ext uri="{FF2B5EF4-FFF2-40B4-BE49-F238E27FC236}">
                <a16:creationId xmlns:a16="http://schemas.microsoft.com/office/drawing/2014/main" id="{2D2DD6C6-91DD-4C54-B72A-141BF7690AAB}"/>
              </a:ext>
            </a:extLst>
          </p:cNvPr>
          <p:cNvSpPr>
            <a:spLocks noGrp="1"/>
          </p:cNvSpPr>
          <p:nvPr/>
        </p:nvSpPr>
        <p:spPr>
          <a:xfrm>
            <a:off x="8059600" y="2596896"/>
            <a:ext cx="3714680" cy="349006"/>
          </a:xfrm>
          <a:prstGeom prst="rect">
            <a:avLst/>
          </a:prstGeom>
          <a:noFill/>
        </p:spPr>
        <p:txBody>
          <a:bodyPr wrap="square" lIns="27432" tIns="27432" rIns="27432" bIns="27432" anchor="t">
            <a:spAutoFit/>
          </a:bodyPr>
          <a:lstStyle/>
          <a:p>
            <a:pPr algn="l">
              <a:lnSpc>
                <a:spcPct val="106000"/>
              </a:lnSpc>
              <a:spcAft>
                <a:spcPts val="300"/>
              </a:spcAft>
              <a:buNone/>
            </a:pPr>
            <a:r>
              <a:rPr b="1">
                <a:solidFill>
                  <a:srgbClr val="1D4E89"/>
                </a:solidFill>
                <a:latin typeface="Calibri"/>
                <a:ea typeface="Calibri"/>
                <a:cs typeface="Calibri"/>
              </a:rPr>
              <a:t>THE OBSERVABILITY GAP</a:t>
            </a:r>
          </a:p>
        </p:txBody>
      </p:sp>
      <p:sp>
        <p:nvSpPr>
          <p:cNvPr id="15" name="TextBox 14">
            <a:extLst>
              <a:ext uri="{FF2B5EF4-FFF2-40B4-BE49-F238E27FC236}">
                <a16:creationId xmlns:a16="http://schemas.microsoft.com/office/drawing/2014/main" id="{0F7EC0CF-EE6F-4097-BBB1-2E7DC6AE6432}"/>
              </a:ext>
            </a:extLst>
          </p:cNvPr>
          <p:cNvSpPr>
            <a:spLocks noGrp="1"/>
          </p:cNvSpPr>
          <p:nvPr/>
        </p:nvSpPr>
        <p:spPr>
          <a:xfrm>
            <a:off x="8059600" y="2871216"/>
            <a:ext cx="3714680" cy="283796"/>
          </a:xfrm>
          <a:prstGeom prst="rect">
            <a:avLst/>
          </a:prstGeom>
          <a:noFill/>
        </p:spPr>
        <p:txBody>
          <a:bodyPr wrap="square" lIns="27432" tIns="27432" rIns="27432" bIns="27432" anchor="t">
            <a:spAutoFit/>
          </a:bodyPr>
          <a:lstStyle/>
          <a:p>
            <a:pPr algn="l">
              <a:lnSpc>
                <a:spcPct val="106000"/>
              </a:lnSpc>
              <a:spcAft>
                <a:spcPts val="300"/>
              </a:spcAft>
              <a:buNone/>
            </a:pPr>
            <a:r>
              <a:rPr sz="1400" b="0">
                <a:solidFill>
                  <a:srgbClr val="64748C"/>
                </a:solidFill>
                <a:latin typeface="Calibri"/>
                <a:ea typeface="Calibri"/>
                <a:cs typeface="Calibri"/>
              </a:rPr>
              <a:t>no standard oracle</a:t>
            </a:r>
          </a:p>
        </p:txBody>
      </p:sp>
      <p:sp>
        <p:nvSpPr>
          <p:cNvPr id="16" name="TextBox 15">
            <a:extLst>
              <a:ext uri="{FF2B5EF4-FFF2-40B4-BE49-F238E27FC236}">
                <a16:creationId xmlns:a16="http://schemas.microsoft.com/office/drawing/2014/main" id="{5D594739-D5CC-43A1-BDE8-52E8A9F96808}"/>
              </a:ext>
            </a:extLst>
          </p:cNvPr>
          <p:cNvSpPr>
            <a:spLocks noGrp="1"/>
          </p:cNvSpPr>
          <p:nvPr/>
        </p:nvSpPr>
        <p:spPr>
          <a:xfrm>
            <a:off x="8059600" y="3218688"/>
            <a:ext cx="3714680" cy="824328"/>
          </a:xfrm>
          <a:prstGeom prst="rect">
            <a:avLst/>
          </a:prstGeom>
          <a:noFill/>
        </p:spPr>
        <p:txBody>
          <a:bodyPr wrap="square" lIns="27432" tIns="27432" rIns="27432" bIns="27432" anchor="t">
            <a:spAutoFit/>
          </a:bodyPr>
          <a:lstStyle/>
          <a:p>
            <a:pPr algn="l">
              <a:lnSpc>
                <a:spcPct val="105000"/>
              </a:lnSpc>
              <a:spcAft>
                <a:spcPts val="200"/>
              </a:spcAft>
              <a:buNone/>
            </a:pPr>
            <a:r>
              <a:rPr b="1">
                <a:solidFill>
                  <a:srgbClr val="2F6FCB"/>
                </a:solidFill>
                <a:latin typeface="Calibri"/>
                <a:ea typeface="Calibri"/>
                <a:cs typeface="Calibri"/>
              </a:rPr>
              <a:t>▪  </a:t>
            </a:r>
            <a:r>
              <a:rPr b="1">
                <a:solidFill>
                  <a:srgbClr val="1E2A44"/>
                </a:solidFill>
                <a:latin typeface="Calibri"/>
                <a:ea typeface="Calibri"/>
                <a:cs typeface="Calibri"/>
              </a:rPr>
              <a:t>Contract / metadata</a:t>
            </a:r>
          </a:p>
          <a:p>
            <a:pPr algn="l">
              <a:lnSpc>
                <a:spcPct val="105000"/>
              </a:lnSpc>
              <a:spcAft>
                <a:spcPts val="200"/>
              </a:spcAft>
              <a:buNone/>
            </a:pPr>
            <a:r>
              <a:rPr sz="1400" b="0">
                <a:solidFill>
                  <a:srgbClr val="64748C"/>
                </a:solidFill>
                <a:latin typeface="Calibri"/>
                <a:ea typeface="Calibri"/>
                <a:cs typeface="Calibri"/>
              </a:rPr>
              <a:t>     The output looks right, but the recorded qubit mapping is wrong (Shi et al., 2019; Tao et al., 2022).</a:t>
            </a:r>
          </a:p>
        </p:txBody>
      </p:sp>
      <p:sp>
        <p:nvSpPr>
          <p:cNvPr id="17" name="TextBox 16">
            <a:extLst>
              <a:ext uri="{FF2B5EF4-FFF2-40B4-BE49-F238E27FC236}">
                <a16:creationId xmlns:a16="http://schemas.microsoft.com/office/drawing/2014/main" id="{63C90DF2-0AD2-453B-8250-AB3DA44F3B1E}"/>
              </a:ext>
            </a:extLst>
          </p:cNvPr>
          <p:cNvSpPr>
            <a:spLocks noGrp="1"/>
          </p:cNvSpPr>
          <p:nvPr/>
        </p:nvSpPr>
        <p:spPr>
          <a:xfrm>
            <a:off x="8059600" y="4151376"/>
            <a:ext cx="3714680" cy="824328"/>
          </a:xfrm>
          <a:prstGeom prst="rect">
            <a:avLst/>
          </a:prstGeom>
          <a:noFill/>
        </p:spPr>
        <p:txBody>
          <a:bodyPr wrap="square" lIns="27432" tIns="27432" rIns="27432" bIns="27432" anchor="t">
            <a:spAutoFit/>
          </a:bodyPr>
          <a:lstStyle/>
          <a:p>
            <a:pPr algn="l">
              <a:lnSpc>
                <a:spcPct val="105000"/>
              </a:lnSpc>
              <a:spcAft>
                <a:spcPts val="200"/>
              </a:spcAft>
              <a:buNone/>
            </a:pPr>
            <a:r>
              <a:rPr b="1">
                <a:solidFill>
                  <a:srgbClr val="2F6FCB"/>
                </a:solidFill>
                <a:latin typeface="Calibri"/>
                <a:ea typeface="Calibri"/>
                <a:cs typeface="Calibri"/>
              </a:rPr>
              <a:t>▪  </a:t>
            </a:r>
            <a:r>
              <a:rPr b="1">
                <a:solidFill>
                  <a:srgbClr val="1E2A44"/>
                </a:solidFill>
                <a:latin typeface="Calibri"/>
                <a:ea typeface="Calibri"/>
                <a:cs typeface="Calibri"/>
              </a:rPr>
              <a:t>Non-determinism</a:t>
            </a:r>
          </a:p>
          <a:p>
            <a:pPr algn="l">
              <a:lnSpc>
                <a:spcPct val="105000"/>
              </a:lnSpc>
              <a:spcAft>
                <a:spcPts val="200"/>
              </a:spcAft>
              <a:buNone/>
            </a:pPr>
            <a:r>
              <a:rPr sz="1400" b="0">
                <a:solidFill>
                  <a:srgbClr val="64748C"/>
                </a:solidFill>
                <a:latin typeface="Calibri"/>
                <a:ea typeface="Calibri"/>
                <a:cs typeface="Calibri"/>
              </a:rPr>
              <a:t>     Different results across runs with identical settings (Kang et al., 2024; Lee et al., 2025).</a:t>
            </a:r>
          </a:p>
        </p:txBody>
      </p:sp>
      <p:sp>
        <p:nvSpPr>
          <p:cNvPr id="18" name="TextBox 17">
            <a:extLst>
              <a:ext uri="{FF2B5EF4-FFF2-40B4-BE49-F238E27FC236}">
                <a16:creationId xmlns:a16="http://schemas.microsoft.com/office/drawing/2014/main" id="{EEF22B11-4C68-40B6-9E40-C05CAADEB1E7}"/>
              </a:ext>
            </a:extLst>
          </p:cNvPr>
          <p:cNvSpPr>
            <a:spLocks noGrp="1"/>
          </p:cNvSpPr>
          <p:nvPr/>
        </p:nvSpPr>
        <p:spPr>
          <a:xfrm>
            <a:off x="8059600" y="5084064"/>
            <a:ext cx="3714680" cy="824328"/>
          </a:xfrm>
          <a:prstGeom prst="rect">
            <a:avLst/>
          </a:prstGeom>
          <a:noFill/>
        </p:spPr>
        <p:txBody>
          <a:bodyPr wrap="square" lIns="27432" tIns="27432" rIns="27432" bIns="27432" anchor="t">
            <a:spAutoFit/>
          </a:bodyPr>
          <a:lstStyle/>
          <a:p>
            <a:pPr algn="l">
              <a:lnSpc>
                <a:spcPct val="105000"/>
              </a:lnSpc>
              <a:spcAft>
                <a:spcPts val="200"/>
              </a:spcAft>
              <a:buNone/>
            </a:pPr>
            <a:r>
              <a:rPr b="1" dirty="0">
                <a:solidFill>
                  <a:srgbClr val="2F6FCB"/>
                </a:solidFill>
                <a:latin typeface="Calibri"/>
                <a:ea typeface="Calibri"/>
                <a:cs typeface="Calibri"/>
              </a:rPr>
              <a:t>▪  </a:t>
            </a:r>
            <a:r>
              <a:rPr b="1" dirty="0">
                <a:solidFill>
                  <a:srgbClr val="1E2A44"/>
                </a:solidFill>
                <a:latin typeface="Calibri"/>
                <a:ea typeface="Calibri"/>
                <a:cs typeface="Calibri"/>
              </a:rPr>
              <a:t>Global-phase discrepancy</a:t>
            </a:r>
          </a:p>
          <a:p>
            <a:pPr algn="l">
              <a:lnSpc>
                <a:spcPct val="105000"/>
              </a:lnSpc>
              <a:spcAft>
                <a:spcPts val="200"/>
              </a:spcAft>
              <a:buNone/>
            </a:pPr>
            <a:r>
              <a:rPr sz="1400" b="0" dirty="0">
                <a:solidFill>
                  <a:srgbClr val="64748C"/>
                </a:solidFill>
                <a:latin typeface="Calibri"/>
                <a:ea typeface="Calibri"/>
                <a:cs typeface="Calibri"/>
              </a:rPr>
              <a:t>     An operationally relevant overall phase is dropped or changed (</a:t>
            </a:r>
            <a:r>
              <a:rPr sz="1400" b="0" dirty="0" err="1">
                <a:solidFill>
                  <a:srgbClr val="64748C"/>
                </a:solidFill>
                <a:latin typeface="Calibri"/>
                <a:ea typeface="Calibri"/>
                <a:cs typeface="Calibri"/>
              </a:rPr>
              <a:t>Burgholzer</a:t>
            </a:r>
            <a:r>
              <a:rPr sz="1400" b="0" dirty="0">
                <a:solidFill>
                  <a:srgbClr val="64748C"/>
                </a:solidFill>
                <a:latin typeface="Calibri"/>
                <a:ea typeface="Calibri"/>
                <a:cs typeface="Calibri"/>
              </a:rPr>
              <a:t> &amp; </a:t>
            </a:r>
            <a:r>
              <a:rPr sz="1400" b="0" dirty="0" err="1">
                <a:solidFill>
                  <a:srgbClr val="64748C"/>
                </a:solidFill>
                <a:latin typeface="Calibri"/>
                <a:ea typeface="Calibri"/>
                <a:cs typeface="Calibri"/>
              </a:rPr>
              <a:t>Wille</a:t>
            </a:r>
            <a:r>
              <a:rPr sz="1400" b="0" dirty="0">
                <a:solidFill>
                  <a:srgbClr val="64748C"/>
                </a:solidFill>
                <a:latin typeface="Calibri"/>
                <a:ea typeface="Calibri"/>
                <a:cs typeface="Calibri"/>
              </a:rPr>
              <a:t>, 2021).</a:t>
            </a:r>
          </a:p>
        </p:txBody>
      </p:sp>
      <p:sp>
        <p:nvSpPr>
          <p:cNvPr id="19" name="TextBox 18">
            <a:extLst>
              <a:ext uri="{FF2B5EF4-FFF2-40B4-BE49-F238E27FC236}">
                <a16:creationId xmlns:a16="http://schemas.microsoft.com/office/drawing/2014/main" id="{5590B781-0464-4F3E-85BB-422B51C88237}"/>
              </a:ext>
            </a:extLst>
          </p:cNvPr>
          <p:cNvSpPr>
            <a:spLocks noGrp="1"/>
          </p:cNvSpPr>
          <p:nvPr/>
        </p:nvSpPr>
        <p:spPr>
          <a:xfrm>
            <a:off x="640080" y="6473952"/>
            <a:ext cx="9692640" cy="211596"/>
          </a:xfrm>
          <a:prstGeom prst="rect">
            <a:avLst/>
          </a:prstGeom>
          <a:noFill/>
        </p:spPr>
        <p:txBody>
          <a:bodyPr wrap="square" lIns="27432" tIns="27432" rIns="27432" bIns="27432" anchor="t">
            <a:spAutoFit/>
          </a:bodyPr>
          <a:lstStyle/>
          <a:p>
            <a:pPr algn="l">
              <a:lnSpc>
                <a:spcPct val="106000"/>
              </a:lnSpc>
              <a:spcAft>
                <a:spcPts val="300"/>
              </a:spcAft>
              <a:buNone/>
            </a:pPr>
            <a:r>
              <a:rPr sz="1000" b="0" dirty="0">
                <a:solidFill>
                  <a:srgbClr val="64748C"/>
                </a:solidFill>
                <a:latin typeface="Calibri"/>
                <a:ea typeface="Calibri"/>
                <a:cs typeface="Calibri"/>
              </a:rPr>
              <a:t>PhD Synopsis  ·  A Leakage-Safe Framework for Observability-Aware Regression Testing of Quantum Compilers</a:t>
            </a:r>
          </a:p>
        </p:txBody>
      </p:sp>
      <p:sp>
        <p:nvSpPr>
          <p:cNvPr id="20" name="TextBox 19">
            <a:extLst>
              <a:ext uri="{FF2B5EF4-FFF2-40B4-BE49-F238E27FC236}">
                <a16:creationId xmlns:a16="http://schemas.microsoft.com/office/drawing/2014/main" id="{A80A744E-A3D3-4F91-9A8F-5DFDEDFBD8F7}"/>
              </a:ext>
            </a:extLst>
          </p:cNvPr>
          <p:cNvSpPr>
            <a:spLocks noGrp="1"/>
          </p:cNvSpPr>
          <p:nvPr/>
        </p:nvSpPr>
        <p:spPr>
          <a:xfrm>
            <a:off x="11155680" y="6473952"/>
            <a:ext cx="822960" cy="234808"/>
          </a:xfrm>
          <a:prstGeom prst="rect">
            <a:avLst/>
          </a:prstGeom>
          <a:noFill/>
        </p:spPr>
        <p:txBody>
          <a:bodyPr wrap="square" lIns="27432" tIns="27432" rIns="27432" bIns="27432" anchor="t">
            <a:spAutoFit/>
          </a:bodyPr>
          <a:lstStyle/>
          <a:p>
            <a:pPr algn="r">
              <a:lnSpc>
                <a:spcPct val="106000"/>
              </a:lnSpc>
              <a:spcAft>
                <a:spcPts val="300"/>
              </a:spcAft>
              <a:buNone/>
            </a:pPr>
            <a:r>
              <a:rPr sz="1050" b="1">
                <a:solidFill>
                  <a:srgbClr val="64748C"/>
                </a:solidFill>
                <a:latin typeface="Calibri"/>
                <a:ea typeface="Calibri"/>
                <a:cs typeface="Calibri"/>
              </a:rPr>
              <a:t>9</a:t>
            </a:r>
          </a:p>
        </p:txBody>
      </p:sp>
      <p:pic>
        <p:nvPicPr>
          <p:cNvPr id="21"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57097879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787BB9-DE6D-4BA3-B3C7-382727DED54B}"/>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142BCB95-49C8-4BD5-B307-9B6BF13832A9}"/>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LITERATURE REVIEW</a:t>
            </a:r>
          </a:p>
        </p:txBody>
      </p:sp>
      <p:sp>
        <p:nvSpPr>
          <p:cNvPr id="4" name="TextBox 3">
            <a:extLst>
              <a:ext uri="{FF2B5EF4-FFF2-40B4-BE49-F238E27FC236}">
                <a16:creationId xmlns:a16="http://schemas.microsoft.com/office/drawing/2014/main" id="{2B0B49CA-C187-4B75-8FB8-FE98D0E482BC}"/>
              </a:ext>
            </a:extLst>
          </p:cNvPr>
          <p:cNvSpPr>
            <a:spLocks noGrp="1"/>
          </p:cNvSpPr>
          <p:nvPr/>
        </p:nvSpPr>
        <p:spPr>
          <a:xfrm>
            <a:off x="640080" y="694944"/>
            <a:ext cx="11155680" cy="590931"/>
          </a:xfrm>
          <a:prstGeom prst="rect">
            <a:avLst/>
          </a:prstGeom>
          <a:noFill/>
        </p:spPr>
        <p:txBody>
          <a:bodyPr wrap="square" lIns="36576" tIns="18288" rIns="36576" bIns="18288">
            <a:spAutoFit/>
          </a:bodyPr>
          <a:lstStyle/>
          <a:p>
            <a:r>
              <a:rPr sz="3600" b="1" i="0" dirty="0">
                <a:solidFill>
                  <a:srgbClr val="1E2A44"/>
                </a:solidFill>
                <a:latin typeface="Cambria"/>
                <a:ea typeface="Cambria"/>
                <a:cs typeface="Cambria"/>
              </a:rPr>
              <a:t>What Remains Unresolved</a:t>
            </a:r>
          </a:p>
        </p:txBody>
      </p:sp>
      <p:sp>
        <p:nvSpPr>
          <p:cNvPr id="5" name="TextBox 4">
            <a:extLst>
              <a:ext uri="{FF2B5EF4-FFF2-40B4-BE49-F238E27FC236}">
                <a16:creationId xmlns:a16="http://schemas.microsoft.com/office/drawing/2014/main" id="{3D3821F7-3F64-47BF-8406-F86ACB3B87B5}"/>
              </a:ext>
            </a:extLst>
          </p:cNvPr>
          <p:cNvSpPr>
            <a:spLocks noGrp="1"/>
          </p:cNvSpPr>
          <p:nvPr/>
        </p:nvSpPr>
        <p:spPr>
          <a:xfrm>
            <a:off x="640080" y="1285875"/>
            <a:ext cx="11064240" cy="2960811"/>
          </a:xfrm>
          <a:prstGeom prst="rect">
            <a:avLst/>
          </a:prstGeom>
          <a:noFill/>
        </p:spPr>
        <p:txBody>
          <a:bodyPr wrap="square" lIns="36576" tIns="18288" rIns="36576" bIns="18288">
            <a:spAutoFit/>
          </a:bodyPr>
          <a:lstStyle/>
          <a:p>
            <a:pPr>
              <a:buNone/>
            </a:pPr>
            <a:r>
              <a:rPr sz="1900" b="1" dirty="0">
                <a:solidFill>
                  <a:srgbClr val="2F6FCB"/>
                </a:solidFill>
                <a:latin typeface="Calibri"/>
              </a:rPr>
              <a:t>▪  </a:t>
            </a:r>
            <a:r>
              <a:rPr sz="1900" b="1" dirty="0">
                <a:solidFill>
                  <a:srgbClr val="1E2A44"/>
                </a:solidFill>
                <a:latin typeface="Calibri"/>
              </a:rPr>
              <a:t>Final-circuit equivalence:  </a:t>
            </a:r>
            <a:r>
              <a:rPr lang="en-US" sz="1900" b="0" dirty="0" smtClean="0">
                <a:solidFill>
                  <a:srgbClr val="1E2A44"/>
                </a:solidFill>
                <a:latin typeface="Calibri"/>
              </a:rPr>
              <a:t>V</a:t>
            </a:r>
            <a:r>
              <a:rPr sz="1900" b="0" dirty="0" smtClean="0">
                <a:solidFill>
                  <a:srgbClr val="1E2A44"/>
                </a:solidFill>
                <a:latin typeface="Calibri"/>
              </a:rPr>
              <a:t>erifies </a:t>
            </a:r>
            <a:r>
              <a:rPr sz="1900" b="0" dirty="0">
                <a:solidFill>
                  <a:srgbClr val="1E2A44"/>
                </a:solidFill>
                <a:latin typeface="Calibri"/>
              </a:rPr>
              <a:t>preserved circuit semantics, but may not reveal regressions in intermediate transpiler state or pass-level properties (Burgholzer &amp; Wille, 2021; Mei et al., 2026</a:t>
            </a:r>
            <a:r>
              <a:rPr sz="1900" b="0" dirty="0" smtClean="0">
                <a:solidFill>
                  <a:srgbClr val="1E2A44"/>
                </a:solidFill>
                <a:latin typeface="Calibri"/>
              </a:rPr>
              <a:t>).</a:t>
            </a:r>
            <a:endParaRPr lang="en-US" sz="1900" b="1" dirty="0">
              <a:solidFill>
                <a:srgbClr val="2F6FCB"/>
              </a:solidFill>
              <a:latin typeface="Calibri"/>
            </a:endParaRPr>
          </a:p>
          <a:p>
            <a:pPr>
              <a:buNone/>
            </a:pPr>
            <a:r>
              <a:rPr sz="1900" b="1" dirty="0" smtClean="0">
                <a:solidFill>
                  <a:srgbClr val="2F6FCB"/>
                </a:solidFill>
                <a:latin typeface="Calibri"/>
              </a:rPr>
              <a:t>▪  </a:t>
            </a:r>
            <a:r>
              <a:rPr sz="1900" b="1" dirty="0">
                <a:solidFill>
                  <a:srgbClr val="1E2A44"/>
                </a:solidFill>
                <a:latin typeface="Calibri"/>
              </a:rPr>
              <a:t>Existing detection:  </a:t>
            </a:r>
            <a:r>
              <a:rPr lang="en-US" sz="1900" b="0" dirty="0" smtClean="0">
                <a:solidFill>
                  <a:srgbClr val="1E2A44"/>
                </a:solidFill>
                <a:latin typeface="Calibri"/>
              </a:rPr>
              <a:t>E</a:t>
            </a:r>
            <a:r>
              <a:rPr sz="1900" b="0" dirty="0" smtClean="0">
                <a:solidFill>
                  <a:srgbClr val="1E2A44"/>
                </a:solidFill>
                <a:latin typeface="Calibri"/>
              </a:rPr>
              <a:t>quivalence</a:t>
            </a:r>
            <a:r>
              <a:rPr sz="1900" b="0" dirty="0">
                <a:solidFill>
                  <a:srgbClr val="1E2A44"/>
                </a:solidFill>
                <a:latin typeface="Calibri"/>
              </a:rPr>
              <a:t>, differential testing, and pass verification are established, yet reliable detection of these output-equivalent regressions is still unresolved (Wang et al., 2021; Tao et al., 2022; Choudhury et al., 2025</a:t>
            </a:r>
            <a:r>
              <a:rPr sz="1900" b="0" dirty="0" smtClean="0">
                <a:solidFill>
                  <a:srgbClr val="1E2A44"/>
                </a:solidFill>
                <a:latin typeface="Calibri"/>
              </a:rPr>
              <a:t>).</a:t>
            </a:r>
            <a:endParaRPr lang="en-US" sz="1900" b="1" dirty="0">
              <a:solidFill>
                <a:srgbClr val="2F6FCB"/>
              </a:solidFill>
              <a:latin typeface="Calibri"/>
            </a:endParaRPr>
          </a:p>
          <a:p>
            <a:pPr>
              <a:buNone/>
            </a:pPr>
            <a:r>
              <a:rPr sz="1900" b="1" dirty="0" smtClean="0">
                <a:solidFill>
                  <a:srgbClr val="2F6FCB"/>
                </a:solidFill>
                <a:latin typeface="Calibri"/>
              </a:rPr>
              <a:t>▪  </a:t>
            </a:r>
            <a:r>
              <a:rPr sz="1900" b="1" dirty="0">
                <a:solidFill>
                  <a:srgbClr val="1E2A44"/>
                </a:solidFill>
                <a:latin typeface="Calibri"/>
              </a:rPr>
              <a:t>Unknown prevalence:  </a:t>
            </a:r>
            <a:r>
              <a:rPr lang="en-US" sz="1900" b="0" dirty="0" smtClean="0">
                <a:solidFill>
                  <a:srgbClr val="1E2A44"/>
                </a:solidFill>
                <a:latin typeface="Calibri"/>
              </a:rPr>
              <a:t>H</a:t>
            </a:r>
            <a:r>
              <a:rPr sz="1900" b="0" dirty="0" smtClean="0">
                <a:solidFill>
                  <a:srgbClr val="1E2A44"/>
                </a:solidFill>
                <a:latin typeface="Calibri"/>
              </a:rPr>
              <a:t>ow </a:t>
            </a:r>
            <a:r>
              <a:rPr sz="1900" b="0" dirty="0">
                <a:solidFill>
                  <a:srgbClr val="1E2A44"/>
                </a:solidFill>
                <a:latin typeface="Calibri"/>
              </a:rPr>
              <a:t>common and impactful such hidden regressions are in real </a:t>
            </a:r>
            <a:r>
              <a:rPr sz="1900" b="0" dirty="0" err="1">
                <a:solidFill>
                  <a:srgbClr val="1E2A44"/>
                </a:solidFill>
                <a:latin typeface="Calibri"/>
              </a:rPr>
              <a:t>transpiler</a:t>
            </a:r>
            <a:r>
              <a:rPr sz="1900" b="0" dirty="0">
                <a:solidFill>
                  <a:srgbClr val="1E2A44"/>
                </a:solidFill>
                <a:latin typeface="Calibri"/>
              </a:rPr>
              <a:t> histories remains insufficiently established (</a:t>
            </a:r>
            <a:r>
              <a:rPr sz="1900" b="0" dirty="0" err="1">
                <a:solidFill>
                  <a:srgbClr val="1E2A44"/>
                </a:solidFill>
                <a:latin typeface="Calibri"/>
              </a:rPr>
              <a:t>Paltenghi</a:t>
            </a:r>
            <a:r>
              <a:rPr sz="1900" b="0" dirty="0">
                <a:solidFill>
                  <a:srgbClr val="1E2A44"/>
                </a:solidFill>
                <a:latin typeface="Calibri"/>
              </a:rPr>
              <a:t> &amp; </a:t>
            </a:r>
            <a:r>
              <a:rPr sz="1900" b="0" dirty="0" err="1">
                <a:solidFill>
                  <a:srgbClr val="1E2A44"/>
                </a:solidFill>
                <a:latin typeface="Calibri"/>
              </a:rPr>
              <a:t>Pradel</a:t>
            </a:r>
            <a:r>
              <a:rPr sz="1900" b="0" dirty="0">
                <a:solidFill>
                  <a:srgbClr val="1E2A44"/>
                </a:solidFill>
                <a:latin typeface="Calibri"/>
              </a:rPr>
              <a:t>, 2022, 2024</a:t>
            </a:r>
            <a:r>
              <a:rPr sz="1900" b="0" dirty="0" smtClean="0">
                <a:solidFill>
                  <a:srgbClr val="1E2A44"/>
                </a:solidFill>
                <a:latin typeface="Calibri"/>
              </a:rPr>
              <a:t>).</a:t>
            </a:r>
            <a:endParaRPr lang="en-US" sz="1900" b="1" dirty="0">
              <a:solidFill>
                <a:srgbClr val="2F6FCB"/>
              </a:solidFill>
              <a:latin typeface="Calibri"/>
            </a:endParaRPr>
          </a:p>
          <a:p>
            <a:pPr>
              <a:buNone/>
            </a:pPr>
            <a:r>
              <a:rPr sz="1900" b="1" dirty="0" smtClean="0">
                <a:solidFill>
                  <a:srgbClr val="2F6FCB"/>
                </a:solidFill>
                <a:latin typeface="Calibri"/>
              </a:rPr>
              <a:t>▪  </a:t>
            </a:r>
            <a:r>
              <a:rPr sz="1900" b="1" dirty="0">
                <a:solidFill>
                  <a:srgbClr val="1E2A44"/>
                </a:solidFill>
                <a:latin typeface="Calibri"/>
              </a:rPr>
              <a:t>No fitting selector</a:t>
            </a:r>
            <a:r>
              <a:rPr sz="1900" b="1" dirty="0" smtClean="0">
                <a:solidFill>
                  <a:srgbClr val="1E2A44"/>
                </a:solidFill>
                <a:latin typeface="Calibri"/>
              </a:rPr>
              <a:t>:  </a:t>
            </a:r>
            <a:r>
              <a:rPr lang="en-US" sz="1900" dirty="0">
                <a:solidFill>
                  <a:srgbClr val="1E2A44"/>
                </a:solidFill>
                <a:latin typeface="Calibri"/>
              </a:rPr>
              <a:t>Existing test-selection methods address prioritization and cost, but our review found no approach that selects the most fault-revealing </a:t>
            </a:r>
            <a:r>
              <a:rPr lang="en-US" sz="1900" dirty="0" err="1">
                <a:solidFill>
                  <a:srgbClr val="1E2A44"/>
                </a:solidFill>
                <a:latin typeface="Calibri"/>
              </a:rPr>
              <a:t>transpiler</a:t>
            </a:r>
            <a:r>
              <a:rPr lang="en-US" sz="1900" dirty="0">
                <a:solidFill>
                  <a:srgbClr val="1E2A44"/>
                </a:solidFill>
                <a:latin typeface="Calibri"/>
              </a:rPr>
              <a:t> tests under both realistic execution-budget and leakage-safe constraints (</a:t>
            </a:r>
            <a:r>
              <a:rPr lang="en-US" sz="1900" dirty="0" err="1">
                <a:solidFill>
                  <a:srgbClr val="1E2A44"/>
                </a:solidFill>
                <a:latin typeface="Calibri"/>
              </a:rPr>
              <a:t>Yoo</a:t>
            </a:r>
            <a:r>
              <a:rPr lang="en-US" sz="1900" dirty="0">
                <a:solidFill>
                  <a:srgbClr val="1E2A44"/>
                </a:solidFill>
                <a:latin typeface="Calibri"/>
              </a:rPr>
              <a:t> &amp; Harman, 2012; </a:t>
            </a:r>
            <a:r>
              <a:rPr lang="en-US" sz="1900" dirty="0" err="1">
                <a:solidFill>
                  <a:srgbClr val="1E2A44"/>
                </a:solidFill>
                <a:latin typeface="Calibri"/>
              </a:rPr>
              <a:t>Machalica</a:t>
            </a:r>
            <a:r>
              <a:rPr lang="en-US" sz="1900" dirty="0">
                <a:solidFill>
                  <a:srgbClr val="1E2A44"/>
                </a:solidFill>
                <a:latin typeface="Calibri"/>
              </a:rPr>
              <a:t> et al., 2019; </a:t>
            </a:r>
            <a:r>
              <a:rPr lang="en-US" sz="1900" dirty="0" err="1">
                <a:solidFill>
                  <a:srgbClr val="1E2A44"/>
                </a:solidFill>
                <a:latin typeface="Calibri"/>
              </a:rPr>
              <a:t>Elsner</a:t>
            </a:r>
            <a:r>
              <a:rPr lang="en-US" sz="1900" dirty="0">
                <a:solidFill>
                  <a:srgbClr val="1E2A44"/>
                </a:solidFill>
                <a:latin typeface="Calibri"/>
              </a:rPr>
              <a:t> et al., 2021</a:t>
            </a:r>
            <a:r>
              <a:rPr lang="en-US" sz="1900" dirty="0" smtClean="0">
                <a:solidFill>
                  <a:srgbClr val="1E2A44"/>
                </a:solidFill>
                <a:latin typeface="Calibri"/>
              </a:rPr>
              <a:t>).</a:t>
            </a:r>
            <a:endParaRPr sz="1900" b="0" dirty="0">
              <a:solidFill>
                <a:srgbClr val="1E2A44"/>
              </a:solidFill>
              <a:latin typeface="Calibri"/>
            </a:endParaRPr>
          </a:p>
        </p:txBody>
      </p:sp>
      <p:sp>
        <p:nvSpPr>
          <p:cNvPr id="8" name="TextBox 7">
            <a:extLst>
              <a:ext uri="{FF2B5EF4-FFF2-40B4-BE49-F238E27FC236}">
                <a16:creationId xmlns:a16="http://schemas.microsoft.com/office/drawing/2014/main" id="{17BEBB54-D7B7-41AC-8C01-CC6A29194D00}"/>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9" name="TextBox 8">
            <a:extLst>
              <a:ext uri="{FF2B5EF4-FFF2-40B4-BE49-F238E27FC236}">
                <a16:creationId xmlns:a16="http://schemas.microsoft.com/office/drawing/2014/main" id="{5537A5C9-2FFF-4DA9-BFCE-6E152BF64745}"/>
              </a:ext>
            </a:extLst>
          </p:cNvPr>
          <p:cNvSpPr>
            <a:spLocks noGrp="1"/>
          </p:cNvSpPr>
          <p:nvPr/>
        </p:nvSpPr>
        <p:spPr>
          <a:xfrm>
            <a:off x="11155680" y="6473952"/>
            <a:ext cx="822960" cy="190821"/>
          </a:xfrm>
          <a:prstGeom prst="rect">
            <a:avLst/>
          </a:prstGeom>
          <a:noFill/>
        </p:spPr>
        <p:txBody>
          <a:bodyPr wrap="square" lIns="36576" tIns="18288" rIns="36576" bIns="18288">
            <a:spAutoFit/>
          </a:bodyPr>
          <a:lstStyle/>
          <a:p>
            <a:pPr algn="r">
              <a:buNone/>
            </a:pPr>
            <a:r>
              <a:rPr sz="1000" b="1" i="0">
                <a:solidFill>
                  <a:srgbClr val="64748C"/>
                </a:solidFill>
                <a:latin typeface="Calibri"/>
                <a:ea typeface="Calibri"/>
                <a:cs typeface="Calibri"/>
              </a:rPr>
              <a:t>10</a:t>
            </a:r>
          </a:p>
        </p:txBody>
      </p:sp>
      <p:pic>
        <p:nvPicPr>
          <p:cNvPr id="10"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859A2E-20FA-4770-9E1B-C586789A7A98}"/>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26A81DFF-AA2D-44FF-9E4F-329199A84746}"/>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dirty="0">
                <a:solidFill>
                  <a:srgbClr val="2F6FCB"/>
                </a:solidFill>
                <a:latin typeface="Calibri"/>
                <a:ea typeface="Calibri"/>
                <a:cs typeface="Calibri"/>
              </a:rPr>
              <a:t>PROBLEM STATEMENT</a:t>
            </a:r>
          </a:p>
        </p:txBody>
      </p:sp>
      <p:sp>
        <p:nvSpPr>
          <p:cNvPr id="4" name="TextBox 3">
            <a:extLst>
              <a:ext uri="{FF2B5EF4-FFF2-40B4-BE49-F238E27FC236}">
                <a16:creationId xmlns:a16="http://schemas.microsoft.com/office/drawing/2014/main" id="{A490E76B-21BA-4A58-8A22-FE4E02499271}"/>
              </a:ext>
            </a:extLst>
          </p:cNvPr>
          <p:cNvSpPr>
            <a:spLocks noGrp="1"/>
          </p:cNvSpPr>
          <p:nvPr/>
        </p:nvSpPr>
        <p:spPr>
          <a:xfrm>
            <a:off x="640080" y="694944"/>
            <a:ext cx="11155680" cy="590931"/>
          </a:xfrm>
          <a:prstGeom prst="rect">
            <a:avLst/>
          </a:prstGeom>
          <a:noFill/>
        </p:spPr>
        <p:txBody>
          <a:bodyPr wrap="square" lIns="36576" tIns="18288" rIns="36576" bIns="18288">
            <a:spAutoFit/>
          </a:bodyPr>
          <a:lstStyle/>
          <a:p>
            <a:r>
              <a:rPr sz="3600" b="1" i="0">
                <a:solidFill>
                  <a:srgbClr val="1E2A44"/>
                </a:solidFill>
                <a:latin typeface="Cambria"/>
                <a:ea typeface="Cambria"/>
                <a:cs typeface="Cambria"/>
              </a:rPr>
              <a:t>The Problem</a:t>
            </a:r>
          </a:p>
        </p:txBody>
      </p:sp>
      <p:sp>
        <p:nvSpPr>
          <p:cNvPr id="5" name="TextBox 4">
            <a:extLst>
              <a:ext uri="{FF2B5EF4-FFF2-40B4-BE49-F238E27FC236}">
                <a16:creationId xmlns:a16="http://schemas.microsoft.com/office/drawing/2014/main" id="{8DF49E98-2B92-4D48-B7EE-1995ECE63C96}"/>
              </a:ext>
            </a:extLst>
          </p:cNvPr>
          <p:cNvSpPr>
            <a:spLocks noGrp="1"/>
          </p:cNvSpPr>
          <p:nvPr/>
        </p:nvSpPr>
        <p:spPr>
          <a:xfrm>
            <a:off x="640080" y="1737360"/>
            <a:ext cx="11064240" cy="2499146"/>
          </a:xfrm>
          <a:prstGeom prst="rect">
            <a:avLst/>
          </a:prstGeom>
          <a:noFill/>
        </p:spPr>
        <p:txBody>
          <a:bodyPr wrap="square" lIns="36576" tIns="18288" rIns="36576" bIns="18288">
            <a:spAutoFit/>
          </a:bodyPr>
          <a:lstStyle/>
          <a:p>
            <a:pPr algn="just"/>
            <a:r>
              <a:rPr lang="en-US" sz="2000" dirty="0" smtClean="0">
                <a:solidFill>
                  <a:srgbClr val="1E2A44"/>
                </a:solidFill>
                <a:latin typeface="Calibri"/>
              </a:rPr>
              <a:t>Final-circuit </a:t>
            </a:r>
            <a:r>
              <a:rPr lang="en-US" sz="2000" dirty="0">
                <a:solidFill>
                  <a:srgbClr val="1E2A44"/>
                </a:solidFill>
                <a:latin typeface="Calibri"/>
              </a:rPr>
              <a:t>equivalence checking verifies whether </a:t>
            </a:r>
            <a:r>
              <a:rPr lang="en-US" sz="2000" dirty="0" err="1">
                <a:solidFill>
                  <a:srgbClr val="1E2A44"/>
                </a:solidFill>
                <a:latin typeface="Calibri"/>
              </a:rPr>
              <a:t>transpilation</a:t>
            </a:r>
            <a:r>
              <a:rPr lang="en-US" sz="2000" dirty="0">
                <a:solidFill>
                  <a:srgbClr val="1E2A44"/>
                </a:solidFill>
                <a:latin typeface="Calibri"/>
              </a:rPr>
              <a:t> preserves circuit semantics, but it does not observe every property that may regress, such as intermediate </a:t>
            </a:r>
            <a:r>
              <a:rPr lang="en-US" sz="2000" dirty="0" err="1">
                <a:solidFill>
                  <a:srgbClr val="1E2A44"/>
                </a:solidFill>
                <a:latin typeface="Calibri"/>
              </a:rPr>
              <a:t>transpiler</a:t>
            </a:r>
            <a:r>
              <a:rPr lang="en-US" sz="2000" dirty="0">
                <a:solidFill>
                  <a:srgbClr val="1E2A44"/>
                </a:solidFill>
                <a:latin typeface="Calibri"/>
              </a:rPr>
              <a:t> state or pass-level contracts. Existing work provides equivalence checking, differential testing, and pass-level verification, but these capabilities have not been systematically integrated into fault-matched regression oracles for output-equivalent </a:t>
            </a:r>
            <a:r>
              <a:rPr lang="en-US" sz="2000" dirty="0" err="1">
                <a:solidFill>
                  <a:srgbClr val="1E2A44"/>
                </a:solidFill>
                <a:latin typeface="Calibri"/>
              </a:rPr>
              <a:t>transpiler</a:t>
            </a:r>
            <a:r>
              <a:rPr lang="en-US" sz="2000" dirty="0">
                <a:solidFill>
                  <a:srgbClr val="1E2A44"/>
                </a:solidFill>
                <a:latin typeface="Calibri"/>
              </a:rPr>
              <a:t> faults. Moreover, the prevalence and practical impact of such faults in real </a:t>
            </a:r>
            <a:r>
              <a:rPr lang="en-US" sz="2000" dirty="0" err="1">
                <a:solidFill>
                  <a:srgbClr val="1E2A44"/>
                </a:solidFill>
                <a:latin typeface="Calibri"/>
              </a:rPr>
              <a:t>transpiler</a:t>
            </a:r>
            <a:r>
              <a:rPr lang="en-US" sz="2000" dirty="0">
                <a:solidFill>
                  <a:srgbClr val="1E2A44"/>
                </a:solidFill>
                <a:latin typeface="Calibri"/>
              </a:rPr>
              <a:t> histories remain insufficiently established. The challenge is therefore to detect these regressions with the appropriate oracle while selecting the most fault-revealing tests under realistic computational-budget and leakage-safe constraints.</a:t>
            </a:r>
            <a:endParaRPr sz="2000" dirty="0">
              <a:solidFill>
                <a:srgbClr val="1E2A44"/>
              </a:solidFill>
              <a:latin typeface="Calibri"/>
            </a:endParaRPr>
          </a:p>
        </p:txBody>
      </p:sp>
      <p:sp>
        <p:nvSpPr>
          <p:cNvPr id="6" name="TextBox 5">
            <a:extLst>
              <a:ext uri="{FF2B5EF4-FFF2-40B4-BE49-F238E27FC236}">
                <a16:creationId xmlns:a16="http://schemas.microsoft.com/office/drawing/2014/main" id="{FC529F13-AE71-4614-BBA4-483C80C08D0D}"/>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lang="en-US" sz="1000" dirty="0">
                <a:solidFill>
                  <a:srgbClr val="64748C"/>
                </a:solidFill>
                <a:ea typeface="Calibri"/>
                <a:cs typeface="Calibri"/>
              </a:rPr>
              <a:t>PhD Synopsis  ·  A Leakage-Safe Framework for Observability-Aware Regression Testing of Quantum Compilers</a:t>
            </a:r>
          </a:p>
        </p:txBody>
      </p:sp>
      <p:sp>
        <p:nvSpPr>
          <p:cNvPr id="7" name="TextBox 6">
            <a:extLst>
              <a:ext uri="{FF2B5EF4-FFF2-40B4-BE49-F238E27FC236}">
                <a16:creationId xmlns:a16="http://schemas.microsoft.com/office/drawing/2014/main" id="{85DEE56B-5FD8-4748-BA85-46F49E66C73A}"/>
              </a:ext>
            </a:extLst>
          </p:cNvPr>
          <p:cNvSpPr>
            <a:spLocks noGrp="1"/>
          </p:cNvSpPr>
          <p:nvPr/>
        </p:nvSpPr>
        <p:spPr>
          <a:xfrm>
            <a:off x="11155680" y="6473952"/>
            <a:ext cx="822960" cy="190821"/>
          </a:xfrm>
          <a:prstGeom prst="rect">
            <a:avLst/>
          </a:prstGeom>
          <a:noFill/>
        </p:spPr>
        <p:txBody>
          <a:bodyPr wrap="square" lIns="36576" tIns="18288" rIns="36576" bIns="18288">
            <a:spAutoFit/>
          </a:bodyPr>
          <a:lstStyle/>
          <a:p>
            <a:pPr algn="r">
              <a:buNone/>
            </a:pPr>
            <a:r>
              <a:rPr sz="1000" b="1" i="0">
                <a:solidFill>
                  <a:srgbClr val="64748C"/>
                </a:solidFill>
                <a:latin typeface="Calibri"/>
                <a:ea typeface="Calibri"/>
                <a:cs typeface="Calibri"/>
              </a:rPr>
              <a:t>11</a:t>
            </a:r>
          </a:p>
        </p:txBody>
      </p:sp>
      <p:pic>
        <p:nvPicPr>
          <p:cNvPr id="8"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1E7E83-9701-4226-A4D9-265E6B0CB0F9}"/>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3" name="TextBox 2">
            <a:extLst>
              <a:ext uri="{FF2B5EF4-FFF2-40B4-BE49-F238E27FC236}">
                <a16:creationId xmlns:a16="http://schemas.microsoft.com/office/drawing/2014/main" id="{68D74DCF-1842-44FC-9178-BD5F420AC434}"/>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RESEARCH QUESTIONS &amp; OBJECTIVES</a:t>
            </a:r>
          </a:p>
        </p:txBody>
      </p:sp>
      <p:sp>
        <p:nvSpPr>
          <p:cNvPr id="4" name="TextBox 3">
            <a:extLst>
              <a:ext uri="{FF2B5EF4-FFF2-40B4-BE49-F238E27FC236}">
                <a16:creationId xmlns:a16="http://schemas.microsoft.com/office/drawing/2014/main" id="{BC330797-9675-4794-8A36-6A48A46D6C1C}"/>
              </a:ext>
            </a:extLst>
          </p:cNvPr>
          <p:cNvSpPr>
            <a:spLocks noGrp="1"/>
          </p:cNvSpPr>
          <p:nvPr/>
        </p:nvSpPr>
        <p:spPr>
          <a:xfrm>
            <a:off x="640080" y="694944"/>
            <a:ext cx="11155680" cy="714042"/>
          </a:xfrm>
          <a:prstGeom prst="rect">
            <a:avLst/>
          </a:prstGeom>
          <a:noFill/>
        </p:spPr>
        <p:txBody>
          <a:bodyPr wrap="square" lIns="36576" tIns="18288" rIns="36576" bIns="18288">
            <a:spAutoFit/>
          </a:bodyPr>
          <a:lstStyle/>
          <a:p>
            <a:r>
              <a:rPr sz="4400" b="1" i="0">
                <a:solidFill>
                  <a:srgbClr val="1E2A44"/>
                </a:solidFill>
                <a:latin typeface="Cambria"/>
                <a:ea typeface="Cambria"/>
                <a:cs typeface="Cambria"/>
              </a:rPr>
              <a:t>Research Questions</a:t>
            </a:r>
          </a:p>
        </p:txBody>
      </p:sp>
      <p:sp>
        <p:nvSpPr>
          <p:cNvPr id="5" name="Rounded Rectangle 4">
            <a:extLst>
              <a:ext uri="{FF2B5EF4-FFF2-40B4-BE49-F238E27FC236}">
                <a16:creationId xmlns:a16="http://schemas.microsoft.com/office/drawing/2014/main" id="{AA7B5DC5-0C23-4C5A-BB2E-C7CAF416BEB0}"/>
              </a:ext>
            </a:extLst>
          </p:cNvPr>
          <p:cNvSpPr>
            <a:spLocks noGrp="1"/>
          </p:cNvSpPr>
          <p:nvPr/>
        </p:nvSpPr>
        <p:spPr>
          <a:xfrm>
            <a:off x="640080" y="1627632"/>
            <a:ext cx="11064240" cy="1051560"/>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6" name="Rounded Rectangle 5">
            <a:extLst>
              <a:ext uri="{FF2B5EF4-FFF2-40B4-BE49-F238E27FC236}">
                <a16:creationId xmlns:a16="http://schemas.microsoft.com/office/drawing/2014/main" id="{3D22BD11-183F-4C11-B5E1-5E9332EC2047}"/>
              </a:ext>
            </a:extLst>
          </p:cNvPr>
          <p:cNvSpPr>
            <a:spLocks noGrp="1"/>
          </p:cNvSpPr>
          <p:nvPr/>
        </p:nvSpPr>
        <p:spPr>
          <a:xfrm>
            <a:off x="896112" y="1929384"/>
            <a:ext cx="640080" cy="640080"/>
          </a:xfrm>
          <a:prstGeom prst="roundRect">
            <a:avLst>
              <a:gd name="adj" fmla="val 28000"/>
            </a:avLst>
          </a:prstGeom>
          <a:solidFill>
            <a:srgbClr val="2F6FCB"/>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2400" b="1">
                <a:solidFill>
                  <a:srgbClr val="FFFFFF"/>
                </a:solidFill>
                <a:latin typeface="Calibri"/>
                <a:ea typeface="Calibri"/>
                <a:cs typeface="Calibri"/>
              </a:rPr>
              <a:t>RQ1</a:t>
            </a:r>
          </a:p>
        </p:txBody>
      </p:sp>
      <p:sp>
        <p:nvSpPr>
          <p:cNvPr id="7" name="TextBox 6">
            <a:extLst>
              <a:ext uri="{FF2B5EF4-FFF2-40B4-BE49-F238E27FC236}">
                <a16:creationId xmlns:a16="http://schemas.microsoft.com/office/drawing/2014/main" id="{798E67B7-FE39-48B2-9DA1-110B8E7A94B5}"/>
              </a:ext>
            </a:extLst>
          </p:cNvPr>
          <p:cNvSpPr>
            <a:spLocks noGrp="1"/>
          </p:cNvSpPr>
          <p:nvPr/>
        </p:nvSpPr>
        <p:spPr>
          <a:xfrm>
            <a:off x="1737360" y="1682426"/>
            <a:ext cx="9784080" cy="960263"/>
          </a:xfrm>
          <a:prstGeom prst="rect">
            <a:avLst/>
          </a:prstGeom>
          <a:noFill/>
        </p:spPr>
        <p:txBody>
          <a:bodyPr wrap="square" lIns="36576" tIns="18288" rIns="36576" bIns="18288" anchor="ctr">
            <a:spAutoFit/>
          </a:bodyPr>
          <a:lstStyle/>
          <a:p>
            <a:pPr lvl="0"/>
            <a:r>
              <a:rPr lang="en-US" altLang="en-US" sz="2000" dirty="0" smtClean="0">
                <a:solidFill>
                  <a:srgbClr val="1E2A44"/>
                </a:solidFill>
                <a:latin typeface="Calibri"/>
                <a:ea typeface="Calibri"/>
                <a:cs typeface="Calibri"/>
              </a:rPr>
              <a:t>How </a:t>
            </a:r>
            <a:r>
              <a:rPr lang="en-US" altLang="en-US" sz="2000" dirty="0">
                <a:solidFill>
                  <a:srgbClr val="1E2A44"/>
                </a:solidFill>
                <a:latin typeface="Calibri"/>
                <a:ea typeface="Calibri"/>
                <a:cs typeface="Calibri"/>
              </a:rPr>
              <a:t>common are </a:t>
            </a:r>
            <a:r>
              <a:rPr lang="en-US" altLang="en-US" sz="2000" dirty="0" err="1">
                <a:solidFill>
                  <a:srgbClr val="1E2A44"/>
                </a:solidFill>
                <a:latin typeface="Calibri"/>
                <a:ea typeface="Calibri"/>
                <a:cs typeface="Calibri"/>
              </a:rPr>
              <a:t>transpiler</a:t>
            </a:r>
            <a:r>
              <a:rPr lang="en-US" altLang="en-US" sz="2000" dirty="0">
                <a:solidFill>
                  <a:srgbClr val="1E2A44"/>
                </a:solidFill>
                <a:latin typeface="Calibri"/>
                <a:ea typeface="Calibri"/>
                <a:cs typeface="Calibri"/>
              </a:rPr>
              <a:t> regressions that the standard reference screen fails to detect?</a:t>
            </a:r>
          </a:p>
          <a:p>
            <a:endParaRPr sz="2000" b="0" i="0" dirty="0">
              <a:solidFill>
                <a:srgbClr val="1E2A44"/>
              </a:solidFill>
              <a:latin typeface="Calibri"/>
              <a:ea typeface="Calibri"/>
              <a:cs typeface="Calibri"/>
            </a:endParaRPr>
          </a:p>
        </p:txBody>
      </p:sp>
      <p:sp>
        <p:nvSpPr>
          <p:cNvPr id="8" name="Rounded Rectangle 7">
            <a:extLst>
              <a:ext uri="{FF2B5EF4-FFF2-40B4-BE49-F238E27FC236}">
                <a16:creationId xmlns:a16="http://schemas.microsoft.com/office/drawing/2014/main" id="{1E56EA00-D561-4EF9-B885-F452B9276C8B}"/>
              </a:ext>
            </a:extLst>
          </p:cNvPr>
          <p:cNvSpPr>
            <a:spLocks noGrp="1"/>
          </p:cNvSpPr>
          <p:nvPr/>
        </p:nvSpPr>
        <p:spPr>
          <a:xfrm>
            <a:off x="640080" y="2807208"/>
            <a:ext cx="11064240" cy="1051560"/>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9" name="Rounded Rectangle 8">
            <a:extLst>
              <a:ext uri="{FF2B5EF4-FFF2-40B4-BE49-F238E27FC236}">
                <a16:creationId xmlns:a16="http://schemas.microsoft.com/office/drawing/2014/main" id="{87C7C5D3-3627-4495-B8BF-D3143BA9EBFE}"/>
              </a:ext>
            </a:extLst>
          </p:cNvPr>
          <p:cNvSpPr>
            <a:spLocks noGrp="1"/>
          </p:cNvSpPr>
          <p:nvPr/>
        </p:nvSpPr>
        <p:spPr>
          <a:xfrm>
            <a:off x="896112" y="3108960"/>
            <a:ext cx="640080" cy="640080"/>
          </a:xfrm>
          <a:prstGeom prst="roundRect">
            <a:avLst>
              <a:gd name="adj" fmla="val 28000"/>
            </a:avLst>
          </a:prstGeom>
          <a:solidFill>
            <a:srgbClr val="2F6FCB"/>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2400" b="1">
                <a:solidFill>
                  <a:srgbClr val="FFFFFF"/>
                </a:solidFill>
                <a:latin typeface="Calibri"/>
                <a:ea typeface="Calibri"/>
                <a:cs typeface="Calibri"/>
              </a:rPr>
              <a:t>RQ2</a:t>
            </a:r>
          </a:p>
        </p:txBody>
      </p:sp>
      <p:sp>
        <p:nvSpPr>
          <p:cNvPr id="10" name="TextBox 9">
            <a:extLst>
              <a:ext uri="{FF2B5EF4-FFF2-40B4-BE49-F238E27FC236}">
                <a16:creationId xmlns:a16="http://schemas.microsoft.com/office/drawing/2014/main" id="{2EF5FED5-53DF-4C9A-8F3D-249D70673EDC}"/>
              </a:ext>
            </a:extLst>
          </p:cNvPr>
          <p:cNvSpPr>
            <a:spLocks noGrp="1"/>
          </p:cNvSpPr>
          <p:nvPr/>
        </p:nvSpPr>
        <p:spPr>
          <a:xfrm>
            <a:off x="1737360" y="2862001"/>
            <a:ext cx="9784080" cy="960263"/>
          </a:xfrm>
          <a:prstGeom prst="rect">
            <a:avLst/>
          </a:prstGeom>
          <a:noFill/>
        </p:spPr>
        <p:txBody>
          <a:bodyPr wrap="square" lIns="36576" tIns="18288" rIns="36576" bIns="18288" anchor="ctr">
            <a:spAutoFit/>
          </a:bodyPr>
          <a:lstStyle/>
          <a:p>
            <a:r>
              <a:rPr sz="2000" b="0" i="0">
                <a:solidFill>
                  <a:srgbClr val="1E2A44"/>
                </a:solidFill>
                <a:latin typeface="Calibri"/>
                <a:ea typeface="Calibri"/>
                <a:cs typeface="Calibri"/>
              </a:rPr>
              <a:t>Can fault-matched oracles detect, from source, real regressions that the reference screen misses?</a:t>
            </a:r>
          </a:p>
        </p:txBody>
      </p:sp>
      <p:sp>
        <p:nvSpPr>
          <p:cNvPr id="11" name="Rounded Rectangle 10">
            <a:extLst>
              <a:ext uri="{FF2B5EF4-FFF2-40B4-BE49-F238E27FC236}">
                <a16:creationId xmlns:a16="http://schemas.microsoft.com/office/drawing/2014/main" id="{8AD81B3F-124C-490E-8E3C-C9458F8D24F0}"/>
              </a:ext>
            </a:extLst>
          </p:cNvPr>
          <p:cNvSpPr>
            <a:spLocks noGrp="1"/>
          </p:cNvSpPr>
          <p:nvPr/>
        </p:nvSpPr>
        <p:spPr>
          <a:xfrm>
            <a:off x="640080" y="3986784"/>
            <a:ext cx="11064240" cy="1051560"/>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12" name="Rounded Rectangle 11">
            <a:extLst>
              <a:ext uri="{FF2B5EF4-FFF2-40B4-BE49-F238E27FC236}">
                <a16:creationId xmlns:a16="http://schemas.microsoft.com/office/drawing/2014/main" id="{7A790F9F-8F1A-4587-AED6-22327B744788}"/>
              </a:ext>
            </a:extLst>
          </p:cNvPr>
          <p:cNvSpPr>
            <a:spLocks noGrp="1"/>
          </p:cNvSpPr>
          <p:nvPr/>
        </p:nvSpPr>
        <p:spPr>
          <a:xfrm>
            <a:off x="896112" y="4288536"/>
            <a:ext cx="640080" cy="640080"/>
          </a:xfrm>
          <a:prstGeom prst="roundRect">
            <a:avLst>
              <a:gd name="adj" fmla="val 28000"/>
            </a:avLst>
          </a:prstGeom>
          <a:solidFill>
            <a:srgbClr val="2F6FCB"/>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2400" b="1">
                <a:solidFill>
                  <a:srgbClr val="FFFFFF"/>
                </a:solidFill>
                <a:latin typeface="Calibri"/>
                <a:ea typeface="Calibri"/>
                <a:cs typeface="Calibri"/>
              </a:rPr>
              <a:t>RQ3</a:t>
            </a:r>
          </a:p>
        </p:txBody>
      </p:sp>
      <p:sp>
        <p:nvSpPr>
          <p:cNvPr id="13" name="TextBox 12">
            <a:extLst>
              <a:ext uri="{FF2B5EF4-FFF2-40B4-BE49-F238E27FC236}">
                <a16:creationId xmlns:a16="http://schemas.microsoft.com/office/drawing/2014/main" id="{CD48B9C0-D2D1-46D7-81E5-72697D453BCA}"/>
              </a:ext>
            </a:extLst>
          </p:cNvPr>
          <p:cNvSpPr>
            <a:spLocks noGrp="1"/>
          </p:cNvSpPr>
          <p:nvPr/>
        </p:nvSpPr>
        <p:spPr>
          <a:xfrm>
            <a:off x="1737360" y="4195466"/>
            <a:ext cx="9784080" cy="652486"/>
          </a:xfrm>
          <a:prstGeom prst="rect">
            <a:avLst/>
          </a:prstGeom>
          <a:noFill/>
        </p:spPr>
        <p:txBody>
          <a:bodyPr wrap="square" lIns="36576" tIns="18288" rIns="36576" bIns="18288" anchor="ctr">
            <a:spAutoFit/>
          </a:bodyPr>
          <a:lstStyle/>
          <a:p>
            <a:r>
              <a:rPr sz="2000" b="0" i="0" dirty="0">
                <a:solidFill>
                  <a:srgbClr val="1E2A44"/>
                </a:solidFill>
                <a:latin typeface="Calibri"/>
                <a:ea typeface="Calibri"/>
                <a:cs typeface="Calibri"/>
              </a:rPr>
              <a:t>Can a leakage-safe, </a:t>
            </a:r>
            <a:r>
              <a:rPr lang="en-US" sz="2000" b="0" i="0" dirty="0" smtClean="0">
                <a:solidFill>
                  <a:srgbClr val="1E2A44"/>
                </a:solidFill>
                <a:latin typeface="Calibri"/>
                <a:ea typeface="Calibri"/>
                <a:cs typeface="Calibri"/>
              </a:rPr>
              <a:t>computational </a:t>
            </a:r>
            <a:r>
              <a:rPr sz="2000" b="0" i="0" dirty="0" smtClean="0">
                <a:solidFill>
                  <a:srgbClr val="1E2A44"/>
                </a:solidFill>
                <a:latin typeface="Calibri"/>
                <a:ea typeface="Calibri"/>
                <a:cs typeface="Calibri"/>
              </a:rPr>
              <a:t>cost-aware </a:t>
            </a:r>
            <a:r>
              <a:rPr sz="2000" b="0" i="0" dirty="0">
                <a:solidFill>
                  <a:srgbClr val="1E2A44"/>
                </a:solidFill>
                <a:latin typeface="Calibri"/>
                <a:ea typeface="Calibri"/>
                <a:cs typeface="Calibri"/>
              </a:rPr>
              <a:t>test-selection pipeline for the </a:t>
            </a:r>
            <a:r>
              <a:rPr sz="2000" b="0" i="0" dirty="0" err="1">
                <a:solidFill>
                  <a:srgbClr val="1E2A44"/>
                </a:solidFill>
                <a:latin typeface="Calibri"/>
                <a:ea typeface="Calibri"/>
                <a:cs typeface="Calibri"/>
              </a:rPr>
              <a:t>transpiler</a:t>
            </a:r>
            <a:r>
              <a:rPr sz="2000" b="0" i="0" dirty="0">
                <a:solidFill>
                  <a:srgbClr val="1E2A44"/>
                </a:solidFill>
                <a:latin typeface="Calibri"/>
                <a:ea typeface="Calibri"/>
                <a:cs typeface="Calibri"/>
              </a:rPr>
              <a:t> be built and validated?</a:t>
            </a:r>
          </a:p>
        </p:txBody>
      </p:sp>
      <p:sp>
        <p:nvSpPr>
          <p:cNvPr id="14" name="Rounded Rectangle 13">
            <a:extLst>
              <a:ext uri="{FF2B5EF4-FFF2-40B4-BE49-F238E27FC236}">
                <a16:creationId xmlns:a16="http://schemas.microsoft.com/office/drawing/2014/main" id="{47FD2AA5-0550-42F9-8662-A3047782D4CB}"/>
              </a:ext>
            </a:extLst>
          </p:cNvPr>
          <p:cNvSpPr>
            <a:spLocks noGrp="1"/>
          </p:cNvSpPr>
          <p:nvPr/>
        </p:nvSpPr>
        <p:spPr>
          <a:xfrm>
            <a:off x="640080" y="5166360"/>
            <a:ext cx="11064240" cy="1197864"/>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15" name="Rounded Rectangle 14">
            <a:extLst>
              <a:ext uri="{FF2B5EF4-FFF2-40B4-BE49-F238E27FC236}">
                <a16:creationId xmlns:a16="http://schemas.microsoft.com/office/drawing/2014/main" id="{7263B20F-C784-4301-B92F-81629E215458}"/>
              </a:ext>
            </a:extLst>
          </p:cNvPr>
          <p:cNvSpPr>
            <a:spLocks noGrp="1"/>
          </p:cNvSpPr>
          <p:nvPr/>
        </p:nvSpPr>
        <p:spPr>
          <a:xfrm>
            <a:off x="896112" y="5468112"/>
            <a:ext cx="640080" cy="640080"/>
          </a:xfrm>
          <a:prstGeom prst="roundRect">
            <a:avLst>
              <a:gd name="adj" fmla="val 28000"/>
            </a:avLst>
          </a:prstGeom>
          <a:solidFill>
            <a:srgbClr val="2F6FCB"/>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2400" b="1">
                <a:solidFill>
                  <a:srgbClr val="FFFFFF"/>
                </a:solidFill>
                <a:latin typeface="Calibri"/>
                <a:ea typeface="Calibri"/>
                <a:cs typeface="Calibri"/>
              </a:rPr>
              <a:t>RQ4</a:t>
            </a:r>
          </a:p>
        </p:txBody>
      </p:sp>
      <p:sp>
        <p:nvSpPr>
          <p:cNvPr id="16" name="TextBox 15">
            <a:extLst>
              <a:ext uri="{FF2B5EF4-FFF2-40B4-BE49-F238E27FC236}">
                <a16:creationId xmlns:a16="http://schemas.microsoft.com/office/drawing/2014/main" id="{F5E386C7-21A8-4DC0-A172-134250EE466C}"/>
              </a:ext>
            </a:extLst>
          </p:cNvPr>
          <p:cNvSpPr>
            <a:spLocks noGrp="1"/>
          </p:cNvSpPr>
          <p:nvPr/>
        </p:nvSpPr>
        <p:spPr>
          <a:xfrm>
            <a:off x="1737360" y="5375041"/>
            <a:ext cx="9784080" cy="652486"/>
          </a:xfrm>
          <a:prstGeom prst="rect">
            <a:avLst/>
          </a:prstGeom>
          <a:noFill/>
        </p:spPr>
        <p:txBody>
          <a:bodyPr wrap="square" lIns="36576" tIns="18288" rIns="36576" bIns="18288" anchor="ctr">
            <a:spAutoFit/>
          </a:bodyPr>
          <a:lstStyle/>
          <a:p>
            <a:r>
              <a:rPr lang="en-US" sz="2000" dirty="0">
                <a:solidFill>
                  <a:srgbClr val="1E2A44"/>
                </a:solidFill>
                <a:latin typeface="Calibri"/>
                <a:ea typeface="Calibri"/>
                <a:cs typeface="Calibri"/>
              </a:rPr>
              <a:t>Once enough forward-regression events are verified, can a transparent, computational cost-aware selector be shown to catch faults earlier than standard baselines?</a:t>
            </a:r>
            <a:endParaRPr sz="2000" dirty="0">
              <a:solidFill>
                <a:srgbClr val="1E2A44"/>
              </a:solidFill>
              <a:latin typeface="Calibri"/>
              <a:ea typeface="Calibri"/>
              <a:cs typeface="Calibri"/>
            </a:endParaRPr>
          </a:p>
        </p:txBody>
      </p:sp>
      <p:sp>
        <p:nvSpPr>
          <p:cNvPr id="17" name="TextBox 16">
            <a:extLst>
              <a:ext uri="{FF2B5EF4-FFF2-40B4-BE49-F238E27FC236}">
                <a16:creationId xmlns:a16="http://schemas.microsoft.com/office/drawing/2014/main" id="{78429F16-EF1D-4470-AE2D-630AC5654F92}"/>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18" name="TextBox 17">
            <a:extLst>
              <a:ext uri="{FF2B5EF4-FFF2-40B4-BE49-F238E27FC236}">
                <a16:creationId xmlns:a16="http://schemas.microsoft.com/office/drawing/2014/main" id="{AFD22526-8B96-41A2-8FE1-0B131EAFC4F6}"/>
              </a:ext>
            </a:extLst>
          </p:cNvPr>
          <p:cNvSpPr>
            <a:spLocks noGrp="1"/>
          </p:cNvSpPr>
          <p:nvPr/>
        </p:nvSpPr>
        <p:spPr>
          <a:xfrm>
            <a:off x="11155680" y="6473952"/>
            <a:ext cx="822960" cy="206210"/>
          </a:xfrm>
          <a:prstGeom prst="rect">
            <a:avLst/>
          </a:prstGeom>
          <a:noFill/>
        </p:spPr>
        <p:txBody>
          <a:bodyPr wrap="square" lIns="36576" tIns="18288" rIns="36576" bIns="18288">
            <a:spAutoFit/>
          </a:bodyPr>
          <a:lstStyle/>
          <a:p>
            <a:pPr algn="r">
              <a:buNone/>
            </a:pPr>
            <a:r>
              <a:rPr sz="1100" b="1" i="0">
                <a:solidFill>
                  <a:srgbClr val="64748C"/>
                </a:solidFill>
                <a:latin typeface="Calibri"/>
                <a:ea typeface="Calibri"/>
                <a:cs typeface="Calibri"/>
              </a:rPr>
              <a:t>12</a:t>
            </a:r>
          </a:p>
        </p:txBody>
      </p:sp>
      <p:pic>
        <p:nvPicPr>
          <p:cNvPr id="19" name="Image 0" descr="/mnt/data/cusit_logo.png"/>
          <p:cNvPicPr>
            <a:picLocks noChangeAspect="1"/>
          </p:cNvPicPr>
          <p:nvPr/>
        </p:nvPicPr>
        <p:blipFill>
          <a:blip r:embed="rId3"/>
          <a:stretch>
            <a:fillRect/>
          </a:stretch>
        </p:blipFill>
        <p:spPr>
          <a:xfrm>
            <a:off x="10903999" y="23078"/>
            <a:ext cx="1269586" cy="634793"/>
          </a:xfrm>
          <a:prstGeom prst="rect">
            <a:avLst/>
          </a:prstGeom>
        </p:spPr>
      </p:pic>
      <p:sp>
        <p:nvSpPr>
          <p:cNvPr id="20" name="Rectangle 1"/>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0448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1A94AC7-22B3-493D-9DD5-D826CBD3160B}"/>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000"/>
          </a:p>
        </p:txBody>
      </p:sp>
      <p:sp>
        <p:nvSpPr>
          <p:cNvPr id="3" name="TextBox 2">
            <a:extLst>
              <a:ext uri="{FF2B5EF4-FFF2-40B4-BE49-F238E27FC236}">
                <a16:creationId xmlns:a16="http://schemas.microsoft.com/office/drawing/2014/main" id="{AEE59CA3-2DA1-41CA-8A55-47E15BD67234}"/>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RESEARCH QUESTIONS &amp; OBJECTIVES</a:t>
            </a:r>
          </a:p>
        </p:txBody>
      </p:sp>
      <p:sp>
        <p:nvSpPr>
          <p:cNvPr id="4" name="TextBox 3">
            <a:extLst>
              <a:ext uri="{FF2B5EF4-FFF2-40B4-BE49-F238E27FC236}">
                <a16:creationId xmlns:a16="http://schemas.microsoft.com/office/drawing/2014/main" id="{9CEF1178-E06A-4A50-9C7B-D3B73A0CF127}"/>
              </a:ext>
            </a:extLst>
          </p:cNvPr>
          <p:cNvSpPr>
            <a:spLocks noGrp="1"/>
          </p:cNvSpPr>
          <p:nvPr/>
        </p:nvSpPr>
        <p:spPr>
          <a:xfrm>
            <a:off x="640080" y="694944"/>
            <a:ext cx="11155680" cy="590931"/>
          </a:xfrm>
          <a:prstGeom prst="rect">
            <a:avLst/>
          </a:prstGeom>
          <a:noFill/>
        </p:spPr>
        <p:txBody>
          <a:bodyPr wrap="square" lIns="36576" tIns="18288" rIns="36576" bIns="18288">
            <a:spAutoFit/>
          </a:bodyPr>
          <a:lstStyle/>
          <a:p>
            <a:r>
              <a:rPr sz="3600" b="1" i="0">
                <a:solidFill>
                  <a:srgbClr val="1E2A44"/>
                </a:solidFill>
                <a:latin typeface="Cambria"/>
                <a:ea typeface="Cambria"/>
                <a:cs typeface="Cambria"/>
              </a:rPr>
              <a:t>Objectives</a:t>
            </a:r>
          </a:p>
        </p:txBody>
      </p:sp>
      <p:sp>
        <p:nvSpPr>
          <p:cNvPr id="5" name="Rounded Rectangle 4">
            <a:extLst>
              <a:ext uri="{FF2B5EF4-FFF2-40B4-BE49-F238E27FC236}">
                <a16:creationId xmlns:a16="http://schemas.microsoft.com/office/drawing/2014/main" id="{4D25A09F-D341-446C-8C18-210808519EAB}"/>
              </a:ext>
            </a:extLst>
          </p:cNvPr>
          <p:cNvSpPr>
            <a:spLocks noGrp="1"/>
          </p:cNvSpPr>
          <p:nvPr/>
        </p:nvSpPr>
        <p:spPr>
          <a:xfrm>
            <a:off x="640080" y="1379143"/>
            <a:ext cx="5193792" cy="1225162"/>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000"/>
          </a:p>
        </p:txBody>
      </p:sp>
      <p:sp>
        <p:nvSpPr>
          <p:cNvPr id="6" name="TextBox 5">
            <a:extLst>
              <a:ext uri="{FF2B5EF4-FFF2-40B4-BE49-F238E27FC236}">
                <a16:creationId xmlns:a16="http://schemas.microsoft.com/office/drawing/2014/main" id="{D54BF971-175E-4314-BBED-2CBBB1C40955}"/>
              </a:ext>
            </a:extLst>
          </p:cNvPr>
          <p:cNvSpPr>
            <a:spLocks noGrp="1"/>
          </p:cNvSpPr>
          <p:nvPr/>
        </p:nvSpPr>
        <p:spPr>
          <a:xfrm>
            <a:off x="905256" y="1414105"/>
            <a:ext cx="466344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O1 → RQ1</a:t>
            </a:r>
          </a:p>
        </p:txBody>
      </p:sp>
      <p:sp>
        <p:nvSpPr>
          <p:cNvPr id="7" name="TextBox 6">
            <a:extLst>
              <a:ext uri="{FF2B5EF4-FFF2-40B4-BE49-F238E27FC236}">
                <a16:creationId xmlns:a16="http://schemas.microsoft.com/office/drawing/2014/main" id="{8892B3F1-AAB0-4EBF-B96A-A9B51646DA99}"/>
              </a:ext>
            </a:extLst>
          </p:cNvPr>
          <p:cNvSpPr>
            <a:spLocks noGrp="1"/>
          </p:cNvSpPr>
          <p:nvPr/>
        </p:nvSpPr>
        <p:spPr>
          <a:xfrm>
            <a:off x="905255" y="1713195"/>
            <a:ext cx="4807001" cy="590931"/>
          </a:xfrm>
          <a:prstGeom prst="rect">
            <a:avLst/>
          </a:prstGeom>
          <a:noFill/>
        </p:spPr>
        <p:txBody>
          <a:bodyPr wrap="square" lIns="36576" tIns="18288" rIns="36576" bIns="18288">
            <a:spAutoFit/>
          </a:bodyPr>
          <a:lstStyle/>
          <a:p>
            <a:r>
              <a:rPr lang="en-US" dirty="0" smtClean="0">
                <a:solidFill>
                  <a:srgbClr val="1E2A44"/>
                </a:solidFill>
                <a:latin typeface="Calibri"/>
                <a:ea typeface="Calibri"/>
                <a:cs typeface="Calibri"/>
              </a:rPr>
              <a:t>To m</a:t>
            </a:r>
            <a:r>
              <a:rPr dirty="0" smtClean="0">
                <a:solidFill>
                  <a:srgbClr val="1E2A44"/>
                </a:solidFill>
                <a:latin typeface="Calibri"/>
                <a:ea typeface="Calibri"/>
                <a:cs typeface="Calibri"/>
              </a:rPr>
              <a:t>easure </a:t>
            </a:r>
            <a:r>
              <a:rPr dirty="0">
                <a:solidFill>
                  <a:srgbClr val="1E2A44"/>
                </a:solidFill>
                <a:latin typeface="Calibri"/>
                <a:ea typeface="Calibri"/>
                <a:cs typeface="Calibri"/>
              </a:rPr>
              <a:t>how often real transpiler regressions evade the standard reference screen.</a:t>
            </a:r>
          </a:p>
        </p:txBody>
      </p:sp>
      <p:sp>
        <p:nvSpPr>
          <p:cNvPr id="8" name="Rounded Rectangle 7">
            <a:extLst>
              <a:ext uri="{FF2B5EF4-FFF2-40B4-BE49-F238E27FC236}">
                <a16:creationId xmlns:a16="http://schemas.microsoft.com/office/drawing/2014/main" id="{22324375-331B-4F2B-948F-E04AD8AF71FC}"/>
              </a:ext>
            </a:extLst>
          </p:cNvPr>
          <p:cNvSpPr>
            <a:spLocks noGrp="1"/>
          </p:cNvSpPr>
          <p:nvPr/>
        </p:nvSpPr>
        <p:spPr>
          <a:xfrm>
            <a:off x="6355080" y="1368398"/>
            <a:ext cx="5193792" cy="1235907"/>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000"/>
          </a:p>
        </p:txBody>
      </p:sp>
      <p:sp>
        <p:nvSpPr>
          <p:cNvPr id="9" name="TextBox 8">
            <a:extLst>
              <a:ext uri="{FF2B5EF4-FFF2-40B4-BE49-F238E27FC236}">
                <a16:creationId xmlns:a16="http://schemas.microsoft.com/office/drawing/2014/main" id="{93961245-C927-4EC3-AF8C-6A1C1E80E450}"/>
              </a:ext>
            </a:extLst>
          </p:cNvPr>
          <p:cNvSpPr>
            <a:spLocks noGrp="1"/>
          </p:cNvSpPr>
          <p:nvPr/>
        </p:nvSpPr>
        <p:spPr>
          <a:xfrm>
            <a:off x="6629400" y="1446882"/>
            <a:ext cx="466344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O2 → RQ2</a:t>
            </a:r>
          </a:p>
        </p:txBody>
      </p:sp>
      <p:sp>
        <p:nvSpPr>
          <p:cNvPr id="10" name="TextBox 9">
            <a:extLst>
              <a:ext uri="{FF2B5EF4-FFF2-40B4-BE49-F238E27FC236}">
                <a16:creationId xmlns:a16="http://schemas.microsoft.com/office/drawing/2014/main" id="{CC5A36BA-71AC-44F4-BA39-C840A87846B7}"/>
              </a:ext>
            </a:extLst>
          </p:cNvPr>
          <p:cNvSpPr>
            <a:spLocks noGrp="1"/>
          </p:cNvSpPr>
          <p:nvPr/>
        </p:nvSpPr>
        <p:spPr>
          <a:xfrm>
            <a:off x="6629400" y="1728108"/>
            <a:ext cx="4919472" cy="590931"/>
          </a:xfrm>
          <a:prstGeom prst="rect">
            <a:avLst/>
          </a:prstGeom>
          <a:noFill/>
        </p:spPr>
        <p:txBody>
          <a:bodyPr wrap="square" lIns="36576" tIns="18288" rIns="36576" bIns="18288">
            <a:spAutoFit/>
          </a:bodyPr>
          <a:lstStyle/>
          <a:p>
            <a:r>
              <a:rPr lang="en-US" dirty="0" smtClean="0">
                <a:solidFill>
                  <a:srgbClr val="1E2A44"/>
                </a:solidFill>
                <a:latin typeface="Calibri"/>
                <a:ea typeface="Calibri"/>
                <a:cs typeface="Calibri"/>
              </a:rPr>
              <a:t>To d</a:t>
            </a:r>
            <a:r>
              <a:rPr b="0" i="0" dirty="0" smtClean="0">
                <a:solidFill>
                  <a:srgbClr val="1E2A44"/>
                </a:solidFill>
                <a:latin typeface="Calibri"/>
                <a:ea typeface="Calibri"/>
                <a:cs typeface="Calibri"/>
              </a:rPr>
              <a:t>emonstrate</a:t>
            </a:r>
            <a:r>
              <a:rPr b="0" i="0" dirty="0">
                <a:solidFill>
                  <a:srgbClr val="1E2A44"/>
                </a:solidFill>
                <a:latin typeface="Calibri"/>
                <a:ea typeface="Calibri"/>
                <a:cs typeface="Calibri"/>
              </a:rPr>
              <a:t>, from source, that a matched oracle detects a regression </a:t>
            </a:r>
            <a:r>
              <a:rPr b="0" i="0">
                <a:solidFill>
                  <a:srgbClr val="1E2A44"/>
                </a:solidFill>
                <a:latin typeface="Calibri"/>
                <a:ea typeface="Calibri"/>
                <a:cs typeface="Calibri"/>
              </a:rPr>
              <a:t>the </a:t>
            </a:r>
            <a:r>
              <a:rPr lang="en-US" b="0" i="0" smtClean="0">
                <a:solidFill>
                  <a:srgbClr val="1E2A44"/>
                </a:solidFill>
                <a:latin typeface="Calibri"/>
                <a:ea typeface="Calibri"/>
                <a:cs typeface="Calibri"/>
              </a:rPr>
              <a:t>reference </a:t>
            </a:r>
            <a:r>
              <a:rPr b="0" i="0" smtClean="0">
                <a:solidFill>
                  <a:srgbClr val="1E2A44"/>
                </a:solidFill>
                <a:latin typeface="Calibri"/>
                <a:ea typeface="Calibri"/>
                <a:cs typeface="Calibri"/>
              </a:rPr>
              <a:t>screen </a:t>
            </a:r>
            <a:r>
              <a:rPr b="0" i="0" dirty="0">
                <a:solidFill>
                  <a:srgbClr val="1E2A44"/>
                </a:solidFill>
                <a:latin typeface="Calibri"/>
                <a:ea typeface="Calibri"/>
                <a:cs typeface="Calibri"/>
              </a:rPr>
              <a:t>misses.</a:t>
            </a:r>
          </a:p>
        </p:txBody>
      </p:sp>
      <p:sp>
        <p:nvSpPr>
          <p:cNvPr id="11" name="Rounded Rectangle 10">
            <a:extLst>
              <a:ext uri="{FF2B5EF4-FFF2-40B4-BE49-F238E27FC236}">
                <a16:creationId xmlns:a16="http://schemas.microsoft.com/office/drawing/2014/main" id="{D608B536-51B1-4032-87C8-D701DB8346AC}"/>
              </a:ext>
            </a:extLst>
          </p:cNvPr>
          <p:cNvSpPr>
            <a:spLocks noGrp="1"/>
          </p:cNvSpPr>
          <p:nvPr/>
        </p:nvSpPr>
        <p:spPr>
          <a:xfrm>
            <a:off x="640080" y="3060752"/>
            <a:ext cx="5193792" cy="1239419"/>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000"/>
          </a:p>
        </p:txBody>
      </p:sp>
      <p:sp>
        <p:nvSpPr>
          <p:cNvPr id="12" name="TextBox 11">
            <a:extLst>
              <a:ext uri="{FF2B5EF4-FFF2-40B4-BE49-F238E27FC236}">
                <a16:creationId xmlns:a16="http://schemas.microsoft.com/office/drawing/2014/main" id="{AF2F87E6-A639-4464-8645-56D9F1E27733}"/>
              </a:ext>
            </a:extLst>
          </p:cNvPr>
          <p:cNvSpPr>
            <a:spLocks noGrp="1"/>
          </p:cNvSpPr>
          <p:nvPr/>
        </p:nvSpPr>
        <p:spPr>
          <a:xfrm>
            <a:off x="905255" y="3161177"/>
            <a:ext cx="4663440" cy="283154"/>
          </a:xfrm>
          <a:prstGeom prst="rect">
            <a:avLst/>
          </a:prstGeom>
          <a:noFill/>
        </p:spPr>
        <p:txBody>
          <a:bodyPr wrap="square" lIns="36576" tIns="18288" rIns="36576" bIns="18288">
            <a:spAutoFit/>
          </a:bodyPr>
          <a:lstStyle/>
          <a:p>
            <a:r>
              <a:rPr sz="1600" b="1" i="0" dirty="0">
                <a:solidFill>
                  <a:srgbClr val="2F6FCB"/>
                </a:solidFill>
                <a:latin typeface="Calibri"/>
                <a:ea typeface="Calibri"/>
                <a:cs typeface="Calibri"/>
              </a:rPr>
              <a:t>O3 → RQ3</a:t>
            </a:r>
          </a:p>
        </p:txBody>
      </p:sp>
      <p:sp>
        <p:nvSpPr>
          <p:cNvPr id="13" name="TextBox 12">
            <a:extLst>
              <a:ext uri="{FF2B5EF4-FFF2-40B4-BE49-F238E27FC236}">
                <a16:creationId xmlns:a16="http://schemas.microsoft.com/office/drawing/2014/main" id="{6F845EC4-4FEE-4CB3-93E9-487FC7DD940C}"/>
              </a:ext>
            </a:extLst>
          </p:cNvPr>
          <p:cNvSpPr>
            <a:spLocks noGrp="1"/>
          </p:cNvSpPr>
          <p:nvPr/>
        </p:nvSpPr>
        <p:spPr>
          <a:xfrm>
            <a:off x="905255" y="3444331"/>
            <a:ext cx="4807001" cy="590931"/>
          </a:xfrm>
          <a:prstGeom prst="rect">
            <a:avLst/>
          </a:prstGeom>
          <a:noFill/>
        </p:spPr>
        <p:txBody>
          <a:bodyPr wrap="square" lIns="36576" tIns="18288" rIns="36576" bIns="18288">
            <a:spAutoFit/>
          </a:bodyPr>
          <a:lstStyle/>
          <a:p>
            <a:r>
              <a:rPr lang="en-US" b="0" i="0" dirty="0" smtClean="0">
                <a:solidFill>
                  <a:srgbClr val="1E2A44"/>
                </a:solidFill>
                <a:latin typeface="Calibri"/>
                <a:ea typeface="Calibri"/>
                <a:cs typeface="Calibri"/>
              </a:rPr>
              <a:t>To b</a:t>
            </a:r>
            <a:r>
              <a:rPr b="0" i="0" dirty="0" smtClean="0">
                <a:solidFill>
                  <a:srgbClr val="1E2A44"/>
                </a:solidFill>
                <a:latin typeface="Calibri"/>
                <a:ea typeface="Calibri"/>
                <a:cs typeface="Calibri"/>
              </a:rPr>
              <a:t>uild </a:t>
            </a:r>
            <a:r>
              <a:rPr b="0" i="0" dirty="0">
                <a:solidFill>
                  <a:srgbClr val="1E2A44"/>
                </a:solidFill>
                <a:latin typeface="Calibri"/>
                <a:ea typeface="Calibri"/>
                <a:cs typeface="Calibri"/>
              </a:rPr>
              <a:t>and validate the leakage-safe, computational cost-aware cart pipeline as an open prototype.</a:t>
            </a:r>
          </a:p>
        </p:txBody>
      </p:sp>
      <p:sp>
        <p:nvSpPr>
          <p:cNvPr id="14" name="Rounded Rectangle 13">
            <a:extLst>
              <a:ext uri="{FF2B5EF4-FFF2-40B4-BE49-F238E27FC236}">
                <a16:creationId xmlns:a16="http://schemas.microsoft.com/office/drawing/2014/main" id="{312A757B-F163-4FE0-AB0F-13633F9CE8F7}"/>
              </a:ext>
            </a:extLst>
          </p:cNvPr>
          <p:cNvSpPr>
            <a:spLocks noGrp="1"/>
          </p:cNvSpPr>
          <p:nvPr/>
        </p:nvSpPr>
        <p:spPr>
          <a:xfrm>
            <a:off x="6355080" y="3058679"/>
            <a:ext cx="5193792" cy="1239419"/>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000"/>
          </a:p>
        </p:txBody>
      </p:sp>
      <p:sp>
        <p:nvSpPr>
          <p:cNvPr id="15" name="TextBox 14">
            <a:extLst>
              <a:ext uri="{FF2B5EF4-FFF2-40B4-BE49-F238E27FC236}">
                <a16:creationId xmlns:a16="http://schemas.microsoft.com/office/drawing/2014/main" id="{24F3EA80-10D6-4F2B-AB18-0B474374611A}"/>
              </a:ext>
            </a:extLst>
          </p:cNvPr>
          <p:cNvSpPr>
            <a:spLocks noGrp="1"/>
          </p:cNvSpPr>
          <p:nvPr/>
        </p:nvSpPr>
        <p:spPr>
          <a:xfrm>
            <a:off x="6681063" y="3174000"/>
            <a:ext cx="4663440" cy="283154"/>
          </a:xfrm>
          <a:prstGeom prst="rect">
            <a:avLst/>
          </a:prstGeom>
          <a:noFill/>
        </p:spPr>
        <p:txBody>
          <a:bodyPr wrap="square" lIns="36576" tIns="18288" rIns="36576" bIns="18288">
            <a:spAutoFit/>
          </a:bodyPr>
          <a:lstStyle/>
          <a:p>
            <a:r>
              <a:rPr sz="1600" b="1" i="0" dirty="0">
                <a:solidFill>
                  <a:srgbClr val="2F6FCB"/>
                </a:solidFill>
                <a:latin typeface="Calibri"/>
                <a:ea typeface="Calibri"/>
                <a:cs typeface="Calibri"/>
              </a:rPr>
              <a:t>O4 → RQ4</a:t>
            </a:r>
          </a:p>
        </p:txBody>
      </p:sp>
      <p:sp>
        <p:nvSpPr>
          <p:cNvPr id="16" name="TextBox 15">
            <a:extLst>
              <a:ext uri="{FF2B5EF4-FFF2-40B4-BE49-F238E27FC236}">
                <a16:creationId xmlns:a16="http://schemas.microsoft.com/office/drawing/2014/main" id="{E0230F70-2E22-4939-B078-08F8AEDE3557}"/>
              </a:ext>
            </a:extLst>
          </p:cNvPr>
          <p:cNvSpPr>
            <a:spLocks noGrp="1"/>
          </p:cNvSpPr>
          <p:nvPr/>
        </p:nvSpPr>
        <p:spPr>
          <a:xfrm>
            <a:off x="6681063" y="3442024"/>
            <a:ext cx="4777874" cy="867930"/>
          </a:xfrm>
          <a:prstGeom prst="rect">
            <a:avLst/>
          </a:prstGeom>
          <a:noFill/>
        </p:spPr>
        <p:txBody>
          <a:bodyPr wrap="square" lIns="36576" tIns="18288" rIns="36576" bIns="18288">
            <a:spAutoFit/>
          </a:bodyPr>
          <a:lstStyle/>
          <a:p>
            <a:r>
              <a:rPr lang="en-US" dirty="0">
                <a:solidFill>
                  <a:srgbClr val="1E2A44"/>
                </a:solidFill>
                <a:latin typeface="Calibri"/>
                <a:ea typeface="Calibri"/>
                <a:cs typeface="Calibri"/>
              </a:rPr>
              <a:t>To compare the selector against five baselines once enough forward-regression events are </a:t>
            </a:r>
            <a:r>
              <a:rPr lang="en-US" dirty="0" smtClean="0">
                <a:solidFill>
                  <a:srgbClr val="1E2A44"/>
                </a:solidFill>
                <a:latin typeface="Calibri"/>
                <a:ea typeface="Calibri"/>
                <a:cs typeface="Calibri"/>
              </a:rPr>
              <a:t>verified.</a:t>
            </a:r>
            <a:endParaRPr dirty="0">
              <a:solidFill>
                <a:srgbClr val="1E2A44"/>
              </a:solidFill>
              <a:latin typeface="Calibri"/>
              <a:ea typeface="Calibri"/>
              <a:cs typeface="Calibri"/>
            </a:endParaRPr>
          </a:p>
        </p:txBody>
      </p:sp>
      <p:sp>
        <p:nvSpPr>
          <p:cNvPr id="17" name="TextBox 16">
            <a:extLst>
              <a:ext uri="{FF2B5EF4-FFF2-40B4-BE49-F238E27FC236}">
                <a16:creationId xmlns:a16="http://schemas.microsoft.com/office/drawing/2014/main" id="{423645E5-CF1C-4218-8709-17B8C7B6A6C5}"/>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18" name="TextBox 17">
            <a:extLst>
              <a:ext uri="{FF2B5EF4-FFF2-40B4-BE49-F238E27FC236}">
                <a16:creationId xmlns:a16="http://schemas.microsoft.com/office/drawing/2014/main" id="{B2DAC90A-5E41-4112-A933-8C44EA7CEC27}"/>
              </a:ext>
            </a:extLst>
          </p:cNvPr>
          <p:cNvSpPr>
            <a:spLocks noGrp="1"/>
          </p:cNvSpPr>
          <p:nvPr/>
        </p:nvSpPr>
        <p:spPr>
          <a:xfrm>
            <a:off x="11155680" y="6473952"/>
            <a:ext cx="822960" cy="175433"/>
          </a:xfrm>
          <a:prstGeom prst="rect">
            <a:avLst/>
          </a:prstGeom>
          <a:noFill/>
        </p:spPr>
        <p:txBody>
          <a:bodyPr wrap="square" lIns="36576" tIns="18288" rIns="36576" bIns="18288">
            <a:spAutoFit/>
          </a:bodyPr>
          <a:lstStyle/>
          <a:p>
            <a:pPr algn="r">
              <a:buNone/>
            </a:pPr>
            <a:r>
              <a:rPr sz="900" b="1" i="0">
                <a:solidFill>
                  <a:srgbClr val="64748C"/>
                </a:solidFill>
                <a:latin typeface="Calibri"/>
                <a:ea typeface="Calibri"/>
                <a:cs typeface="Calibri"/>
              </a:rPr>
              <a:t>13</a:t>
            </a:r>
          </a:p>
        </p:txBody>
      </p:sp>
      <p:pic>
        <p:nvPicPr>
          <p:cNvPr id="19"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44423361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A94160-0F84-484F-848E-108A27625A86}"/>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280923F9-709F-4BBF-9A22-9AD20211EF3E}"/>
              </a:ext>
            </a:extLst>
          </p:cNvPr>
          <p:cNvSpPr>
            <a:spLocks noGrp="1"/>
          </p:cNvSpPr>
          <p:nvPr/>
        </p:nvSpPr>
        <p:spPr>
          <a:xfrm>
            <a:off x="640080" y="384048"/>
            <a:ext cx="10972800" cy="301621"/>
          </a:xfrm>
          <a:prstGeom prst="rect">
            <a:avLst/>
          </a:prstGeom>
          <a:noFill/>
        </p:spPr>
        <p:txBody>
          <a:bodyPr wrap="square" lIns="27432" tIns="27432" rIns="27432" bIns="27432">
            <a:spAutoFit/>
          </a:bodyPr>
          <a:lstStyle/>
          <a:p>
            <a:r>
              <a:rPr sz="1600" b="1" i="0">
                <a:solidFill>
                  <a:srgbClr val="2F6FCB"/>
                </a:solidFill>
                <a:latin typeface="Calibri"/>
                <a:ea typeface="Calibri"/>
                <a:cs typeface="Calibri"/>
              </a:rPr>
              <a:t>PROPOSED METHODOLOGY</a:t>
            </a:r>
          </a:p>
        </p:txBody>
      </p:sp>
      <p:sp>
        <p:nvSpPr>
          <p:cNvPr id="4" name="TextBox 3">
            <a:extLst>
              <a:ext uri="{FF2B5EF4-FFF2-40B4-BE49-F238E27FC236}">
                <a16:creationId xmlns:a16="http://schemas.microsoft.com/office/drawing/2014/main" id="{A4B67305-D667-44B1-8350-2414188D8187}"/>
              </a:ext>
            </a:extLst>
          </p:cNvPr>
          <p:cNvSpPr>
            <a:spLocks noGrp="1"/>
          </p:cNvSpPr>
          <p:nvPr/>
        </p:nvSpPr>
        <p:spPr>
          <a:xfrm>
            <a:off x="640080" y="694944"/>
            <a:ext cx="11155680" cy="455509"/>
          </a:xfrm>
          <a:prstGeom prst="rect">
            <a:avLst/>
          </a:prstGeom>
          <a:noFill/>
        </p:spPr>
        <p:txBody>
          <a:bodyPr wrap="square" lIns="27432" tIns="27432" rIns="27432" bIns="27432">
            <a:spAutoFit/>
          </a:bodyPr>
          <a:lstStyle/>
          <a:p>
            <a:r>
              <a:rPr sz="2600" b="1" i="0" dirty="0">
                <a:solidFill>
                  <a:srgbClr val="1E2A44"/>
                </a:solidFill>
                <a:latin typeface="Cambria"/>
                <a:ea typeface="Cambria"/>
                <a:cs typeface="Cambria"/>
              </a:rPr>
              <a:t>Which Oracle Detects What Type of Fault?</a:t>
            </a:r>
          </a:p>
        </p:txBody>
      </p:sp>
      <p:sp>
        <p:nvSpPr>
          <p:cNvPr id="5" name="TextBox 4">
            <a:extLst>
              <a:ext uri="{FF2B5EF4-FFF2-40B4-BE49-F238E27FC236}">
                <a16:creationId xmlns:a16="http://schemas.microsoft.com/office/drawing/2014/main" id="{8C212C32-3FF6-4071-B0D9-0BDC2044A37A}"/>
              </a:ext>
            </a:extLst>
          </p:cNvPr>
          <p:cNvSpPr>
            <a:spLocks noGrp="1"/>
          </p:cNvSpPr>
          <p:nvPr/>
        </p:nvSpPr>
        <p:spPr>
          <a:xfrm>
            <a:off x="640080" y="1444752"/>
            <a:ext cx="11064240" cy="301621"/>
          </a:xfrm>
          <a:prstGeom prst="rect">
            <a:avLst/>
          </a:prstGeom>
          <a:noFill/>
        </p:spPr>
        <p:txBody>
          <a:bodyPr wrap="square" lIns="27432" tIns="27432" rIns="27432" bIns="27432">
            <a:spAutoFit/>
          </a:bodyPr>
          <a:lstStyle/>
          <a:p>
            <a:r>
              <a:rPr sz="1600" b="0" i="1">
                <a:solidFill>
                  <a:srgbClr val="1E2A44"/>
                </a:solidFill>
                <a:latin typeface="Calibri"/>
                <a:ea typeface="Calibri"/>
                <a:cs typeface="Calibri"/>
              </a:rPr>
              <a:t>No single oracle covers all channels. Each fault channel needs its matched oracle. “Output oracle” is not one thing.</a:t>
            </a:r>
          </a:p>
        </p:txBody>
      </p:sp>
      <p:graphicFrame>
        <p:nvGraphicFramePr>
          <p:cNvPr id="15" name="Table 5"/>
          <p:cNvGraphicFramePr/>
          <p:nvPr/>
        </p:nvGraphicFramePr>
        <p:xfrm>
          <a:off x="603504" y="2011680"/>
          <a:ext cx="10424160" cy="3726180"/>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234440">
                  <a:extLst>
                    <a:ext uri="{9D8B030D-6E8A-4147-A177-3AD203B41FA5}">
                      <a16:colId xmlns:a16="http://schemas.microsoft.com/office/drawing/2014/main" val="20005"/>
                    </a:ext>
                  </a:extLst>
                </a:gridCol>
                <a:gridCol w="1325880">
                  <a:extLst>
                    <a:ext uri="{9D8B030D-6E8A-4147-A177-3AD203B41FA5}">
                      <a16:colId xmlns:a16="http://schemas.microsoft.com/office/drawing/2014/main" val="20006"/>
                    </a:ext>
                  </a:extLst>
                </a:gridCol>
              </a:tblGrid>
              <a:tr h="449580">
                <a:tc>
                  <a:txBody>
                    <a:bodyPr/>
                    <a:lstStyle/>
                    <a:p>
                      <a:r>
                        <a:rPr sz="1400" b="1">
                          <a:solidFill>
                            <a:srgbClr val="FFFFFF"/>
                          </a:solidFill>
                          <a:latin typeface="Calibri"/>
                          <a:ea typeface="Calibri"/>
                          <a:cs typeface="Calibri"/>
                        </a:rPr>
                        <a:t>Manifestation</a:t>
                      </a:r>
                    </a:p>
                  </a:txBody>
                  <a:tcPr marL="45720" marR="36576" anchor="ctr">
                    <a:solidFill>
                      <a:srgbClr val="14264F"/>
                    </a:solidFill>
                  </a:tcPr>
                </a:tc>
                <a:tc>
                  <a:txBody>
                    <a:bodyPr/>
                    <a:lstStyle/>
                    <a:p>
                      <a:pPr algn="ctr">
                        <a:buNone/>
                      </a:pPr>
                      <a:r>
                        <a:rPr sz="1400" b="1">
                          <a:solidFill>
                            <a:srgbClr val="FFFFFF"/>
                          </a:solidFill>
                          <a:latin typeface="Calibri"/>
                          <a:ea typeface="Calibri"/>
                          <a:cs typeface="Calibri"/>
                        </a:rPr>
                        <a:t>Unitary equiv.</a:t>
                      </a:r>
                    </a:p>
                  </a:txBody>
                  <a:tcPr marL="45720" marR="36576" anchor="ctr">
                    <a:solidFill>
                      <a:srgbClr val="14264F"/>
                    </a:solidFill>
                  </a:tcPr>
                </a:tc>
                <a:tc>
                  <a:txBody>
                    <a:bodyPr/>
                    <a:lstStyle/>
                    <a:p>
                      <a:pPr algn="ctr">
                        <a:buNone/>
                      </a:pPr>
                      <a:r>
                        <a:rPr sz="1400" b="1">
                          <a:solidFill>
                            <a:srgbClr val="FFFFFF"/>
                          </a:solidFill>
                          <a:latin typeface="Calibri"/>
                          <a:ea typeface="Calibri"/>
                          <a:cs typeface="Calibri"/>
                        </a:rPr>
                        <a:t>Compilation</a:t>
                      </a:r>
                    </a:p>
                  </a:txBody>
                  <a:tcPr marL="45720" marR="36576" anchor="ctr">
                    <a:solidFill>
                      <a:srgbClr val="14264F"/>
                    </a:solidFill>
                  </a:tcPr>
                </a:tc>
                <a:tc>
                  <a:txBody>
                    <a:bodyPr/>
                    <a:lstStyle/>
                    <a:p>
                      <a:pPr algn="ctr">
                        <a:buNone/>
                      </a:pPr>
                      <a:r>
                        <a:rPr sz="1400" b="1">
                          <a:solidFill>
                            <a:srgbClr val="FFFFFF"/>
                          </a:solidFill>
                          <a:latin typeface="Calibri"/>
                          <a:ea typeface="Calibri"/>
                          <a:cs typeface="Calibri"/>
                        </a:rPr>
                        <a:t>Quality</a:t>
                      </a:r>
                    </a:p>
                  </a:txBody>
                  <a:tcPr marL="45720" marR="36576" anchor="ctr">
                    <a:solidFill>
                      <a:srgbClr val="14264F"/>
                    </a:solidFill>
                  </a:tcPr>
                </a:tc>
                <a:tc>
                  <a:txBody>
                    <a:bodyPr/>
                    <a:lstStyle/>
                    <a:p>
                      <a:pPr algn="ctr">
                        <a:buNone/>
                      </a:pPr>
                      <a:r>
                        <a:rPr sz="1400" b="1">
                          <a:solidFill>
                            <a:srgbClr val="FFFFFF"/>
                          </a:solidFill>
                          <a:latin typeface="Calibri"/>
                          <a:ea typeface="Calibri"/>
                          <a:cs typeface="Calibri"/>
                        </a:rPr>
                        <a:t>Performance</a:t>
                      </a:r>
                    </a:p>
                  </a:txBody>
                  <a:tcPr marL="45720" marR="36576" anchor="ctr">
                    <a:solidFill>
                      <a:srgbClr val="14264F"/>
                    </a:solidFill>
                  </a:tcPr>
                </a:tc>
                <a:tc>
                  <a:txBody>
                    <a:bodyPr/>
                    <a:lstStyle/>
                    <a:p>
                      <a:pPr algn="ctr">
                        <a:buNone/>
                      </a:pPr>
                      <a:r>
                        <a:rPr sz="1400" b="1">
                          <a:solidFill>
                            <a:srgbClr val="FFFFFF"/>
                          </a:solidFill>
                          <a:latin typeface="Calibri"/>
                          <a:ea typeface="Calibri"/>
                          <a:cs typeface="Calibri"/>
                        </a:rPr>
                        <a:t>Contract</a:t>
                      </a:r>
                    </a:p>
                  </a:txBody>
                  <a:tcPr marL="45720" marR="36576" anchor="ctr">
                    <a:solidFill>
                      <a:srgbClr val="14264F"/>
                    </a:solidFill>
                  </a:tcPr>
                </a:tc>
                <a:tc>
                  <a:txBody>
                    <a:bodyPr/>
                    <a:lstStyle/>
                    <a:p>
                      <a:pPr algn="ctr">
                        <a:buNone/>
                      </a:pPr>
                      <a:r>
                        <a:rPr sz="1400" b="1">
                          <a:solidFill>
                            <a:srgbClr val="FFFFFF"/>
                          </a:solidFill>
                          <a:latin typeface="Calibri"/>
                          <a:ea typeface="Calibri"/>
                          <a:cs typeface="Calibri"/>
                        </a:rPr>
                        <a:t>Determinism</a:t>
                      </a:r>
                    </a:p>
                  </a:txBody>
                  <a:tcPr marL="45720" marR="36576" anchor="ctr">
                    <a:solidFill>
                      <a:srgbClr val="14264F"/>
                    </a:solidFill>
                  </a:tcPr>
                </a:tc>
                <a:extLst>
                  <a:ext uri="{0D108BD9-81ED-4DB2-BD59-A6C34878D82A}">
                    <a16:rowId xmlns:a16="http://schemas.microsoft.com/office/drawing/2014/main" val="10000"/>
                  </a:ext>
                </a:extLst>
              </a:tr>
              <a:tr h="449580">
                <a:tc>
                  <a:txBody>
                    <a:bodyPr/>
                    <a:lstStyle/>
                    <a:p>
                      <a:r>
                        <a:rPr sz="1600" b="1">
                          <a:solidFill>
                            <a:srgbClr val="1E2A44"/>
                          </a:solidFill>
                          <a:latin typeface="Calibri"/>
                          <a:ea typeface="Calibri"/>
                          <a:cs typeface="Calibri"/>
                        </a:rPr>
                        <a:t>Semantic difference</a:t>
                      </a:r>
                    </a:p>
                  </a:txBody>
                  <a:tcPr marL="45720" marR="36576" anchor="ctr">
                    <a:solidFill>
                      <a:srgbClr val="FFFFFF"/>
                    </a:solidFill>
                  </a:tcPr>
                </a:tc>
                <a:tc>
                  <a:txBody>
                    <a:bodyPr/>
                    <a:lstStyle/>
                    <a:p>
                      <a:pPr algn="ctr">
                        <a:buNone/>
                      </a:pPr>
                      <a:r>
                        <a:rPr sz="1600" b="1">
                          <a:solidFill>
                            <a:srgbClr val="1D4E89"/>
                          </a:solidFill>
                          <a:latin typeface="Calibri"/>
                          <a:ea typeface="Calibri"/>
                          <a:cs typeface="Calibri"/>
                        </a:rPr>
                        <a:t>Yes</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Sometimes</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extLst>
                  <a:ext uri="{0D108BD9-81ED-4DB2-BD59-A6C34878D82A}">
                    <a16:rowId xmlns:a16="http://schemas.microsoft.com/office/drawing/2014/main" val="10001"/>
                  </a:ext>
                </a:extLst>
              </a:tr>
              <a:tr h="449580">
                <a:tc>
                  <a:txBody>
                    <a:bodyPr/>
                    <a:lstStyle/>
                    <a:p>
                      <a:r>
                        <a:rPr sz="1600" b="1">
                          <a:solidFill>
                            <a:srgbClr val="1E2A44"/>
                          </a:solidFill>
                          <a:latin typeface="Calibri"/>
                          <a:ea typeface="Calibri"/>
                          <a:cs typeface="Calibri"/>
                        </a:rPr>
                        <a:t>Compilation failure</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N/A</a:t>
                      </a:r>
                    </a:p>
                  </a:txBody>
                  <a:tcPr marL="45720" marR="36576" anchor="ctr">
                    <a:solidFill>
                      <a:srgbClr val="F2F5FA"/>
                    </a:solidFill>
                  </a:tcPr>
                </a:tc>
                <a:tc>
                  <a:txBody>
                    <a:bodyPr/>
                    <a:lstStyle/>
                    <a:p>
                      <a:pPr algn="ctr">
                        <a:buNone/>
                      </a:pPr>
                      <a:r>
                        <a:rPr sz="1600" b="1">
                          <a:solidFill>
                            <a:srgbClr val="1D4E89"/>
                          </a:solidFill>
                          <a:latin typeface="Calibri"/>
                          <a:ea typeface="Calibri"/>
                          <a:cs typeface="Calibri"/>
                        </a:rPr>
                        <a:t>Yes</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2F5FA"/>
                    </a:solidFill>
                  </a:tcPr>
                </a:tc>
                <a:extLst>
                  <a:ext uri="{0D108BD9-81ED-4DB2-BD59-A6C34878D82A}">
                    <a16:rowId xmlns:a16="http://schemas.microsoft.com/office/drawing/2014/main" val="10002"/>
                  </a:ext>
                </a:extLst>
              </a:tr>
              <a:tr h="449580">
                <a:tc>
                  <a:txBody>
                    <a:bodyPr/>
                    <a:lstStyle/>
                    <a:p>
                      <a:r>
                        <a:rPr sz="1600" b="1">
                          <a:solidFill>
                            <a:srgbClr val="1E2A44"/>
                          </a:solidFill>
                          <a:latin typeface="Calibri"/>
                          <a:ea typeface="Calibri"/>
                          <a:cs typeface="Calibri"/>
                        </a:rPr>
                        <a:t>Circuit-quality regression</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b="1">
                          <a:solidFill>
                            <a:srgbClr val="1D4E89"/>
                          </a:solidFill>
                          <a:latin typeface="Calibri"/>
                          <a:ea typeface="Calibri"/>
                          <a:cs typeface="Calibri"/>
                        </a:rPr>
                        <a:t>Yes</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extLst>
                  <a:ext uri="{0D108BD9-81ED-4DB2-BD59-A6C34878D82A}">
                    <a16:rowId xmlns:a16="http://schemas.microsoft.com/office/drawing/2014/main" val="10003"/>
                  </a:ext>
                </a:extLst>
              </a:tr>
              <a:tr h="449580">
                <a:tc>
                  <a:txBody>
                    <a:bodyPr/>
                    <a:lstStyle/>
                    <a:p>
                      <a:r>
                        <a:rPr sz="1600" b="1">
                          <a:solidFill>
                            <a:srgbClr val="1E2A44"/>
                          </a:solidFill>
                          <a:latin typeface="Calibri"/>
                          <a:ea typeface="Calibri"/>
                          <a:cs typeface="Calibri"/>
                        </a:rPr>
                        <a:t>Performance regression</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2F5FA"/>
                    </a:solidFill>
                  </a:tcPr>
                </a:tc>
                <a:tc>
                  <a:txBody>
                    <a:bodyPr/>
                    <a:lstStyle/>
                    <a:p>
                      <a:pPr algn="ctr">
                        <a:buNone/>
                      </a:pPr>
                      <a:r>
                        <a:rPr sz="1600" b="1">
                          <a:solidFill>
                            <a:srgbClr val="1D4E89"/>
                          </a:solidFill>
                          <a:latin typeface="Calibri"/>
                          <a:ea typeface="Calibri"/>
                          <a:cs typeface="Calibri"/>
                        </a:rPr>
                        <a:t>Yes</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2F5FA"/>
                    </a:solidFill>
                  </a:tcPr>
                </a:tc>
                <a:extLst>
                  <a:ext uri="{0D108BD9-81ED-4DB2-BD59-A6C34878D82A}">
                    <a16:rowId xmlns:a16="http://schemas.microsoft.com/office/drawing/2014/main" val="10004"/>
                  </a:ext>
                </a:extLst>
              </a:tr>
              <a:tr h="449580">
                <a:tc>
                  <a:txBody>
                    <a:bodyPr/>
                    <a:lstStyle/>
                    <a:p>
                      <a:r>
                        <a:rPr sz="1600" b="1" dirty="0">
                          <a:solidFill>
                            <a:srgbClr val="1E2A44"/>
                          </a:solidFill>
                          <a:latin typeface="Calibri"/>
                          <a:ea typeface="Calibri"/>
                          <a:cs typeface="Calibri"/>
                        </a:rPr>
                        <a:t>Contract/metadata corruption</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b="1">
                          <a:solidFill>
                            <a:srgbClr val="1D4E89"/>
                          </a:solidFill>
                          <a:latin typeface="Calibri"/>
                          <a:ea typeface="Calibri"/>
                          <a:cs typeface="Calibri"/>
                        </a:rPr>
                        <a:t>Yes</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Sometimes</a:t>
                      </a:r>
                    </a:p>
                  </a:txBody>
                  <a:tcPr marL="45720" marR="36576" anchor="ctr">
                    <a:solidFill>
                      <a:srgbClr val="FFFFFF"/>
                    </a:solidFill>
                  </a:tcPr>
                </a:tc>
                <a:extLst>
                  <a:ext uri="{0D108BD9-81ED-4DB2-BD59-A6C34878D82A}">
                    <a16:rowId xmlns:a16="http://schemas.microsoft.com/office/drawing/2014/main" val="10005"/>
                  </a:ext>
                </a:extLst>
              </a:tr>
              <a:tr h="449580">
                <a:tc>
                  <a:txBody>
                    <a:bodyPr/>
                    <a:lstStyle/>
                    <a:p>
                      <a:r>
                        <a:rPr sz="1600" b="1">
                          <a:solidFill>
                            <a:srgbClr val="1E2A44"/>
                          </a:solidFill>
                          <a:latin typeface="Calibri"/>
                          <a:ea typeface="Calibri"/>
                          <a:cs typeface="Calibri"/>
                        </a:rPr>
                        <a:t>Non-determinism</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Not in 1 run</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Sometimes</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Sometimes</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Sometimes</a:t>
                      </a:r>
                    </a:p>
                  </a:txBody>
                  <a:tcPr marL="45720" marR="36576" anchor="ctr">
                    <a:solidFill>
                      <a:srgbClr val="F2F5FA"/>
                    </a:solidFill>
                  </a:tcPr>
                </a:tc>
                <a:tc>
                  <a:txBody>
                    <a:bodyPr/>
                    <a:lstStyle/>
                    <a:p>
                      <a:pPr algn="ctr">
                        <a:buNone/>
                      </a:pPr>
                      <a:r>
                        <a:rPr sz="1600" b="1">
                          <a:solidFill>
                            <a:srgbClr val="1D4E89"/>
                          </a:solidFill>
                          <a:latin typeface="Calibri"/>
                          <a:ea typeface="Calibri"/>
                          <a:cs typeface="Calibri"/>
                        </a:rPr>
                        <a:t>Yes</a:t>
                      </a:r>
                    </a:p>
                  </a:txBody>
                  <a:tcPr marL="45720" marR="36576" anchor="ctr">
                    <a:solidFill>
                      <a:srgbClr val="F2F5FA"/>
                    </a:solidFill>
                  </a:tcPr>
                </a:tc>
                <a:extLst>
                  <a:ext uri="{0D108BD9-81ED-4DB2-BD59-A6C34878D82A}">
                    <a16:rowId xmlns:a16="http://schemas.microsoft.com/office/drawing/2014/main" val="10006"/>
                  </a:ext>
                </a:extLst>
              </a:tr>
              <a:tr h="449580">
                <a:tc>
                  <a:txBody>
                    <a:bodyPr/>
                    <a:lstStyle/>
                    <a:p>
                      <a:r>
                        <a:rPr sz="1600" b="1">
                          <a:solidFill>
                            <a:srgbClr val="1E2A44"/>
                          </a:solidFill>
                          <a:latin typeface="Calibri"/>
                          <a:ea typeface="Calibri"/>
                          <a:cs typeface="Calibri"/>
                        </a:rPr>
                        <a:t>Global-phase discrepancy</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dirty="0">
                          <a:solidFill>
                            <a:srgbClr val="1E2A44"/>
                          </a:solidFill>
                          <a:latin typeface="Calibri"/>
                          <a:ea typeface="Calibri"/>
                          <a:cs typeface="Calibri"/>
                        </a:rPr>
                        <a:t>No</a:t>
                      </a:r>
                    </a:p>
                  </a:txBody>
                  <a:tcPr marL="45720" marR="36576" anchor="ctr">
                    <a:solidFill>
                      <a:srgbClr val="FFFFFF"/>
                    </a:solidFill>
                  </a:tcPr>
                </a:tc>
                <a:extLst>
                  <a:ext uri="{0D108BD9-81ED-4DB2-BD59-A6C34878D82A}">
                    <a16:rowId xmlns:a16="http://schemas.microsoft.com/office/drawing/2014/main" val="2765815327"/>
                  </a:ext>
                </a:extLst>
              </a:tr>
            </a:tbl>
          </a:graphicData>
        </a:graphic>
      </p:graphicFrame>
      <p:sp>
        <p:nvSpPr>
          <p:cNvPr id="8" name="TextBox 7">
            <a:extLst>
              <a:ext uri="{FF2B5EF4-FFF2-40B4-BE49-F238E27FC236}">
                <a16:creationId xmlns:a16="http://schemas.microsoft.com/office/drawing/2014/main" id="{99530AA0-2DBC-43C9-99A1-4BCA46C2CC9F}"/>
              </a:ext>
            </a:extLst>
          </p:cNvPr>
          <p:cNvSpPr>
            <a:spLocks noGrp="1"/>
          </p:cNvSpPr>
          <p:nvPr/>
        </p:nvSpPr>
        <p:spPr>
          <a:xfrm>
            <a:off x="11155680" y="6473952"/>
            <a:ext cx="822960" cy="274320"/>
          </a:xfrm>
          <a:prstGeom prst="rect">
            <a:avLst/>
          </a:prstGeom>
          <a:noFill/>
        </p:spPr>
        <p:txBody>
          <a:bodyPr wrap="square" lIns="27432" tIns="27432" rIns="27432" bIns="27432">
            <a:spAutoFit/>
          </a:bodyPr>
          <a:lstStyle/>
          <a:p>
            <a:pPr algn="r">
              <a:buNone/>
            </a:pPr>
            <a:r>
              <a:rPr sz="850" b="1" i="0">
                <a:solidFill>
                  <a:srgbClr val="64748C"/>
                </a:solidFill>
                <a:latin typeface="Calibri"/>
                <a:ea typeface="Calibri"/>
                <a:cs typeface="Calibri"/>
              </a:rPr>
              <a:t>14</a:t>
            </a:r>
          </a:p>
        </p:txBody>
      </p:sp>
      <p:sp>
        <p:nvSpPr>
          <p:cNvPr id="9" name="TextBox 8">
            <a:extLst>
              <a:ext uri="{FF2B5EF4-FFF2-40B4-BE49-F238E27FC236}">
                <a16:creationId xmlns:a16="http://schemas.microsoft.com/office/drawing/2014/main" id="{770B5568-7A6A-4E9A-828A-8CF5B57465C3}"/>
              </a:ext>
            </a:extLst>
          </p:cNvPr>
          <p:cNvSpPr>
            <a:spLocks noGrp="1"/>
          </p:cNvSpPr>
          <p:nvPr/>
        </p:nvSpPr>
        <p:spPr>
          <a:xfrm>
            <a:off x="640080" y="6473952"/>
            <a:ext cx="9692640" cy="209288"/>
          </a:xfrm>
          <a:prstGeom prst="rect">
            <a:avLst/>
          </a:prstGeom>
          <a:noFill/>
        </p:spPr>
        <p:txBody>
          <a:bodyPr wrap="square" lIns="27432" tIns="27432" rIns="27432" bIns="27432">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pic>
        <p:nvPicPr>
          <p:cNvPr id="10"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3413531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03E713-6650-4C9E-99EF-82A49D20B29E}"/>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A5203904-B698-44B5-8F8F-7BAC03A1686C}"/>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PROPOSED METHODOLOGY</a:t>
            </a:r>
          </a:p>
        </p:txBody>
      </p:sp>
      <p:sp>
        <p:nvSpPr>
          <p:cNvPr id="4" name="TextBox 3">
            <a:extLst>
              <a:ext uri="{FF2B5EF4-FFF2-40B4-BE49-F238E27FC236}">
                <a16:creationId xmlns:a16="http://schemas.microsoft.com/office/drawing/2014/main" id="{7132573F-45DD-4E8F-8388-D921D5780F5C}"/>
              </a:ext>
            </a:extLst>
          </p:cNvPr>
          <p:cNvSpPr>
            <a:spLocks noGrp="1"/>
          </p:cNvSpPr>
          <p:nvPr/>
        </p:nvSpPr>
        <p:spPr>
          <a:xfrm>
            <a:off x="640080" y="694944"/>
            <a:ext cx="11155680" cy="467820"/>
          </a:xfrm>
          <a:prstGeom prst="rect">
            <a:avLst/>
          </a:prstGeom>
          <a:noFill/>
        </p:spPr>
        <p:txBody>
          <a:bodyPr wrap="square" lIns="36576" tIns="18288" rIns="36576" bIns="18288">
            <a:spAutoFit/>
          </a:bodyPr>
          <a:lstStyle/>
          <a:p>
            <a:r>
              <a:rPr sz="2800" b="1" i="0">
                <a:solidFill>
                  <a:srgbClr val="1E2A44"/>
                </a:solidFill>
                <a:latin typeface="Cambria"/>
                <a:ea typeface="Cambria"/>
                <a:cs typeface="Cambria"/>
              </a:rPr>
              <a:t>The cart Pipelin</a:t>
            </a:r>
            <a:r>
              <a:rPr sz="2800" b="1">
                <a:solidFill>
                  <a:srgbClr val="1E2A44"/>
                </a:solidFill>
                <a:latin typeface="Cambria"/>
                <a:ea typeface="Cambria"/>
                <a:cs typeface="Cambria"/>
              </a:rPr>
              <a:t>e</a:t>
            </a:r>
            <a:endParaRPr sz="2800" b="1" i="0">
              <a:solidFill>
                <a:srgbClr val="1E2A44"/>
              </a:solidFill>
              <a:latin typeface="Cambria"/>
              <a:ea typeface="Cambria"/>
              <a:cs typeface="Cambria"/>
            </a:endParaRPr>
          </a:p>
        </p:txBody>
      </p:sp>
      <p:sp>
        <p:nvSpPr>
          <p:cNvPr id="6" name="TextBox 5">
            <a:extLst>
              <a:ext uri="{FF2B5EF4-FFF2-40B4-BE49-F238E27FC236}">
                <a16:creationId xmlns:a16="http://schemas.microsoft.com/office/drawing/2014/main" id="{C12C0556-82B2-4396-9AB1-E45A1C092B40}"/>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7" name="TextBox 6">
            <a:extLst>
              <a:ext uri="{FF2B5EF4-FFF2-40B4-BE49-F238E27FC236}">
                <a16:creationId xmlns:a16="http://schemas.microsoft.com/office/drawing/2014/main" id="{40CEA6FD-2393-4603-B226-F6E2AF04DE04}"/>
              </a:ext>
            </a:extLst>
          </p:cNvPr>
          <p:cNvSpPr>
            <a:spLocks noGrp="1"/>
          </p:cNvSpPr>
          <p:nvPr/>
        </p:nvSpPr>
        <p:spPr>
          <a:xfrm>
            <a:off x="11155680" y="6473952"/>
            <a:ext cx="822960" cy="274320"/>
          </a:xfrm>
          <a:prstGeom prst="rect">
            <a:avLst/>
          </a:prstGeom>
          <a:noFill/>
        </p:spPr>
        <p:txBody>
          <a:bodyPr wrap="square" lIns="36576" tIns="18288" rIns="36576" bIns="18288">
            <a:spAutoFit/>
          </a:bodyPr>
          <a:lstStyle/>
          <a:p>
            <a:pPr algn="r">
              <a:buNone/>
            </a:pPr>
            <a:r>
              <a:rPr sz="850" b="1" i="0">
                <a:solidFill>
                  <a:srgbClr val="64748C"/>
                </a:solidFill>
                <a:latin typeface="Calibri"/>
                <a:ea typeface="Calibri"/>
                <a:cs typeface="Calibri"/>
              </a:rPr>
              <a:t>15</a:t>
            </a:r>
          </a:p>
        </p:txBody>
      </p:sp>
      <p:pic>
        <p:nvPicPr>
          <p:cNvPr id="17" name="Picture 16" descr="slide14_richcolor.png"/>
          <p:cNvPicPr>
            <a:picLocks noChangeAspect="1"/>
          </p:cNvPicPr>
          <p:nvPr/>
        </p:nvPicPr>
        <p:blipFill>
          <a:blip r:embed="rId3"/>
          <a:stretch>
            <a:fillRect/>
          </a:stretch>
        </p:blipFill>
        <p:spPr>
          <a:xfrm>
            <a:off x="509587" y="694944"/>
            <a:ext cx="11172825" cy="5796343"/>
          </a:xfrm>
          <a:prstGeom prst="rect">
            <a:avLst/>
          </a:prstGeom>
        </p:spPr>
      </p:pic>
      <p:pic>
        <p:nvPicPr>
          <p:cNvPr id="8" name="Image 0" descr="/mnt/data/cusit_logo.png"/>
          <p:cNvPicPr>
            <a:picLocks noChangeAspect="1"/>
          </p:cNvPicPr>
          <p:nvPr/>
        </p:nvPicPr>
        <p:blipFill>
          <a:blip r:embed="rId4"/>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105282634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859A2E-20FA-4770-9E1B-C586789A7A98}"/>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26A81DFF-AA2D-44FF-9E4F-329199A84746}"/>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dirty="0">
                <a:solidFill>
                  <a:srgbClr val="2F6FCB"/>
                </a:solidFill>
                <a:latin typeface="Calibri"/>
                <a:ea typeface="Calibri"/>
                <a:cs typeface="Calibri"/>
              </a:rPr>
              <a:t>PROPOSED METHODOLOGY</a:t>
            </a:r>
          </a:p>
        </p:txBody>
      </p:sp>
      <p:sp>
        <p:nvSpPr>
          <p:cNvPr id="4" name="TextBox 3">
            <a:extLst>
              <a:ext uri="{FF2B5EF4-FFF2-40B4-BE49-F238E27FC236}">
                <a16:creationId xmlns:a16="http://schemas.microsoft.com/office/drawing/2014/main" id="{A490E76B-21BA-4A58-8A22-FE4E02499271}"/>
              </a:ext>
            </a:extLst>
          </p:cNvPr>
          <p:cNvSpPr>
            <a:spLocks noGrp="1"/>
          </p:cNvSpPr>
          <p:nvPr/>
        </p:nvSpPr>
        <p:spPr>
          <a:xfrm>
            <a:off x="640080" y="694944"/>
            <a:ext cx="11155680" cy="590931"/>
          </a:xfrm>
          <a:prstGeom prst="rect">
            <a:avLst/>
          </a:prstGeom>
          <a:noFill/>
        </p:spPr>
        <p:txBody>
          <a:bodyPr wrap="square" lIns="36576" tIns="18288" rIns="36576" bIns="18288">
            <a:spAutoFit/>
          </a:bodyPr>
          <a:lstStyle/>
          <a:p>
            <a:r>
              <a:rPr sz="3600" b="1" i="0">
                <a:solidFill>
                  <a:srgbClr val="1E2A44"/>
                </a:solidFill>
                <a:latin typeface="Cambria"/>
                <a:ea typeface="Cambria"/>
                <a:cs typeface="Cambria"/>
              </a:rPr>
              <a:t>cart Stage 1: Manifest &amp; Instrument</a:t>
            </a:r>
          </a:p>
        </p:txBody>
      </p:sp>
      <p:sp>
        <p:nvSpPr>
          <p:cNvPr id="5" name="TextBox 4">
            <a:extLst>
              <a:ext uri="{FF2B5EF4-FFF2-40B4-BE49-F238E27FC236}">
                <a16:creationId xmlns:a16="http://schemas.microsoft.com/office/drawing/2014/main" id="{8DF49E98-2B92-4D48-B7EE-1995ECE63C96}"/>
              </a:ext>
            </a:extLst>
          </p:cNvPr>
          <p:cNvSpPr>
            <a:spLocks noGrp="1"/>
          </p:cNvSpPr>
          <p:nvPr/>
        </p:nvSpPr>
        <p:spPr>
          <a:xfrm>
            <a:off x="640080" y="1737360"/>
            <a:ext cx="11064240" cy="2304221"/>
          </a:xfrm>
          <a:prstGeom prst="rect">
            <a:avLst/>
          </a:prstGeom>
          <a:noFill/>
        </p:spPr>
        <p:txBody>
          <a:bodyPr wrap="square" lIns="36576" tIns="18288" rIns="36576" bIns="18288">
            <a:spAutoFit/>
          </a:bodyPr>
          <a:lstStyle/>
          <a:p>
            <a:pPr>
              <a:buNone/>
            </a:pPr>
            <a:r>
              <a:rPr sz="2200" b="1" dirty="0">
                <a:solidFill>
                  <a:srgbClr val="2F6FCB"/>
                </a:solidFill>
                <a:latin typeface="Calibri"/>
              </a:rPr>
              <a:t>▪  </a:t>
            </a:r>
            <a:r>
              <a:rPr sz="2200" b="0" dirty="0">
                <a:solidFill>
                  <a:srgbClr val="1E2A44"/>
                </a:solidFill>
                <a:latin typeface="Calibri"/>
              </a:rPr>
              <a:t>Pin the exact </a:t>
            </a:r>
            <a:r>
              <a:rPr sz="2200" b="0" dirty="0" err="1">
                <a:solidFill>
                  <a:srgbClr val="1E2A44"/>
                </a:solidFill>
                <a:latin typeface="Calibri"/>
              </a:rPr>
              <a:t>transpiler</a:t>
            </a:r>
            <a:r>
              <a:rPr sz="2200" b="0" dirty="0">
                <a:solidFill>
                  <a:srgbClr val="1E2A44"/>
                </a:solidFill>
                <a:latin typeface="Calibri"/>
              </a:rPr>
              <a:t> revision, environment, and dependency versions so every run is reproducible.</a:t>
            </a:r>
          </a:p>
          <a:p>
            <a:pPr>
              <a:spcAft>
                <a:spcPts val="1600"/>
              </a:spcAft>
              <a:buNone/>
            </a:pPr>
            <a:r>
              <a:rPr sz="2200" b="1" dirty="0">
                <a:solidFill>
                  <a:srgbClr val="2F6FCB"/>
                </a:solidFill>
                <a:latin typeface="Calibri"/>
              </a:rPr>
              <a:t>▪  </a:t>
            </a:r>
            <a:r>
              <a:rPr sz="2200" b="0" dirty="0">
                <a:solidFill>
                  <a:srgbClr val="1E2A44"/>
                </a:solidFill>
                <a:latin typeface="Calibri"/>
              </a:rPr>
              <a:t>Record provenance for every test case, and instrument </a:t>
            </a:r>
            <a:r>
              <a:rPr sz="2200" b="0" dirty="0" err="1">
                <a:solidFill>
                  <a:srgbClr val="1E2A44"/>
                </a:solidFill>
                <a:latin typeface="Calibri"/>
              </a:rPr>
              <a:t>transpilation</a:t>
            </a:r>
            <a:r>
              <a:rPr sz="2200" b="0" dirty="0">
                <a:solidFill>
                  <a:srgbClr val="1E2A44"/>
                </a:solidFill>
                <a:latin typeface="Calibri"/>
              </a:rPr>
              <a:t> </a:t>
            </a:r>
            <a:r>
              <a:rPr sz="2200" dirty="0">
                <a:solidFill>
                  <a:srgbClr val="1E2A44"/>
                </a:solidFill>
                <a:latin typeface="Calibri"/>
              </a:rPr>
              <a:t>so </a:t>
            </a:r>
            <a:r>
              <a:rPr lang="en-US" sz="2200" dirty="0" smtClean="0">
                <a:solidFill>
                  <a:srgbClr val="1E2A44"/>
                </a:solidFill>
                <a:latin typeface="Calibri"/>
              </a:rPr>
              <a:t>the </a:t>
            </a:r>
            <a:r>
              <a:rPr lang="en-US" sz="2200" dirty="0" err="1">
                <a:solidFill>
                  <a:srgbClr val="1E2A44"/>
                </a:solidFill>
                <a:latin typeface="Calibri"/>
              </a:rPr>
              <a:t>transpiler</a:t>
            </a:r>
            <a:r>
              <a:rPr lang="en-US" sz="2200" dirty="0">
                <a:solidFill>
                  <a:srgbClr val="1E2A44"/>
                </a:solidFill>
                <a:latin typeface="Calibri"/>
              </a:rPr>
              <a:t> </a:t>
            </a:r>
            <a:r>
              <a:rPr lang="en-US" sz="2200" dirty="0" smtClean="0">
                <a:solidFill>
                  <a:srgbClr val="1E2A44"/>
                </a:solidFill>
                <a:latin typeface="Calibri"/>
              </a:rPr>
              <a:t>passes(</a:t>
            </a:r>
            <a:r>
              <a:rPr lang="en-US" sz="2200" dirty="0">
                <a:solidFill>
                  <a:srgbClr val="1E2A44"/>
                </a:solidFill>
                <a:latin typeface="Calibri"/>
              </a:rPr>
              <a:t>layout, routing, or optimization</a:t>
            </a:r>
            <a:r>
              <a:rPr lang="en-US" sz="2200" dirty="0" smtClean="0">
                <a:solidFill>
                  <a:srgbClr val="1E2A44"/>
                </a:solidFill>
                <a:latin typeface="Calibri"/>
              </a:rPr>
              <a:t>) that </a:t>
            </a:r>
            <a:r>
              <a:rPr lang="en-US" sz="2200" dirty="0">
                <a:solidFill>
                  <a:srgbClr val="1E2A44"/>
                </a:solidFill>
                <a:latin typeface="Calibri"/>
              </a:rPr>
              <a:t>actually execute are recorded, rather than inferred from filenames.</a:t>
            </a:r>
          </a:p>
          <a:p>
            <a:pPr>
              <a:spcAft>
                <a:spcPts val="1600"/>
              </a:spcAft>
              <a:buNone/>
            </a:pPr>
            <a:r>
              <a:rPr sz="2200" b="1" dirty="0" smtClean="0">
                <a:solidFill>
                  <a:srgbClr val="2F6FCB"/>
                </a:solidFill>
                <a:latin typeface="Calibri"/>
              </a:rPr>
              <a:t>▪  </a:t>
            </a:r>
            <a:r>
              <a:rPr sz="2200" b="0" dirty="0">
                <a:solidFill>
                  <a:srgbClr val="1E2A44"/>
                </a:solidFill>
                <a:latin typeface="Calibri"/>
              </a:rPr>
              <a:t>Output: a static manifest plus pass-execution traces for every test unit.</a:t>
            </a:r>
          </a:p>
        </p:txBody>
      </p:sp>
      <p:sp>
        <p:nvSpPr>
          <p:cNvPr id="6" name="TextBox 5">
            <a:extLst>
              <a:ext uri="{FF2B5EF4-FFF2-40B4-BE49-F238E27FC236}">
                <a16:creationId xmlns:a16="http://schemas.microsoft.com/office/drawing/2014/main" id="{FC529F13-AE71-4614-BBA4-483C80C08D0D}"/>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lang="en-US" sz="1000" dirty="0">
                <a:solidFill>
                  <a:srgbClr val="64748C"/>
                </a:solidFill>
                <a:ea typeface="Calibri"/>
                <a:cs typeface="Calibri"/>
              </a:rPr>
              <a:t>PhD Synopsis  ·  A Leakage-Safe Framework for Observability-Aware Regression Testing of Quantum Compilers</a:t>
            </a:r>
          </a:p>
        </p:txBody>
      </p:sp>
      <p:sp>
        <p:nvSpPr>
          <p:cNvPr id="7" name="TextBox 6">
            <a:extLst>
              <a:ext uri="{FF2B5EF4-FFF2-40B4-BE49-F238E27FC236}">
                <a16:creationId xmlns:a16="http://schemas.microsoft.com/office/drawing/2014/main" id="{85DEE56B-5FD8-4748-BA85-46F49E66C73A}"/>
              </a:ext>
            </a:extLst>
          </p:cNvPr>
          <p:cNvSpPr>
            <a:spLocks noGrp="1"/>
          </p:cNvSpPr>
          <p:nvPr/>
        </p:nvSpPr>
        <p:spPr>
          <a:xfrm>
            <a:off x="11155680" y="6473952"/>
            <a:ext cx="822960" cy="190821"/>
          </a:xfrm>
          <a:prstGeom prst="rect">
            <a:avLst/>
          </a:prstGeom>
          <a:noFill/>
        </p:spPr>
        <p:txBody>
          <a:bodyPr wrap="square" lIns="36576" tIns="18288" rIns="36576" bIns="18288">
            <a:spAutoFit/>
          </a:bodyPr>
          <a:lstStyle/>
          <a:p>
            <a:pPr algn="r">
              <a:buNone/>
            </a:pPr>
            <a:r>
              <a:rPr sz="1000" b="1" i="0">
                <a:solidFill>
                  <a:srgbClr val="64748C"/>
                </a:solidFill>
                <a:latin typeface="Calibri"/>
                <a:ea typeface="Calibri"/>
                <a:cs typeface="Calibri"/>
              </a:rPr>
              <a:t>16</a:t>
            </a:r>
          </a:p>
        </p:txBody>
      </p:sp>
      <p:pic>
        <p:nvPicPr>
          <p:cNvPr id="8"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859A2E-20FA-4770-9E1B-C586789A7A98}"/>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26A81DFF-AA2D-44FF-9E4F-329199A84746}"/>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dirty="0">
                <a:solidFill>
                  <a:srgbClr val="2F6FCB"/>
                </a:solidFill>
                <a:latin typeface="Calibri"/>
                <a:ea typeface="Calibri"/>
                <a:cs typeface="Calibri"/>
              </a:rPr>
              <a:t>PROPOSED METHODOLOGY</a:t>
            </a:r>
          </a:p>
        </p:txBody>
      </p:sp>
      <p:sp>
        <p:nvSpPr>
          <p:cNvPr id="4" name="TextBox 3">
            <a:extLst>
              <a:ext uri="{FF2B5EF4-FFF2-40B4-BE49-F238E27FC236}">
                <a16:creationId xmlns:a16="http://schemas.microsoft.com/office/drawing/2014/main" id="{A490E76B-21BA-4A58-8A22-FE4E02499271}"/>
              </a:ext>
            </a:extLst>
          </p:cNvPr>
          <p:cNvSpPr>
            <a:spLocks noGrp="1"/>
          </p:cNvSpPr>
          <p:nvPr/>
        </p:nvSpPr>
        <p:spPr>
          <a:xfrm>
            <a:off x="640080" y="694944"/>
            <a:ext cx="11155680" cy="590931"/>
          </a:xfrm>
          <a:prstGeom prst="rect">
            <a:avLst/>
          </a:prstGeom>
          <a:noFill/>
        </p:spPr>
        <p:txBody>
          <a:bodyPr wrap="square" lIns="36576" tIns="18288" rIns="36576" bIns="18288">
            <a:spAutoFit/>
          </a:bodyPr>
          <a:lstStyle/>
          <a:p>
            <a:r>
              <a:rPr sz="3600" b="1" i="0">
                <a:solidFill>
                  <a:srgbClr val="1E2A44"/>
                </a:solidFill>
                <a:latin typeface="Cambria"/>
                <a:ea typeface="Cambria"/>
                <a:cs typeface="Cambria"/>
              </a:rPr>
              <a:t>cart Stage 2: Events &amp; Cohorts</a:t>
            </a:r>
          </a:p>
        </p:txBody>
      </p:sp>
      <p:sp>
        <p:nvSpPr>
          <p:cNvPr id="5" name="TextBox 4">
            <a:extLst>
              <a:ext uri="{FF2B5EF4-FFF2-40B4-BE49-F238E27FC236}">
                <a16:creationId xmlns:a16="http://schemas.microsoft.com/office/drawing/2014/main" id="{8DF49E98-2B92-4D48-B7EE-1995ECE63C96}"/>
              </a:ext>
            </a:extLst>
          </p:cNvPr>
          <p:cNvSpPr>
            <a:spLocks noGrp="1"/>
          </p:cNvSpPr>
          <p:nvPr/>
        </p:nvSpPr>
        <p:spPr>
          <a:xfrm>
            <a:off x="640080" y="1737360"/>
            <a:ext cx="11064240" cy="3237809"/>
          </a:xfrm>
          <a:prstGeom prst="rect">
            <a:avLst/>
          </a:prstGeom>
          <a:noFill/>
        </p:spPr>
        <p:txBody>
          <a:bodyPr wrap="square" lIns="36576" tIns="18288" rIns="36576" bIns="18288">
            <a:spAutoFit/>
          </a:bodyPr>
          <a:lstStyle/>
          <a:p>
            <a:pPr>
              <a:buNone/>
            </a:pPr>
            <a:r>
              <a:rPr sz="2200" b="1">
                <a:solidFill>
                  <a:srgbClr val="2F6FCB"/>
                </a:solidFill>
                <a:latin typeface="Calibri"/>
              </a:rPr>
              <a:t>▪  </a:t>
            </a:r>
            <a:r>
              <a:rPr sz="2200" b="0">
                <a:solidFill>
                  <a:srgbClr val="1E2A44"/>
                </a:solidFill>
                <a:latin typeface="Calibri"/>
              </a:rPr>
              <a:t>Build change events, not raw commits: forward-regression, fix-boundary, and controlled-mutation events.</a:t>
            </a:r>
          </a:p>
          <a:p>
            <a:pPr>
              <a:spcAft>
                <a:spcPts val="1600"/>
              </a:spcAft>
              <a:buNone/>
            </a:pPr>
            <a:r>
              <a:rPr sz="2200" b="1">
                <a:solidFill>
                  <a:srgbClr val="2F6FCB"/>
                </a:solidFill>
                <a:latin typeface="Calibri"/>
              </a:rPr>
              <a:t>▪  </a:t>
            </a:r>
            <a:r>
              <a:rPr sz="2200" b="0">
                <a:solidFill>
                  <a:srgbClr val="1E2A44"/>
                </a:solidFill>
                <a:latin typeface="Calibri"/>
              </a:rPr>
              <a:t>Assign every event to exactly one cohort, and keep cohorts separate and temporally split so evaluation cannot leak future information into earlier decisions.</a:t>
            </a:r>
          </a:p>
          <a:p>
            <a:pPr>
              <a:spcAft>
                <a:spcPts val="1600"/>
              </a:spcAft>
              <a:buNone/>
            </a:pPr>
            <a:r>
              <a:rPr sz="2200" b="1">
                <a:solidFill>
                  <a:srgbClr val="2F6FCB"/>
                </a:solidFill>
                <a:latin typeface="Calibri"/>
              </a:rPr>
              <a:t>▪  </a:t>
            </a:r>
            <a:r>
              <a:rPr sz="2200" b="0">
                <a:solidFill>
                  <a:srgbClr val="1E2A44"/>
                </a:solidFill>
                <a:latin typeface="Calibri"/>
              </a:rPr>
              <a:t>Output: an audited set of change events, each carrying one fault type and one cohort label.</a:t>
            </a:r>
          </a:p>
        </p:txBody>
      </p:sp>
      <p:sp>
        <p:nvSpPr>
          <p:cNvPr id="6" name="TextBox 5">
            <a:extLst>
              <a:ext uri="{FF2B5EF4-FFF2-40B4-BE49-F238E27FC236}">
                <a16:creationId xmlns:a16="http://schemas.microsoft.com/office/drawing/2014/main" id="{FC529F13-AE71-4614-BBA4-483C80C08D0D}"/>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lang="en-US" sz="1000" dirty="0">
                <a:solidFill>
                  <a:srgbClr val="64748C"/>
                </a:solidFill>
                <a:ea typeface="Calibri"/>
                <a:cs typeface="Calibri"/>
              </a:rPr>
              <a:t>PhD Synopsis  ·  A Leakage-Safe Framework for Observability-Aware Regression Testing of Quantum Compilers</a:t>
            </a:r>
          </a:p>
        </p:txBody>
      </p:sp>
      <p:sp>
        <p:nvSpPr>
          <p:cNvPr id="7" name="TextBox 6">
            <a:extLst>
              <a:ext uri="{FF2B5EF4-FFF2-40B4-BE49-F238E27FC236}">
                <a16:creationId xmlns:a16="http://schemas.microsoft.com/office/drawing/2014/main" id="{85DEE56B-5FD8-4748-BA85-46F49E66C73A}"/>
              </a:ext>
            </a:extLst>
          </p:cNvPr>
          <p:cNvSpPr>
            <a:spLocks noGrp="1"/>
          </p:cNvSpPr>
          <p:nvPr/>
        </p:nvSpPr>
        <p:spPr>
          <a:xfrm>
            <a:off x="11155680" y="6473952"/>
            <a:ext cx="822960" cy="190821"/>
          </a:xfrm>
          <a:prstGeom prst="rect">
            <a:avLst/>
          </a:prstGeom>
          <a:noFill/>
        </p:spPr>
        <p:txBody>
          <a:bodyPr wrap="square" lIns="36576" tIns="18288" rIns="36576" bIns="18288">
            <a:spAutoFit/>
          </a:bodyPr>
          <a:lstStyle/>
          <a:p>
            <a:pPr algn="r">
              <a:buNone/>
            </a:pPr>
            <a:r>
              <a:rPr sz="1000" b="1" i="0">
                <a:solidFill>
                  <a:srgbClr val="64748C"/>
                </a:solidFill>
                <a:latin typeface="Calibri"/>
                <a:ea typeface="Calibri"/>
                <a:cs typeface="Calibri"/>
              </a:rPr>
              <a:t>17</a:t>
            </a:r>
          </a:p>
        </p:txBody>
      </p:sp>
      <p:pic>
        <p:nvPicPr>
          <p:cNvPr id="8"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859A2E-20FA-4770-9E1B-C586789A7A98}"/>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26A81DFF-AA2D-44FF-9E4F-329199A84746}"/>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dirty="0">
                <a:solidFill>
                  <a:srgbClr val="2F6FCB"/>
                </a:solidFill>
                <a:latin typeface="Calibri"/>
                <a:ea typeface="Calibri"/>
                <a:cs typeface="Calibri"/>
              </a:rPr>
              <a:t>PROPOSED METHODOLOGY</a:t>
            </a:r>
          </a:p>
        </p:txBody>
      </p:sp>
      <p:sp>
        <p:nvSpPr>
          <p:cNvPr id="4" name="TextBox 3">
            <a:extLst>
              <a:ext uri="{FF2B5EF4-FFF2-40B4-BE49-F238E27FC236}">
                <a16:creationId xmlns:a16="http://schemas.microsoft.com/office/drawing/2014/main" id="{A490E76B-21BA-4A58-8A22-FE4E02499271}"/>
              </a:ext>
            </a:extLst>
          </p:cNvPr>
          <p:cNvSpPr>
            <a:spLocks noGrp="1"/>
          </p:cNvSpPr>
          <p:nvPr/>
        </p:nvSpPr>
        <p:spPr>
          <a:xfrm>
            <a:off x="640080" y="694944"/>
            <a:ext cx="11155680" cy="590931"/>
          </a:xfrm>
          <a:prstGeom prst="rect">
            <a:avLst/>
          </a:prstGeom>
          <a:noFill/>
        </p:spPr>
        <p:txBody>
          <a:bodyPr wrap="square" lIns="36576" tIns="18288" rIns="36576" bIns="18288">
            <a:spAutoFit/>
          </a:bodyPr>
          <a:lstStyle/>
          <a:p>
            <a:r>
              <a:rPr sz="3600" b="1" i="0">
                <a:solidFill>
                  <a:srgbClr val="1E2A44"/>
                </a:solidFill>
                <a:latin typeface="Cambria"/>
                <a:ea typeface="Cambria"/>
                <a:cs typeface="Cambria"/>
              </a:rPr>
              <a:t>cart Stage 3: Tiered &amp; Matched Oracles</a:t>
            </a:r>
          </a:p>
        </p:txBody>
      </p:sp>
      <p:sp>
        <p:nvSpPr>
          <p:cNvPr id="5" name="TextBox 4">
            <a:extLst>
              <a:ext uri="{FF2B5EF4-FFF2-40B4-BE49-F238E27FC236}">
                <a16:creationId xmlns:a16="http://schemas.microsoft.com/office/drawing/2014/main" id="{8DF49E98-2B92-4D48-B7EE-1995ECE63C96}"/>
              </a:ext>
            </a:extLst>
          </p:cNvPr>
          <p:cNvSpPr>
            <a:spLocks noGrp="1"/>
          </p:cNvSpPr>
          <p:nvPr/>
        </p:nvSpPr>
        <p:spPr>
          <a:xfrm>
            <a:off x="640080" y="1737360"/>
            <a:ext cx="11064240" cy="1934889"/>
          </a:xfrm>
          <a:prstGeom prst="rect">
            <a:avLst/>
          </a:prstGeom>
          <a:noFill/>
        </p:spPr>
        <p:txBody>
          <a:bodyPr wrap="square" lIns="36576" tIns="18288" rIns="36576" bIns="18288">
            <a:spAutoFit/>
          </a:bodyPr>
          <a:lstStyle/>
          <a:p>
            <a:pPr>
              <a:buNone/>
            </a:pPr>
            <a:r>
              <a:rPr sz="2200" b="1" dirty="0">
                <a:solidFill>
                  <a:srgbClr val="2F6FCB"/>
                </a:solidFill>
                <a:latin typeface="Calibri"/>
              </a:rPr>
              <a:t>▪  </a:t>
            </a:r>
            <a:r>
              <a:rPr sz="2200" b="0" dirty="0">
                <a:solidFill>
                  <a:srgbClr val="1E2A44"/>
                </a:solidFill>
                <a:latin typeface="Calibri"/>
              </a:rPr>
              <a:t>Apply width-tiered semantic checks: exact equivalence for small circuits, sampled or structural checks as circuits grow.</a:t>
            </a:r>
          </a:p>
          <a:p>
            <a:pPr>
              <a:spcAft>
                <a:spcPts val="1600"/>
              </a:spcAft>
              <a:buNone/>
            </a:pPr>
            <a:r>
              <a:rPr sz="2200" b="1" dirty="0">
                <a:solidFill>
                  <a:srgbClr val="2F6FCB"/>
                </a:solidFill>
                <a:latin typeface="Calibri"/>
              </a:rPr>
              <a:t>▪  </a:t>
            </a:r>
            <a:r>
              <a:rPr sz="2200" b="0" dirty="0">
                <a:solidFill>
                  <a:srgbClr val="1E2A44"/>
                </a:solidFill>
                <a:latin typeface="Calibri"/>
              </a:rPr>
              <a:t>Apply the fault-class-matched oracles (contract, property, isolated-pass, and determinism) to the channels the reference screen cannot see.</a:t>
            </a:r>
          </a:p>
          <a:p>
            <a:pPr>
              <a:spcAft>
                <a:spcPts val="1600"/>
              </a:spcAft>
              <a:buNone/>
            </a:pPr>
            <a:r>
              <a:rPr sz="2200" b="1" dirty="0">
                <a:solidFill>
                  <a:srgbClr val="2F6FCB"/>
                </a:solidFill>
                <a:latin typeface="Calibri"/>
              </a:rPr>
              <a:t>▪  </a:t>
            </a:r>
            <a:r>
              <a:rPr sz="2200" b="0" dirty="0">
                <a:solidFill>
                  <a:srgbClr val="1E2A44"/>
                </a:solidFill>
                <a:latin typeface="Calibri"/>
              </a:rPr>
              <a:t>Output: </a:t>
            </a:r>
            <a:r>
              <a:rPr sz="2200" b="0" dirty="0" smtClean="0">
                <a:solidFill>
                  <a:srgbClr val="1E2A44"/>
                </a:solidFill>
                <a:latin typeface="Calibri"/>
              </a:rPr>
              <a:t>ground</a:t>
            </a:r>
            <a:r>
              <a:rPr lang="en-US" sz="2200" b="0" dirty="0" smtClean="0">
                <a:solidFill>
                  <a:srgbClr val="1E2A44"/>
                </a:solidFill>
                <a:latin typeface="Calibri"/>
              </a:rPr>
              <a:t> </a:t>
            </a:r>
            <a:r>
              <a:rPr sz="2200" b="0" dirty="0" smtClean="0">
                <a:solidFill>
                  <a:srgbClr val="1E2A44"/>
                </a:solidFill>
                <a:latin typeface="Calibri"/>
              </a:rPr>
              <a:t>truth </a:t>
            </a:r>
            <a:r>
              <a:rPr sz="2200" b="0" dirty="0">
                <a:solidFill>
                  <a:srgbClr val="1E2A44"/>
                </a:solidFill>
                <a:latin typeface="Calibri"/>
              </a:rPr>
              <a:t>evidence and channel labels for every event.</a:t>
            </a:r>
          </a:p>
        </p:txBody>
      </p:sp>
      <p:sp>
        <p:nvSpPr>
          <p:cNvPr id="6" name="TextBox 5">
            <a:extLst>
              <a:ext uri="{FF2B5EF4-FFF2-40B4-BE49-F238E27FC236}">
                <a16:creationId xmlns:a16="http://schemas.microsoft.com/office/drawing/2014/main" id="{FC529F13-AE71-4614-BBA4-483C80C08D0D}"/>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lang="en-US" sz="1000" dirty="0">
                <a:solidFill>
                  <a:srgbClr val="64748C"/>
                </a:solidFill>
                <a:ea typeface="Calibri"/>
                <a:cs typeface="Calibri"/>
              </a:rPr>
              <a:t>PhD Synopsis  ·  A Leakage-Safe Framework for Observability-Aware Regression Testing of Quantum Compilers</a:t>
            </a:r>
          </a:p>
        </p:txBody>
      </p:sp>
      <p:sp>
        <p:nvSpPr>
          <p:cNvPr id="7" name="TextBox 6">
            <a:extLst>
              <a:ext uri="{FF2B5EF4-FFF2-40B4-BE49-F238E27FC236}">
                <a16:creationId xmlns:a16="http://schemas.microsoft.com/office/drawing/2014/main" id="{85DEE56B-5FD8-4748-BA85-46F49E66C73A}"/>
              </a:ext>
            </a:extLst>
          </p:cNvPr>
          <p:cNvSpPr>
            <a:spLocks noGrp="1"/>
          </p:cNvSpPr>
          <p:nvPr/>
        </p:nvSpPr>
        <p:spPr>
          <a:xfrm>
            <a:off x="11155680" y="6473952"/>
            <a:ext cx="822960" cy="190821"/>
          </a:xfrm>
          <a:prstGeom prst="rect">
            <a:avLst/>
          </a:prstGeom>
          <a:noFill/>
        </p:spPr>
        <p:txBody>
          <a:bodyPr wrap="square" lIns="36576" tIns="18288" rIns="36576" bIns="18288">
            <a:spAutoFit/>
          </a:bodyPr>
          <a:lstStyle/>
          <a:p>
            <a:pPr algn="r">
              <a:buNone/>
            </a:pPr>
            <a:r>
              <a:rPr sz="1000" b="1" i="0">
                <a:solidFill>
                  <a:srgbClr val="64748C"/>
                </a:solidFill>
                <a:latin typeface="Calibri"/>
                <a:ea typeface="Calibri"/>
                <a:cs typeface="Calibri"/>
              </a:rPr>
              <a:t>18</a:t>
            </a:r>
          </a:p>
        </p:txBody>
      </p:sp>
      <p:pic>
        <p:nvPicPr>
          <p:cNvPr id="8"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859A2E-20FA-4770-9E1B-C586789A7A98}"/>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26A81DFF-AA2D-44FF-9E4F-329199A84746}"/>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dirty="0">
                <a:solidFill>
                  <a:srgbClr val="2F6FCB"/>
                </a:solidFill>
                <a:latin typeface="Calibri"/>
                <a:ea typeface="Calibri"/>
                <a:cs typeface="Calibri"/>
              </a:rPr>
              <a:t>PROPOSED METHODOLOGY</a:t>
            </a:r>
          </a:p>
        </p:txBody>
      </p:sp>
      <p:sp>
        <p:nvSpPr>
          <p:cNvPr id="4" name="TextBox 3">
            <a:extLst>
              <a:ext uri="{FF2B5EF4-FFF2-40B4-BE49-F238E27FC236}">
                <a16:creationId xmlns:a16="http://schemas.microsoft.com/office/drawing/2014/main" id="{A490E76B-21BA-4A58-8A22-FE4E02499271}"/>
              </a:ext>
            </a:extLst>
          </p:cNvPr>
          <p:cNvSpPr>
            <a:spLocks noGrp="1"/>
          </p:cNvSpPr>
          <p:nvPr/>
        </p:nvSpPr>
        <p:spPr>
          <a:xfrm>
            <a:off x="640080" y="694944"/>
            <a:ext cx="11155680" cy="590931"/>
          </a:xfrm>
          <a:prstGeom prst="rect">
            <a:avLst/>
          </a:prstGeom>
          <a:noFill/>
        </p:spPr>
        <p:txBody>
          <a:bodyPr wrap="square" lIns="36576" tIns="18288" rIns="36576" bIns="18288">
            <a:spAutoFit/>
          </a:bodyPr>
          <a:lstStyle/>
          <a:p>
            <a:r>
              <a:rPr sz="3600" b="1" i="0">
                <a:solidFill>
                  <a:srgbClr val="1E2A44"/>
                </a:solidFill>
                <a:latin typeface="Cambria"/>
                <a:ea typeface="Cambria"/>
                <a:cs typeface="Cambria"/>
              </a:rPr>
              <a:t>cart Stage 4: Leakage-Safe Selection &amp; Evaluation</a:t>
            </a:r>
          </a:p>
        </p:txBody>
      </p:sp>
      <p:sp>
        <p:nvSpPr>
          <p:cNvPr id="5" name="TextBox 4">
            <a:extLst>
              <a:ext uri="{FF2B5EF4-FFF2-40B4-BE49-F238E27FC236}">
                <a16:creationId xmlns:a16="http://schemas.microsoft.com/office/drawing/2014/main" id="{8DF49E98-2B92-4D48-B7EE-1995ECE63C96}"/>
              </a:ext>
            </a:extLst>
          </p:cNvPr>
          <p:cNvSpPr>
            <a:spLocks noGrp="1"/>
          </p:cNvSpPr>
          <p:nvPr/>
        </p:nvSpPr>
        <p:spPr>
          <a:xfrm>
            <a:off x="640080" y="1737360"/>
            <a:ext cx="11064240" cy="3237809"/>
          </a:xfrm>
          <a:prstGeom prst="rect">
            <a:avLst/>
          </a:prstGeom>
          <a:noFill/>
        </p:spPr>
        <p:txBody>
          <a:bodyPr wrap="square" lIns="36576" tIns="18288" rIns="36576" bIns="18288">
            <a:spAutoFit/>
          </a:bodyPr>
          <a:lstStyle/>
          <a:p>
            <a:pPr>
              <a:buNone/>
            </a:pPr>
            <a:r>
              <a:rPr sz="2200" b="1">
                <a:solidFill>
                  <a:srgbClr val="2F6FCB"/>
                </a:solidFill>
                <a:latin typeface="Calibri"/>
              </a:rPr>
              <a:t>▪  </a:t>
            </a:r>
            <a:r>
              <a:rPr sz="2200" b="0">
                <a:solidFill>
                  <a:srgbClr val="1E2A44"/>
                </a:solidFill>
                <a:latin typeface="Calibri"/>
              </a:rPr>
              <a:t>Rank every candidate test with the transparent risk_score selector and with five baselines — random ordering, cost-based, history-based, coverage/diversity-based, and change-based heuristics, the field-standard set (Yoo &amp; Harman, 2012; Rothermel et al., 2001; Elsner et al., 2021) — using only pre-execution information.</a:t>
            </a:r>
          </a:p>
          <a:p>
            <a:pPr>
              <a:spcAft>
                <a:spcPts val="1600"/>
              </a:spcAft>
              <a:buNone/>
            </a:pPr>
            <a:r>
              <a:rPr sz="2200" b="1">
                <a:solidFill>
                  <a:srgbClr val="2F6FCB"/>
                </a:solidFill>
                <a:latin typeface="Calibri"/>
              </a:rPr>
              <a:t>▪  </a:t>
            </a:r>
            <a:r>
              <a:rPr sz="2200" b="0">
                <a:solidFill>
                  <a:srgbClr val="1E2A44"/>
                </a:solidFill>
                <a:latin typeface="Calibri"/>
              </a:rPr>
              <a:t>Evaluate offline: join the ranked order with withheld labels under the same fixed CPU-time budget for every strategy.</a:t>
            </a:r>
          </a:p>
          <a:p>
            <a:pPr>
              <a:spcAft>
                <a:spcPts val="1600"/>
              </a:spcAft>
              <a:buNone/>
            </a:pPr>
            <a:r>
              <a:rPr sz="2200" b="1">
                <a:solidFill>
                  <a:srgbClr val="2F6FCB"/>
                </a:solidFill>
                <a:latin typeface="Calibri"/>
              </a:rPr>
              <a:t>▪  </a:t>
            </a:r>
            <a:r>
              <a:rPr sz="2200" b="0">
                <a:solidFill>
                  <a:srgbClr val="1E2A44"/>
                </a:solidFill>
                <a:latin typeface="Calibri"/>
              </a:rPr>
              <a:t>Output: a budgeted detection trace for the selector and for every baseline, ready for a fair comparison.</a:t>
            </a:r>
          </a:p>
        </p:txBody>
      </p:sp>
      <p:sp>
        <p:nvSpPr>
          <p:cNvPr id="6" name="TextBox 5">
            <a:extLst>
              <a:ext uri="{FF2B5EF4-FFF2-40B4-BE49-F238E27FC236}">
                <a16:creationId xmlns:a16="http://schemas.microsoft.com/office/drawing/2014/main" id="{FC529F13-AE71-4614-BBA4-483C80C08D0D}"/>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lang="en-US" sz="1000" dirty="0">
                <a:solidFill>
                  <a:srgbClr val="64748C"/>
                </a:solidFill>
                <a:ea typeface="Calibri"/>
                <a:cs typeface="Calibri"/>
              </a:rPr>
              <a:t>PhD Synopsis  ·  A Leakage-Safe Framework for Observability-Aware Regression Testing of Quantum Compilers</a:t>
            </a:r>
          </a:p>
        </p:txBody>
      </p:sp>
      <p:sp>
        <p:nvSpPr>
          <p:cNvPr id="7" name="TextBox 6">
            <a:extLst>
              <a:ext uri="{FF2B5EF4-FFF2-40B4-BE49-F238E27FC236}">
                <a16:creationId xmlns:a16="http://schemas.microsoft.com/office/drawing/2014/main" id="{85DEE56B-5FD8-4748-BA85-46F49E66C73A}"/>
              </a:ext>
            </a:extLst>
          </p:cNvPr>
          <p:cNvSpPr>
            <a:spLocks noGrp="1"/>
          </p:cNvSpPr>
          <p:nvPr/>
        </p:nvSpPr>
        <p:spPr>
          <a:xfrm>
            <a:off x="11155680" y="6473952"/>
            <a:ext cx="822960" cy="190821"/>
          </a:xfrm>
          <a:prstGeom prst="rect">
            <a:avLst/>
          </a:prstGeom>
          <a:noFill/>
        </p:spPr>
        <p:txBody>
          <a:bodyPr wrap="square" lIns="36576" tIns="18288" rIns="36576" bIns="18288">
            <a:spAutoFit/>
          </a:bodyPr>
          <a:lstStyle/>
          <a:p>
            <a:pPr algn="r">
              <a:buNone/>
            </a:pPr>
            <a:r>
              <a:rPr sz="1000" b="1" i="0">
                <a:solidFill>
                  <a:srgbClr val="64748C"/>
                </a:solidFill>
                <a:latin typeface="Calibri"/>
                <a:ea typeface="Calibri"/>
                <a:cs typeface="Calibri"/>
              </a:rPr>
              <a:t>19</a:t>
            </a:r>
          </a:p>
        </p:txBody>
      </p:sp>
      <p:pic>
        <p:nvPicPr>
          <p:cNvPr id="8"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BADCB9-3EA7-467F-A395-563B6FA53822}"/>
              </a:ext>
            </a:extLst>
          </p:cNvPr>
          <p:cNvSpPr>
            <a:spLocks noGrp="1"/>
          </p:cNvSpPr>
          <p:nvPr/>
        </p:nvSpPr>
        <p:spPr>
          <a:xfrm>
            <a:off x="7482"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F4CA65B7-2154-463E-A5E4-9298FFCB6677}"/>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PROPOSED METHODOLOGY</a:t>
            </a:r>
          </a:p>
        </p:txBody>
      </p:sp>
      <p:sp>
        <p:nvSpPr>
          <p:cNvPr id="4" name="TextBox 3">
            <a:extLst>
              <a:ext uri="{FF2B5EF4-FFF2-40B4-BE49-F238E27FC236}">
                <a16:creationId xmlns:a16="http://schemas.microsoft.com/office/drawing/2014/main" id="{5EC87510-0A42-4C6F-A3CE-976E328549C7}"/>
              </a:ext>
            </a:extLst>
          </p:cNvPr>
          <p:cNvSpPr>
            <a:spLocks noGrp="1"/>
          </p:cNvSpPr>
          <p:nvPr/>
        </p:nvSpPr>
        <p:spPr>
          <a:xfrm>
            <a:off x="640080" y="694944"/>
            <a:ext cx="11155680" cy="590931"/>
          </a:xfrm>
          <a:prstGeom prst="rect">
            <a:avLst/>
          </a:prstGeom>
          <a:noFill/>
        </p:spPr>
        <p:txBody>
          <a:bodyPr wrap="square" lIns="36576" tIns="18288" rIns="36576" bIns="18288">
            <a:spAutoFit/>
          </a:bodyPr>
          <a:lstStyle/>
          <a:p>
            <a:r>
              <a:rPr sz="3600" b="1" i="0">
                <a:solidFill>
                  <a:srgbClr val="1E2A44"/>
                </a:solidFill>
                <a:latin typeface="Cambria"/>
                <a:ea typeface="Cambria"/>
                <a:cs typeface="Cambria"/>
              </a:rPr>
              <a:t>The Test Selector (risk_score)</a:t>
            </a:r>
          </a:p>
        </p:txBody>
      </p:sp>
      <p:sp>
        <p:nvSpPr>
          <p:cNvPr id="8" name="TextBox 7">
            <a:extLst>
              <a:ext uri="{FF2B5EF4-FFF2-40B4-BE49-F238E27FC236}">
                <a16:creationId xmlns:a16="http://schemas.microsoft.com/office/drawing/2014/main" id="{3CDBCA1E-6679-4D90-B959-344923D490F9}"/>
              </a:ext>
            </a:extLst>
          </p:cNvPr>
          <p:cNvSpPr>
            <a:spLocks noGrp="1"/>
          </p:cNvSpPr>
          <p:nvPr/>
        </p:nvSpPr>
        <p:spPr>
          <a:xfrm>
            <a:off x="640080" y="6605217"/>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9" name="TextBox 8">
            <a:extLst>
              <a:ext uri="{FF2B5EF4-FFF2-40B4-BE49-F238E27FC236}">
                <a16:creationId xmlns:a16="http://schemas.microsoft.com/office/drawing/2014/main" id="{E6715AB0-6461-420E-AE5E-508737EBB165}"/>
              </a:ext>
            </a:extLst>
          </p:cNvPr>
          <p:cNvSpPr>
            <a:spLocks noGrp="1"/>
          </p:cNvSpPr>
          <p:nvPr/>
        </p:nvSpPr>
        <p:spPr>
          <a:xfrm>
            <a:off x="11155680" y="6473952"/>
            <a:ext cx="822960" cy="190821"/>
          </a:xfrm>
          <a:prstGeom prst="rect">
            <a:avLst/>
          </a:prstGeom>
          <a:noFill/>
        </p:spPr>
        <p:txBody>
          <a:bodyPr wrap="square" lIns="36576" tIns="18288" rIns="36576" bIns="18288">
            <a:spAutoFit/>
          </a:bodyPr>
          <a:lstStyle/>
          <a:p>
            <a:pPr algn="r">
              <a:buNone/>
            </a:pPr>
            <a:r>
              <a:rPr sz="1000" b="1" i="0">
                <a:solidFill>
                  <a:srgbClr val="64748C"/>
                </a:solidFill>
                <a:latin typeface="Calibri"/>
                <a:ea typeface="Calibri"/>
                <a:cs typeface="Calibri"/>
              </a:rPr>
              <a:t>20</a:t>
            </a:r>
          </a:p>
        </p:txBody>
      </p:sp>
      <p:sp>
        <p:nvSpPr>
          <p:cNvPr id="10" name="TextBox 9">
            <a:extLst>
              <a:ext uri="{FF2B5EF4-FFF2-40B4-BE49-F238E27FC236}">
                <a16:creationId xmlns:a16="http://schemas.microsoft.com/office/drawing/2014/main" id="{8FDFEC89-09AE-4224-BC85-440A0781AB99}"/>
              </a:ext>
            </a:extLst>
          </p:cNvPr>
          <p:cNvSpPr>
            <a:spLocks noGrp="1"/>
          </p:cNvSpPr>
          <p:nvPr/>
        </p:nvSpPr>
        <p:spPr>
          <a:xfrm>
            <a:off x="640080" y="1481328"/>
            <a:ext cx="11064240" cy="364715"/>
          </a:xfrm>
          <a:prstGeom prst="rect">
            <a:avLst/>
          </a:prstGeom>
          <a:noFill/>
        </p:spPr>
        <p:txBody>
          <a:bodyPr wrap="square" lIns="36576" tIns="36576" rIns="36576" bIns="36576" anchor="t">
            <a:spAutoFit/>
          </a:bodyPr>
          <a:lstStyle/>
          <a:p>
            <a:pPr algn="l">
              <a:lnSpc>
                <a:spcPct val="105000"/>
              </a:lnSpc>
              <a:spcAft>
                <a:spcPts val="300"/>
              </a:spcAft>
              <a:buNone/>
            </a:pPr>
            <a:r>
              <a:rPr b="0" i="1">
                <a:solidFill>
                  <a:srgbClr val="1E2A44"/>
                </a:solidFill>
                <a:latin typeface="Calibri"/>
                <a:ea typeface="Calibri"/>
                <a:cs typeface="Calibri"/>
              </a:rPr>
              <a:t>Rank every candidate test by its expected value per unit cost, then run the highest-scoring first.</a:t>
            </a:r>
          </a:p>
        </p:txBody>
      </p:sp>
      <p:sp>
        <p:nvSpPr>
          <p:cNvPr id="11" name="Rounded Rectangle 10">
            <a:extLst>
              <a:ext uri="{FF2B5EF4-FFF2-40B4-BE49-F238E27FC236}">
                <a16:creationId xmlns:a16="http://schemas.microsoft.com/office/drawing/2014/main" id="{E2CBB0CD-BB50-479C-BADC-CE2BE420DD4F}"/>
              </a:ext>
            </a:extLst>
          </p:cNvPr>
          <p:cNvSpPr>
            <a:spLocks noGrp="1"/>
          </p:cNvSpPr>
          <p:nvPr/>
        </p:nvSpPr>
        <p:spPr>
          <a:xfrm>
            <a:off x="640080" y="2011680"/>
            <a:ext cx="6903720" cy="1965960"/>
          </a:xfrm>
          <a:prstGeom prst="roundRect">
            <a:avLst/>
          </a:prstGeom>
          <a:solidFill>
            <a:srgbClr val="F1F6FC"/>
          </a:solidFill>
          <a:ln w="15875">
            <a:solidFill>
              <a:srgbClr val="2F6FC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12" name="TextBox 11">
            <a:extLst>
              <a:ext uri="{FF2B5EF4-FFF2-40B4-BE49-F238E27FC236}">
                <a16:creationId xmlns:a16="http://schemas.microsoft.com/office/drawing/2014/main" id="{60BC6316-C864-443C-B805-F04481B6CA9B}"/>
              </a:ext>
            </a:extLst>
          </p:cNvPr>
          <p:cNvSpPr>
            <a:spLocks noGrp="1"/>
          </p:cNvSpPr>
          <p:nvPr/>
        </p:nvSpPr>
        <p:spPr>
          <a:xfrm>
            <a:off x="841248" y="2130552"/>
            <a:ext cx="6537960" cy="1804597"/>
          </a:xfrm>
          <a:prstGeom prst="rect">
            <a:avLst/>
          </a:prstGeom>
          <a:noFill/>
        </p:spPr>
        <p:txBody>
          <a:bodyPr wrap="square" lIns="36576" tIns="36576" rIns="36576" bIns="36576" anchor="t">
            <a:spAutoFit/>
          </a:bodyPr>
          <a:lstStyle/>
          <a:p>
            <a:pPr algn="l">
              <a:lnSpc>
                <a:spcPct val="105000"/>
              </a:lnSpc>
              <a:spcAft>
                <a:spcPts val="700"/>
              </a:spcAft>
              <a:buNone/>
            </a:pPr>
            <a:r>
              <a:rPr sz="2400" b="1" i="0">
                <a:solidFill>
                  <a:srgbClr val="1D4E89"/>
                </a:solidFill>
                <a:latin typeface="Calibri"/>
                <a:ea typeface="Calibri"/>
                <a:cs typeface="Calibri"/>
              </a:rPr>
              <a:t>VALUE</a:t>
            </a:r>
            <a:r>
              <a:rPr sz="2000" b="0" i="0">
                <a:solidFill>
                  <a:srgbClr val="64748C"/>
                </a:solidFill>
                <a:latin typeface="Calibri"/>
                <a:ea typeface="Calibri"/>
                <a:cs typeface="Calibri"/>
              </a:rPr>
              <a:t>   how much a test is worth running</a:t>
            </a:r>
          </a:p>
          <a:p>
            <a:pPr algn="l">
              <a:lnSpc>
                <a:spcPct val="105000"/>
              </a:lnSpc>
              <a:spcAft>
                <a:spcPts val="700"/>
              </a:spcAft>
              <a:buNone/>
            </a:pPr>
            <a:r>
              <a:rPr sz="2000" b="1" i="0">
                <a:solidFill>
                  <a:srgbClr val="1E2A44"/>
                </a:solidFill>
                <a:latin typeface="Calibri"/>
                <a:ea typeface="Calibri"/>
                <a:cs typeface="Calibri"/>
              </a:rPr>
              <a:t>chance it catches the fault  ×  how much the fault matters  ×  how trustworthy the check is  ×  novelty</a:t>
            </a:r>
          </a:p>
          <a:p>
            <a:pPr algn="l">
              <a:lnSpc>
                <a:spcPct val="105000"/>
              </a:lnSpc>
              <a:spcAft>
                <a:spcPts val="700"/>
              </a:spcAft>
              <a:buNone/>
            </a:pPr>
            <a:r>
              <a:rPr sz="1600" b="0" i="1">
                <a:solidFill>
                  <a:srgbClr val="64748C"/>
                </a:solidFill>
                <a:latin typeface="Calibri"/>
                <a:ea typeface="Calibri"/>
                <a:cs typeface="Calibri"/>
              </a:rPr>
              <a:t>factors: change-stage match · circuit/backend sensitivity · criticality · historical risk · oracle confidence · novelty</a:t>
            </a:r>
          </a:p>
        </p:txBody>
      </p:sp>
      <p:sp>
        <p:nvSpPr>
          <p:cNvPr id="13" name="TextBox 12">
            <a:extLst>
              <a:ext uri="{FF2B5EF4-FFF2-40B4-BE49-F238E27FC236}">
                <a16:creationId xmlns:a16="http://schemas.microsoft.com/office/drawing/2014/main" id="{4714B395-3A16-4936-82F4-BAA179477BC4}"/>
              </a:ext>
            </a:extLst>
          </p:cNvPr>
          <p:cNvSpPr>
            <a:spLocks noGrp="1"/>
          </p:cNvSpPr>
          <p:nvPr/>
        </p:nvSpPr>
        <p:spPr>
          <a:xfrm>
            <a:off x="7589520" y="2547069"/>
            <a:ext cx="548640" cy="849463"/>
          </a:xfrm>
          <a:prstGeom prst="rect">
            <a:avLst/>
          </a:prstGeom>
          <a:noFill/>
        </p:spPr>
        <p:txBody>
          <a:bodyPr wrap="square" lIns="36576" tIns="36576" rIns="36576" bIns="36576" anchor="ctr">
            <a:spAutoFit/>
          </a:bodyPr>
          <a:lstStyle/>
          <a:p>
            <a:pPr algn="ctr">
              <a:lnSpc>
                <a:spcPct val="105000"/>
              </a:lnSpc>
              <a:spcAft>
                <a:spcPts val="300"/>
              </a:spcAft>
              <a:buNone/>
            </a:pPr>
            <a:r>
              <a:rPr sz="4800" b="1" i="0">
                <a:solidFill>
                  <a:srgbClr val="2F6FCB"/>
                </a:solidFill>
                <a:latin typeface="Calibri"/>
                <a:ea typeface="Calibri"/>
                <a:cs typeface="Calibri"/>
              </a:rPr>
              <a:t>÷</a:t>
            </a:r>
          </a:p>
        </p:txBody>
      </p:sp>
      <p:sp>
        <p:nvSpPr>
          <p:cNvPr id="14" name="Rounded Rectangle 13">
            <a:extLst>
              <a:ext uri="{FF2B5EF4-FFF2-40B4-BE49-F238E27FC236}">
                <a16:creationId xmlns:a16="http://schemas.microsoft.com/office/drawing/2014/main" id="{6A2E2069-1C5E-4D18-84B6-C1A4A8BA0C65}"/>
              </a:ext>
            </a:extLst>
          </p:cNvPr>
          <p:cNvSpPr>
            <a:spLocks noGrp="1"/>
          </p:cNvSpPr>
          <p:nvPr/>
        </p:nvSpPr>
        <p:spPr>
          <a:xfrm>
            <a:off x="8183879" y="2011680"/>
            <a:ext cx="3520440" cy="1965960"/>
          </a:xfrm>
          <a:prstGeom prst="roundRect">
            <a:avLst/>
          </a:prstGeom>
          <a:solidFill>
            <a:srgbClr val="F2F5FA"/>
          </a:solidFill>
          <a:ln w="15875">
            <a:solidFill>
              <a:srgbClr val="14264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15" name="TextBox 14">
            <a:extLst>
              <a:ext uri="{FF2B5EF4-FFF2-40B4-BE49-F238E27FC236}">
                <a16:creationId xmlns:a16="http://schemas.microsoft.com/office/drawing/2014/main" id="{40608A05-B97A-4E9E-8BDC-40741F40C3C4}"/>
              </a:ext>
            </a:extLst>
          </p:cNvPr>
          <p:cNvSpPr>
            <a:spLocks noGrp="1"/>
          </p:cNvSpPr>
          <p:nvPr/>
        </p:nvSpPr>
        <p:spPr>
          <a:xfrm>
            <a:off x="8385048" y="2240280"/>
            <a:ext cx="3154680" cy="1507079"/>
          </a:xfrm>
          <a:prstGeom prst="rect">
            <a:avLst/>
          </a:prstGeom>
          <a:noFill/>
        </p:spPr>
        <p:txBody>
          <a:bodyPr wrap="square" lIns="36576" tIns="36576" rIns="36576" bIns="36576" anchor="t">
            <a:spAutoFit/>
          </a:bodyPr>
          <a:lstStyle/>
          <a:p>
            <a:pPr algn="l">
              <a:lnSpc>
                <a:spcPct val="105000"/>
              </a:lnSpc>
              <a:spcAft>
                <a:spcPts val="800"/>
              </a:spcAft>
              <a:buNone/>
            </a:pPr>
            <a:r>
              <a:rPr sz="2400" b="1" i="0">
                <a:solidFill>
                  <a:srgbClr val="14264F"/>
                </a:solidFill>
                <a:latin typeface="Calibri"/>
                <a:ea typeface="Calibri"/>
                <a:cs typeface="Calibri"/>
              </a:rPr>
              <a:t>COST</a:t>
            </a:r>
          </a:p>
          <a:p>
            <a:pPr algn="l">
              <a:lnSpc>
                <a:spcPct val="105000"/>
              </a:lnSpc>
              <a:spcAft>
                <a:spcPts val="800"/>
              </a:spcAft>
              <a:buNone/>
            </a:pPr>
            <a:r>
              <a:rPr sz="2000" b="1" i="0">
                <a:solidFill>
                  <a:srgbClr val="1E2A44"/>
                </a:solidFill>
                <a:latin typeface="Calibri"/>
                <a:ea typeface="Calibri"/>
                <a:cs typeface="Calibri"/>
              </a:rPr>
              <a:t>expected time to run</a:t>
            </a:r>
          </a:p>
          <a:p>
            <a:pPr algn="l">
              <a:lnSpc>
                <a:spcPct val="105000"/>
              </a:lnSpc>
              <a:spcAft>
                <a:spcPts val="800"/>
              </a:spcAft>
              <a:buNone/>
            </a:pPr>
            <a:r>
              <a:rPr sz="1600" b="0" i="1">
                <a:solidFill>
                  <a:srgbClr val="64748C"/>
                </a:solidFill>
                <a:latin typeface="Calibri"/>
                <a:ea typeface="Calibri"/>
                <a:cs typeface="Calibri"/>
              </a:rPr>
              <a:t>transpilation + oracle time, measured on the baseline</a:t>
            </a:r>
          </a:p>
        </p:txBody>
      </p:sp>
      <p:sp>
        <p:nvSpPr>
          <p:cNvPr id="16" name="TextBox 15">
            <a:extLst>
              <a:ext uri="{FF2B5EF4-FFF2-40B4-BE49-F238E27FC236}">
                <a16:creationId xmlns:a16="http://schemas.microsoft.com/office/drawing/2014/main" id="{241A4E9F-0766-4D2F-A585-28544928CA70}"/>
              </a:ext>
            </a:extLst>
          </p:cNvPr>
          <p:cNvSpPr>
            <a:spLocks noGrp="1"/>
          </p:cNvSpPr>
          <p:nvPr/>
        </p:nvSpPr>
        <p:spPr>
          <a:xfrm>
            <a:off x="640080" y="3998975"/>
            <a:ext cx="11064240" cy="332399"/>
          </a:xfrm>
          <a:prstGeom prst="rect">
            <a:avLst/>
          </a:prstGeom>
          <a:noFill/>
        </p:spPr>
        <p:txBody>
          <a:bodyPr wrap="square" lIns="36576" tIns="36576" rIns="36576" bIns="36576" anchor="t">
            <a:spAutoFit/>
          </a:bodyPr>
          <a:lstStyle/>
          <a:p>
            <a:pPr algn="l">
              <a:lnSpc>
                <a:spcPct val="105000"/>
              </a:lnSpc>
              <a:spcAft>
                <a:spcPts val="300"/>
              </a:spcAft>
              <a:buNone/>
            </a:pPr>
            <a:r>
              <a:rPr sz="1600" b="0" i="1">
                <a:solidFill>
                  <a:srgbClr val="64748C"/>
                </a:solidFill>
                <a:latin typeface="Calibri"/>
                <a:ea typeface="Calibri"/>
                <a:cs typeface="Calibri"/>
              </a:rPr>
              <a:t>The higher a test's value per unit cost, the earlier it runs, under a fixed test budget.</a:t>
            </a:r>
          </a:p>
        </p:txBody>
      </p:sp>
      <p:sp>
        <p:nvSpPr>
          <p:cNvPr id="17" name="TextBox 16">
            <a:extLst>
              <a:ext uri="{FF2B5EF4-FFF2-40B4-BE49-F238E27FC236}">
                <a16:creationId xmlns:a16="http://schemas.microsoft.com/office/drawing/2014/main" id="{5A01BCE4-F087-4BAA-84D9-3AE85FAFB49E}"/>
              </a:ext>
            </a:extLst>
          </p:cNvPr>
          <p:cNvSpPr>
            <a:spLocks noGrp="1"/>
          </p:cNvSpPr>
          <p:nvPr/>
        </p:nvSpPr>
        <p:spPr>
          <a:xfrm>
            <a:off x="475488" y="4234888"/>
            <a:ext cx="11064240" cy="2286780"/>
          </a:xfrm>
          <a:prstGeom prst="rect">
            <a:avLst/>
          </a:prstGeom>
          <a:noFill/>
        </p:spPr>
        <p:txBody>
          <a:bodyPr wrap="square" lIns="36576" tIns="36576" rIns="36576" bIns="36576" anchor="t">
            <a:spAutoFit/>
          </a:bodyPr>
          <a:lstStyle/>
          <a:p>
            <a:pPr algn="l">
              <a:lnSpc>
                <a:spcPct val="110000"/>
              </a:lnSpc>
              <a:spcAft>
                <a:spcPts val="1000"/>
              </a:spcAft>
              <a:buNone/>
            </a:pPr>
            <a:r>
              <a:rPr b="1" i="0">
                <a:solidFill>
                  <a:srgbClr val="2F6FCB"/>
                </a:solidFill>
                <a:latin typeface="Calibri"/>
                <a:ea typeface="Calibri"/>
                <a:cs typeface="Calibri"/>
              </a:rPr>
              <a:t>▪  </a:t>
            </a:r>
            <a:r>
              <a:rPr b="1" i="0">
                <a:solidFill>
                  <a:srgbClr val="1D4E89"/>
                </a:solidFill>
                <a:latin typeface="Calibri"/>
                <a:ea typeface="Calibri"/>
                <a:cs typeface="Calibri"/>
              </a:rPr>
              <a:t>Transparent:  </a:t>
            </a:r>
            <a:r>
              <a:rPr b="0" i="0">
                <a:solidFill>
                  <a:srgbClr val="1E2A44"/>
                </a:solidFill>
                <a:latin typeface="Calibri"/>
                <a:ea typeface="Calibri"/>
                <a:cs typeface="Calibri"/>
              </a:rPr>
              <a:t>hand-set weights, no black-box AI: every choice is explainable.</a:t>
            </a:r>
          </a:p>
          <a:p>
            <a:pPr algn="l">
              <a:lnSpc>
                <a:spcPct val="110000"/>
              </a:lnSpc>
              <a:spcAft>
                <a:spcPts val="1000"/>
              </a:spcAft>
              <a:buNone/>
            </a:pPr>
            <a:r>
              <a:rPr b="1" i="0">
                <a:solidFill>
                  <a:srgbClr val="2F6FCB"/>
                </a:solidFill>
                <a:latin typeface="Calibri"/>
                <a:ea typeface="Calibri"/>
                <a:cs typeface="Calibri"/>
              </a:rPr>
              <a:t>▪  </a:t>
            </a:r>
            <a:r>
              <a:rPr b="1" i="0">
                <a:solidFill>
                  <a:srgbClr val="1D4E89"/>
                </a:solidFill>
                <a:latin typeface="Calibri"/>
                <a:ea typeface="Calibri"/>
                <a:cs typeface="Calibri"/>
              </a:rPr>
              <a:t>Leakage-safe:  </a:t>
            </a:r>
            <a:r>
              <a:rPr b="0" i="0">
                <a:solidFill>
                  <a:srgbClr val="1E2A44"/>
                </a:solidFill>
                <a:latin typeface="Calibri"/>
                <a:ea typeface="Calibri"/>
                <a:cs typeface="Calibri"/>
              </a:rPr>
              <a:t>uses only pre-execution information, and never peeks at the outcome.</a:t>
            </a:r>
          </a:p>
          <a:p>
            <a:pPr algn="l">
              <a:lnSpc>
                <a:spcPct val="110000"/>
              </a:lnSpc>
              <a:spcAft>
                <a:spcPts val="1000"/>
              </a:spcAft>
              <a:buNone/>
            </a:pPr>
            <a:r>
              <a:rPr b="1" i="0">
                <a:solidFill>
                  <a:srgbClr val="2F6FCB"/>
                </a:solidFill>
                <a:latin typeface="Calibri"/>
                <a:ea typeface="Calibri"/>
                <a:cs typeface="Calibri"/>
              </a:rPr>
              <a:t>▪  </a:t>
            </a:r>
            <a:r>
              <a:rPr b="1" i="0">
                <a:solidFill>
                  <a:srgbClr val="1D4E89"/>
                </a:solidFill>
                <a:latin typeface="Calibri"/>
                <a:ea typeface="Calibri"/>
                <a:cs typeface="Calibri"/>
              </a:rPr>
              <a:t>Frozen &amp; compared:  </a:t>
            </a:r>
            <a:r>
              <a:rPr b="0" i="0">
                <a:solidFill>
                  <a:srgbClr val="1E2A44"/>
                </a:solidFill>
                <a:latin typeface="Calibri"/>
                <a:ea typeface="Calibri"/>
                <a:cs typeface="Calibri"/>
              </a:rPr>
              <a:t>weights fixed before evaluation, tested against five baselines including random, and checked by ablation.</a:t>
            </a:r>
          </a:p>
          <a:p>
            <a:pPr algn="l">
              <a:lnSpc>
                <a:spcPct val="110000"/>
              </a:lnSpc>
              <a:spcAft>
                <a:spcPts val="1000"/>
              </a:spcAft>
              <a:buNone/>
            </a:pPr>
            <a:r>
              <a:rPr b="1">
                <a:solidFill>
                  <a:srgbClr val="2F6FCB"/>
                </a:solidFill>
                <a:latin typeface="Calibri"/>
                <a:ea typeface="Calibri"/>
                <a:cs typeface="Calibri"/>
              </a:rPr>
              <a:t>▪  </a:t>
            </a:r>
            <a:r>
              <a:rPr b="1">
                <a:solidFill>
                  <a:srgbClr val="1D4E89"/>
                </a:solidFill>
                <a:latin typeface="Calibri"/>
                <a:ea typeface="Calibri"/>
                <a:cs typeface="Calibri"/>
              </a:rPr>
              <a:t>Sensitivity:  </a:t>
            </a:r>
            <a:r>
              <a:rPr b="0">
                <a:solidFill>
                  <a:srgbClr val="1E2A44"/>
                </a:solidFill>
                <a:latin typeface="Calibri"/>
                <a:ea typeface="Calibri"/>
                <a:cs typeface="Calibri"/>
              </a:rPr>
              <a:t>the 10–20% reserve range is fixed in the current design; a ±50% weight-perturbation ablation is scheduled next (Phase 3) to confirm no single hand-set number drives the result.</a:t>
            </a:r>
          </a:p>
        </p:txBody>
      </p:sp>
      <p:pic>
        <p:nvPicPr>
          <p:cNvPr id="18"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20120685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859A2E-20FA-4770-9E1B-C586789A7A98}"/>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26A81DFF-AA2D-44FF-9E4F-329199A84746}"/>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dirty="0">
                <a:solidFill>
                  <a:srgbClr val="2F6FCB"/>
                </a:solidFill>
                <a:latin typeface="Calibri"/>
                <a:ea typeface="Calibri"/>
                <a:cs typeface="Calibri"/>
              </a:rPr>
              <a:t>PROPOSED METHODOLOGY</a:t>
            </a:r>
          </a:p>
        </p:txBody>
      </p:sp>
      <p:sp>
        <p:nvSpPr>
          <p:cNvPr id="4" name="TextBox 3">
            <a:extLst>
              <a:ext uri="{FF2B5EF4-FFF2-40B4-BE49-F238E27FC236}">
                <a16:creationId xmlns:a16="http://schemas.microsoft.com/office/drawing/2014/main" id="{A490E76B-21BA-4A58-8A22-FE4E02499271}"/>
              </a:ext>
            </a:extLst>
          </p:cNvPr>
          <p:cNvSpPr>
            <a:spLocks noGrp="1"/>
          </p:cNvSpPr>
          <p:nvPr/>
        </p:nvSpPr>
        <p:spPr>
          <a:xfrm>
            <a:off x="640080" y="694944"/>
            <a:ext cx="11155680" cy="590931"/>
          </a:xfrm>
          <a:prstGeom prst="rect">
            <a:avLst/>
          </a:prstGeom>
          <a:noFill/>
        </p:spPr>
        <p:txBody>
          <a:bodyPr wrap="square" lIns="36576" tIns="18288" rIns="36576" bIns="18288">
            <a:spAutoFit/>
          </a:bodyPr>
          <a:lstStyle/>
          <a:p>
            <a:r>
              <a:rPr sz="3600" b="1" i="0">
                <a:solidFill>
                  <a:srgbClr val="1E2A44"/>
                </a:solidFill>
                <a:latin typeface="Cambria"/>
                <a:ea typeface="Cambria"/>
                <a:cs typeface="Cambria"/>
              </a:rPr>
              <a:t>cart Stage 5: Metrics &amp; Validity Gates</a:t>
            </a:r>
          </a:p>
        </p:txBody>
      </p:sp>
      <p:sp>
        <p:nvSpPr>
          <p:cNvPr id="5" name="TextBox 4">
            <a:extLst>
              <a:ext uri="{FF2B5EF4-FFF2-40B4-BE49-F238E27FC236}">
                <a16:creationId xmlns:a16="http://schemas.microsoft.com/office/drawing/2014/main" id="{8DF49E98-2B92-4D48-B7EE-1995ECE63C96}"/>
              </a:ext>
            </a:extLst>
          </p:cNvPr>
          <p:cNvSpPr>
            <a:spLocks noGrp="1"/>
          </p:cNvSpPr>
          <p:nvPr/>
        </p:nvSpPr>
        <p:spPr>
          <a:xfrm>
            <a:off x="640080" y="1737360"/>
            <a:ext cx="11064240" cy="3237809"/>
          </a:xfrm>
          <a:prstGeom prst="rect">
            <a:avLst/>
          </a:prstGeom>
          <a:noFill/>
        </p:spPr>
        <p:txBody>
          <a:bodyPr wrap="square" lIns="36576" tIns="18288" rIns="36576" bIns="18288">
            <a:spAutoFit/>
          </a:bodyPr>
          <a:lstStyle/>
          <a:p>
            <a:pPr>
              <a:buNone/>
            </a:pPr>
            <a:r>
              <a:rPr sz="2200" b="1">
                <a:solidFill>
                  <a:srgbClr val="2F6FCB"/>
                </a:solidFill>
                <a:latin typeface="Calibri"/>
              </a:rPr>
              <a:t>▪  </a:t>
            </a:r>
            <a:r>
              <a:rPr sz="2200" b="0">
                <a:solidFill>
                  <a:srgbClr val="1E2A44"/>
                </a:solidFill>
                <a:latin typeface="Calibri"/>
              </a:rPr>
              <a:t>Compute the effectiveness metrics: recall at budget and detection-versus-budget AUC (Machalica et al., 2019), and normalised time-to-first-failure (Rothermel et al., 2001).</a:t>
            </a:r>
          </a:p>
          <a:p>
            <a:pPr>
              <a:spcAft>
                <a:spcPts val="1600"/>
              </a:spcAft>
              <a:buNone/>
            </a:pPr>
            <a:r>
              <a:rPr sz="2200" b="1">
                <a:solidFill>
                  <a:srgbClr val="2F6FCB"/>
                </a:solidFill>
                <a:latin typeface="Calibri"/>
              </a:rPr>
              <a:t>▪  </a:t>
            </a:r>
            <a:r>
              <a:rPr sz="2200" b="0">
                <a:solidFill>
                  <a:srgbClr val="1E2A44"/>
                </a:solidFill>
                <a:latin typeface="Calibri"/>
              </a:rPr>
              <a:t>Compute the diagnostics: selection overhead (Wang et al., 2026), diversity coverage (Feldt et al., 2016), and the empirical oracle false-positive rate (Kang et al., 2024).</a:t>
            </a:r>
          </a:p>
          <a:p>
            <a:pPr>
              <a:spcAft>
                <a:spcPts val="1600"/>
              </a:spcAft>
              <a:buNone/>
            </a:pPr>
            <a:r>
              <a:rPr sz="2200" b="1">
                <a:solidFill>
                  <a:srgbClr val="2F6FCB"/>
                </a:solidFill>
                <a:latin typeface="Calibri"/>
              </a:rPr>
              <a:t>▪  </a:t>
            </a:r>
            <a:r>
              <a:rPr sz="2200" b="0">
                <a:solidFill>
                  <a:srgbClr val="1E2A44"/>
                </a:solidFill>
                <a:latin typeface="Calibri"/>
              </a:rPr>
              <a:t>Enforce six executable validity gates before any result is allowed to count: budget compliance, reproducibility (same seed ⇒ same ranking), leakage absence, label reproducibility from write-once artifacts, metric correctness against hand-computed cases, and oracle coverage.</a:t>
            </a:r>
          </a:p>
          <a:p>
            <a:pPr>
              <a:spcAft>
                <a:spcPts val="1600"/>
              </a:spcAft>
              <a:buNone/>
            </a:pPr>
            <a:r>
              <a:rPr sz="2200" b="1">
                <a:solidFill>
                  <a:srgbClr val="2F6FCB"/>
                </a:solidFill>
                <a:latin typeface="Calibri"/>
              </a:rPr>
              <a:t>▪  </a:t>
            </a:r>
            <a:r>
              <a:rPr sz="2200" b="0">
                <a:solidFill>
                  <a:srgbClr val="1E2A44"/>
                </a:solidFill>
                <a:latin typeface="Calibri"/>
              </a:rPr>
              <a:t>Output: audited results that have earned their place, not just numbers.</a:t>
            </a:r>
          </a:p>
        </p:txBody>
      </p:sp>
      <p:sp>
        <p:nvSpPr>
          <p:cNvPr id="6" name="TextBox 5">
            <a:extLst>
              <a:ext uri="{FF2B5EF4-FFF2-40B4-BE49-F238E27FC236}">
                <a16:creationId xmlns:a16="http://schemas.microsoft.com/office/drawing/2014/main" id="{FC529F13-AE71-4614-BBA4-483C80C08D0D}"/>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lang="en-US" sz="1000" dirty="0">
                <a:solidFill>
                  <a:srgbClr val="64748C"/>
                </a:solidFill>
                <a:ea typeface="Calibri"/>
                <a:cs typeface="Calibri"/>
              </a:rPr>
              <a:t>PhD Synopsis  ·  A Leakage-Safe Framework for Observability-Aware Regression Testing of Quantum Compilers</a:t>
            </a:r>
          </a:p>
        </p:txBody>
      </p:sp>
      <p:sp>
        <p:nvSpPr>
          <p:cNvPr id="7" name="TextBox 6">
            <a:extLst>
              <a:ext uri="{FF2B5EF4-FFF2-40B4-BE49-F238E27FC236}">
                <a16:creationId xmlns:a16="http://schemas.microsoft.com/office/drawing/2014/main" id="{85DEE56B-5FD8-4748-BA85-46F49E66C73A}"/>
              </a:ext>
            </a:extLst>
          </p:cNvPr>
          <p:cNvSpPr>
            <a:spLocks noGrp="1"/>
          </p:cNvSpPr>
          <p:nvPr/>
        </p:nvSpPr>
        <p:spPr>
          <a:xfrm>
            <a:off x="11155680" y="6473952"/>
            <a:ext cx="822960" cy="190821"/>
          </a:xfrm>
          <a:prstGeom prst="rect">
            <a:avLst/>
          </a:prstGeom>
          <a:noFill/>
        </p:spPr>
        <p:txBody>
          <a:bodyPr wrap="square" lIns="36576" tIns="18288" rIns="36576" bIns="18288">
            <a:spAutoFit/>
          </a:bodyPr>
          <a:lstStyle/>
          <a:p>
            <a:pPr algn="r">
              <a:buNone/>
            </a:pPr>
            <a:r>
              <a:rPr sz="1000" b="1" i="0">
                <a:solidFill>
                  <a:srgbClr val="64748C"/>
                </a:solidFill>
                <a:latin typeface="Calibri"/>
                <a:ea typeface="Calibri"/>
                <a:cs typeface="Calibri"/>
              </a:rPr>
              <a:t>21</a:t>
            </a:r>
          </a:p>
        </p:txBody>
      </p:sp>
      <p:pic>
        <p:nvPicPr>
          <p:cNvPr id="8"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DFAE0C1-A63E-4588-A8C2-FE8CBB9BAF21}"/>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800"/>
          </a:p>
        </p:txBody>
      </p:sp>
      <p:sp>
        <p:nvSpPr>
          <p:cNvPr id="3" name="TextBox 2">
            <a:extLst>
              <a:ext uri="{FF2B5EF4-FFF2-40B4-BE49-F238E27FC236}">
                <a16:creationId xmlns:a16="http://schemas.microsoft.com/office/drawing/2014/main" id="{FCE4C77B-1BC0-4B9B-B78F-B73E592C4635}"/>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INITIAL RESULTS</a:t>
            </a:r>
          </a:p>
        </p:txBody>
      </p:sp>
      <p:sp>
        <p:nvSpPr>
          <p:cNvPr id="4" name="TextBox 3">
            <a:extLst>
              <a:ext uri="{FF2B5EF4-FFF2-40B4-BE49-F238E27FC236}">
                <a16:creationId xmlns:a16="http://schemas.microsoft.com/office/drawing/2014/main" id="{C666CC7F-A140-4BEB-B733-37EF41342359}"/>
              </a:ext>
            </a:extLst>
          </p:cNvPr>
          <p:cNvSpPr>
            <a:spLocks noGrp="1"/>
          </p:cNvSpPr>
          <p:nvPr/>
        </p:nvSpPr>
        <p:spPr>
          <a:xfrm>
            <a:off x="640080" y="694944"/>
            <a:ext cx="11155680" cy="652486"/>
          </a:xfrm>
          <a:prstGeom prst="rect">
            <a:avLst/>
          </a:prstGeom>
          <a:noFill/>
        </p:spPr>
        <p:txBody>
          <a:bodyPr wrap="square" lIns="36576" tIns="18288" rIns="36576" bIns="18288">
            <a:spAutoFit/>
          </a:bodyPr>
          <a:lstStyle/>
          <a:p>
            <a:r>
              <a:rPr sz="4000" b="1" dirty="0">
                <a:solidFill>
                  <a:srgbClr val="1E2A44"/>
                </a:solidFill>
                <a:latin typeface="Cambria"/>
                <a:ea typeface="Cambria"/>
                <a:cs typeface="Cambria"/>
              </a:rPr>
              <a:t>What We </a:t>
            </a:r>
            <a:r>
              <a:rPr sz="4000" b="1" dirty="0" smtClean="0">
                <a:solidFill>
                  <a:srgbClr val="1E2A44"/>
                </a:solidFill>
                <a:latin typeface="Cambria"/>
                <a:ea typeface="Cambria"/>
                <a:cs typeface="Cambria"/>
              </a:rPr>
              <a:t>Tested</a:t>
            </a:r>
            <a:r>
              <a:rPr lang="en-US" sz="4000" b="1" dirty="0" smtClean="0">
                <a:solidFill>
                  <a:srgbClr val="1E2A44"/>
                </a:solidFill>
                <a:latin typeface="Cambria"/>
                <a:ea typeface="Cambria"/>
                <a:cs typeface="Cambria"/>
              </a:rPr>
              <a:t>?</a:t>
            </a:r>
            <a:endParaRPr sz="4000" b="1" dirty="0">
              <a:solidFill>
                <a:srgbClr val="1E2A44"/>
              </a:solidFill>
              <a:latin typeface="Cambria"/>
              <a:ea typeface="Cambria"/>
              <a:cs typeface="Cambria"/>
            </a:endParaRPr>
          </a:p>
        </p:txBody>
      </p:sp>
      <p:sp>
        <p:nvSpPr>
          <p:cNvPr id="5" name="TextBox 4">
            <a:extLst>
              <a:ext uri="{FF2B5EF4-FFF2-40B4-BE49-F238E27FC236}">
                <a16:creationId xmlns:a16="http://schemas.microsoft.com/office/drawing/2014/main" id="{FAED2238-B1C4-4BDC-9279-FB4D54244008}"/>
              </a:ext>
            </a:extLst>
          </p:cNvPr>
          <p:cNvSpPr>
            <a:spLocks noGrp="1"/>
          </p:cNvSpPr>
          <p:nvPr/>
        </p:nvSpPr>
        <p:spPr>
          <a:xfrm>
            <a:off x="640080" y="1783080"/>
            <a:ext cx="11064240" cy="2170851"/>
          </a:xfrm>
          <a:prstGeom prst="rect">
            <a:avLst/>
          </a:prstGeom>
          <a:noFill/>
        </p:spPr>
        <p:txBody>
          <a:bodyPr wrap="square" lIns="36576" tIns="18288" rIns="36576" bIns="18288">
            <a:spAutoFit/>
          </a:bodyPr>
          <a:lstStyle/>
          <a:p>
            <a:pPr>
              <a:spcAft>
                <a:spcPts val="1600"/>
              </a:spcAft>
              <a:buNone/>
            </a:pPr>
            <a:r>
              <a:rPr sz="2800" b="1" i="0" dirty="0">
                <a:solidFill>
                  <a:srgbClr val="2F6FCB"/>
                </a:solidFill>
                <a:latin typeface="Calibri"/>
                <a:ea typeface="Calibri"/>
                <a:cs typeface="Calibri"/>
              </a:rPr>
              <a:t>▪  </a:t>
            </a:r>
            <a:r>
              <a:rPr sz="2800" b="0" i="0" dirty="0">
                <a:solidFill>
                  <a:srgbClr val="1E2A44"/>
                </a:solidFill>
                <a:latin typeface="Calibri"/>
                <a:ea typeface="Calibri"/>
                <a:cs typeface="Calibri"/>
              </a:rPr>
              <a:t>Run on a single ordinary laptop, using circuits of up to eight qubits.</a:t>
            </a:r>
          </a:p>
          <a:p>
            <a:pPr>
              <a:spcAft>
                <a:spcPts val="1600"/>
              </a:spcAft>
              <a:buNone/>
            </a:pPr>
            <a:r>
              <a:rPr sz="2800" b="1" i="0" dirty="0">
                <a:solidFill>
                  <a:srgbClr val="2F6FCB"/>
                </a:solidFill>
                <a:latin typeface="Calibri"/>
                <a:ea typeface="Calibri"/>
                <a:cs typeface="Calibri"/>
              </a:rPr>
              <a:t>▪  </a:t>
            </a:r>
            <a:r>
              <a:rPr sz="2800" b="0" i="0" dirty="0">
                <a:solidFill>
                  <a:srgbClr val="1E2A44"/>
                </a:solidFill>
                <a:latin typeface="Calibri"/>
                <a:ea typeface="Calibri"/>
                <a:cs typeface="Calibri"/>
              </a:rPr>
              <a:t>We ran the whole regression-testing pipeline end to end.</a:t>
            </a:r>
          </a:p>
          <a:p>
            <a:pPr>
              <a:spcAft>
                <a:spcPts val="1600"/>
              </a:spcAft>
              <a:buNone/>
            </a:pPr>
            <a:r>
              <a:rPr sz="2800" b="1" i="0" dirty="0">
                <a:solidFill>
                  <a:srgbClr val="2F6FCB"/>
                </a:solidFill>
                <a:latin typeface="Calibri"/>
                <a:ea typeface="Calibri"/>
                <a:cs typeface="Calibri"/>
              </a:rPr>
              <a:t>▪  </a:t>
            </a:r>
            <a:r>
              <a:rPr sz="2800" b="0" i="0" dirty="0">
                <a:solidFill>
                  <a:srgbClr val="1E2A44"/>
                </a:solidFill>
                <a:latin typeface="Calibri"/>
                <a:ea typeface="Calibri"/>
                <a:cs typeface="Calibri"/>
              </a:rPr>
              <a:t>We also reproduced real historical </a:t>
            </a:r>
            <a:r>
              <a:rPr sz="2800" b="0" i="0" dirty="0" err="1">
                <a:solidFill>
                  <a:srgbClr val="1E2A44"/>
                </a:solidFill>
                <a:latin typeface="Calibri"/>
                <a:ea typeface="Calibri"/>
                <a:cs typeface="Calibri"/>
              </a:rPr>
              <a:t>transpiler</a:t>
            </a:r>
            <a:r>
              <a:rPr sz="2800" b="0" i="0" dirty="0">
                <a:solidFill>
                  <a:srgbClr val="1E2A44"/>
                </a:solidFill>
                <a:latin typeface="Calibri"/>
                <a:ea typeface="Calibri"/>
                <a:cs typeface="Calibri"/>
              </a:rPr>
              <a:t> regressions from </a:t>
            </a:r>
            <a:r>
              <a:rPr sz="2800" b="0" i="0" dirty="0" err="1">
                <a:solidFill>
                  <a:srgbClr val="1E2A44"/>
                </a:solidFill>
                <a:latin typeface="Calibri"/>
                <a:ea typeface="Calibri"/>
                <a:cs typeface="Calibri"/>
              </a:rPr>
              <a:t>Qiskit’s</a:t>
            </a:r>
            <a:r>
              <a:rPr sz="2800" b="0" i="0" dirty="0">
                <a:solidFill>
                  <a:srgbClr val="1E2A44"/>
                </a:solidFill>
                <a:latin typeface="Calibri"/>
                <a:ea typeface="Calibri"/>
                <a:cs typeface="Calibri"/>
              </a:rPr>
              <a:t> own history.</a:t>
            </a:r>
          </a:p>
        </p:txBody>
      </p:sp>
      <p:sp>
        <p:nvSpPr>
          <p:cNvPr id="6" name="TextBox 5">
            <a:extLst>
              <a:ext uri="{FF2B5EF4-FFF2-40B4-BE49-F238E27FC236}">
                <a16:creationId xmlns:a16="http://schemas.microsoft.com/office/drawing/2014/main" id="{28FA8AA1-33C3-45F6-8476-821F52619704}"/>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7" name="TextBox 6">
            <a:extLst>
              <a:ext uri="{FF2B5EF4-FFF2-40B4-BE49-F238E27FC236}">
                <a16:creationId xmlns:a16="http://schemas.microsoft.com/office/drawing/2014/main" id="{E2DF4528-12C4-41AB-8BF6-E8CF2A5D1BFA}"/>
              </a:ext>
            </a:extLst>
          </p:cNvPr>
          <p:cNvSpPr>
            <a:spLocks noGrp="1"/>
          </p:cNvSpPr>
          <p:nvPr/>
        </p:nvSpPr>
        <p:spPr>
          <a:xfrm>
            <a:off x="11155680" y="6473952"/>
            <a:ext cx="822960" cy="206210"/>
          </a:xfrm>
          <a:prstGeom prst="rect">
            <a:avLst/>
          </a:prstGeom>
          <a:noFill/>
        </p:spPr>
        <p:txBody>
          <a:bodyPr wrap="square" lIns="36576" tIns="18288" rIns="36576" bIns="18288">
            <a:spAutoFit/>
          </a:bodyPr>
          <a:lstStyle/>
          <a:p>
            <a:pPr algn="r">
              <a:buNone/>
            </a:pPr>
            <a:r>
              <a:rPr sz="1050" b="1" i="0">
                <a:solidFill>
                  <a:srgbClr val="64748C"/>
                </a:solidFill>
                <a:latin typeface="Calibri"/>
                <a:ea typeface="Calibri"/>
                <a:cs typeface="Calibri"/>
              </a:rPr>
              <a:t>22</a:t>
            </a:r>
          </a:p>
        </p:txBody>
      </p:sp>
      <p:pic>
        <p:nvPicPr>
          <p:cNvPr id="8"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8736669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815DBB3-49B0-403D-A743-5AA52AFD1107}"/>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4D56FEA8-3D8D-440D-880D-5263469506F9}"/>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INITIAL RESULTS</a:t>
            </a:r>
          </a:p>
        </p:txBody>
      </p:sp>
      <p:sp>
        <p:nvSpPr>
          <p:cNvPr id="4" name="TextBox 3">
            <a:extLst>
              <a:ext uri="{FF2B5EF4-FFF2-40B4-BE49-F238E27FC236}">
                <a16:creationId xmlns:a16="http://schemas.microsoft.com/office/drawing/2014/main" id="{64CCDBFA-1223-4C9B-8C5D-B0CEEE4CE26E}"/>
              </a:ext>
            </a:extLst>
          </p:cNvPr>
          <p:cNvSpPr>
            <a:spLocks noGrp="1"/>
          </p:cNvSpPr>
          <p:nvPr/>
        </p:nvSpPr>
        <p:spPr>
          <a:xfrm>
            <a:off x="640080" y="694944"/>
            <a:ext cx="11155680" cy="590931"/>
          </a:xfrm>
          <a:prstGeom prst="rect">
            <a:avLst/>
          </a:prstGeom>
          <a:noFill/>
        </p:spPr>
        <p:txBody>
          <a:bodyPr wrap="square" lIns="36576" tIns="18288" rIns="36576" bIns="18288">
            <a:spAutoFit/>
          </a:bodyPr>
          <a:lstStyle/>
          <a:p>
            <a:r>
              <a:rPr sz="3600" b="1">
                <a:solidFill>
                  <a:srgbClr val="1E2A44"/>
                </a:solidFill>
                <a:latin typeface="Cambria"/>
                <a:ea typeface="Cambria"/>
                <a:cs typeface="Cambria"/>
              </a:rPr>
              <a:t>Historical Transpiler Regressions Attempted</a:t>
            </a:r>
            <a:endParaRPr sz="3600" b="1" i="0">
              <a:solidFill>
                <a:srgbClr val="1E2A44"/>
              </a:solidFill>
              <a:latin typeface="Cambria"/>
              <a:ea typeface="Cambria"/>
              <a:cs typeface="Cambria"/>
            </a:endParaRPr>
          </a:p>
        </p:txBody>
      </p:sp>
      <p:graphicFrame>
        <p:nvGraphicFramePr>
          <p:cNvPr id="12" name="Table 4"/>
          <p:cNvGraphicFramePr/>
          <p:nvPr>
            <p:extLst>
              <p:ext uri="{D42A27DB-BD31-4B8C-83A1-F6EECF244321}">
                <p14:modId xmlns:p14="http://schemas.microsoft.com/office/powerpoint/2010/main" val="3681928425"/>
              </p:ext>
            </p:extLst>
          </p:nvPr>
        </p:nvGraphicFramePr>
        <p:xfrm>
          <a:off x="640080" y="2496684"/>
          <a:ext cx="10972800" cy="2990048"/>
        </p:xfrm>
        <a:graphic>
          <a:graphicData uri="http://schemas.openxmlformats.org/drawingml/2006/table">
            <a:tbl>
              <a:tblPr>
                <a:tableStyleId>{5C22544A-7EE6-4342-B048-85BDC9FD1C3A}</a:tableStyleId>
              </a:tblPr>
              <a:tblGrid>
                <a:gridCol w="1600000">
                  <a:extLst>
                    <a:ext uri="{9D8B030D-6E8A-4147-A177-3AD203B41FA5}">
                      <a16:colId xmlns:a16="http://schemas.microsoft.com/office/drawing/2014/main" val="20000"/>
                    </a:ext>
                  </a:extLst>
                </a:gridCol>
                <a:gridCol w="1700000">
                  <a:extLst>
                    <a:ext uri="{9D8B030D-6E8A-4147-A177-3AD203B41FA5}">
                      <a16:colId xmlns:a16="http://schemas.microsoft.com/office/drawing/2014/main" val="424507626"/>
                    </a:ext>
                  </a:extLst>
                </a:gridCol>
                <a:gridCol w="2100000">
                  <a:extLst>
                    <a:ext uri="{9D8B030D-6E8A-4147-A177-3AD203B41FA5}">
                      <a16:colId xmlns:a16="http://schemas.microsoft.com/office/drawing/2014/main" val="20001"/>
                    </a:ext>
                  </a:extLst>
                </a:gridCol>
                <a:gridCol w="2800000">
                  <a:extLst>
                    <a:ext uri="{9D8B030D-6E8A-4147-A177-3AD203B41FA5}">
                      <a16:colId xmlns:a16="http://schemas.microsoft.com/office/drawing/2014/main" val="20002"/>
                    </a:ext>
                  </a:extLst>
                </a:gridCol>
                <a:gridCol w="2772800">
                  <a:extLst>
                    <a:ext uri="{9D8B030D-6E8A-4147-A177-3AD203B41FA5}">
                      <a16:colId xmlns:a16="http://schemas.microsoft.com/office/drawing/2014/main" val="20003"/>
                    </a:ext>
                  </a:extLst>
                </a:gridCol>
              </a:tblGrid>
              <a:tr h="454904">
                <a:tc>
                  <a:txBody>
                    <a:bodyPr/>
                    <a:lstStyle/>
                    <a:p>
                      <a:r>
                        <a:rPr sz="1800" b="1" dirty="0">
                          <a:solidFill>
                            <a:srgbClr val="FFFFFF"/>
                          </a:solidFill>
                          <a:latin typeface="Calibri"/>
                          <a:ea typeface="Calibri"/>
                          <a:cs typeface="Calibri"/>
                        </a:rPr>
                        <a:t>Event (PR)</a:t>
                      </a:r>
                    </a:p>
                  </a:txBody>
                  <a:tcPr marL="54864" marR="54864" marT="18288" marB="18288" anchor="ctr">
                    <a:solidFill>
                      <a:srgbClr val="14264F"/>
                    </a:solidFill>
                  </a:tcPr>
                </a:tc>
                <a:tc>
                  <a:txBody>
                    <a:bodyPr/>
                    <a:lstStyle/>
                    <a:p>
                      <a:r>
                        <a:rPr sz="1800" b="1" dirty="0">
                          <a:solidFill>
                            <a:srgbClr val="FFFFFF"/>
                          </a:solidFill>
                          <a:latin typeface="Calibri"/>
                          <a:ea typeface="Calibri"/>
                          <a:cs typeface="Calibri"/>
                        </a:rPr>
                        <a:t>Date</a:t>
                      </a:r>
                    </a:p>
                  </a:txBody>
                  <a:tcPr marL="54864" marR="54864" marT="18288" marB="18288" anchor="ctr">
                    <a:solidFill>
                      <a:srgbClr val="14264F"/>
                    </a:solidFill>
                  </a:tcPr>
                </a:tc>
                <a:tc>
                  <a:txBody>
                    <a:bodyPr/>
                    <a:lstStyle/>
                    <a:p>
                      <a:r>
                        <a:rPr sz="1800" b="1">
                          <a:solidFill>
                            <a:srgbClr val="FFFFFF"/>
                          </a:solidFill>
                          <a:latin typeface="Calibri"/>
                          <a:ea typeface="Calibri"/>
                          <a:cs typeface="Calibri"/>
                        </a:rPr>
                        <a:t>Cohort</a:t>
                      </a:r>
                    </a:p>
                  </a:txBody>
                  <a:tcPr marL="54864" marR="54864" marT="18288" marB="18288" anchor="ctr">
                    <a:solidFill>
                      <a:srgbClr val="14264F"/>
                    </a:solidFill>
                  </a:tcPr>
                </a:tc>
                <a:tc>
                  <a:txBody>
                    <a:bodyPr/>
                    <a:lstStyle/>
                    <a:p>
                      <a:r>
                        <a:rPr sz="1800" b="1">
                          <a:solidFill>
                            <a:srgbClr val="FFFFFF"/>
                          </a:solidFill>
                          <a:latin typeface="Calibri"/>
                          <a:ea typeface="Calibri"/>
                          <a:cs typeface="Calibri"/>
                        </a:rPr>
                        <a:t>Fault type -&gt;channel</a:t>
                      </a:r>
                    </a:p>
                  </a:txBody>
                  <a:tcPr marL="54864" marR="54864" marT="18288" marB="18288" anchor="ctr">
                    <a:solidFill>
                      <a:srgbClr val="14264F"/>
                    </a:solidFill>
                  </a:tcPr>
                </a:tc>
                <a:tc>
                  <a:txBody>
                    <a:bodyPr/>
                    <a:lstStyle/>
                    <a:p>
                      <a:r>
                        <a:rPr sz="1800" b="1">
                          <a:solidFill>
                            <a:srgbClr val="FFFFFF"/>
                          </a:solidFill>
                          <a:latin typeface="Calibri"/>
                          <a:ea typeface="Calibri"/>
                          <a:cs typeface="Calibri"/>
                        </a:rPr>
                        <a:t>Status</a:t>
                      </a:r>
                    </a:p>
                  </a:txBody>
                  <a:tcPr marL="54864" marR="54864" marT="18288" marB="18288" anchor="ctr">
                    <a:solidFill>
                      <a:srgbClr val="14264F"/>
                    </a:solidFill>
                  </a:tcPr>
                </a:tc>
                <a:extLst>
                  <a:ext uri="{0D108BD9-81ED-4DB2-BD59-A6C34878D82A}">
                    <a16:rowId xmlns:a16="http://schemas.microsoft.com/office/drawing/2014/main" val="10000"/>
                  </a:ext>
                </a:extLst>
              </a:tr>
              <a:tr h="454904">
                <a:tc>
                  <a:txBody>
                    <a:bodyPr/>
                    <a:lstStyle/>
                    <a:p>
                      <a:r>
                        <a:rPr sz="1800" dirty="0">
                          <a:solidFill>
                            <a:srgbClr val="1E2A44"/>
                          </a:solidFill>
                          <a:latin typeface="Calibri"/>
                          <a:ea typeface="Calibri"/>
                          <a:cs typeface="Calibri"/>
                        </a:rPr>
                        <a:t>H4 (#14120)</a:t>
                      </a:r>
                    </a:p>
                  </a:txBody>
                  <a:tcPr marL="54864" marR="54864" marT="18288" marB="18288" anchor="ctr">
                    <a:solidFill>
                      <a:srgbClr val="FFFFFF"/>
                    </a:solidFill>
                  </a:tcPr>
                </a:tc>
                <a:tc>
                  <a:txBody>
                    <a:bodyPr/>
                    <a:lstStyle/>
                    <a:p>
                      <a:r>
                        <a:rPr sz="1800" dirty="0">
                          <a:solidFill>
                            <a:srgbClr val="1E2A44"/>
                          </a:solidFill>
                          <a:latin typeface="Calibri"/>
                          <a:ea typeface="Calibri"/>
                          <a:cs typeface="Calibri"/>
                        </a:rPr>
                        <a:t>May 19, 2025</a:t>
                      </a:r>
                    </a:p>
                  </a:txBody>
                  <a:tcPr marL="54864" marR="54864" marT="18288" marB="18288" anchor="ctr">
                    <a:solidFill>
                      <a:srgbClr val="FFFFFF"/>
                    </a:solidFill>
                  </a:tcPr>
                </a:tc>
                <a:tc>
                  <a:txBody>
                    <a:bodyPr/>
                    <a:lstStyle/>
                    <a:p>
                      <a:r>
                        <a:rPr sz="1800" dirty="0" err="1">
                          <a:solidFill>
                            <a:srgbClr val="1E2A44"/>
                          </a:solidFill>
                          <a:latin typeface="Calibri"/>
                          <a:ea typeface="Calibri"/>
                          <a:cs typeface="Calibri"/>
                        </a:rPr>
                        <a:t>forward_regression</a:t>
                      </a:r>
                      <a:endParaRPr sz="1800" dirty="0">
                        <a:solidFill>
                          <a:srgbClr val="1E2A44"/>
                        </a:solidFill>
                        <a:latin typeface="Calibri"/>
                        <a:ea typeface="Calibri"/>
                        <a:cs typeface="Calibri"/>
                      </a:endParaRPr>
                    </a:p>
                  </a:txBody>
                  <a:tcPr marL="54864" marR="54864" marT="18288" marB="18288" anchor="ctr">
                    <a:solidFill>
                      <a:srgbClr val="FFFFFF"/>
                    </a:solidFill>
                  </a:tcPr>
                </a:tc>
                <a:tc>
                  <a:txBody>
                    <a:bodyPr/>
                    <a:lstStyle/>
                    <a:p>
                      <a:r>
                        <a:rPr sz="1800" dirty="0">
                          <a:solidFill>
                            <a:srgbClr val="1E2A44"/>
                          </a:solidFill>
                          <a:latin typeface="Calibri"/>
                          <a:ea typeface="Calibri"/>
                          <a:cs typeface="Calibri"/>
                        </a:rPr>
                        <a:t>Performance</a:t>
                      </a:r>
                    </a:p>
                  </a:txBody>
                  <a:tcPr marL="54864" marR="54864" marT="18288" marB="18288" anchor="ctr">
                    <a:solidFill>
                      <a:srgbClr val="FFFFFF"/>
                    </a:solidFill>
                  </a:tcPr>
                </a:tc>
                <a:tc>
                  <a:txBody>
                    <a:bodyPr/>
                    <a:lstStyle/>
                    <a:p>
                      <a:r>
                        <a:rPr sz="1800" dirty="0">
                          <a:solidFill>
                            <a:srgbClr val="1E2A44"/>
                          </a:solidFill>
                          <a:latin typeface="Calibri"/>
                          <a:ea typeface="Calibri"/>
                          <a:cs typeface="Calibri"/>
                        </a:rPr>
                        <a:t>verified (multi-run protocol)</a:t>
                      </a:r>
                    </a:p>
                  </a:txBody>
                  <a:tcPr marL="54864" marR="54864" marT="18288" marB="18288" anchor="ctr">
                    <a:solidFill>
                      <a:srgbClr val="FFFFFF"/>
                    </a:solidFill>
                  </a:tcPr>
                </a:tc>
                <a:extLst>
                  <a:ext uri="{0D108BD9-81ED-4DB2-BD59-A6C34878D82A}">
                    <a16:rowId xmlns:a16="http://schemas.microsoft.com/office/drawing/2014/main" val="10001"/>
                  </a:ext>
                </a:extLst>
              </a:tr>
              <a:tr h="454904">
                <a:tc>
                  <a:txBody>
                    <a:bodyPr/>
                    <a:lstStyle/>
                    <a:p>
                      <a:r>
                        <a:rPr sz="1800" dirty="0">
                          <a:solidFill>
                            <a:srgbClr val="1E2A44"/>
                          </a:solidFill>
                          <a:latin typeface="Calibri"/>
                          <a:ea typeface="Calibri"/>
                          <a:cs typeface="Calibri"/>
                        </a:rPr>
                        <a:t>H1 (#14603)</a:t>
                      </a:r>
                    </a:p>
                  </a:txBody>
                  <a:tcPr marL="54864" marR="54864" marT="18288" marB="18288" anchor="ctr">
                    <a:solidFill>
                      <a:srgbClr val="EFF4FA"/>
                    </a:solidFill>
                  </a:tcPr>
                </a:tc>
                <a:tc>
                  <a:txBody>
                    <a:bodyPr/>
                    <a:lstStyle/>
                    <a:p>
                      <a:r>
                        <a:rPr sz="1800" dirty="0">
                          <a:solidFill>
                            <a:srgbClr val="1E2A44"/>
                          </a:solidFill>
                          <a:latin typeface="Calibri"/>
                          <a:ea typeface="Calibri"/>
                          <a:cs typeface="Calibri"/>
                        </a:rPr>
                        <a:t>Jun 16, 2025</a:t>
                      </a:r>
                    </a:p>
                  </a:txBody>
                  <a:tcPr marL="54864" marR="54864" marT="18288" marB="18288" anchor="ctr">
                    <a:solidFill>
                      <a:srgbClr val="EFF4FA"/>
                    </a:solidFill>
                  </a:tcPr>
                </a:tc>
                <a:tc>
                  <a:txBody>
                    <a:bodyPr/>
                    <a:lstStyle/>
                    <a:p>
                      <a:r>
                        <a:rPr sz="1800" dirty="0" err="1">
                          <a:solidFill>
                            <a:srgbClr val="1E2A44"/>
                          </a:solidFill>
                          <a:latin typeface="Calibri"/>
                          <a:ea typeface="Calibri"/>
                          <a:cs typeface="Calibri"/>
                        </a:rPr>
                        <a:t>fix_boundary</a:t>
                      </a:r>
                      <a:endParaRPr sz="1800" dirty="0">
                        <a:solidFill>
                          <a:srgbClr val="1E2A44"/>
                        </a:solidFill>
                        <a:latin typeface="Calibri"/>
                        <a:ea typeface="Calibri"/>
                        <a:cs typeface="Calibri"/>
                      </a:endParaRPr>
                    </a:p>
                  </a:txBody>
                  <a:tcPr marL="54864" marR="54864" marT="18288" marB="18288" anchor="ctr">
                    <a:solidFill>
                      <a:srgbClr val="EFF4FA"/>
                    </a:solidFill>
                  </a:tcPr>
                </a:tc>
                <a:tc>
                  <a:txBody>
                    <a:bodyPr/>
                    <a:lstStyle/>
                    <a:p>
                      <a:r>
                        <a:rPr sz="1800" dirty="0" smtClean="0">
                          <a:solidFill>
                            <a:srgbClr val="1E2A44"/>
                          </a:solidFill>
                          <a:latin typeface="Calibri"/>
                          <a:ea typeface="Calibri"/>
                          <a:cs typeface="Calibri"/>
                        </a:rPr>
                        <a:t>contract/metadata</a:t>
                      </a:r>
                      <a:endParaRPr sz="1800" dirty="0">
                        <a:solidFill>
                          <a:srgbClr val="1E2A44"/>
                        </a:solidFill>
                        <a:latin typeface="Calibri"/>
                        <a:ea typeface="Calibri"/>
                        <a:cs typeface="Calibri"/>
                      </a:endParaRPr>
                    </a:p>
                  </a:txBody>
                  <a:tcPr marL="54864" marR="54864" marT="18288" marB="18288" anchor="ctr">
                    <a:solidFill>
                      <a:srgbClr val="EFF4FA"/>
                    </a:solidFill>
                  </a:tcPr>
                </a:tc>
                <a:tc>
                  <a:txBody>
                    <a:bodyPr/>
                    <a:lstStyle/>
                    <a:p>
                      <a:r>
                        <a:rPr sz="1800" dirty="0">
                          <a:solidFill>
                            <a:srgbClr val="1E2A44"/>
                          </a:solidFill>
                          <a:latin typeface="Calibri"/>
                          <a:ea typeface="Calibri"/>
                          <a:cs typeface="Calibri"/>
                        </a:rPr>
                        <a:t>demonstrated gap (output-unobservable)</a:t>
                      </a:r>
                    </a:p>
                  </a:txBody>
                  <a:tcPr marL="54864" marR="54864" marT="18288" marB="18288" anchor="ctr">
                    <a:solidFill>
                      <a:srgbClr val="EFF4FA"/>
                    </a:solidFill>
                  </a:tcPr>
                </a:tc>
                <a:extLst>
                  <a:ext uri="{0D108BD9-81ED-4DB2-BD59-A6C34878D82A}">
                    <a16:rowId xmlns:a16="http://schemas.microsoft.com/office/drawing/2014/main" val="10002"/>
                  </a:ext>
                </a:extLst>
              </a:tr>
              <a:tr h="454904">
                <a:tc>
                  <a:txBody>
                    <a:bodyPr/>
                    <a:lstStyle/>
                    <a:p>
                      <a:r>
                        <a:rPr sz="1800">
                          <a:solidFill>
                            <a:srgbClr val="1E2A44"/>
                          </a:solidFill>
                          <a:latin typeface="Calibri"/>
                          <a:ea typeface="Calibri"/>
                          <a:cs typeface="Calibri"/>
                        </a:rPr>
                        <a:t>H2 (#14919)</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Aug 15, 2025</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fix_boundary</a:t>
                      </a:r>
                    </a:p>
                  </a:txBody>
                  <a:tcPr marL="54864" marR="54864" marT="18288" marB="18288" anchor="ctr">
                    <a:solidFill>
                      <a:srgbClr val="FFFFFF"/>
                    </a:solidFill>
                  </a:tcPr>
                </a:tc>
                <a:tc>
                  <a:txBody>
                    <a:bodyPr/>
                    <a:lstStyle/>
                    <a:p>
                      <a:r>
                        <a:rPr sz="1800" dirty="0" smtClean="0">
                          <a:solidFill>
                            <a:srgbClr val="1E2A44"/>
                          </a:solidFill>
                          <a:latin typeface="Calibri"/>
                          <a:ea typeface="Calibri"/>
                          <a:cs typeface="Calibri"/>
                        </a:rPr>
                        <a:t>contract/metadata</a:t>
                      </a:r>
                      <a:endParaRPr sz="1800" dirty="0">
                        <a:solidFill>
                          <a:srgbClr val="1E2A44"/>
                        </a:solidFill>
                        <a:latin typeface="Calibri"/>
                        <a:ea typeface="Calibri"/>
                        <a:cs typeface="Calibri"/>
                      </a:endParaRPr>
                    </a:p>
                  </a:txBody>
                  <a:tcPr marL="54864" marR="54864" marT="18288" marB="18288" anchor="ctr">
                    <a:solidFill>
                      <a:srgbClr val="FFFFFF"/>
                    </a:solidFill>
                  </a:tcPr>
                </a:tc>
                <a:tc>
                  <a:txBody>
                    <a:bodyPr/>
                    <a:lstStyle/>
                    <a:p>
                      <a:r>
                        <a:rPr sz="1800" dirty="0">
                          <a:solidFill>
                            <a:srgbClr val="1E2A44"/>
                          </a:solidFill>
                          <a:latin typeface="Calibri"/>
                          <a:ea typeface="Calibri"/>
                          <a:cs typeface="Calibri"/>
                        </a:rPr>
                        <a:t>not run</a:t>
                      </a:r>
                    </a:p>
                  </a:txBody>
                  <a:tcPr marL="54864" marR="54864" marT="18288" marB="18288" anchor="ctr">
                    <a:solidFill>
                      <a:srgbClr val="FFFFFF"/>
                    </a:solidFill>
                  </a:tcPr>
                </a:tc>
                <a:extLst>
                  <a:ext uri="{0D108BD9-81ED-4DB2-BD59-A6C34878D82A}">
                    <a16:rowId xmlns:a16="http://schemas.microsoft.com/office/drawing/2014/main" val="10003"/>
                  </a:ext>
                </a:extLst>
              </a:tr>
              <a:tr h="454904">
                <a:tc>
                  <a:txBody>
                    <a:bodyPr/>
                    <a:lstStyle/>
                    <a:p>
                      <a:r>
                        <a:rPr sz="1800">
                          <a:solidFill>
                            <a:srgbClr val="1E2A44"/>
                          </a:solidFill>
                          <a:latin typeface="Calibri"/>
                          <a:ea typeface="Calibri"/>
                          <a:cs typeface="Calibri"/>
                        </a:rPr>
                        <a:t>H3 (#14730)</a:t>
                      </a:r>
                    </a:p>
                  </a:txBody>
                  <a:tcPr marL="54864" marR="54864" marT="18288" marB="18288" anchor="ctr">
                    <a:solidFill>
                      <a:srgbClr val="EFF4FA"/>
                    </a:solidFill>
                  </a:tcPr>
                </a:tc>
                <a:tc>
                  <a:txBody>
                    <a:bodyPr/>
                    <a:lstStyle/>
                    <a:p>
                      <a:r>
                        <a:rPr sz="1800">
                          <a:solidFill>
                            <a:srgbClr val="1E2A44"/>
                          </a:solidFill>
                          <a:latin typeface="Calibri"/>
                          <a:ea typeface="Calibri"/>
                          <a:cs typeface="Calibri"/>
                        </a:rPr>
                        <a:t>Jul 15, 2025</a:t>
                      </a:r>
                    </a:p>
                  </a:txBody>
                  <a:tcPr marL="54864" marR="54864" marT="18288" marB="18288" anchor="ctr">
                    <a:solidFill>
                      <a:srgbClr val="EFF4FA"/>
                    </a:solidFill>
                  </a:tcPr>
                </a:tc>
                <a:tc>
                  <a:txBody>
                    <a:bodyPr/>
                    <a:lstStyle/>
                    <a:p>
                      <a:r>
                        <a:rPr sz="1800">
                          <a:solidFill>
                            <a:srgbClr val="1E2A44"/>
                          </a:solidFill>
                          <a:latin typeface="Calibri"/>
                          <a:ea typeface="Calibri"/>
                          <a:cs typeface="Calibri"/>
                        </a:rPr>
                        <a:t>fix_boundary</a:t>
                      </a:r>
                    </a:p>
                  </a:txBody>
                  <a:tcPr marL="54864" marR="54864" marT="18288" marB="18288" anchor="ctr">
                    <a:solidFill>
                      <a:srgbClr val="EFF4FA"/>
                    </a:solidFill>
                  </a:tcPr>
                </a:tc>
                <a:tc>
                  <a:txBody>
                    <a:bodyPr/>
                    <a:lstStyle/>
                    <a:p>
                      <a:r>
                        <a:rPr sz="1800" dirty="0">
                          <a:solidFill>
                            <a:srgbClr val="1E2A44"/>
                          </a:solidFill>
                          <a:latin typeface="Calibri"/>
                          <a:ea typeface="Calibri"/>
                          <a:cs typeface="Calibri"/>
                        </a:rPr>
                        <a:t>quality </a:t>
                      </a:r>
                      <a:r>
                        <a:rPr sz="1800" dirty="0">
                          <a:solidFill>
                            <a:srgbClr val="1E2A44"/>
                          </a:solidFill>
                          <a:latin typeface="+mn-lt"/>
                          <a:ea typeface="+mn-lt"/>
                          <a:cs typeface="+mn-lt"/>
                        </a:rPr>
                        <a:t>-&gt;</a:t>
                      </a:r>
                      <a:r>
                        <a:rPr sz="1800" dirty="0">
                          <a:solidFill>
                            <a:srgbClr val="1E2A44"/>
                          </a:solidFill>
                          <a:latin typeface="Calibri"/>
                          <a:ea typeface="Calibri"/>
                          <a:cs typeface="Calibri"/>
                        </a:rPr>
                        <a:t> determinism</a:t>
                      </a:r>
                    </a:p>
                  </a:txBody>
                  <a:tcPr marL="54864" marR="54864" marT="18288" marB="18288" anchor="ctr">
                    <a:solidFill>
                      <a:srgbClr val="EFF4FA"/>
                    </a:solidFill>
                  </a:tcPr>
                </a:tc>
                <a:tc>
                  <a:txBody>
                    <a:bodyPr/>
                    <a:lstStyle/>
                    <a:p>
                      <a:r>
                        <a:rPr sz="1800" dirty="0">
                          <a:solidFill>
                            <a:srgbClr val="1E2A44"/>
                          </a:solidFill>
                          <a:latin typeface="Calibri"/>
                          <a:ea typeface="Calibri"/>
                          <a:cs typeface="Calibri"/>
                        </a:rPr>
                        <a:t>blocked (needs noisy target)</a:t>
                      </a:r>
                    </a:p>
                  </a:txBody>
                  <a:tcPr marL="54864" marR="54864" marT="18288" marB="18288" anchor="ctr">
                    <a:solidFill>
                      <a:srgbClr val="EFF4FA"/>
                    </a:solidFill>
                  </a:tcPr>
                </a:tc>
                <a:extLst>
                  <a:ext uri="{0D108BD9-81ED-4DB2-BD59-A6C34878D82A}">
                    <a16:rowId xmlns:a16="http://schemas.microsoft.com/office/drawing/2014/main" val="10004"/>
                  </a:ext>
                </a:extLst>
              </a:tr>
              <a:tr h="454904">
                <a:tc>
                  <a:txBody>
                    <a:bodyPr/>
                    <a:lstStyle/>
                    <a:p>
                      <a:r>
                        <a:rPr sz="1800">
                          <a:solidFill>
                            <a:srgbClr val="1E2A44"/>
                          </a:solidFill>
                          <a:latin typeface="Calibri"/>
                          <a:ea typeface="Calibri"/>
                          <a:cs typeface="Calibri"/>
                        </a:rPr>
                        <a:t>H5 (#16285)</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May 27, 2026</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fix_boundary</a:t>
                      </a:r>
                    </a:p>
                  </a:txBody>
                  <a:tcPr marL="54864" marR="54864" marT="18288" marB="18288" anchor="ctr">
                    <a:solidFill>
                      <a:srgbClr val="FFFFFF"/>
                    </a:solidFill>
                  </a:tcPr>
                </a:tc>
                <a:tc>
                  <a:txBody>
                    <a:bodyPr/>
                    <a:lstStyle/>
                    <a:p>
                      <a:r>
                        <a:rPr sz="1800" dirty="0" err="1" smtClean="0">
                          <a:solidFill>
                            <a:srgbClr val="1E2A44"/>
                          </a:solidFill>
                          <a:latin typeface="Calibri"/>
                          <a:ea typeface="Calibri"/>
                          <a:cs typeface="Calibri"/>
                        </a:rPr>
                        <a:t>compilation_failure</a:t>
                      </a:r>
                      <a:endParaRPr sz="1800" dirty="0">
                        <a:solidFill>
                          <a:srgbClr val="1E2A44"/>
                        </a:solidFill>
                        <a:latin typeface="Calibri"/>
                        <a:ea typeface="Calibri"/>
                        <a:cs typeface="Calibri"/>
                      </a:endParaRPr>
                    </a:p>
                  </a:txBody>
                  <a:tcPr marL="54864" marR="54864" marT="18288" marB="18288" anchor="ctr">
                    <a:solidFill>
                      <a:srgbClr val="FFFFFF"/>
                    </a:solidFill>
                  </a:tcPr>
                </a:tc>
                <a:tc>
                  <a:txBody>
                    <a:bodyPr/>
                    <a:lstStyle/>
                    <a:p>
                      <a:r>
                        <a:rPr sz="1800" dirty="0">
                          <a:solidFill>
                            <a:srgbClr val="1E2A44"/>
                          </a:solidFill>
                          <a:latin typeface="Calibri"/>
                          <a:ea typeface="Calibri"/>
                          <a:cs typeface="Calibri"/>
                        </a:rPr>
                        <a:t>not run (input-specific crash)</a:t>
                      </a:r>
                    </a:p>
                  </a:txBody>
                  <a:tcPr marL="54864" marR="54864"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6" name="TextBox 5">
            <a:extLst>
              <a:ext uri="{FF2B5EF4-FFF2-40B4-BE49-F238E27FC236}">
                <a16:creationId xmlns:a16="http://schemas.microsoft.com/office/drawing/2014/main" id="{11370355-E865-4643-A0C9-F3C34EDE3BFE}"/>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7" name="TextBox 6">
            <a:extLst>
              <a:ext uri="{FF2B5EF4-FFF2-40B4-BE49-F238E27FC236}">
                <a16:creationId xmlns:a16="http://schemas.microsoft.com/office/drawing/2014/main" id="{ACBACD1A-931F-403F-A3D7-9B543453FB53}"/>
              </a:ext>
            </a:extLst>
          </p:cNvPr>
          <p:cNvSpPr>
            <a:spLocks noGrp="1"/>
          </p:cNvSpPr>
          <p:nvPr/>
        </p:nvSpPr>
        <p:spPr>
          <a:xfrm>
            <a:off x="11155680" y="6473952"/>
            <a:ext cx="822960" cy="190821"/>
          </a:xfrm>
          <a:prstGeom prst="rect">
            <a:avLst/>
          </a:prstGeom>
          <a:noFill/>
        </p:spPr>
        <p:txBody>
          <a:bodyPr wrap="square" lIns="36576" tIns="18288" rIns="36576" bIns="18288">
            <a:spAutoFit/>
          </a:bodyPr>
          <a:lstStyle/>
          <a:p>
            <a:pPr algn="r">
              <a:buNone/>
            </a:pPr>
            <a:r>
              <a:rPr sz="1000" b="1" i="0">
                <a:solidFill>
                  <a:srgbClr val="64748C"/>
                </a:solidFill>
                <a:latin typeface="Calibri"/>
                <a:ea typeface="Calibri"/>
                <a:cs typeface="Calibri"/>
              </a:rPr>
              <a:t>23</a:t>
            </a:r>
          </a:p>
        </p:txBody>
      </p:sp>
      <p:pic>
        <p:nvPicPr>
          <p:cNvPr id="8" name="Image 0" descr="/mnt/data/cusit_logo.png"/>
          <p:cNvPicPr>
            <a:picLocks noChangeAspect="1"/>
          </p:cNvPicPr>
          <p:nvPr/>
        </p:nvPicPr>
        <p:blipFill>
          <a:blip r:embed="rId3"/>
          <a:stretch>
            <a:fillRect/>
          </a:stretch>
        </p:blipFill>
        <p:spPr>
          <a:xfrm>
            <a:off x="10903999" y="23078"/>
            <a:ext cx="1269586" cy="634793"/>
          </a:xfrm>
          <a:prstGeom prst="rect">
            <a:avLst/>
          </a:prstGeom>
        </p:spPr>
      </p:pic>
      <p:sp>
        <p:nvSpPr>
          <p:cNvPr id="13" name="TextBox 12"/>
          <p:cNvSpPr txBox="1"/>
          <p:nvPr/>
        </p:nvSpPr>
        <p:spPr>
          <a:xfrm>
            <a:off x="685800" y="1463079"/>
            <a:ext cx="11064240" cy="707886"/>
          </a:xfrm>
          <a:prstGeom prst="rect">
            <a:avLst/>
          </a:prstGeom>
          <a:noFill/>
        </p:spPr>
        <p:txBody>
          <a:bodyPr wrap="square">
            <a:spAutoFit/>
          </a:bodyPr>
          <a:lstStyle/>
          <a:p>
            <a:r>
              <a:rPr sz="2000" i="1" dirty="0" smtClean="0">
                <a:solidFill>
                  <a:srgbClr val="1E2A44"/>
                </a:solidFill>
                <a:latin typeface="Calibri"/>
              </a:rPr>
              <a:t>H1-H5 label the five historical regression events attempted for reproduction, each named for the </a:t>
            </a:r>
            <a:r>
              <a:rPr sz="2000" i="1" dirty="0" err="1" smtClean="0">
                <a:solidFill>
                  <a:srgbClr val="1E2A44"/>
                </a:solidFill>
                <a:latin typeface="Calibri"/>
              </a:rPr>
              <a:t>Qiskit</a:t>
            </a:r>
            <a:r>
              <a:rPr sz="2000" i="1" dirty="0" smtClean="0">
                <a:solidFill>
                  <a:srgbClr val="1E2A44"/>
                </a:solidFill>
                <a:latin typeface="Calibri"/>
              </a:rPr>
              <a:t> pull request that introduced or fixed it (H = historical event).</a:t>
            </a:r>
            <a:endParaRPr lang="en-US" sz="2000" i="1" dirty="0" smtClean="0">
              <a:solidFill>
                <a:srgbClr val="1E2A44"/>
              </a:solidFill>
              <a:latin typeface="Calibri"/>
            </a:endParaRPr>
          </a:p>
        </p:txBody>
      </p:sp>
    </p:spTree>
    <p:extLst>
      <p:ext uri="{BB962C8B-B14F-4D97-AF65-F5344CB8AC3E}">
        <p14:creationId xmlns:p14="http://schemas.microsoft.com/office/powerpoint/2010/main" val="9044377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6CFFB9-D26D-4B02-89CC-737632D87015}"/>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EFBD1293-FA41-46B2-9610-34CFCE1AD6B7}"/>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INITIAL RESULTS</a:t>
            </a:r>
          </a:p>
        </p:txBody>
      </p:sp>
      <p:sp>
        <p:nvSpPr>
          <p:cNvPr id="4" name="TextBox 3">
            <a:extLst>
              <a:ext uri="{FF2B5EF4-FFF2-40B4-BE49-F238E27FC236}">
                <a16:creationId xmlns:a16="http://schemas.microsoft.com/office/drawing/2014/main" id="{C1C72591-A240-4FE9-BC67-E9A087D66729}"/>
              </a:ext>
            </a:extLst>
          </p:cNvPr>
          <p:cNvSpPr>
            <a:spLocks noGrp="1"/>
          </p:cNvSpPr>
          <p:nvPr/>
        </p:nvSpPr>
        <p:spPr>
          <a:xfrm>
            <a:off x="640080" y="694944"/>
            <a:ext cx="11155680" cy="467820"/>
          </a:xfrm>
          <a:prstGeom prst="rect">
            <a:avLst/>
          </a:prstGeom>
          <a:noFill/>
        </p:spPr>
        <p:txBody>
          <a:bodyPr wrap="square" lIns="36576" tIns="18288" rIns="36576" bIns="18288">
            <a:spAutoFit/>
          </a:bodyPr>
          <a:lstStyle/>
          <a:p>
            <a:r>
              <a:rPr sz="2800" b="1">
                <a:solidFill>
                  <a:srgbClr val="1E2A44"/>
                </a:solidFill>
                <a:latin typeface="Cambria"/>
                <a:ea typeface="Cambria"/>
                <a:cs typeface="Cambria"/>
              </a:rPr>
              <a:t>H4: A Verified Performance Regression</a:t>
            </a:r>
            <a:endParaRPr sz="2800" b="1" i="0">
              <a:solidFill>
                <a:srgbClr val="1E2A44"/>
              </a:solidFill>
              <a:latin typeface="Cambria"/>
              <a:ea typeface="Cambria"/>
              <a:cs typeface="Cambria"/>
            </a:endParaRPr>
          </a:p>
        </p:txBody>
      </p:sp>
      <p:pic>
        <p:nvPicPr>
          <p:cNvPr id="13" name="Picture 4"/>
          <p:cNvPicPr>
            <a:picLocks noChangeAspect="1"/>
          </p:cNvPicPr>
          <p:nvPr/>
        </p:nvPicPr>
        <p:blipFill>
          <a:blip r:embed="rId3"/>
          <a:stretch>
            <a:fillRect/>
          </a:stretch>
        </p:blipFill>
        <p:spPr>
          <a:xfrm>
            <a:off x="2317573" y="1536192"/>
            <a:ext cx="7556547" cy="4114800"/>
          </a:xfrm>
          <a:prstGeom prst="rect">
            <a:avLst/>
          </a:prstGeom>
        </p:spPr>
      </p:pic>
      <p:sp>
        <p:nvSpPr>
          <p:cNvPr id="6" name="TextBox 5">
            <a:extLst>
              <a:ext uri="{FF2B5EF4-FFF2-40B4-BE49-F238E27FC236}">
                <a16:creationId xmlns:a16="http://schemas.microsoft.com/office/drawing/2014/main" id="{CC3BCC33-3350-4040-84ED-BA074021AAC4}"/>
              </a:ext>
            </a:extLst>
          </p:cNvPr>
          <p:cNvSpPr>
            <a:spLocks noGrp="1"/>
          </p:cNvSpPr>
          <p:nvPr/>
        </p:nvSpPr>
        <p:spPr>
          <a:xfrm>
            <a:off x="838046" y="5860861"/>
            <a:ext cx="10515600" cy="313932"/>
          </a:xfrm>
          <a:prstGeom prst="rect">
            <a:avLst/>
          </a:prstGeom>
          <a:noFill/>
        </p:spPr>
        <p:txBody>
          <a:bodyPr wrap="square" lIns="36576" tIns="18288" rIns="36576" bIns="18288">
            <a:spAutoFit/>
          </a:bodyPr>
          <a:lstStyle/>
          <a:p>
            <a:pPr algn="ctr">
              <a:buNone/>
            </a:pPr>
            <a:r>
              <a:rPr b="0" i="1" dirty="0">
                <a:solidFill>
                  <a:srgbClr val="64748C"/>
                </a:solidFill>
                <a:latin typeface="Calibri"/>
                <a:ea typeface="Calibri"/>
                <a:cs typeface="Calibri"/>
              </a:rPr>
              <a:t>H4’s width-extended run (16–27 qubits) is a separate regime from the primary corpus (≤ 8 qubits).</a:t>
            </a:r>
          </a:p>
        </p:txBody>
      </p:sp>
      <p:sp>
        <p:nvSpPr>
          <p:cNvPr id="7" name="TextBox 6">
            <a:extLst>
              <a:ext uri="{FF2B5EF4-FFF2-40B4-BE49-F238E27FC236}">
                <a16:creationId xmlns:a16="http://schemas.microsoft.com/office/drawing/2014/main" id="{1F237505-BBEA-46BC-BF8F-8DE6CCDE4874}"/>
              </a:ext>
            </a:extLst>
          </p:cNvPr>
          <p:cNvSpPr>
            <a:spLocks noGrp="1"/>
          </p:cNvSpPr>
          <p:nvPr/>
        </p:nvSpPr>
        <p:spPr>
          <a:xfrm>
            <a:off x="640080" y="6522720"/>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8" name="TextBox 7">
            <a:extLst>
              <a:ext uri="{FF2B5EF4-FFF2-40B4-BE49-F238E27FC236}">
                <a16:creationId xmlns:a16="http://schemas.microsoft.com/office/drawing/2014/main" id="{AF2DF4FF-E661-430F-BA7B-034565A8AB14}"/>
              </a:ext>
            </a:extLst>
          </p:cNvPr>
          <p:cNvSpPr>
            <a:spLocks noGrp="1"/>
          </p:cNvSpPr>
          <p:nvPr/>
        </p:nvSpPr>
        <p:spPr>
          <a:xfrm>
            <a:off x="11155680" y="6473952"/>
            <a:ext cx="822960" cy="274320"/>
          </a:xfrm>
          <a:prstGeom prst="rect">
            <a:avLst/>
          </a:prstGeom>
          <a:noFill/>
        </p:spPr>
        <p:txBody>
          <a:bodyPr wrap="square" lIns="36576" tIns="18288" rIns="36576" bIns="18288">
            <a:spAutoFit/>
          </a:bodyPr>
          <a:lstStyle/>
          <a:p>
            <a:pPr algn="r">
              <a:buNone/>
            </a:pPr>
            <a:r>
              <a:rPr sz="850" b="1" i="0">
                <a:solidFill>
                  <a:srgbClr val="64748C"/>
                </a:solidFill>
                <a:latin typeface="Calibri"/>
                <a:ea typeface="Calibri"/>
                <a:cs typeface="Calibri"/>
              </a:rPr>
              <a:t>24</a:t>
            </a:r>
          </a:p>
        </p:txBody>
      </p:sp>
      <p:pic>
        <p:nvPicPr>
          <p:cNvPr id="9" name="Image 0" descr="/mnt/data/cusit_logo.png"/>
          <p:cNvPicPr>
            <a:picLocks noChangeAspect="1"/>
          </p:cNvPicPr>
          <p:nvPr/>
        </p:nvPicPr>
        <p:blipFill>
          <a:blip r:embed="rId4"/>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17255051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B6FCC9C-B16B-46D3-BB91-4CF377299538}"/>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F0917B84-7C34-4C75-920A-102F04D90C0A}"/>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INITIAL RESULTS</a:t>
            </a:r>
          </a:p>
        </p:txBody>
      </p:sp>
      <p:sp>
        <p:nvSpPr>
          <p:cNvPr id="4" name="TextBox 3">
            <a:extLst>
              <a:ext uri="{FF2B5EF4-FFF2-40B4-BE49-F238E27FC236}">
                <a16:creationId xmlns:a16="http://schemas.microsoft.com/office/drawing/2014/main" id="{B64DE266-81D2-406C-9C5A-73D5D8CE1E67}"/>
              </a:ext>
            </a:extLst>
          </p:cNvPr>
          <p:cNvSpPr>
            <a:spLocks noGrp="1"/>
          </p:cNvSpPr>
          <p:nvPr/>
        </p:nvSpPr>
        <p:spPr>
          <a:xfrm>
            <a:off x="640080" y="694944"/>
            <a:ext cx="11155680" cy="590931"/>
          </a:xfrm>
          <a:prstGeom prst="rect">
            <a:avLst/>
          </a:prstGeom>
          <a:noFill/>
        </p:spPr>
        <p:txBody>
          <a:bodyPr wrap="square" lIns="36576" tIns="18288" rIns="36576" bIns="18288">
            <a:spAutoFit/>
          </a:bodyPr>
          <a:lstStyle/>
          <a:p>
            <a:r>
              <a:rPr sz="3600" b="1" dirty="0">
                <a:solidFill>
                  <a:srgbClr val="1E2A44"/>
                </a:solidFill>
                <a:latin typeface="Cambria"/>
                <a:ea typeface="Cambria"/>
                <a:cs typeface="Cambria"/>
              </a:rPr>
              <a:t>H1: The Observability Gap on a Real Regression</a:t>
            </a:r>
            <a:endParaRPr sz="3600" b="1" i="0" dirty="0">
              <a:solidFill>
                <a:srgbClr val="1E2A44"/>
              </a:solidFill>
              <a:latin typeface="Cambria"/>
              <a:ea typeface="Cambria"/>
              <a:cs typeface="Cambria"/>
            </a:endParaRPr>
          </a:p>
        </p:txBody>
      </p:sp>
      <p:graphicFrame>
        <p:nvGraphicFramePr>
          <p:cNvPr id="12" name="Table 4"/>
          <p:cNvGraphicFramePr/>
          <p:nvPr>
            <p:extLst>
              <p:ext uri="{D42A27DB-BD31-4B8C-83A1-F6EECF244321}">
                <p14:modId xmlns:p14="http://schemas.microsoft.com/office/powerpoint/2010/main" val="694889276"/>
              </p:ext>
            </p:extLst>
          </p:nvPr>
        </p:nvGraphicFramePr>
        <p:xfrm>
          <a:off x="603504" y="1554480"/>
          <a:ext cx="10972800" cy="1874520"/>
        </p:xfrm>
        <a:graphic>
          <a:graphicData uri="http://schemas.openxmlformats.org/drawingml/2006/table">
            <a:tbl>
              <a:tblPr>
                <a:tableStyleId>{5C22544A-7EE6-4342-B048-85BDC9FD1C3A}</a:tableStyleId>
              </a:tblPr>
              <a:tblGrid>
                <a:gridCol w="50292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624840">
                <a:tc>
                  <a:txBody>
                    <a:bodyPr/>
                    <a:lstStyle/>
                    <a:p>
                      <a:r>
                        <a:rPr sz="1800" b="1">
                          <a:solidFill>
                            <a:srgbClr val="FFFFFF"/>
                          </a:solidFill>
                          <a:latin typeface="Calibri"/>
                          <a:ea typeface="Calibri"/>
                          <a:cs typeface="Calibri"/>
                        </a:rPr>
                        <a:t>Oracle</a:t>
                      </a:r>
                    </a:p>
                  </a:txBody>
                  <a:tcPr marL="54864" marR="54864" marT="18288" marB="18288" anchor="ctr">
                    <a:solidFill>
                      <a:srgbClr val="14264F"/>
                    </a:solidFill>
                  </a:tcPr>
                </a:tc>
                <a:tc>
                  <a:txBody>
                    <a:bodyPr/>
                    <a:lstStyle/>
                    <a:p>
                      <a:r>
                        <a:rPr sz="1800" b="1">
                          <a:solidFill>
                            <a:srgbClr val="FFFFFF"/>
                          </a:solidFill>
                          <a:latin typeface="Calibri"/>
                          <a:ea typeface="Calibri"/>
                          <a:cs typeface="Calibri"/>
                        </a:rPr>
                        <a:t>Result on the buggy build</a:t>
                      </a:r>
                    </a:p>
                  </a:txBody>
                  <a:tcPr marL="54864" marR="54864" marT="18288" marB="18288" anchor="ctr">
                    <a:solidFill>
                      <a:srgbClr val="14264F"/>
                    </a:solidFill>
                  </a:tcPr>
                </a:tc>
                <a:extLst>
                  <a:ext uri="{0D108BD9-81ED-4DB2-BD59-A6C34878D82A}">
                    <a16:rowId xmlns:a16="http://schemas.microsoft.com/office/drawing/2014/main" val="10000"/>
                  </a:ext>
                </a:extLst>
              </a:tr>
              <a:tr h="624840">
                <a:tc>
                  <a:txBody>
                    <a:bodyPr/>
                    <a:lstStyle/>
                    <a:p>
                      <a:r>
                        <a:rPr sz="1800" dirty="0">
                          <a:solidFill>
                            <a:srgbClr val="1E2A44"/>
                          </a:solidFill>
                          <a:latin typeface="Calibri"/>
                          <a:ea typeface="Calibri"/>
                          <a:cs typeface="Calibri"/>
                        </a:rPr>
                        <a:t>Black-box output-equivalence</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EQUIVALENT  (fault missed)</a:t>
                      </a:r>
                    </a:p>
                  </a:txBody>
                  <a:tcPr marL="54864" marR="54864" marT="18288" marB="18288" anchor="ctr">
                    <a:solidFill>
                      <a:srgbClr val="FFFFFF"/>
                    </a:solidFill>
                  </a:tcPr>
                </a:tc>
                <a:extLst>
                  <a:ext uri="{0D108BD9-81ED-4DB2-BD59-A6C34878D82A}">
                    <a16:rowId xmlns:a16="http://schemas.microsoft.com/office/drawing/2014/main" val="10001"/>
                  </a:ext>
                </a:extLst>
              </a:tr>
              <a:tr h="624840">
                <a:tc>
                  <a:txBody>
                    <a:bodyPr/>
                    <a:lstStyle/>
                    <a:p>
                      <a:r>
                        <a:rPr lang="en-US" sz="1800" dirty="0" smtClean="0">
                          <a:solidFill>
                            <a:srgbClr val="1E2A44"/>
                          </a:solidFill>
                          <a:latin typeface="Calibri"/>
                          <a:ea typeface="Calibri"/>
                          <a:cs typeface="Calibri"/>
                        </a:rPr>
                        <a:t>Fault</a:t>
                      </a:r>
                      <a:r>
                        <a:rPr lang="en-US" sz="1800" baseline="0" dirty="0" smtClean="0">
                          <a:solidFill>
                            <a:srgbClr val="1E2A44"/>
                          </a:solidFill>
                          <a:latin typeface="Calibri"/>
                          <a:ea typeface="Calibri"/>
                          <a:cs typeface="Calibri"/>
                        </a:rPr>
                        <a:t> matched property</a:t>
                      </a:r>
                      <a:endParaRPr sz="1800" dirty="0">
                        <a:solidFill>
                          <a:srgbClr val="1E2A44"/>
                        </a:solidFill>
                        <a:latin typeface="Calibri"/>
                        <a:ea typeface="Calibri"/>
                        <a:cs typeface="Calibri"/>
                      </a:endParaRPr>
                    </a:p>
                  </a:txBody>
                  <a:tcPr marL="54864" marR="54864" marT="18288" marB="18288" anchor="ctr">
                    <a:solidFill>
                      <a:srgbClr val="EFF4FA"/>
                    </a:solidFill>
                  </a:tcPr>
                </a:tc>
                <a:tc>
                  <a:txBody>
                    <a:bodyPr/>
                    <a:lstStyle/>
                    <a:p>
                      <a:r>
                        <a:rPr sz="1800" dirty="0" err="1">
                          <a:solidFill>
                            <a:srgbClr val="1E2A44"/>
                          </a:solidFill>
                          <a:latin typeface="Calibri"/>
                          <a:ea typeface="Calibri"/>
                          <a:cs typeface="Calibri"/>
                        </a:rPr>
                        <a:t>contract_metadata_fail</a:t>
                      </a:r>
                      <a:r>
                        <a:rPr sz="1800" dirty="0">
                          <a:solidFill>
                            <a:srgbClr val="1E2A44"/>
                          </a:solidFill>
                          <a:latin typeface="Calibri"/>
                          <a:ea typeface="Calibri"/>
                          <a:cs typeface="Calibri"/>
                        </a:rPr>
                        <a:t>  (fault detected)</a:t>
                      </a:r>
                    </a:p>
                  </a:txBody>
                  <a:tcPr marL="54864" marR="54864" marT="18288" marB="18288" anchor="ctr">
                    <a:solidFill>
                      <a:srgbClr val="EFF4FA"/>
                    </a:solidFill>
                  </a:tcPr>
                </a:tc>
                <a:extLst>
                  <a:ext uri="{0D108BD9-81ED-4DB2-BD59-A6C34878D82A}">
                    <a16:rowId xmlns:a16="http://schemas.microsoft.com/office/drawing/2014/main" val="10002"/>
                  </a:ext>
                </a:extLst>
              </a:tr>
            </a:tbl>
          </a:graphicData>
        </a:graphic>
      </p:graphicFrame>
      <p:sp>
        <p:nvSpPr>
          <p:cNvPr id="6" name="TextBox 5">
            <a:extLst>
              <a:ext uri="{FF2B5EF4-FFF2-40B4-BE49-F238E27FC236}">
                <a16:creationId xmlns:a16="http://schemas.microsoft.com/office/drawing/2014/main" id="{2BAD5FF6-DEA3-4AEE-9726-B87CAAA867E7}"/>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7" name="TextBox 6">
            <a:extLst>
              <a:ext uri="{FF2B5EF4-FFF2-40B4-BE49-F238E27FC236}">
                <a16:creationId xmlns:a16="http://schemas.microsoft.com/office/drawing/2014/main" id="{6786CB5A-54B9-403E-BA8D-8A0122987F18}"/>
              </a:ext>
            </a:extLst>
          </p:cNvPr>
          <p:cNvSpPr>
            <a:spLocks noGrp="1"/>
          </p:cNvSpPr>
          <p:nvPr/>
        </p:nvSpPr>
        <p:spPr>
          <a:xfrm>
            <a:off x="11155680" y="6473952"/>
            <a:ext cx="822960" cy="190821"/>
          </a:xfrm>
          <a:prstGeom prst="rect">
            <a:avLst/>
          </a:prstGeom>
          <a:noFill/>
        </p:spPr>
        <p:txBody>
          <a:bodyPr wrap="square" lIns="36576" tIns="18288" rIns="36576" bIns="18288">
            <a:spAutoFit/>
          </a:bodyPr>
          <a:lstStyle/>
          <a:p>
            <a:pPr algn="r">
              <a:buNone/>
            </a:pPr>
            <a:r>
              <a:rPr sz="1000" b="1" i="0">
                <a:solidFill>
                  <a:srgbClr val="64748C"/>
                </a:solidFill>
                <a:latin typeface="Calibri"/>
                <a:ea typeface="Calibri"/>
                <a:cs typeface="Calibri"/>
              </a:rPr>
              <a:t>25</a:t>
            </a:r>
          </a:p>
        </p:txBody>
      </p:sp>
      <p:pic>
        <p:nvPicPr>
          <p:cNvPr id="8"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9709833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B651101-8D89-46E6-BCCA-88496CF4B731}"/>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D56CA1D1-AA32-4B72-9AEF-F63E180417A4}"/>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INITIAL RESULTS</a:t>
            </a:r>
          </a:p>
        </p:txBody>
      </p:sp>
      <p:sp>
        <p:nvSpPr>
          <p:cNvPr id="4" name="TextBox 3">
            <a:extLst>
              <a:ext uri="{FF2B5EF4-FFF2-40B4-BE49-F238E27FC236}">
                <a16:creationId xmlns:a16="http://schemas.microsoft.com/office/drawing/2014/main" id="{47E4EA02-D998-4066-847C-BA90C2DCE839}"/>
              </a:ext>
            </a:extLst>
          </p:cNvPr>
          <p:cNvSpPr>
            <a:spLocks noGrp="1"/>
          </p:cNvSpPr>
          <p:nvPr/>
        </p:nvSpPr>
        <p:spPr>
          <a:xfrm>
            <a:off x="640080" y="694944"/>
            <a:ext cx="11155680" cy="467820"/>
          </a:xfrm>
          <a:prstGeom prst="rect">
            <a:avLst/>
          </a:prstGeom>
          <a:noFill/>
        </p:spPr>
        <p:txBody>
          <a:bodyPr wrap="square" lIns="36576" tIns="18288" rIns="36576" bIns="18288">
            <a:spAutoFit/>
          </a:bodyPr>
          <a:lstStyle/>
          <a:p>
            <a:r>
              <a:rPr sz="2200" b="1">
                <a:solidFill>
                  <a:srgbClr val="1E2A44"/>
                </a:solidFill>
                <a:latin typeface="Cambria"/>
                <a:ea typeface="Cambria"/>
                <a:cs typeface="Cambria"/>
              </a:rPr>
              <a:t>Preliminary Oracle-Observability Gap in the 26-Fix Seed</a:t>
            </a:r>
          </a:p>
        </p:txBody>
      </p:sp>
      <p:pic>
        <p:nvPicPr>
          <p:cNvPr id="12" name="Picture 4"/>
          <p:cNvPicPr>
            <a:picLocks noChangeAspect="1"/>
          </p:cNvPicPr>
          <p:nvPr/>
        </p:nvPicPr>
        <p:blipFill>
          <a:blip r:embed="rId3"/>
          <a:stretch>
            <a:fillRect/>
          </a:stretch>
        </p:blipFill>
        <p:spPr>
          <a:xfrm>
            <a:off x="1443018" y="1536192"/>
            <a:ext cx="8483918" cy="4657344"/>
          </a:xfrm>
          <a:prstGeom prst="rect">
            <a:avLst/>
          </a:prstGeom>
        </p:spPr>
      </p:pic>
      <p:sp>
        <p:nvSpPr>
          <p:cNvPr id="6" name="TextBox 5">
            <a:extLst>
              <a:ext uri="{FF2B5EF4-FFF2-40B4-BE49-F238E27FC236}">
                <a16:creationId xmlns:a16="http://schemas.microsoft.com/office/drawing/2014/main" id="{D85E149A-588B-4E75-B543-BDECD3D68802}"/>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7" name="TextBox 6">
            <a:extLst>
              <a:ext uri="{FF2B5EF4-FFF2-40B4-BE49-F238E27FC236}">
                <a16:creationId xmlns:a16="http://schemas.microsoft.com/office/drawing/2014/main" id="{3C5F69E2-CC9F-4115-83B2-8F39AE19DC49}"/>
              </a:ext>
            </a:extLst>
          </p:cNvPr>
          <p:cNvSpPr>
            <a:spLocks noGrp="1"/>
          </p:cNvSpPr>
          <p:nvPr/>
        </p:nvSpPr>
        <p:spPr>
          <a:xfrm>
            <a:off x="11155680" y="6473952"/>
            <a:ext cx="822960" cy="274320"/>
          </a:xfrm>
          <a:prstGeom prst="rect">
            <a:avLst/>
          </a:prstGeom>
          <a:noFill/>
        </p:spPr>
        <p:txBody>
          <a:bodyPr wrap="square" lIns="36576" tIns="18288" rIns="36576" bIns="18288">
            <a:spAutoFit/>
          </a:bodyPr>
          <a:lstStyle/>
          <a:p>
            <a:pPr algn="r">
              <a:buNone/>
            </a:pPr>
            <a:r>
              <a:rPr sz="850" b="1" i="0">
                <a:solidFill>
                  <a:srgbClr val="64748C"/>
                </a:solidFill>
                <a:latin typeface="Calibri"/>
                <a:ea typeface="Calibri"/>
                <a:cs typeface="Calibri"/>
              </a:rPr>
              <a:t>26</a:t>
            </a:r>
          </a:p>
        </p:txBody>
      </p:sp>
      <p:pic>
        <p:nvPicPr>
          <p:cNvPr id="8" name="Image 0" descr="/mnt/data/cusit_logo.png"/>
          <p:cNvPicPr>
            <a:picLocks noChangeAspect="1"/>
          </p:cNvPicPr>
          <p:nvPr/>
        </p:nvPicPr>
        <p:blipFill>
          <a:blip r:embed="rId4"/>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13646699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16878-D067-45AD-9C0C-1D35036F2C57}"/>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3" name="TextBox 2">
            <a:extLst>
              <a:ext uri="{FF2B5EF4-FFF2-40B4-BE49-F238E27FC236}">
                <a16:creationId xmlns:a16="http://schemas.microsoft.com/office/drawing/2014/main" id="{65B6B1E0-06C0-4917-982D-1EB7741EF0C0}"/>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ONE YEAR TO COMPLETION</a:t>
            </a:r>
          </a:p>
        </p:txBody>
      </p:sp>
      <p:sp>
        <p:nvSpPr>
          <p:cNvPr id="4" name="TextBox 3">
            <a:extLst>
              <a:ext uri="{FF2B5EF4-FFF2-40B4-BE49-F238E27FC236}">
                <a16:creationId xmlns:a16="http://schemas.microsoft.com/office/drawing/2014/main" id="{6979C8CD-0AEC-4FF3-B4A6-C202B288E203}"/>
              </a:ext>
            </a:extLst>
          </p:cNvPr>
          <p:cNvSpPr>
            <a:spLocks noGrp="1"/>
          </p:cNvSpPr>
          <p:nvPr/>
        </p:nvSpPr>
        <p:spPr>
          <a:xfrm>
            <a:off x="640080" y="694944"/>
            <a:ext cx="11155680" cy="714042"/>
          </a:xfrm>
          <a:prstGeom prst="rect">
            <a:avLst/>
          </a:prstGeom>
          <a:noFill/>
        </p:spPr>
        <p:txBody>
          <a:bodyPr wrap="square" lIns="36576" tIns="18288" rIns="36576" bIns="18288">
            <a:spAutoFit/>
          </a:bodyPr>
          <a:lstStyle/>
          <a:p>
            <a:r>
              <a:rPr sz="4400" b="1" i="0">
                <a:solidFill>
                  <a:srgbClr val="1E2A44"/>
                </a:solidFill>
                <a:latin typeface="Cambria"/>
                <a:ea typeface="Cambria"/>
                <a:cs typeface="Cambria"/>
              </a:rPr>
              <a:t>Work Plan</a:t>
            </a:r>
          </a:p>
        </p:txBody>
      </p:sp>
      <p:sp>
        <p:nvSpPr>
          <p:cNvPr id="5" name="Rounded Rectangle 4">
            <a:extLst>
              <a:ext uri="{FF2B5EF4-FFF2-40B4-BE49-F238E27FC236}">
                <a16:creationId xmlns:a16="http://schemas.microsoft.com/office/drawing/2014/main" id="{E9E859B2-8564-43A5-9B7E-B7A1899C933A}"/>
              </a:ext>
            </a:extLst>
          </p:cNvPr>
          <p:cNvSpPr>
            <a:spLocks noGrp="1"/>
          </p:cNvSpPr>
          <p:nvPr/>
        </p:nvSpPr>
        <p:spPr>
          <a:xfrm>
            <a:off x="640080" y="1691640"/>
            <a:ext cx="11064240" cy="822960"/>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6" name="TextBox 5">
            <a:extLst>
              <a:ext uri="{FF2B5EF4-FFF2-40B4-BE49-F238E27FC236}">
                <a16:creationId xmlns:a16="http://schemas.microsoft.com/office/drawing/2014/main" id="{452A6679-4DA9-4390-9284-EC3FAFE92153}"/>
              </a:ext>
            </a:extLst>
          </p:cNvPr>
          <p:cNvSpPr>
            <a:spLocks noGrp="1"/>
          </p:cNvSpPr>
          <p:nvPr/>
        </p:nvSpPr>
        <p:spPr>
          <a:xfrm>
            <a:off x="868680" y="1930765"/>
            <a:ext cx="1371600" cy="344710"/>
          </a:xfrm>
          <a:prstGeom prst="rect">
            <a:avLst/>
          </a:prstGeom>
          <a:noFill/>
        </p:spPr>
        <p:txBody>
          <a:bodyPr wrap="square" lIns="36576" tIns="18288" rIns="36576" bIns="18288" anchor="ctr">
            <a:spAutoFit/>
          </a:bodyPr>
          <a:lstStyle/>
          <a:p>
            <a:r>
              <a:rPr sz="2000" b="1" i="0">
                <a:solidFill>
                  <a:srgbClr val="1E2A44"/>
                </a:solidFill>
                <a:latin typeface="Calibri"/>
                <a:ea typeface="Calibri"/>
                <a:cs typeface="Calibri"/>
              </a:rPr>
              <a:t>Phase 1</a:t>
            </a:r>
          </a:p>
        </p:txBody>
      </p:sp>
      <p:sp>
        <p:nvSpPr>
          <p:cNvPr id="7" name="TextBox 6">
            <a:extLst>
              <a:ext uri="{FF2B5EF4-FFF2-40B4-BE49-F238E27FC236}">
                <a16:creationId xmlns:a16="http://schemas.microsoft.com/office/drawing/2014/main" id="{4E7953E0-8BFE-4D90-AF7D-DFDE9AFF46CF}"/>
              </a:ext>
            </a:extLst>
          </p:cNvPr>
          <p:cNvSpPr>
            <a:spLocks noGrp="1"/>
          </p:cNvSpPr>
          <p:nvPr/>
        </p:nvSpPr>
        <p:spPr>
          <a:xfrm>
            <a:off x="2194560" y="1715322"/>
            <a:ext cx="6583680" cy="775597"/>
          </a:xfrm>
          <a:prstGeom prst="rect">
            <a:avLst/>
          </a:prstGeom>
          <a:noFill/>
        </p:spPr>
        <p:txBody>
          <a:bodyPr wrap="square" lIns="36576" tIns="18288" rIns="36576" bIns="18288" anchor="ctr">
            <a:spAutoFit/>
          </a:bodyPr>
          <a:lstStyle/>
          <a:p>
            <a:r>
              <a:rPr sz="2400" b="0" i="0" dirty="0">
                <a:solidFill>
                  <a:srgbClr val="1E2A44"/>
                </a:solidFill>
                <a:latin typeface="Calibri"/>
                <a:ea typeface="Calibri"/>
                <a:cs typeface="Calibri"/>
              </a:rPr>
              <a:t>Feasibility study (methodology, prototype, initial results)</a:t>
            </a:r>
          </a:p>
        </p:txBody>
      </p:sp>
      <p:sp>
        <p:nvSpPr>
          <p:cNvPr id="8" name="Rounded Rectangle 7">
            <a:extLst>
              <a:ext uri="{FF2B5EF4-FFF2-40B4-BE49-F238E27FC236}">
                <a16:creationId xmlns:a16="http://schemas.microsoft.com/office/drawing/2014/main" id="{4B18FC87-E5DC-458B-881C-496DDB763E44}"/>
              </a:ext>
            </a:extLst>
          </p:cNvPr>
          <p:cNvSpPr>
            <a:spLocks noGrp="1"/>
          </p:cNvSpPr>
          <p:nvPr/>
        </p:nvSpPr>
        <p:spPr>
          <a:xfrm>
            <a:off x="9646920" y="1892808"/>
            <a:ext cx="1737360" cy="420624"/>
          </a:xfrm>
          <a:prstGeom prst="roundRect">
            <a:avLst>
              <a:gd name="adj" fmla="val 50000"/>
            </a:avLst>
          </a:prstGeom>
          <a:solidFill>
            <a:srgbClr val="2F6FCB"/>
          </a:solidFill>
          <a:ln>
            <a:noFill/>
          </a:ln>
        </p:spPr>
        <p:style>
          <a:lnRef idx="1">
            <a:schemeClr val="accent1"/>
          </a:lnRef>
          <a:fillRef idx="3">
            <a:schemeClr val="accent1"/>
          </a:fillRef>
          <a:effectRef idx="2">
            <a:schemeClr val="accent1"/>
          </a:effectRef>
          <a:fontRef idx="minor">
            <a:schemeClr val="lt1"/>
          </a:fontRef>
        </p:style>
        <p:txBody>
          <a:bodyPr tIns="0" bIns="0" anchor="ctr"/>
          <a:lstStyle/>
          <a:p>
            <a:pPr algn="ctr">
              <a:buNone/>
            </a:pPr>
            <a:r>
              <a:rPr sz="2000" b="1" i="0">
                <a:solidFill>
                  <a:srgbClr val="FFFFFF"/>
                </a:solidFill>
                <a:latin typeface="Calibri"/>
                <a:ea typeface="Calibri"/>
                <a:cs typeface="Calibri"/>
              </a:rPr>
              <a:t>Completed</a:t>
            </a:r>
          </a:p>
        </p:txBody>
      </p:sp>
      <p:sp>
        <p:nvSpPr>
          <p:cNvPr id="9" name="Rounded Rectangle 8">
            <a:extLst>
              <a:ext uri="{FF2B5EF4-FFF2-40B4-BE49-F238E27FC236}">
                <a16:creationId xmlns:a16="http://schemas.microsoft.com/office/drawing/2014/main" id="{4020C9AE-9FFA-4262-AF72-6FFA9C75EA3D}"/>
              </a:ext>
            </a:extLst>
          </p:cNvPr>
          <p:cNvSpPr>
            <a:spLocks noGrp="1"/>
          </p:cNvSpPr>
          <p:nvPr/>
        </p:nvSpPr>
        <p:spPr>
          <a:xfrm>
            <a:off x="640080" y="2633472"/>
            <a:ext cx="11064240" cy="822960"/>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10" name="TextBox 9">
            <a:extLst>
              <a:ext uri="{FF2B5EF4-FFF2-40B4-BE49-F238E27FC236}">
                <a16:creationId xmlns:a16="http://schemas.microsoft.com/office/drawing/2014/main" id="{CBEF09BB-8895-4175-BC97-4561D7E4D987}"/>
              </a:ext>
            </a:extLst>
          </p:cNvPr>
          <p:cNvSpPr>
            <a:spLocks noGrp="1"/>
          </p:cNvSpPr>
          <p:nvPr/>
        </p:nvSpPr>
        <p:spPr>
          <a:xfrm>
            <a:off x="868680" y="2872597"/>
            <a:ext cx="1371600" cy="344710"/>
          </a:xfrm>
          <a:prstGeom prst="rect">
            <a:avLst/>
          </a:prstGeom>
          <a:noFill/>
        </p:spPr>
        <p:txBody>
          <a:bodyPr wrap="square" lIns="36576" tIns="18288" rIns="36576" bIns="18288" anchor="ctr">
            <a:spAutoFit/>
          </a:bodyPr>
          <a:lstStyle/>
          <a:p>
            <a:r>
              <a:rPr sz="2000" b="1" i="0">
                <a:solidFill>
                  <a:srgbClr val="1E2A44"/>
                </a:solidFill>
                <a:latin typeface="Calibri"/>
                <a:ea typeface="Calibri"/>
                <a:cs typeface="Calibri"/>
              </a:rPr>
              <a:t>Phase 2</a:t>
            </a:r>
          </a:p>
        </p:txBody>
      </p:sp>
      <p:sp>
        <p:nvSpPr>
          <p:cNvPr id="11" name="TextBox 10">
            <a:extLst>
              <a:ext uri="{FF2B5EF4-FFF2-40B4-BE49-F238E27FC236}">
                <a16:creationId xmlns:a16="http://schemas.microsoft.com/office/drawing/2014/main" id="{AC0B8176-103F-4058-B15B-FAA128915C68}"/>
              </a:ext>
            </a:extLst>
          </p:cNvPr>
          <p:cNvSpPr>
            <a:spLocks noGrp="1"/>
          </p:cNvSpPr>
          <p:nvPr/>
        </p:nvSpPr>
        <p:spPr>
          <a:xfrm>
            <a:off x="2194560" y="2657154"/>
            <a:ext cx="6583680" cy="775597"/>
          </a:xfrm>
          <a:prstGeom prst="rect">
            <a:avLst/>
          </a:prstGeom>
          <a:noFill/>
        </p:spPr>
        <p:txBody>
          <a:bodyPr wrap="square" lIns="36576" tIns="18288" rIns="36576" bIns="18288" anchor="ctr">
            <a:spAutoFit/>
          </a:bodyPr>
          <a:lstStyle/>
          <a:p>
            <a:r>
              <a:rPr sz="2400" b="0" i="0">
                <a:solidFill>
                  <a:srgbClr val="1E2A44"/>
                </a:solidFill>
                <a:latin typeface="Calibri"/>
                <a:ea typeface="Calibri"/>
                <a:cs typeface="Calibri"/>
              </a:rPr>
              <a:t>Scale-up: verify ≥ 3 forward regressions, expand mining</a:t>
            </a:r>
          </a:p>
        </p:txBody>
      </p:sp>
      <p:sp>
        <p:nvSpPr>
          <p:cNvPr id="12" name="Rounded Rectangle 11">
            <a:extLst>
              <a:ext uri="{FF2B5EF4-FFF2-40B4-BE49-F238E27FC236}">
                <a16:creationId xmlns:a16="http://schemas.microsoft.com/office/drawing/2014/main" id="{64DDF4AC-3BB7-4868-B575-46A2FDF4200E}"/>
              </a:ext>
            </a:extLst>
          </p:cNvPr>
          <p:cNvSpPr>
            <a:spLocks noGrp="1"/>
          </p:cNvSpPr>
          <p:nvPr/>
        </p:nvSpPr>
        <p:spPr>
          <a:xfrm>
            <a:off x="9646920" y="2834640"/>
            <a:ext cx="1737360" cy="420624"/>
          </a:xfrm>
          <a:prstGeom prst="roundRect">
            <a:avLst>
              <a:gd name="adj" fmla="val 50000"/>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tIns="0" bIns="0" anchor="ctr"/>
          <a:lstStyle/>
          <a:p>
            <a:pPr algn="ctr">
              <a:buNone/>
            </a:pPr>
            <a:r>
              <a:rPr sz="2000" b="1" i="0">
                <a:solidFill>
                  <a:srgbClr val="FFFFFF"/>
                </a:solidFill>
                <a:latin typeface="Calibri"/>
                <a:ea typeface="Calibri"/>
                <a:cs typeface="Calibri"/>
              </a:rPr>
              <a:t>2026 Q3</a:t>
            </a:r>
          </a:p>
        </p:txBody>
      </p:sp>
      <p:sp>
        <p:nvSpPr>
          <p:cNvPr id="13" name="Rounded Rectangle 12">
            <a:extLst>
              <a:ext uri="{FF2B5EF4-FFF2-40B4-BE49-F238E27FC236}">
                <a16:creationId xmlns:a16="http://schemas.microsoft.com/office/drawing/2014/main" id="{50CBC46D-AD09-4FA8-A293-BE4C7969F464}"/>
              </a:ext>
            </a:extLst>
          </p:cNvPr>
          <p:cNvSpPr>
            <a:spLocks noGrp="1"/>
          </p:cNvSpPr>
          <p:nvPr/>
        </p:nvSpPr>
        <p:spPr>
          <a:xfrm>
            <a:off x="640080" y="3575304"/>
            <a:ext cx="11064240" cy="822960"/>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14" name="TextBox 13">
            <a:extLst>
              <a:ext uri="{FF2B5EF4-FFF2-40B4-BE49-F238E27FC236}">
                <a16:creationId xmlns:a16="http://schemas.microsoft.com/office/drawing/2014/main" id="{2AD24F88-EDCB-44A1-8855-A802536F463B}"/>
              </a:ext>
            </a:extLst>
          </p:cNvPr>
          <p:cNvSpPr>
            <a:spLocks noGrp="1"/>
          </p:cNvSpPr>
          <p:nvPr/>
        </p:nvSpPr>
        <p:spPr>
          <a:xfrm>
            <a:off x="868680" y="3814429"/>
            <a:ext cx="1371600" cy="344710"/>
          </a:xfrm>
          <a:prstGeom prst="rect">
            <a:avLst/>
          </a:prstGeom>
          <a:noFill/>
        </p:spPr>
        <p:txBody>
          <a:bodyPr wrap="square" lIns="36576" tIns="18288" rIns="36576" bIns="18288" anchor="ctr">
            <a:spAutoFit/>
          </a:bodyPr>
          <a:lstStyle/>
          <a:p>
            <a:r>
              <a:rPr sz="2000" b="1" i="0">
                <a:solidFill>
                  <a:srgbClr val="1E2A44"/>
                </a:solidFill>
                <a:latin typeface="Calibri"/>
                <a:ea typeface="Calibri"/>
                <a:cs typeface="Calibri"/>
              </a:rPr>
              <a:t>Phase 3</a:t>
            </a:r>
          </a:p>
        </p:txBody>
      </p:sp>
      <p:sp>
        <p:nvSpPr>
          <p:cNvPr id="15" name="TextBox 14">
            <a:extLst>
              <a:ext uri="{FF2B5EF4-FFF2-40B4-BE49-F238E27FC236}">
                <a16:creationId xmlns:a16="http://schemas.microsoft.com/office/drawing/2014/main" id="{18D33876-628D-4A36-956D-6CC5F8C78C8C}"/>
              </a:ext>
            </a:extLst>
          </p:cNvPr>
          <p:cNvSpPr>
            <a:spLocks noGrp="1"/>
          </p:cNvSpPr>
          <p:nvPr/>
        </p:nvSpPr>
        <p:spPr>
          <a:xfrm>
            <a:off x="2194560" y="3783652"/>
            <a:ext cx="6583680" cy="406265"/>
          </a:xfrm>
          <a:prstGeom prst="rect">
            <a:avLst/>
          </a:prstGeom>
          <a:noFill/>
        </p:spPr>
        <p:txBody>
          <a:bodyPr wrap="square" lIns="36576" tIns="18288" rIns="36576" bIns="18288" anchor="ctr">
            <a:spAutoFit/>
          </a:bodyPr>
          <a:lstStyle/>
          <a:p>
            <a:r>
              <a:rPr sz="2400" b="0" i="0">
                <a:solidFill>
                  <a:srgbClr val="1E2A44"/>
                </a:solidFill>
                <a:latin typeface="Calibri"/>
                <a:ea typeface="Calibri"/>
                <a:cs typeface="Calibri"/>
              </a:rPr>
              <a:t>Comparison: selector vs baselines</a:t>
            </a:r>
          </a:p>
        </p:txBody>
      </p:sp>
      <p:sp>
        <p:nvSpPr>
          <p:cNvPr id="16" name="Rounded Rectangle 15">
            <a:extLst>
              <a:ext uri="{FF2B5EF4-FFF2-40B4-BE49-F238E27FC236}">
                <a16:creationId xmlns:a16="http://schemas.microsoft.com/office/drawing/2014/main" id="{9EABDD43-6015-4A86-B664-3D44E1D358C6}"/>
              </a:ext>
            </a:extLst>
          </p:cNvPr>
          <p:cNvSpPr>
            <a:spLocks noGrp="1"/>
          </p:cNvSpPr>
          <p:nvPr/>
        </p:nvSpPr>
        <p:spPr>
          <a:xfrm>
            <a:off x="9646920" y="3776472"/>
            <a:ext cx="1737360" cy="420624"/>
          </a:xfrm>
          <a:prstGeom prst="roundRect">
            <a:avLst>
              <a:gd name="adj" fmla="val 50000"/>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tIns="0" bIns="0" anchor="ctr"/>
          <a:lstStyle/>
          <a:p>
            <a:pPr algn="ctr">
              <a:buNone/>
            </a:pPr>
            <a:r>
              <a:rPr sz="2000" b="1" i="0">
                <a:solidFill>
                  <a:srgbClr val="FFFFFF"/>
                </a:solidFill>
                <a:latin typeface="Calibri"/>
                <a:ea typeface="Calibri"/>
                <a:cs typeface="Calibri"/>
              </a:rPr>
              <a:t>2026 Q4</a:t>
            </a:r>
          </a:p>
        </p:txBody>
      </p:sp>
      <p:sp>
        <p:nvSpPr>
          <p:cNvPr id="17" name="Rounded Rectangle 16">
            <a:extLst>
              <a:ext uri="{FF2B5EF4-FFF2-40B4-BE49-F238E27FC236}">
                <a16:creationId xmlns:a16="http://schemas.microsoft.com/office/drawing/2014/main" id="{509FA3EC-233F-42DD-AD97-41EE71AAA85D}"/>
              </a:ext>
            </a:extLst>
          </p:cNvPr>
          <p:cNvSpPr>
            <a:spLocks noGrp="1"/>
          </p:cNvSpPr>
          <p:nvPr/>
        </p:nvSpPr>
        <p:spPr>
          <a:xfrm>
            <a:off x="640080" y="4517136"/>
            <a:ext cx="11064240" cy="822960"/>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18" name="TextBox 17">
            <a:extLst>
              <a:ext uri="{FF2B5EF4-FFF2-40B4-BE49-F238E27FC236}">
                <a16:creationId xmlns:a16="http://schemas.microsoft.com/office/drawing/2014/main" id="{87F25AA7-34B9-4780-97ED-7B5F857AEC3C}"/>
              </a:ext>
            </a:extLst>
          </p:cNvPr>
          <p:cNvSpPr>
            <a:spLocks noGrp="1"/>
          </p:cNvSpPr>
          <p:nvPr/>
        </p:nvSpPr>
        <p:spPr>
          <a:xfrm>
            <a:off x="868680" y="4756261"/>
            <a:ext cx="1371600" cy="344710"/>
          </a:xfrm>
          <a:prstGeom prst="rect">
            <a:avLst/>
          </a:prstGeom>
          <a:noFill/>
        </p:spPr>
        <p:txBody>
          <a:bodyPr wrap="square" lIns="36576" tIns="18288" rIns="36576" bIns="18288" anchor="ctr">
            <a:spAutoFit/>
          </a:bodyPr>
          <a:lstStyle/>
          <a:p>
            <a:r>
              <a:rPr sz="2000" b="1" i="0">
                <a:solidFill>
                  <a:srgbClr val="1E2A44"/>
                </a:solidFill>
                <a:latin typeface="Calibri"/>
                <a:ea typeface="Calibri"/>
                <a:cs typeface="Calibri"/>
              </a:rPr>
              <a:t>Phase 4</a:t>
            </a:r>
          </a:p>
        </p:txBody>
      </p:sp>
      <p:sp>
        <p:nvSpPr>
          <p:cNvPr id="19" name="TextBox 18">
            <a:extLst>
              <a:ext uri="{FF2B5EF4-FFF2-40B4-BE49-F238E27FC236}">
                <a16:creationId xmlns:a16="http://schemas.microsoft.com/office/drawing/2014/main" id="{0FAF50A4-8E23-467E-8C2A-D11D49FF3F8B}"/>
              </a:ext>
            </a:extLst>
          </p:cNvPr>
          <p:cNvSpPr>
            <a:spLocks noGrp="1"/>
          </p:cNvSpPr>
          <p:nvPr/>
        </p:nvSpPr>
        <p:spPr>
          <a:xfrm>
            <a:off x="2194560" y="4725484"/>
            <a:ext cx="6583680" cy="406265"/>
          </a:xfrm>
          <a:prstGeom prst="rect">
            <a:avLst/>
          </a:prstGeom>
          <a:noFill/>
        </p:spPr>
        <p:txBody>
          <a:bodyPr wrap="square" lIns="36576" tIns="18288" rIns="36576" bIns="18288" anchor="ctr">
            <a:spAutoFit/>
          </a:bodyPr>
          <a:lstStyle/>
          <a:p>
            <a:r>
              <a:rPr sz="2400" b="0" i="0">
                <a:solidFill>
                  <a:srgbClr val="1E2A44"/>
                </a:solidFill>
                <a:latin typeface="Calibri"/>
                <a:ea typeface="Calibri"/>
                <a:cs typeface="Calibri"/>
              </a:rPr>
              <a:t>Validation and cross-SDK generalisation (stretch goal)</a:t>
            </a:r>
          </a:p>
        </p:txBody>
      </p:sp>
      <p:sp>
        <p:nvSpPr>
          <p:cNvPr id="20" name="Rounded Rectangle 19">
            <a:extLst>
              <a:ext uri="{FF2B5EF4-FFF2-40B4-BE49-F238E27FC236}">
                <a16:creationId xmlns:a16="http://schemas.microsoft.com/office/drawing/2014/main" id="{BA4F3751-B3A0-40D8-B61C-7B5061BDD9B8}"/>
              </a:ext>
            </a:extLst>
          </p:cNvPr>
          <p:cNvSpPr>
            <a:spLocks noGrp="1"/>
          </p:cNvSpPr>
          <p:nvPr/>
        </p:nvSpPr>
        <p:spPr>
          <a:xfrm>
            <a:off x="9646920" y="4718304"/>
            <a:ext cx="1737360" cy="420624"/>
          </a:xfrm>
          <a:prstGeom prst="roundRect">
            <a:avLst>
              <a:gd name="adj" fmla="val 50000"/>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tIns="0" bIns="0" anchor="ctr"/>
          <a:lstStyle/>
          <a:p>
            <a:pPr algn="ctr">
              <a:buNone/>
            </a:pPr>
            <a:r>
              <a:rPr sz="2000" b="1" i="0">
                <a:solidFill>
                  <a:srgbClr val="FFFFFF"/>
                </a:solidFill>
                <a:latin typeface="Calibri"/>
                <a:ea typeface="Calibri"/>
                <a:cs typeface="Calibri"/>
              </a:rPr>
              <a:t>2027 Q1</a:t>
            </a:r>
          </a:p>
        </p:txBody>
      </p:sp>
      <p:sp>
        <p:nvSpPr>
          <p:cNvPr id="21" name="Rounded Rectangle 20">
            <a:extLst>
              <a:ext uri="{FF2B5EF4-FFF2-40B4-BE49-F238E27FC236}">
                <a16:creationId xmlns:a16="http://schemas.microsoft.com/office/drawing/2014/main" id="{4706F9CE-B7F7-4A2B-B50E-8F22E697FC37}"/>
              </a:ext>
            </a:extLst>
          </p:cNvPr>
          <p:cNvSpPr>
            <a:spLocks noGrp="1"/>
          </p:cNvSpPr>
          <p:nvPr/>
        </p:nvSpPr>
        <p:spPr>
          <a:xfrm>
            <a:off x="640080" y="5458968"/>
            <a:ext cx="11064240" cy="822960"/>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22" name="TextBox 21">
            <a:extLst>
              <a:ext uri="{FF2B5EF4-FFF2-40B4-BE49-F238E27FC236}">
                <a16:creationId xmlns:a16="http://schemas.microsoft.com/office/drawing/2014/main" id="{F59ACECC-52B5-4F16-AF89-5F2B958553F8}"/>
              </a:ext>
            </a:extLst>
          </p:cNvPr>
          <p:cNvSpPr>
            <a:spLocks noGrp="1"/>
          </p:cNvSpPr>
          <p:nvPr/>
        </p:nvSpPr>
        <p:spPr>
          <a:xfrm>
            <a:off x="868680" y="5698093"/>
            <a:ext cx="1371600" cy="344710"/>
          </a:xfrm>
          <a:prstGeom prst="rect">
            <a:avLst/>
          </a:prstGeom>
          <a:noFill/>
        </p:spPr>
        <p:txBody>
          <a:bodyPr wrap="square" lIns="36576" tIns="18288" rIns="36576" bIns="18288" anchor="ctr">
            <a:spAutoFit/>
          </a:bodyPr>
          <a:lstStyle/>
          <a:p>
            <a:r>
              <a:rPr sz="2000" b="1" i="0">
                <a:solidFill>
                  <a:srgbClr val="1E2A44"/>
                </a:solidFill>
                <a:latin typeface="Calibri"/>
                <a:ea typeface="Calibri"/>
                <a:cs typeface="Calibri"/>
              </a:rPr>
              <a:t>Phase 5</a:t>
            </a:r>
          </a:p>
        </p:txBody>
      </p:sp>
      <p:sp>
        <p:nvSpPr>
          <p:cNvPr id="23" name="TextBox 22">
            <a:extLst>
              <a:ext uri="{FF2B5EF4-FFF2-40B4-BE49-F238E27FC236}">
                <a16:creationId xmlns:a16="http://schemas.microsoft.com/office/drawing/2014/main" id="{92B94D08-3D48-429F-B7D7-2BE9CF96F494}"/>
              </a:ext>
            </a:extLst>
          </p:cNvPr>
          <p:cNvSpPr>
            <a:spLocks noGrp="1"/>
          </p:cNvSpPr>
          <p:nvPr/>
        </p:nvSpPr>
        <p:spPr>
          <a:xfrm>
            <a:off x="2194560" y="5667316"/>
            <a:ext cx="6583680" cy="406265"/>
          </a:xfrm>
          <a:prstGeom prst="rect">
            <a:avLst/>
          </a:prstGeom>
          <a:noFill/>
        </p:spPr>
        <p:txBody>
          <a:bodyPr wrap="square" lIns="36576" tIns="18288" rIns="36576" bIns="18288" anchor="ctr">
            <a:spAutoFit/>
          </a:bodyPr>
          <a:lstStyle/>
          <a:p>
            <a:r>
              <a:rPr sz="2400" b="0" i="0">
                <a:solidFill>
                  <a:srgbClr val="1E2A44"/>
                </a:solidFill>
                <a:latin typeface="Calibri"/>
                <a:ea typeface="Calibri"/>
                <a:cs typeface="Calibri"/>
              </a:rPr>
              <a:t>Thesis write-up and defence</a:t>
            </a:r>
          </a:p>
        </p:txBody>
      </p:sp>
      <p:sp>
        <p:nvSpPr>
          <p:cNvPr id="24" name="Rounded Rectangle 23">
            <a:extLst>
              <a:ext uri="{FF2B5EF4-FFF2-40B4-BE49-F238E27FC236}">
                <a16:creationId xmlns:a16="http://schemas.microsoft.com/office/drawing/2014/main" id="{D1AAF488-C579-4685-B7A2-F2BB3979A072}"/>
              </a:ext>
            </a:extLst>
          </p:cNvPr>
          <p:cNvSpPr>
            <a:spLocks noGrp="1"/>
          </p:cNvSpPr>
          <p:nvPr/>
        </p:nvSpPr>
        <p:spPr>
          <a:xfrm>
            <a:off x="9646920" y="5660136"/>
            <a:ext cx="1737360" cy="420624"/>
          </a:xfrm>
          <a:prstGeom prst="roundRect">
            <a:avLst>
              <a:gd name="adj" fmla="val 50000"/>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tIns="0" bIns="0" anchor="ctr"/>
          <a:lstStyle/>
          <a:p>
            <a:pPr algn="ctr">
              <a:buNone/>
            </a:pPr>
            <a:r>
              <a:rPr sz="2000" b="1" i="0">
                <a:solidFill>
                  <a:srgbClr val="FFFFFF"/>
                </a:solidFill>
                <a:latin typeface="Calibri"/>
                <a:ea typeface="Calibri"/>
                <a:cs typeface="Calibri"/>
              </a:rPr>
              <a:t>2027 Q2</a:t>
            </a:r>
          </a:p>
        </p:txBody>
      </p:sp>
      <p:sp>
        <p:nvSpPr>
          <p:cNvPr id="25" name="TextBox 24">
            <a:extLst>
              <a:ext uri="{FF2B5EF4-FFF2-40B4-BE49-F238E27FC236}">
                <a16:creationId xmlns:a16="http://schemas.microsoft.com/office/drawing/2014/main" id="{3657C8E0-1C3E-4EA9-913F-5697E57BCFF2}"/>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26" name="TextBox 25">
            <a:extLst>
              <a:ext uri="{FF2B5EF4-FFF2-40B4-BE49-F238E27FC236}">
                <a16:creationId xmlns:a16="http://schemas.microsoft.com/office/drawing/2014/main" id="{EA8A3C2D-68DD-4B00-BA95-B4F35861ED31}"/>
              </a:ext>
            </a:extLst>
          </p:cNvPr>
          <p:cNvSpPr>
            <a:spLocks noGrp="1"/>
          </p:cNvSpPr>
          <p:nvPr/>
        </p:nvSpPr>
        <p:spPr>
          <a:xfrm>
            <a:off x="11155680" y="6473952"/>
            <a:ext cx="822960" cy="206210"/>
          </a:xfrm>
          <a:prstGeom prst="rect">
            <a:avLst/>
          </a:prstGeom>
          <a:noFill/>
        </p:spPr>
        <p:txBody>
          <a:bodyPr wrap="square" lIns="36576" tIns="18288" rIns="36576" bIns="18288">
            <a:spAutoFit/>
          </a:bodyPr>
          <a:lstStyle/>
          <a:p>
            <a:pPr algn="r">
              <a:buNone/>
            </a:pPr>
            <a:r>
              <a:rPr sz="1100" b="1" i="0">
                <a:solidFill>
                  <a:srgbClr val="64748C"/>
                </a:solidFill>
                <a:latin typeface="Calibri"/>
                <a:ea typeface="Calibri"/>
                <a:cs typeface="Calibri"/>
              </a:rPr>
              <a:t>27</a:t>
            </a:r>
          </a:p>
        </p:txBody>
      </p:sp>
      <p:pic>
        <p:nvPicPr>
          <p:cNvPr id="27"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17461255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BD7CDC-C79D-4DE3-A309-C8F56E2465D9}"/>
              </a:ext>
            </a:extLst>
          </p:cNvPr>
          <p:cNvSpPr>
            <a:spLocks noGrp="1"/>
          </p:cNvSpPr>
          <p:nvPr/>
        </p:nvSpPr>
        <p:spPr>
          <a:xfrm>
            <a:off x="0" y="0"/>
            <a:ext cx="12191695" cy="6858000"/>
          </a:xfrm>
          <a:prstGeom prst="rect">
            <a:avLst/>
          </a:prstGeom>
          <a:solidFill>
            <a:srgbClr val="14264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800"/>
          </a:p>
        </p:txBody>
      </p:sp>
      <p:sp>
        <p:nvSpPr>
          <p:cNvPr id="4" name="TextBox 3">
            <a:extLst>
              <a:ext uri="{FF2B5EF4-FFF2-40B4-BE49-F238E27FC236}">
                <a16:creationId xmlns:a16="http://schemas.microsoft.com/office/drawing/2014/main" id="{181F7429-6D03-4ECA-B880-8C6802A6778D}"/>
              </a:ext>
            </a:extLst>
          </p:cNvPr>
          <p:cNvSpPr>
            <a:spLocks noGrp="1"/>
          </p:cNvSpPr>
          <p:nvPr/>
        </p:nvSpPr>
        <p:spPr>
          <a:xfrm>
            <a:off x="822960" y="822960"/>
            <a:ext cx="1005840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SUMMARY</a:t>
            </a:r>
          </a:p>
        </p:txBody>
      </p:sp>
      <p:sp>
        <p:nvSpPr>
          <p:cNvPr id="5" name="TextBox 4">
            <a:extLst>
              <a:ext uri="{FF2B5EF4-FFF2-40B4-BE49-F238E27FC236}">
                <a16:creationId xmlns:a16="http://schemas.microsoft.com/office/drawing/2014/main" id="{D91E49F6-7C11-47FE-9999-08CDE5CD66EC}"/>
              </a:ext>
            </a:extLst>
          </p:cNvPr>
          <p:cNvSpPr>
            <a:spLocks noGrp="1"/>
          </p:cNvSpPr>
          <p:nvPr/>
        </p:nvSpPr>
        <p:spPr>
          <a:xfrm>
            <a:off x="822960" y="1234440"/>
            <a:ext cx="10424160" cy="652486"/>
          </a:xfrm>
          <a:prstGeom prst="rect">
            <a:avLst/>
          </a:prstGeom>
          <a:noFill/>
        </p:spPr>
        <p:txBody>
          <a:bodyPr wrap="square" lIns="36576" tIns="18288" rIns="36576" bIns="18288">
            <a:spAutoFit/>
          </a:bodyPr>
          <a:lstStyle/>
          <a:p>
            <a:r>
              <a:rPr sz="4000" b="1" i="0">
                <a:solidFill>
                  <a:srgbClr val="FFFFFF"/>
                </a:solidFill>
                <a:latin typeface="Cambria"/>
                <a:ea typeface="Cambria"/>
                <a:cs typeface="Cambria"/>
              </a:rPr>
              <a:t>Where We Stand</a:t>
            </a:r>
          </a:p>
        </p:txBody>
      </p:sp>
      <p:sp>
        <p:nvSpPr>
          <p:cNvPr id="6" name="TextBox 5">
            <a:extLst>
              <a:ext uri="{FF2B5EF4-FFF2-40B4-BE49-F238E27FC236}">
                <a16:creationId xmlns:a16="http://schemas.microsoft.com/office/drawing/2014/main" id="{110AA47C-FE17-4F88-8B7E-2BB6299DF0EC}"/>
              </a:ext>
            </a:extLst>
          </p:cNvPr>
          <p:cNvSpPr>
            <a:spLocks noGrp="1"/>
          </p:cNvSpPr>
          <p:nvPr/>
        </p:nvSpPr>
        <p:spPr>
          <a:xfrm>
            <a:off x="868680" y="2286000"/>
            <a:ext cx="10607040" cy="3032625"/>
          </a:xfrm>
          <a:prstGeom prst="rect">
            <a:avLst/>
          </a:prstGeom>
          <a:noFill/>
        </p:spPr>
        <p:txBody>
          <a:bodyPr wrap="square" lIns="36576" tIns="18288" rIns="36576" bIns="18288">
            <a:spAutoFit/>
          </a:bodyPr>
          <a:lstStyle/>
          <a:p>
            <a:pPr>
              <a:spcAft>
                <a:spcPts val="1600"/>
              </a:spcAft>
              <a:buNone/>
            </a:pPr>
            <a:r>
              <a:rPr sz="2800" b="1" i="0">
                <a:solidFill>
                  <a:srgbClr val="2F6FCB"/>
                </a:solidFill>
                <a:latin typeface="Calibri"/>
                <a:ea typeface="Calibri"/>
                <a:cs typeface="Calibri"/>
              </a:rPr>
              <a:t>▪  </a:t>
            </a:r>
            <a:r>
              <a:rPr sz="2800" b="0" i="0">
                <a:solidFill>
                  <a:srgbClr val="D5E3F7"/>
                </a:solidFill>
                <a:latin typeface="Calibri"/>
                <a:ea typeface="Calibri"/>
                <a:cs typeface="Calibri"/>
              </a:rPr>
              <a:t>The prototype is feasible and has produced usable evidence on two real historical regression events.</a:t>
            </a:r>
          </a:p>
          <a:p>
            <a:pPr>
              <a:spcAft>
                <a:spcPts val="1600"/>
              </a:spcAft>
              <a:buNone/>
            </a:pPr>
            <a:r>
              <a:rPr sz="2800" b="1" i="0">
                <a:solidFill>
                  <a:srgbClr val="2F6FCB"/>
                </a:solidFill>
                <a:latin typeface="Calibri"/>
                <a:ea typeface="Calibri"/>
                <a:cs typeface="Calibri"/>
              </a:rPr>
              <a:t>▪  </a:t>
            </a:r>
            <a:r>
              <a:rPr sz="2800" b="0" i="0">
                <a:solidFill>
                  <a:srgbClr val="D5E3F7"/>
                </a:solidFill>
                <a:latin typeface="Calibri"/>
                <a:ea typeface="Calibri"/>
                <a:cs typeface="Calibri"/>
              </a:rPr>
              <a:t>One real contract regression (H1) shows the reference screen can miss a fault a matched oracle detects.</a:t>
            </a:r>
          </a:p>
          <a:p>
            <a:pPr>
              <a:spcAft>
                <a:spcPts val="1600"/>
              </a:spcAft>
              <a:buNone/>
            </a:pPr>
            <a:r>
              <a:rPr sz="2800" b="1" i="0">
                <a:solidFill>
                  <a:srgbClr val="2F6FCB"/>
                </a:solidFill>
                <a:latin typeface="Calibri"/>
                <a:ea typeface="Calibri"/>
                <a:cs typeface="Calibri"/>
              </a:rPr>
              <a:t>▪  </a:t>
            </a:r>
            <a:r>
              <a:rPr sz="2800" b="0" i="0">
                <a:solidFill>
                  <a:srgbClr val="D5E3F7"/>
                </a:solidFill>
                <a:latin typeface="Calibri"/>
                <a:ea typeface="Calibri"/>
                <a:cs typeface="Calibri"/>
              </a:rPr>
              <a:t>The 26-fix seed indicates a potentially material gap. Full mining and the comparative selector evaluation remain future work.</a:t>
            </a:r>
          </a:p>
        </p:txBody>
      </p:sp>
      <p:sp>
        <p:nvSpPr>
          <p:cNvPr id="7" name="TextBox 6">
            <a:extLst>
              <a:ext uri="{FF2B5EF4-FFF2-40B4-BE49-F238E27FC236}">
                <a16:creationId xmlns:a16="http://schemas.microsoft.com/office/drawing/2014/main" id="{0B5643E2-6709-4035-87B8-17CB762E6205}"/>
              </a:ext>
            </a:extLst>
          </p:cNvPr>
          <p:cNvSpPr>
            <a:spLocks noGrp="1"/>
          </p:cNvSpPr>
          <p:nvPr/>
        </p:nvSpPr>
        <p:spPr>
          <a:xfrm>
            <a:off x="822960" y="5529644"/>
            <a:ext cx="10515600" cy="344710"/>
          </a:xfrm>
          <a:prstGeom prst="rect">
            <a:avLst/>
          </a:prstGeom>
          <a:noFill/>
        </p:spPr>
        <p:txBody>
          <a:bodyPr wrap="square" lIns="36576" tIns="18288" rIns="36576" bIns="18288">
            <a:spAutoFit/>
          </a:bodyPr>
          <a:lstStyle/>
          <a:p>
            <a:r>
              <a:rPr sz="2000" b="1" i="0" dirty="0">
                <a:solidFill>
                  <a:srgbClr val="2F6FCB"/>
                </a:solidFill>
                <a:latin typeface="Calibri"/>
                <a:ea typeface="Calibri"/>
                <a:cs typeface="Calibri"/>
              </a:rPr>
              <a:t>Thank you: Questions &amp; discussion</a:t>
            </a:r>
          </a:p>
        </p:txBody>
      </p:sp>
      <p:sp>
        <p:nvSpPr>
          <p:cNvPr id="8" name="TextBox 7">
            <a:extLst>
              <a:ext uri="{FF2B5EF4-FFF2-40B4-BE49-F238E27FC236}">
                <a16:creationId xmlns:a16="http://schemas.microsoft.com/office/drawing/2014/main" id="{4207FEAB-4593-4383-8DD5-9730033A9DF8}"/>
              </a:ext>
            </a:extLst>
          </p:cNvPr>
          <p:cNvSpPr>
            <a:spLocks noGrp="1"/>
          </p:cNvSpPr>
          <p:nvPr/>
        </p:nvSpPr>
        <p:spPr>
          <a:xfrm>
            <a:off x="11656115" y="6473952"/>
            <a:ext cx="322525" cy="253916"/>
          </a:xfrm>
          <a:prstGeom prst="rect">
            <a:avLst/>
          </a:prstGeom>
          <a:noFill/>
        </p:spPr>
        <p:txBody>
          <a:bodyPr wrap="none">
            <a:spAutoFit/>
          </a:bodyPr>
          <a:lstStyle/>
          <a:p>
            <a:pPr algn="r">
              <a:buNone/>
            </a:pPr>
            <a:r>
              <a:rPr sz="1050" b="1">
                <a:solidFill>
                  <a:srgbClr val="64748C"/>
                </a:solidFill>
                <a:latin typeface="Calibri"/>
                <a:ea typeface="Calibri"/>
                <a:cs typeface="Calibri"/>
              </a:rPr>
              <a:t>29</a:t>
            </a:r>
          </a:p>
        </p:txBody>
      </p:sp>
    </p:spTree>
    <p:extLst>
      <p:ext uri="{BB962C8B-B14F-4D97-AF65-F5344CB8AC3E}">
        <p14:creationId xmlns:p14="http://schemas.microsoft.com/office/powerpoint/2010/main" val="9877007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E8A340D-958B-4C2A-86D1-5831CE388BE6}"/>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800"/>
          </a:p>
        </p:txBody>
      </p:sp>
      <p:sp>
        <p:nvSpPr>
          <p:cNvPr id="3" name="TextBox 2">
            <a:extLst>
              <a:ext uri="{FF2B5EF4-FFF2-40B4-BE49-F238E27FC236}">
                <a16:creationId xmlns:a16="http://schemas.microsoft.com/office/drawing/2014/main" id="{BF0DF92B-FD78-4ABB-9706-1290489166E5}"/>
              </a:ext>
            </a:extLst>
          </p:cNvPr>
          <p:cNvSpPr>
            <a:spLocks noGrp="1"/>
          </p:cNvSpPr>
          <p:nvPr/>
        </p:nvSpPr>
        <p:spPr>
          <a:xfrm>
            <a:off x="640080" y="457200"/>
            <a:ext cx="1247073" cy="338554"/>
          </a:xfrm>
          <a:prstGeom prst="rect">
            <a:avLst/>
          </a:prstGeom>
          <a:noFill/>
        </p:spPr>
        <p:txBody>
          <a:bodyPr wrap="none">
            <a:spAutoFit/>
          </a:bodyPr>
          <a:lstStyle/>
          <a:p>
            <a:r>
              <a:rPr sz="1600" b="1">
                <a:solidFill>
                  <a:srgbClr val="2F6FCB"/>
                </a:solidFill>
                <a:latin typeface="Calibri"/>
                <a:ea typeface="Calibri"/>
                <a:cs typeface="Calibri"/>
              </a:rPr>
              <a:t>REFERENCES</a:t>
            </a:r>
          </a:p>
        </p:txBody>
      </p:sp>
      <p:sp>
        <p:nvSpPr>
          <p:cNvPr id="4" name="TextBox 3">
            <a:extLst>
              <a:ext uri="{FF2B5EF4-FFF2-40B4-BE49-F238E27FC236}">
                <a16:creationId xmlns:a16="http://schemas.microsoft.com/office/drawing/2014/main" id="{8856CC07-39AA-458A-8855-DAD204E36BA2}"/>
              </a:ext>
            </a:extLst>
          </p:cNvPr>
          <p:cNvSpPr>
            <a:spLocks noGrp="1"/>
          </p:cNvSpPr>
          <p:nvPr/>
        </p:nvSpPr>
        <p:spPr>
          <a:xfrm>
            <a:off x="640080" y="777240"/>
            <a:ext cx="4398897" cy="646331"/>
          </a:xfrm>
          <a:prstGeom prst="rect">
            <a:avLst/>
          </a:prstGeom>
          <a:noFill/>
        </p:spPr>
        <p:txBody>
          <a:bodyPr wrap="none">
            <a:spAutoFit/>
          </a:bodyPr>
          <a:lstStyle/>
          <a:p>
            <a:r>
              <a:rPr sz="3600" b="1">
                <a:solidFill>
                  <a:srgbClr val="1E2A44"/>
                </a:solidFill>
                <a:latin typeface="Cambria"/>
                <a:ea typeface="Cambria"/>
                <a:cs typeface="Cambria"/>
              </a:rPr>
              <a:t>References</a:t>
            </a:r>
          </a:p>
        </p:txBody>
      </p:sp>
      <p:sp>
        <p:nvSpPr>
          <p:cNvPr id="5" name="TextBox 4">
            <a:extLst>
              <a:ext uri="{FF2B5EF4-FFF2-40B4-BE49-F238E27FC236}">
                <a16:creationId xmlns:a16="http://schemas.microsoft.com/office/drawing/2014/main" id="{C63FCBF9-8089-4BE9-9F72-CDE5C551908B}"/>
              </a:ext>
            </a:extLst>
          </p:cNvPr>
          <p:cNvSpPr>
            <a:spLocks noGrp="1"/>
          </p:cNvSpPr>
          <p:nvPr/>
        </p:nvSpPr>
        <p:spPr>
          <a:xfrm>
            <a:off x="640080" y="1450000"/>
            <a:ext cx="5486400" cy="5000000"/>
          </a:xfrm>
          <a:prstGeom prst="rect">
            <a:avLst/>
          </a:prstGeom>
          <a:noFill/>
        </p:spPr>
        <p:txBody>
          <a:bodyPr wrap="square">
            <a:spAutoFit/>
          </a:bodyPr>
          <a:lstStyle/>
          <a:p>
            <a:pPr>
              <a:buNone/>
            </a:pPr>
            <a:r>
              <a:rPr sz="850">
                <a:solidFill>
                  <a:srgbClr val="1E2A44"/>
                </a:solidFill>
                <a:latin typeface="Calibri"/>
              </a:rPr>
              <a:t>Ali, S., Arcaini, P., Wang, X., &amp; Yue, T. (2021). Assessing the effectiveness of input and output coverage criteria for testing quantum programs. ICST.</a:t>
            </a:r>
          </a:p>
          <a:p>
            <a:pPr>
              <a:spcAft>
                <a:spcPts val="500"/>
              </a:spcAft>
            </a:pPr>
            <a:r>
              <a:rPr sz="850">
                <a:solidFill>
                  <a:srgbClr val="1E2A44"/>
                </a:solidFill>
                <a:latin typeface="Calibri"/>
              </a:rPr>
              <a:t>Burgholzer, L., &amp; Wille, R. (2021). Advanced equivalence checking for quantum circuits. IEEE TCAD.</a:t>
            </a:r>
          </a:p>
          <a:p>
            <a:pPr>
              <a:spcAft>
                <a:spcPts val="500"/>
              </a:spcAft>
            </a:pPr>
            <a:r>
              <a:rPr sz="850">
                <a:solidFill>
                  <a:srgbClr val="1E2A44"/>
                </a:solidFill>
                <a:latin typeface="Calibri"/>
              </a:rPr>
              <a:t>Burgholzer, L., Raymond, R., &amp; Wille, R. (2020). Verifying results of the IBM Qiskit quantum circuit compilation flow. QCE.</a:t>
            </a:r>
          </a:p>
          <a:p>
            <a:pPr>
              <a:spcAft>
                <a:spcPts val="500"/>
              </a:spcAft>
            </a:pPr>
            <a:r>
              <a:rPr sz="850">
                <a:solidFill>
                  <a:srgbClr val="1E2A44"/>
                </a:solidFill>
                <a:latin typeface="Calibri"/>
              </a:rPr>
              <a:t>Choudhury, N., et al. (2025). Concolic testing for quantum compilers. IEEE ICCD.</a:t>
            </a:r>
          </a:p>
          <a:p>
            <a:pPr>
              <a:spcAft>
                <a:spcPts val="500"/>
              </a:spcAft>
            </a:pPr>
            <a:r>
              <a:rPr sz="850">
                <a:solidFill>
                  <a:srgbClr val="1E2A44"/>
                </a:solidFill>
                <a:latin typeface="Calibri"/>
              </a:rPr>
              <a:t>Cohen, J. (1960). A coefficient of agreement for nominal scales. Educational and Psychological Measurement.</a:t>
            </a:r>
          </a:p>
          <a:p>
            <a:pPr>
              <a:spcAft>
                <a:spcPts val="500"/>
              </a:spcAft>
            </a:pPr>
            <a:r>
              <a:rPr sz="850">
                <a:solidFill>
                  <a:srgbClr val="1E2A44"/>
                </a:solidFill>
                <a:latin typeface="Calibri"/>
              </a:rPr>
              <a:t>Elbaum, S., Malishevsky, A., &amp; Rothermel, G. (2001). Incorporating varying test costs and fault severities into test case prioritization. ICSE.</a:t>
            </a:r>
          </a:p>
          <a:p>
            <a:pPr>
              <a:spcAft>
                <a:spcPts val="500"/>
              </a:spcAft>
            </a:pPr>
            <a:r>
              <a:rPr sz="850">
                <a:solidFill>
                  <a:srgbClr val="1E2A44"/>
                </a:solidFill>
                <a:latin typeface="Calibri"/>
              </a:rPr>
              <a:t>Elsner, D., Hauer, F., Pretschner, A., &amp; Reimer, S. (2021). Empirically evaluating readily available information for regression test optimization in CI. ISSTA.</a:t>
            </a:r>
          </a:p>
          <a:p>
            <a:pPr>
              <a:spcAft>
                <a:spcPts val="500"/>
              </a:spcAft>
            </a:pPr>
            <a:r>
              <a:rPr sz="850">
                <a:solidFill>
                  <a:srgbClr val="1E2A44"/>
                </a:solidFill>
                <a:latin typeface="Calibri"/>
              </a:rPr>
              <a:t>Feldt, R., Poulding, S., Clark, D., &amp; Yoo, S. (2016). Test set diameter: Quantifying the diversity of sets of test cases. ICST.</a:t>
            </a:r>
          </a:p>
          <a:p>
            <a:pPr>
              <a:spcAft>
                <a:spcPts val="500"/>
              </a:spcAft>
            </a:pPr>
            <a:r>
              <a:rPr sz="850">
                <a:solidFill>
                  <a:srgbClr val="1E2A44"/>
                </a:solidFill>
                <a:latin typeface="Calibri"/>
              </a:rPr>
              <a:t>Fleiss, J. L. (1971). Measuring nominal scale agreement among many raters. Psychological Bulletin.</a:t>
            </a:r>
          </a:p>
          <a:p>
            <a:pPr>
              <a:spcAft>
                <a:spcPts val="500"/>
              </a:spcAft>
            </a:pPr>
            <a:r>
              <a:rPr sz="850">
                <a:solidFill>
                  <a:srgbClr val="1E2A44"/>
                </a:solidFill>
                <a:latin typeface="Calibri"/>
              </a:rPr>
              <a:t>Fortunato, D., Campos, J., &amp; Abreu, R. (2022). Mutation testing of quantum programs: A case study with Qiskit. IEEE Trans. Quantum Eng.</a:t>
            </a:r>
          </a:p>
          <a:p>
            <a:pPr>
              <a:spcAft>
                <a:spcPts val="500"/>
              </a:spcAft>
            </a:pPr>
            <a:r>
              <a:rPr sz="850">
                <a:solidFill>
                  <a:srgbClr val="1E2A44"/>
                </a:solidFill>
                <a:latin typeface="Calibri"/>
              </a:rPr>
              <a:t>Hietala, K., Rand, R., Hung, S.-H., Wu, X., &amp; Hicks, M. (2021). A verified optimizer for quantum circuits (VOQC). POPL.</a:t>
            </a:r>
          </a:p>
          <a:p>
            <a:pPr>
              <a:spcAft>
                <a:spcPts val="500"/>
              </a:spcAft>
            </a:pPr>
            <a:r>
              <a:rPr sz="850">
                <a:solidFill>
                  <a:srgbClr val="1E2A44"/>
                </a:solidFill>
                <a:latin typeface="Calibri"/>
              </a:rPr>
              <a:t>Javadi-Abhari, A., Treinish, M., Krsulich, K., et al. (2024). Quantum computing with Qiskit. arXiv:2405.08810.</a:t>
            </a:r>
          </a:p>
          <a:p>
            <a:pPr>
              <a:spcAft>
                <a:spcPts val="500"/>
              </a:spcAft>
            </a:pPr>
            <a:r>
              <a:rPr sz="850">
                <a:solidFill>
                  <a:srgbClr val="1E2A44"/>
                </a:solidFill>
                <a:latin typeface="Calibri"/>
              </a:rPr>
              <a:t>Kang, C. G., Lee, J., &amp; Oh, H. (2024). Statistical testing of quantum programs via fixed-point amplitude amplification. OOPSLA.</a:t>
            </a:r>
          </a:p>
          <a:p>
            <a:pPr>
              <a:spcAft>
                <a:spcPts val="500"/>
              </a:spcAft>
            </a:pPr>
            <a:r>
              <a:rPr sz="850">
                <a:solidFill>
                  <a:srgbClr val="1E2A44"/>
                </a:solidFill>
                <a:latin typeface="Calibri"/>
              </a:rPr>
              <a:t>Kitt, L., et al. (2024). MorphQ++: A reproducibility study of metamorphic testing on quantum compilers. ASE Workshops.</a:t>
            </a:r>
          </a:p>
          <a:p>
            <a:pPr>
              <a:spcAft>
                <a:spcPts val="500"/>
              </a:spcAft>
            </a:pPr>
            <a:r>
              <a:rPr sz="850">
                <a:solidFill>
                  <a:srgbClr val="1E2A44"/>
                </a:solidFill>
                <a:latin typeface="Calibri"/>
              </a:rPr>
              <a:t>Klimis, V., Bensoussan, A., Chachkarova, E., Even-Mendoza, K., Fortz, S., &amp; Lenihan, C. (2025). Shaking up quantum simulators with fuzzing and rigour. OOPSLA.</a:t>
            </a:r>
          </a:p>
          <a:p>
            <a:pPr>
              <a:spcAft>
                <a:spcPts val="500"/>
              </a:spcAft>
            </a:pPr>
            <a:r>
              <a:rPr sz="850">
                <a:solidFill>
                  <a:srgbClr val="1E2A44"/>
                </a:solidFill>
                <a:latin typeface="Calibri"/>
              </a:rPr>
              <a:t>Lee, K., Hong, J., &amp; Ryu, S. (2025). Exact inference for quantum circuits: A testing oracle for quantum software stacks. ASE.</a:t>
            </a:r>
          </a:p>
          <a:p>
            <a:pPr>
              <a:spcAft>
                <a:spcPts val="500"/>
              </a:spcAft>
            </a:pPr>
            <a:r>
              <a:rPr sz="850">
                <a:solidFill>
                  <a:srgbClr val="1E2A44"/>
                </a:solidFill>
                <a:latin typeface="Calibri"/>
              </a:rPr>
              <a:t>Luo, J., Xia, S., Zhang, F., &amp; Zhao, J. (2026). QEMI: A quantum software stacks testing framework via equivalence modulo inputs. FASE.</a:t>
            </a:r>
          </a:p>
          <a:p>
            <a:pPr>
              <a:spcAft>
                <a:spcPts val="500"/>
              </a:spcAft>
            </a:pPr>
            <a:r>
              <a:rPr sz="850">
                <a:solidFill>
                  <a:srgbClr val="1E2A44"/>
                </a:solidFill>
                <a:latin typeface="Calibri"/>
              </a:rPr>
              <a:t>Machalica, M., Samylkin, A., Porth, M., &amp; Chandra, S. (2019). Predictive test selection. ICSE-SEIP.</a:t>
            </a:r>
          </a:p>
        </p:txBody>
      </p:sp>
      <p:sp>
        <p:nvSpPr>
          <p:cNvPr id="6" name="TextBox 5">
            <a:extLst>
              <a:ext uri="{FF2B5EF4-FFF2-40B4-BE49-F238E27FC236}">
                <a16:creationId xmlns:a16="http://schemas.microsoft.com/office/drawing/2014/main" id="{C550E48F-8D1C-438E-B5D1-F0BCA934522F}"/>
              </a:ext>
            </a:extLst>
          </p:cNvPr>
          <p:cNvSpPr>
            <a:spLocks noGrp="1"/>
          </p:cNvSpPr>
          <p:nvPr/>
        </p:nvSpPr>
        <p:spPr>
          <a:xfrm>
            <a:off x="6263640" y="1450000"/>
            <a:ext cx="5486400" cy="5000000"/>
          </a:xfrm>
          <a:prstGeom prst="rect">
            <a:avLst/>
          </a:prstGeom>
          <a:noFill/>
        </p:spPr>
        <p:txBody>
          <a:bodyPr wrap="square">
            <a:spAutoFit/>
          </a:bodyPr>
          <a:lstStyle/>
          <a:p>
            <a:pPr>
              <a:buNone/>
            </a:pPr>
            <a:r>
              <a:rPr sz="850">
                <a:solidFill>
                  <a:srgbClr val="1E2A44"/>
                </a:solidFill>
                <a:latin typeface="Calibri"/>
              </a:rPr>
              <a:t>Mei, J., et al. (2026). Equivalence checking of quantum circuits via path-sum and weighted model counting. TACAS.</a:t>
            </a:r>
          </a:p>
          <a:p>
            <a:pPr>
              <a:spcAft>
                <a:spcPts val="500"/>
              </a:spcAft>
            </a:pPr>
            <a:r>
              <a:rPr sz="850">
                <a:solidFill>
                  <a:srgbClr val="1E2A44"/>
                </a:solidFill>
                <a:latin typeface="Calibri"/>
              </a:rPr>
              <a:t>Mendiluze, E., Ali, S., Yue, T., &amp; Arcaini, P. (2021). Muskit: A mutation analysis tool for quantum software testing. ASE.</a:t>
            </a:r>
          </a:p>
          <a:p>
            <a:pPr>
              <a:spcAft>
                <a:spcPts val="500"/>
              </a:spcAft>
            </a:pPr>
            <a:r>
              <a:rPr sz="850">
                <a:solidFill>
                  <a:srgbClr val="1E2A44"/>
                </a:solidFill>
                <a:latin typeface="Calibri"/>
              </a:rPr>
              <a:t>Nation, P. D., Saki, A. A., Brandhofer, S., et al. (2025). Benchmarking the performance of quantum computing software for quantum circuit creation, manipulation and compilation. Nature Computational Science.</a:t>
            </a:r>
          </a:p>
          <a:p>
            <a:pPr>
              <a:spcAft>
                <a:spcPts val="500"/>
              </a:spcAft>
            </a:pPr>
            <a:r>
              <a:rPr sz="850">
                <a:solidFill>
                  <a:srgbClr val="1E2A44"/>
                </a:solidFill>
                <a:latin typeface="Calibri"/>
              </a:rPr>
              <a:t>Oldfield, N. H., Laaber, C., Yue, T., &amp; Ali, S. (2025). Faster and better quantum software testing through specification reduction. ACM TOSEM.</a:t>
            </a:r>
          </a:p>
          <a:p>
            <a:pPr>
              <a:spcAft>
                <a:spcPts val="500"/>
              </a:spcAft>
            </a:pPr>
            <a:r>
              <a:rPr sz="850">
                <a:solidFill>
                  <a:srgbClr val="1E2A44"/>
                </a:solidFill>
                <a:latin typeface="Calibri"/>
              </a:rPr>
              <a:t>Paltenghi, M., &amp; Pradel, M. (2022). Bugs in quantum computing platforms: An empirical study. OOPSLA.</a:t>
            </a:r>
          </a:p>
          <a:p>
            <a:pPr>
              <a:spcAft>
                <a:spcPts val="500"/>
              </a:spcAft>
            </a:pPr>
            <a:r>
              <a:rPr sz="850">
                <a:solidFill>
                  <a:srgbClr val="1E2A44"/>
                </a:solidFill>
                <a:latin typeface="Calibri"/>
              </a:rPr>
              <a:t>Paltenghi, M., &amp; Pradel, M. (2023). MorphQ: Metamorphic testing of the Qiskit quantum computing platform. ICSE.</a:t>
            </a:r>
          </a:p>
          <a:p>
            <a:pPr>
              <a:spcAft>
                <a:spcPts val="500"/>
              </a:spcAft>
            </a:pPr>
            <a:r>
              <a:rPr sz="850">
                <a:solidFill>
                  <a:srgbClr val="1E2A44"/>
                </a:solidFill>
                <a:latin typeface="Calibri"/>
              </a:rPr>
              <a:t>Paltenghi, M., &amp; Pradel, M. (2024). A survey on testing and analysis of quantum software. arXiv:2410.00650.</a:t>
            </a:r>
          </a:p>
          <a:p>
            <a:pPr>
              <a:spcAft>
                <a:spcPts val="500"/>
              </a:spcAft>
            </a:pPr>
            <a:r>
              <a:rPr sz="850">
                <a:solidFill>
                  <a:srgbClr val="1E2A44"/>
                </a:solidFill>
                <a:latin typeface="Calibri"/>
              </a:rPr>
              <a:t>Pontolillo, G., et al. (2025). QuCheck: A property-based testing framework for quantum programs in Qiskit. arXiv:2503.22641.</a:t>
            </a:r>
          </a:p>
          <a:p>
            <a:pPr>
              <a:spcAft>
                <a:spcPts val="500"/>
              </a:spcAft>
            </a:pPr>
            <a:r>
              <a:rPr sz="850">
                <a:solidFill>
                  <a:srgbClr val="1E2A44"/>
                </a:solidFill>
                <a:latin typeface="Calibri"/>
              </a:rPr>
              <a:t>Ramalho, N. C. L., da Silva, E. A., de Souza, H. A., &amp; Chaim, M. L. (2025). Quantum testing in the wild: A case study with Qiskit Algorithms. SANER (ERA Track).</a:t>
            </a:r>
          </a:p>
          <a:p>
            <a:pPr>
              <a:spcAft>
                <a:spcPts val="500"/>
              </a:spcAft>
            </a:pPr>
            <a:r>
              <a:rPr sz="850">
                <a:solidFill>
                  <a:srgbClr val="1E2A44"/>
                </a:solidFill>
                <a:latin typeface="Calibri"/>
              </a:rPr>
              <a:t>Rothermel, G., Untch, R. H., Chu, C., &amp; Harrold, M. J. (2001). Prioritizing test cases for regression testing. IEEE TSE.</a:t>
            </a:r>
          </a:p>
          <a:p>
            <a:pPr>
              <a:spcAft>
                <a:spcPts val="500"/>
              </a:spcAft>
            </a:pPr>
            <a:r>
              <a:rPr sz="850">
                <a:solidFill>
                  <a:srgbClr val="1E2A44"/>
                </a:solidFill>
                <a:latin typeface="Calibri"/>
              </a:rPr>
              <a:t>Shi, Y., Li, X., Tao, R., Javadi-Abhari, A., Cross, A. W., Chong, F. T., &amp; Gu, R. (2019). Contract-based verification of a realistic quantum compiler (CertiQ). arXiv:1908.08963.</a:t>
            </a:r>
          </a:p>
          <a:p>
            <a:pPr>
              <a:spcAft>
                <a:spcPts val="500"/>
              </a:spcAft>
            </a:pPr>
            <a:r>
              <a:rPr sz="850">
                <a:solidFill>
                  <a:srgbClr val="1E2A44"/>
                </a:solidFill>
                <a:latin typeface="Calibri"/>
              </a:rPr>
              <a:t>Tao, R., Shi, Y., Yao, J., Li, X., Javadi-Abhari, A., Cross, A. W., Chong, F. T., &amp; Gu, R. (2022). Giallar: Push-button verification for the Qiskit quantum compiler. PLDI.</a:t>
            </a:r>
          </a:p>
          <a:p>
            <a:pPr>
              <a:spcAft>
                <a:spcPts val="500"/>
              </a:spcAft>
            </a:pPr>
            <a:r>
              <a:rPr sz="850">
                <a:solidFill>
                  <a:srgbClr val="1E2A44"/>
                </a:solidFill>
                <a:latin typeface="Calibri"/>
              </a:rPr>
              <a:t>Wang, J., Zhang, Q., Xu, G. H., &amp; Kim, M. (2021). QDiff: Differential testing of quantum software stacks. ASE.</a:t>
            </a:r>
          </a:p>
          <a:p>
            <a:pPr>
              <a:spcAft>
                <a:spcPts val="500"/>
              </a:spcAft>
            </a:pPr>
            <a:r>
              <a:rPr sz="850">
                <a:solidFill>
                  <a:srgbClr val="1E2A44"/>
                </a:solidFill>
                <a:latin typeface="Calibri"/>
              </a:rPr>
              <a:t>Wang, X., Arcaini, P., Yue, T., &amp; Ali, S. (2022). QuSBT: Search-based testing of quantum programs. ICSE-Companion.</a:t>
            </a:r>
          </a:p>
          <a:p>
            <a:pPr>
              <a:spcAft>
                <a:spcPts val="500"/>
              </a:spcAft>
            </a:pPr>
            <a:r>
              <a:rPr sz="850">
                <a:solidFill>
                  <a:srgbClr val="1E2A44"/>
                </a:solidFill>
                <a:latin typeface="Calibri"/>
              </a:rPr>
              <a:t>Wang, Y., Pradel, M., &amp; Liu, Z. (2026). Names are all you need: Effective and safe regression test selection for Python. arXiv:2605.25356.</a:t>
            </a:r>
          </a:p>
          <a:p>
            <a:pPr>
              <a:spcAft>
                <a:spcPts val="500"/>
              </a:spcAft>
            </a:pPr>
            <a:r>
              <a:rPr sz="850">
                <a:solidFill>
                  <a:srgbClr val="1E2A44"/>
                </a:solidFill>
                <a:latin typeface="Calibri"/>
              </a:rPr>
              <a:t>Ye, J., et al. (2026). QSPE: Enumerating skeletal quantum programs for quantum library testing. arXiv:2602.00024.</a:t>
            </a:r>
          </a:p>
          <a:p>
            <a:pPr>
              <a:spcAft>
                <a:spcPts val="500"/>
              </a:spcAft>
            </a:pPr>
            <a:r>
              <a:rPr sz="850">
                <a:solidFill>
                  <a:srgbClr val="1E2A44"/>
                </a:solidFill>
                <a:latin typeface="Calibri"/>
              </a:rPr>
              <a:t>Yoo, S., &amp; Harman, M. (2012). Regression testing minimization, selection and prioritisation: A survey. STVR.</a:t>
            </a:r>
          </a:p>
          <a:p>
            <a:pPr>
              <a:spcAft>
                <a:spcPts val="500"/>
              </a:spcAft>
            </a:pPr>
            <a:r>
              <a:rPr sz="850">
                <a:solidFill>
                  <a:srgbClr val="1E2A44"/>
                </a:solidFill>
                <a:latin typeface="Calibri"/>
              </a:rPr>
              <a:t>Zhao, P., Zhao, J., Miao, Z., &amp; Lan, S. (2023). Bugs4Q: A benchmark of existing bugs for controlled testing and debugging of quantum programs. J. Syst. Softw.</a:t>
            </a:r>
          </a:p>
          <a:p>
            <a:pPr>
              <a:spcAft>
                <a:spcPts val="500"/>
              </a:spcAft>
            </a:pPr>
            <a:r>
              <a:rPr sz="850">
                <a:solidFill>
                  <a:srgbClr val="1E2A44"/>
                </a:solidFill>
                <a:latin typeface="Calibri"/>
              </a:rPr>
              <a:t>Śliwerski, J., Zimmermann, T., &amp; Zeller, A. (2005). When do changes induce fixes? MSR.</a:t>
            </a:r>
          </a:p>
        </p:txBody>
      </p:sp>
      <p:sp>
        <p:nvSpPr>
          <p:cNvPr id="7" name="TextBox 6">
            <a:extLst>
              <a:ext uri="{FF2B5EF4-FFF2-40B4-BE49-F238E27FC236}">
                <a16:creationId xmlns:a16="http://schemas.microsoft.com/office/drawing/2014/main" id="{FE3FD7CD-F053-49F3-AA7E-7755429615E0}"/>
              </a:ext>
            </a:extLst>
          </p:cNvPr>
          <p:cNvSpPr>
            <a:spLocks noGrp="1"/>
          </p:cNvSpPr>
          <p:nvPr/>
        </p:nvSpPr>
        <p:spPr>
          <a:xfrm>
            <a:off x="640080" y="6446520"/>
            <a:ext cx="2898550" cy="261610"/>
          </a:xfrm>
          <a:prstGeom prst="rect">
            <a:avLst/>
          </a:prstGeom>
          <a:noFill/>
        </p:spPr>
        <p:txBody>
          <a:bodyPr wrap="none">
            <a:spAutoFit/>
          </a:bodyPr>
          <a:lstStyle/>
          <a:p>
            <a:r>
              <a:rPr sz="1100" i="1">
                <a:solidFill>
                  <a:srgbClr val="64748C"/>
                </a:solidFill>
                <a:latin typeface="Calibri"/>
                <a:ea typeface="Calibri"/>
                <a:cs typeface="Calibri"/>
              </a:rPr>
              <a:t>Listed alphabetically by first author, APA style.</a:t>
            </a:r>
          </a:p>
        </p:txBody>
      </p:sp>
      <p:sp>
        <p:nvSpPr>
          <p:cNvPr id="8" name="TextBox 7">
            <a:extLst>
              <a:ext uri="{FF2B5EF4-FFF2-40B4-BE49-F238E27FC236}">
                <a16:creationId xmlns:a16="http://schemas.microsoft.com/office/drawing/2014/main" id="{630E5DCD-8080-4795-B8AC-A015AF865E38}"/>
              </a:ext>
            </a:extLst>
          </p:cNvPr>
          <p:cNvSpPr>
            <a:spLocks noGrp="1"/>
          </p:cNvSpPr>
          <p:nvPr/>
        </p:nvSpPr>
        <p:spPr>
          <a:xfrm>
            <a:off x="11656115" y="6473952"/>
            <a:ext cx="322525" cy="253916"/>
          </a:xfrm>
          <a:prstGeom prst="rect">
            <a:avLst/>
          </a:prstGeom>
          <a:noFill/>
        </p:spPr>
        <p:txBody>
          <a:bodyPr wrap="none">
            <a:spAutoFit/>
          </a:bodyPr>
          <a:lstStyle/>
          <a:p>
            <a:pPr algn="r">
              <a:buNone/>
            </a:pPr>
            <a:r>
              <a:rPr sz="1050" b="1">
                <a:solidFill>
                  <a:srgbClr val="64748C"/>
                </a:solidFill>
                <a:latin typeface="Calibri"/>
                <a:ea typeface="Calibri"/>
                <a:cs typeface="Calibri"/>
              </a:rPr>
              <a:t>30</a:t>
            </a:r>
          </a:p>
        </p:txBody>
      </p:sp>
      <p:pic>
        <p:nvPicPr>
          <p:cNvPr id="9"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18153055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E8A340D-958B-4C2A-86D1-5831CE388BE6}"/>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800"/>
          </a:p>
        </p:txBody>
      </p:sp>
      <p:sp>
        <p:nvSpPr>
          <p:cNvPr id="3" name="TextBox 2">
            <a:extLst>
              <a:ext uri="{FF2B5EF4-FFF2-40B4-BE49-F238E27FC236}">
                <a16:creationId xmlns:a16="http://schemas.microsoft.com/office/drawing/2014/main" id="{BF0DF92B-FD78-4ABB-9706-1290489166E5}"/>
              </a:ext>
            </a:extLst>
          </p:cNvPr>
          <p:cNvSpPr>
            <a:spLocks noGrp="1"/>
          </p:cNvSpPr>
          <p:nvPr/>
        </p:nvSpPr>
        <p:spPr>
          <a:xfrm>
            <a:off x="640080" y="457200"/>
            <a:ext cx="1247073" cy="338554"/>
          </a:xfrm>
          <a:prstGeom prst="rect">
            <a:avLst/>
          </a:prstGeom>
          <a:noFill/>
        </p:spPr>
        <p:txBody>
          <a:bodyPr wrap="none">
            <a:spAutoFit/>
          </a:bodyPr>
          <a:lstStyle/>
          <a:p>
            <a:r>
              <a:rPr sz="1600" b="1">
                <a:solidFill>
                  <a:srgbClr val="2F6FCB"/>
                </a:solidFill>
                <a:latin typeface="Calibri"/>
                <a:ea typeface="Calibri"/>
                <a:cs typeface="Calibri"/>
              </a:rPr>
              <a:t>DISCLOSURE</a:t>
            </a:r>
          </a:p>
        </p:txBody>
      </p:sp>
      <p:sp>
        <p:nvSpPr>
          <p:cNvPr id="4" name="TextBox 3">
            <a:extLst>
              <a:ext uri="{FF2B5EF4-FFF2-40B4-BE49-F238E27FC236}">
                <a16:creationId xmlns:a16="http://schemas.microsoft.com/office/drawing/2014/main" id="{8856CC07-39AA-458A-8855-DAD204E36BA2}"/>
              </a:ext>
            </a:extLst>
          </p:cNvPr>
          <p:cNvSpPr>
            <a:spLocks noGrp="1"/>
          </p:cNvSpPr>
          <p:nvPr/>
        </p:nvSpPr>
        <p:spPr>
          <a:xfrm>
            <a:off x="640080" y="777240"/>
            <a:ext cx="10972800" cy="646331"/>
          </a:xfrm>
          <a:prstGeom prst="rect">
            <a:avLst/>
          </a:prstGeom>
          <a:noFill/>
        </p:spPr>
        <p:txBody>
          <a:bodyPr wrap="none">
            <a:spAutoFit/>
          </a:bodyPr>
          <a:lstStyle/>
          <a:p>
            <a:r>
              <a:rPr sz="3600" b="1">
                <a:solidFill>
                  <a:srgbClr val="1E2A44"/>
                </a:solidFill>
                <a:latin typeface="Cambria"/>
                <a:ea typeface="Cambria"/>
                <a:cs typeface="Cambria"/>
              </a:rPr>
              <a:t>Use of Generative AI</a:t>
            </a:r>
          </a:p>
        </p:txBody>
      </p:sp>
      <p:sp>
        <p:nvSpPr>
          <p:cNvPr id="5" name="TextBox 4">
            <a:extLst>
              <a:ext uri="{FF2B5EF4-FFF2-40B4-BE49-F238E27FC236}">
                <a16:creationId xmlns:a16="http://schemas.microsoft.com/office/drawing/2014/main" id="{C63FCBF9-8089-4BE9-9F72-CDE5C551908B}"/>
              </a:ext>
            </a:extLst>
          </p:cNvPr>
          <p:cNvSpPr>
            <a:spLocks noGrp="1"/>
          </p:cNvSpPr>
          <p:nvPr/>
        </p:nvSpPr>
        <p:spPr>
          <a:xfrm>
            <a:off x="640080" y="1450000"/>
            <a:ext cx="11109960" cy="1200329"/>
          </a:xfrm>
          <a:prstGeom prst="rect">
            <a:avLst/>
          </a:prstGeom>
          <a:noFill/>
        </p:spPr>
        <p:txBody>
          <a:bodyPr wrap="square">
            <a:spAutoFit/>
          </a:bodyPr>
          <a:lstStyle/>
          <a:p>
            <a:pPr>
              <a:buNone/>
            </a:pPr>
            <a:r>
              <a:rPr b="0" dirty="0">
                <a:solidFill>
                  <a:srgbClr val="1E2A44"/>
                </a:solidFill>
                <a:latin typeface="Calibri"/>
              </a:rPr>
              <a:t>During the preparation of this presentation, the author used Claude (Anthropic), a generative AI assistant, to help with slide wording, formatting consistency, </a:t>
            </a:r>
            <a:r>
              <a:rPr b="0" dirty="0" smtClean="0">
                <a:solidFill>
                  <a:srgbClr val="1E2A44"/>
                </a:solidFill>
                <a:latin typeface="Calibri"/>
              </a:rPr>
              <a:t>and </a:t>
            </a:r>
            <a:r>
              <a:rPr b="0" dirty="0">
                <a:solidFill>
                  <a:srgbClr val="1E2A44"/>
                </a:solidFill>
                <a:latin typeface="Calibri"/>
              </a:rPr>
              <a:t>the structuring of supporting speaker notes. All AI-assisted content was reviewed, edited, and verified by the author, who takes full responsibility for the accuracy, originality, and integrity of this work. No generative AI tool is credited as an author of this research.</a:t>
            </a:r>
          </a:p>
        </p:txBody>
      </p:sp>
      <p:sp>
        <p:nvSpPr>
          <p:cNvPr id="7" name="TextBox 6">
            <a:extLst>
              <a:ext uri="{FF2B5EF4-FFF2-40B4-BE49-F238E27FC236}">
                <a16:creationId xmlns:a16="http://schemas.microsoft.com/office/drawing/2014/main" id="{FE3FD7CD-F053-49F3-AA7E-7755429615E0}"/>
              </a:ext>
            </a:extLst>
          </p:cNvPr>
          <p:cNvSpPr>
            <a:spLocks noGrp="1"/>
          </p:cNvSpPr>
          <p:nvPr/>
        </p:nvSpPr>
        <p:spPr>
          <a:xfrm>
            <a:off x="640080" y="6446520"/>
            <a:ext cx="9692640" cy="261610"/>
          </a:xfrm>
          <a:prstGeom prst="rect">
            <a:avLst/>
          </a:prstGeom>
          <a:noFill/>
        </p:spPr>
        <p:txBody>
          <a:bodyPr wrap="none">
            <a:spAutoFit/>
          </a:bodyPr>
          <a:lstStyle/>
          <a:p>
            <a:r>
              <a:rPr sz="1100" i="1">
                <a:solidFill>
                  <a:srgbClr val="64748C"/>
                </a:solidFill>
                <a:latin typeface="Calibri"/>
                <a:ea typeface="Calibri"/>
                <a:cs typeface="Calibri"/>
              </a:rPr>
              <a:t>Disclosure follows standard practice for AI-assisted academic and research work (cf. ICMJE and publisher author guidelines).</a:t>
            </a:r>
          </a:p>
        </p:txBody>
      </p:sp>
      <p:sp>
        <p:nvSpPr>
          <p:cNvPr id="8" name="TextBox 7">
            <a:extLst>
              <a:ext uri="{FF2B5EF4-FFF2-40B4-BE49-F238E27FC236}">
                <a16:creationId xmlns:a16="http://schemas.microsoft.com/office/drawing/2014/main" id="{630E5DCD-8080-4795-B8AC-A015AF865E38}"/>
              </a:ext>
            </a:extLst>
          </p:cNvPr>
          <p:cNvSpPr>
            <a:spLocks noGrp="1"/>
          </p:cNvSpPr>
          <p:nvPr/>
        </p:nvSpPr>
        <p:spPr>
          <a:xfrm>
            <a:off x="11656115" y="6473952"/>
            <a:ext cx="322525" cy="253916"/>
          </a:xfrm>
          <a:prstGeom prst="rect">
            <a:avLst/>
          </a:prstGeom>
          <a:noFill/>
        </p:spPr>
        <p:txBody>
          <a:bodyPr wrap="none">
            <a:spAutoFit/>
          </a:bodyPr>
          <a:lstStyle/>
          <a:p>
            <a:pPr algn="r">
              <a:buNone/>
            </a:pPr>
            <a:r>
              <a:rPr sz="1050" b="1">
                <a:solidFill>
                  <a:srgbClr val="64748C"/>
                </a:solidFill>
                <a:latin typeface="Calibri"/>
                <a:ea typeface="Calibri"/>
                <a:cs typeface="Calibri"/>
              </a:rPr>
              <a:t>31</a:t>
            </a:r>
          </a:p>
        </p:txBody>
      </p:sp>
      <p:pic>
        <p:nvPicPr>
          <p:cNvPr id="9" name="Image 0" descr="/mnt/data/cusit_logo.png"/>
          <p:cNvPicPr>
            <a:picLocks noChangeAspect="1"/>
          </p:cNvPicPr>
          <p:nvPr/>
        </p:nvPicPr>
        <p:blipFill>
          <a:blip r:embed="rId2"/>
          <a:stretch>
            <a:fillRect/>
          </a:stretch>
        </p:blipFill>
        <p:spPr>
          <a:xfrm>
            <a:off x="10903999" y="23078"/>
            <a:ext cx="1269586" cy="634793"/>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A3448BD-4E2B-4CA3-8F96-7D1D24084197}"/>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41EC998-A83C-4384-B158-CDC3DB04AB86}"/>
              </a:ext>
            </a:extLst>
          </p:cNvPr>
          <p:cNvSpPr>
            <a:spLocks noGrp="1"/>
          </p:cNvSpPr>
          <p:nvPr/>
        </p:nvSpPr>
        <p:spPr>
          <a:xfrm>
            <a:off x="320040" y="170688"/>
            <a:ext cx="305306" cy="6684907"/>
          </a:xfrm>
          <a:prstGeom prst="rect">
            <a:avLst/>
          </a:prstGeom>
          <a:noFill/>
        </p:spPr>
        <p:txBody>
          <a:bodyPr wrap="square" lIns="36576" tIns="18288" rIns="36576" bIns="18288">
            <a:spAutoFit/>
          </a:bodyPr>
          <a:lstStyle/>
          <a:p>
            <a:r>
              <a:rPr sz="2400" b="1" i="0">
                <a:solidFill>
                  <a:srgbClr val="1E2A44"/>
                </a:solidFill>
                <a:latin typeface="Cambria"/>
                <a:ea typeface="Cambria"/>
                <a:cs typeface="Cambria"/>
              </a:rPr>
              <a:t>Research</a:t>
            </a:r>
          </a:p>
          <a:p>
            <a:r>
              <a:rPr sz="2400" b="1" i="0">
                <a:solidFill>
                  <a:srgbClr val="1E2A44"/>
                </a:solidFill>
                <a:latin typeface="Cambria"/>
                <a:ea typeface="Cambria"/>
                <a:cs typeface="Cambria"/>
              </a:rPr>
              <a:t> Framework</a:t>
            </a:r>
          </a:p>
        </p:txBody>
      </p:sp>
      <p:sp>
        <p:nvSpPr>
          <p:cNvPr id="7" name="TextBox 6">
            <a:extLst>
              <a:ext uri="{FF2B5EF4-FFF2-40B4-BE49-F238E27FC236}">
                <a16:creationId xmlns:a16="http://schemas.microsoft.com/office/drawing/2014/main" id="{A14966CB-4347-404C-8799-50BAEBEDCEA6}"/>
              </a:ext>
            </a:extLst>
          </p:cNvPr>
          <p:cNvSpPr>
            <a:spLocks noGrp="1"/>
          </p:cNvSpPr>
          <p:nvPr/>
        </p:nvSpPr>
        <p:spPr>
          <a:xfrm>
            <a:off x="11155680" y="6473952"/>
            <a:ext cx="822960" cy="274320"/>
          </a:xfrm>
          <a:prstGeom prst="rect">
            <a:avLst/>
          </a:prstGeom>
          <a:noFill/>
        </p:spPr>
        <p:txBody>
          <a:bodyPr wrap="square" lIns="36576" tIns="18288" rIns="36576" bIns="18288">
            <a:spAutoFit/>
          </a:bodyPr>
          <a:lstStyle/>
          <a:p>
            <a:pPr algn="r">
              <a:buNone/>
            </a:pPr>
            <a:r>
              <a:rPr sz="850" b="1" i="0">
                <a:solidFill>
                  <a:srgbClr val="64748C"/>
                </a:solidFill>
                <a:latin typeface="Calibri"/>
                <a:ea typeface="Calibri"/>
                <a:cs typeface="Calibri"/>
              </a:rPr>
              <a:t>32</a:t>
            </a:r>
          </a:p>
        </p:txBody>
      </p:sp>
      <p:pic>
        <p:nvPicPr>
          <p:cNvPr id="15" name="Picture 14" descr="slide30_richcolor.png"/>
          <p:cNvPicPr>
            <a:picLocks noChangeAspect="1"/>
          </p:cNvPicPr>
          <p:nvPr/>
        </p:nvPicPr>
        <p:blipFill>
          <a:blip r:embed="rId3"/>
          <a:stretch>
            <a:fillRect/>
          </a:stretch>
        </p:blipFill>
        <p:spPr>
          <a:xfrm>
            <a:off x="945386" y="0"/>
            <a:ext cx="10301228" cy="6858000"/>
          </a:xfrm>
          <a:prstGeom prst="rect">
            <a:avLst/>
          </a:prstGeom>
        </p:spPr>
      </p:pic>
      <p:pic>
        <p:nvPicPr>
          <p:cNvPr id="6" name="Image 0" descr="/mnt/data/cusit_logo.png"/>
          <p:cNvPicPr>
            <a:picLocks noChangeAspect="1"/>
          </p:cNvPicPr>
          <p:nvPr/>
        </p:nvPicPr>
        <p:blipFill>
          <a:blip r:embed="rId4"/>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7387773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C6EB547-C2FD-4611-AA19-F6E37E5BE33A}"/>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6B06DC67-124A-4CB1-9407-BA595FB419EA}"/>
              </a:ext>
            </a:extLst>
          </p:cNvPr>
          <p:cNvSpPr>
            <a:spLocks noGrp="1"/>
          </p:cNvSpPr>
          <p:nvPr/>
        </p:nvSpPr>
        <p:spPr>
          <a:xfrm>
            <a:off x="640080" y="384048"/>
            <a:ext cx="10972800" cy="301621"/>
          </a:xfrm>
          <a:prstGeom prst="rect">
            <a:avLst/>
          </a:prstGeom>
          <a:noFill/>
        </p:spPr>
        <p:txBody>
          <a:bodyPr wrap="square" lIns="27432" tIns="27432" rIns="27432" bIns="27432">
            <a:spAutoFit/>
          </a:bodyPr>
          <a:lstStyle/>
          <a:p>
            <a:r>
              <a:rPr sz="1600" b="1" i="0">
                <a:solidFill>
                  <a:srgbClr val="2F6FCB"/>
                </a:solidFill>
                <a:latin typeface="Calibri"/>
                <a:ea typeface="Calibri"/>
                <a:cs typeface="Calibri"/>
              </a:rPr>
              <a:t>BACKUP · FOR QUESTIONS</a:t>
            </a:r>
          </a:p>
        </p:txBody>
      </p:sp>
      <p:sp>
        <p:nvSpPr>
          <p:cNvPr id="4" name="TextBox 3">
            <a:extLst>
              <a:ext uri="{FF2B5EF4-FFF2-40B4-BE49-F238E27FC236}">
                <a16:creationId xmlns:a16="http://schemas.microsoft.com/office/drawing/2014/main" id="{E04365CF-C1FC-4036-9CEE-8922D6B56779}"/>
              </a:ext>
            </a:extLst>
          </p:cNvPr>
          <p:cNvSpPr>
            <a:spLocks noGrp="1"/>
          </p:cNvSpPr>
          <p:nvPr/>
        </p:nvSpPr>
        <p:spPr>
          <a:xfrm>
            <a:off x="640080" y="694944"/>
            <a:ext cx="11155680" cy="547842"/>
          </a:xfrm>
          <a:prstGeom prst="rect">
            <a:avLst/>
          </a:prstGeom>
          <a:noFill/>
        </p:spPr>
        <p:txBody>
          <a:bodyPr wrap="square" lIns="27432" tIns="27432" rIns="27432" bIns="27432">
            <a:spAutoFit/>
          </a:bodyPr>
          <a:lstStyle/>
          <a:p>
            <a:r>
              <a:rPr sz="3200" b="1" i="0">
                <a:solidFill>
                  <a:srgbClr val="1E2A44"/>
                </a:solidFill>
                <a:latin typeface="Cambria"/>
                <a:ea typeface="Cambria"/>
                <a:cs typeface="Cambria"/>
              </a:rPr>
              <a:t>Classical Foundation vs. Quantum-Specific Need</a:t>
            </a:r>
          </a:p>
        </p:txBody>
      </p:sp>
      <p:graphicFrame>
        <p:nvGraphicFramePr>
          <p:cNvPr id="13" name="Table 4"/>
          <p:cNvGraphicFramePr/>
          <p:nvPr/>
        </p:nvGraphicFramePr>
        <p:xfrm>
          <a:off x="731520" y="1499618"/>
          <a:ext cx="10789920" cy="3450770"/>
        </p:xfrm>
        <a:graphic>
          <a:graphicData uri="http://schemas.openxmlformats.org/drawingml/2006/table">
            <a:tbl>
              <a:tblPr firstRow="1" bandRow="1">
                <a:tableStyleId>{5C22544A-7EE6-4342-B048-85BDC9FD1C3A}</a:tableStyleId>
              </a:tblPr>
              <a:tblGrid>
                <a:gridCol w="1994775">
                  <a:extLst>
                    <a:ext uri="{9D8B030D-6E8A-4147-A177-3AD203B41FA5}">
                      <a16:colId xmlns:a16="http://schemas.microsoft.com/office/drawing/2014/main" val="20000"/>
                    </a:ext>
                  </a:extLst>
                </a:gridCol>
                <a:gridCol w="3898879">
                  <a:extLst>
                    <a:ext uri="{9D8B030D-6E8A-4147-A177-3AD203B41FA5}">
                      <a16:colId xmlns:a16="http://schemas.microsoft.com/office/drawing/2014/main" val="20001"/>
                    </a:ext>
                  </a:extLst>
                </a:gridCol>
                <a:gridCol w="4896266">
                  <a:extLst>
                    <a:ext uri="{9D8B030D-6E8A-4147-A177-3AD203B41FA5}">
                      <a16:colId xmlns:a16="http://schemas.microsoft.com/office/drawing/2014/main" val="20002"/>
                    </a:ext>
                  </a:extLst>
                </a:gridCol>
              </a:tblGrid>
              <a:tr h="458506">
                <a:tc>
                  <a:txBody>
                    <a:bodyPr/>
                    <a:lstStyle/>
                    <a:p>
                      <a:r>
                        <a:rPr sz="1600" b="1">
                          <a:solidFill>
                            <a:srgbClr val="FFFFFF"/>
                          </a:solidFill>
                          <a:latin typeface="Calibri"/>
                          <a:ea typeface="Calibri"/>
                          <a:cs typeface="Calibri"/>
                        </a:rPr>
                        <a:t>Dimension</a:t>
                      </a:r>
                    </a:p>
                  </a:txBody>
                  <a:tcPr marL="54864" marR="54864" anchor="ctr">
                    <a:solidFill>
                      <a:srgbClr val="14264F"/>
                    </a:solidFill>
                  </a:tcPr>
                </a:tc>
                <a:tc>
                  <a:txBody>
                    <a:bodyPr/>
                    <a:lstStyle/>
                    <a:p>
                      <a:r>
                        <a:rPr sz="1600" b="1">
                          <a:solidFill>
                            <a:srgbClr val="FFFFFF"/>
                          </a:solidFill>
                          <a:latin typeface="Calibri"/>
                          <a:ea typeface="Calibri"/>
                          <a:cs typeface="Calibri"/>
                        </a:rPr>
                        <a:t>Classical testing</a:t>
                      </a:r>
                    </a:p>
                  </a:txBody>
                  <a:tcPr marL="54864" marR="54864" anchor="ctr">
                    <a:solidFill>
                      <a:srgbClr val="14264F"/>
                    </a:solidFill>
                  </a:tcPr>
                </a:tc>
                <a:tc>
                  <a:txBody>
                    <a:bodyPr/>
                    <a:lstStyle/>
                    <a:p>
                      <a:r>
                        <a:rPr sz="1600" b="1">
                          <a:solidFill>
                            <a:srgbClr val="FFFFFF"/>
                          </a:solidFill>
                          <a:latin typeface="Calibri"/>
                          <a:ea typeface="Calibri"/>
                          <a:cs typeface="Calibri"/>
                        </a:rPr>
                        <a:t>Quantum transpiler</a:t>
                      </a:r>
                    </a:p>
                  </a:txBody>
                  <a:tcPr marL="54864" marR="54864" anchor="ctr">
                    <a:solidFill>
                      <a:srgbClr val="14264F"/>
                    </a:solidFill>
                  </a:tcPr>
                </a:tc>
                <a:extLst>
                  <a:ext uri="{0D108BD9-81ED-4DB2-BD59-A6C34878D82A}">
                    <a16:rowId xmlns:a16="http://schemas.microsoft.com/office/drawing/2014/main" val="10000"/>
                  </a:ext>
                </a:extLst>
              </a:tr>
              <a:tr h="458506">
                <a:tc>
                  <a:txBody>
                    <a:bodyPr/>
                    <a:lstStyle/>
                    <a:p>
                      <a:r>
                        <a:rPr sz="1600" b="1">
                          <a:solidFill>
                            <a:srgbClr val="1E2A44"/>
                          </a:solidFill>
                          <a:latin typeface="Calibri"/>
                          <a:ea typeface="Calibri"/>
                          <a:cs typeface="Calibri"/>
                        </a:rPr>
                        <a:t>Observed result</a:t>
                      </a:r>
                    </a:p>
                  </a:txBody>
                  <a:tcPr marL="54864" marR="54864" anchor="ctr">
                    <a:solidFill>
                      <a:srgbClr val="EFF4FA"/>
                    </a:solidFill>
                  </a:tcPr>
                </a:tc>
                <a:tc>
                  <a:txBody>
                    <a:bodyPr/>
                    <a:lstStyle/>
                    <a:p>
                      <a:r>
                        <a:rPr sz="1600">
                          <a:solidFill>
                            <a:srgbClr val="1E2A44"/>
                          </a:solidFill>
                          <a:latin typeface="Calibri"/>
                          <a:ea typeface="Calibri"/>
                          <a:cs typeface="Calibri"/>
                        </a:rPr>
                        <a:t>Deterministic, directly inspectable</a:t>
                      </a:r>
                    </a:p>
                  </a:txBody>
                  <a:tcPr marL="54864" marR="54864" anchor="ctr">
                    <a:solidFill>
                      <a:srgbClr val="FFFFFF"/>
                    </a:solidFill>
                  </a:tcPr>
                </a:tc>
                <a:tc>
                  <a:txBody>
                    <a:bodyPr/>
                    <a:lstStyle/>
                    <a:p>
                      <a:r>
                        <a:rPr sz="1600">
                          <a:solidFill>
                            <a:srgbClr val="1E2A44"/>
                          </a:solidFill>
                          <a:latin typeface="Calibri"/>
                          <a:ea typeface="Calibri"/>
                          <a:cs typeface="Calibri"/>
                        </a:rPr>
                        <a:t>Probabilistic samples, internal state not directly observable</a:t>
                      </a:r>
                    </a:p>
                  </a:txBody>
                  <a:tcPr marL="54864" marR="54864" anchor="ctr">
                    <a:solidFill>
                      <a:srgbClr val="FFFFFF"/>
                    </a:solidFill>
                  </a:tcPr>
                </a:tc>
                <a:extLst>
                  <a:ext uri="{0D108BD9-81ED-4DB2-BD59-A6C34878D82A}">
                    <a16:rowId xmlns:a16="http://schemas.microsoft.com/office/drawing/2014/main" val="10001"/>
                  </a:ext>
                </a:extLst>
              </a:tr>
              <a:tr h="458506">
                <a:tc>
                  <a:txBody>
                    <a:bodyPr/>
                    <a:lstStyle/>
                    <a:p>
                      <a:r>
                        <a:rPr sz="1600" b="1">
                          <a:solidFill>
                            <a:srgbClr val="1E2A44"/>
                          </a:solidFill>
                          <a:latin typeface="Calibri"/>
                          <a:ea typeface="Calibri"/>
                          <a:cs typeface="Calibri"/>
                        </a:rPr>
                        <a:t>Correctness</a:t>
                      </a:r>
                    </a:p>
                  </a:txBody>
                  <a:tcPr marL="54864" marR="54864" anchor="ctr">
                    <a:solidFill>
                      <a:srgbClr val="EFF4FA"/>
                    </a:solidFill>
                  </a:tcPr>
                </a:tc>
                <a:tc>
                  <a:txBody>
                    <a:bodyPr/>
                    <a:lstStyle/>
                    <a:p>
                      <a:r>
                        <a:rPr sz="1600">
                          <a:solidFill>
                            <a:srgbClr val="1E2A44"/>
                          </a:solidFill>
                          <a:latin typeface="Calibri"/>
                          <a:ea typeface="Calibri"/>
                          <a:cs typeface="Calibri"/>
                        </a:rPr>
                        <a:t>Equality / observational equivalence</a:t>
                      </a:r>
                    </a:p>
                  </a:txBody>
                  <a:tcPr marL="54864" marR="54864" anchor="ctr">
                    <a:solidFill>
                      <a:srgbClr val="F2F5FA"/>
                    </a:solidFill>
                  </a:tcPr>
                </a:tc>
                <a:tc>
                  <a:txBody>
                    <a:bodyPr/>
                    <a:lstStyle/>
                    <a:p>
                      <a:r>
                        <a:rPr sz="1600">
                          <a:solidFill>
                            <a:srgbClr val="1E2A44"/>
                          </a:solidFill>
                          <a:latin typeface="Calibri"/>
                          <a:ea typeface="Calibri"/>
                          <a:cs typeface="Calibri"/>
                        </a:rPr>
                        <a:t>Up to global phase &amp; qubit/layout permutation</a:t>
                      </a:r>
                    </a:p>
                  </a:txBody>
                  <a:tcPr marL="54864" marR="54864" anchor="ctr">
                    <a:solidFill>
                      <a:srgbClr val="F2F5FA"/>
                    </a:solidFill>
                  </a:tcPr>
                </a:tc>
                <a:extLst>
                  <a:ext uri="{0D108BD9-81ED-4DB2-BD59-A6C34878D82A}">
                    <a16:rowId xmlns:a16="http://schemas.microsoft.com/office/drawing/2014/main" val="10002"/>
                  </a:ext>
                </a:extLst>
              </a:tr>
              <a:tr h="458506">
                <a:tc>
                  <a:txBody>
                    <a:bodyPr/>
                    <a:lstStyle/>
                    <a:p>
                      <a:r>
                        <a:rPr sz="1600" b="1">
                          <a:solidFill>
                            <a:srgbClr val="1E2A44"/>
                          </a:solidFill>
                          <a:latin typeface="Calibri"/>
                          <a:ea typeface="Calibri"/>
                          <a:cs typeface="Calibri"/>
                        </a:rPr>
                        <a:t>Fault model</a:t>
                      </a:r>
                    </a:p>
                  </a:txBody>
                  <a:tcPr marL="54864" marR="54864" anchor="ctr">
                    <a:solidFill>
                      <a:srgbClr val="EFF4FA"/>
                    </a:solidFill>
                  </a:tcPr>
                </a:tc>
                <a:tc>
                  <a:txBody>
                    <a:bodyPr/>
                    <a:lstStyle/>
                    <a:p>
                      <a:r>
                        <a:rPr sz="1600">
                          <a:solidFill>
                            <a:srgbClr val="1E2A44"/>
                          </a:solidFill>
                          <a:latin typeface="Calibri"/>
                          <a:ea typeface="Calibri"/>
                          <a:cs typeface="Calibri"/>
                        </a:rPr>
                        <a:t>Crashes, wrong values, performance</a:t>
                      </a:r>
                    </a:p>
                  </a:txBody>
                  <a:tcPr marL="54864" marR="54864" anchor="ctr">
                    <a:solidFill>
                      <a:srgbClr val="FFFFFF"/>
                    </a:solidFill>
                  </a:tcPr>
                </a:tc>
                <a:tc>
                  <a:txBody>
                    <a:bodyPr/>
                    <a:lstStyle/>
                    <a:p>
                      <a:r>
                        <a:rPr sz="1600">
                          <a:solidFill>
                            <a:srgbClr val="1E2A44"/>
                          </a:solidFill>
                          <a:latin typeface="Calibri"/>
                          <a:ea typeface="Calibri"/>
                          <a:cs typeface="Calibri"/>
                        </a:rPr>
                        <a:t>+ phase, entanglement, mapping/routing, backend/noise</a:t>
                      </a:r>
                    </a:p>
                  </a:txBody>
                  <a:tcPr marL="54864" marR="54864" anchor="ctr">
                    <a:solidFill>
                      <a:srgbClr val="FFFFFF"/>
                    </a:solidFill>
                  </a:tcPr>
                </a:tc>
                <a:extLst>
                  <a:ext uri="{0D108BD9-81ED-4DB2-BD59-A6C34878D82A}">
                    <a16:rowId xmlns:a16="http://schemas.microsoft.com/office/drawing/2014/main" val="10003"/>
                  </a:ext>
                </a:extLst>
              </a:tr>
              <a:tr h="458506">
                <a:tc>
                  <a:txBody>
                    <a:bodyPr/>
                    <a:lstStyle/>
                    <a:p>
                      <a:r>
                        <a:rPr sz="1600" b="1">
                          <a:solidFill>
                            <a:srgbClr val="1E2A44"/>
                          </a:solidFill>
                          <a:latin typeface="Calibri"/>
                          <a:ea typeface="Calibri"/>
                          <a:cs typeface="Calibri"/>
                        </a:rPr>
                        <a:t>Execution cost</a:t>
                      </a:r>
                    </a:p>
                  </a:txBody>
                  <a:tcPr marL="54864" marR="54864" anchor="ctr">
                    <a:solidFill>
                      <a:srgbClr val="EFF4FA"/>
                    </a:solidFill>
                  </a:tcPr>
                </a:tc>
                <a:tc>
                  <a:txBody>
                    <a:bodyPr/>
                    <a:lstStyle/>
                    <a:p>
                      <a:r>
                        <a:rPr sz="1600">
                          <a:solidFill>
                            <a:srgbClr val="1E2A44"/>
                          </a:solidFill>
                          <a:latin typeface="Calibri"/>
                          <a:ea typeface="Calibri"/>
                          <a:cs typeface="Calibri"/>
                        </a:rPr>
                        <a:t>Repeatable CPU time, one run</a:t>
                      </a:r>
                    </a:p>
                  </a:txBody>
                  <a:tcPr marL="54864" marR="54864" anchor="ctr">
                    <a:solidFill>
                      <a:srgbClr val="F2F5FA"/>
                    </a:solidFill>
                  </a:tcPr>
                </a:tc>
                <a:tc>
                  <a:txBody>
                    <a:bodyPr/>
                    <a:lstStyle/>
                    <a:p>
                      <a:r>
                        <a:rPr sz="1600">
                          <a:solidFill>
                            <a:srgbClr val="1E2A44"/>
                          </a:solidFill>
                          <a:latin typeface="Calibri"/>
                          <a:ea typeface="Calibri"/>
                          <a:cs typeface="Calibri"/>
                        </a:rPr>
                        <a:t>Repeated shots, simulation growth, oracle cost</a:t>
                      </a:r>
                    </a:p>
                  </a:txBody>
                  <a:tcPr marL="54864" marR="54864" anchor="ctr">
                    <a:solidFill>
                      <a:srgbClr val="F2F5FA"/>
                    </a:solidFill>
                  </a:tcPr>
                </a:tc>
                <a:extLst>
                  <a:ext uri="{0D108BD9-81ED-4DB2-BD59-A6C34878D82A}">
                    <a16:rowId xmlns:a16="http://schemas.microsoft.com/office/drawing/2014/main" val="10004"/>
                  </a:ext>
                </a:extLst>
              </a:tr>
              <a:tr h="458506">
                <a:tc>
                  <a:txBody>
                    <a:bodyPr/>
                    <a:lstStyle/>
                    <a:p>
                      <a:r>
                        <a:rPr sz="1600" b="1">
                          <a:solidFill>
                            <a:srgbClr val="1E2A44"/>
                          </a:solidFill>
                          <a:latin typeface="Calibri"/>
                          <a:ea typeface="Calibri"/>
                          <a:cs typeface="Calibri"/>
                        </a:rPr>
                        <a:t>Regression oracle</a:t>
                      </a:r>
                    </a:p>
                  </a:txBody>
                  <a:tcPr marL="54864" marR="54864" anchor="ctr">
                    <a:solidFill>
                      <a:srgbClr val="EFF4FA"/>
                    </a:solidFill>
                  </a:tcPr>
                </a:tc>
                <a:tc>
                  <a:txBody>
                    <a:bodyPr/>
                    <a:lstStyle/>
                    <a:p>
                      <a:r>
                        <a:rPr sz="1600">
                          <a:solidFill>
                            <a:srgbClr val="1E2A44"/>
                          </a:solidFill>
                          <a:latin typeface="Calibri"/>
                          <a:ea typeface="Calibri"/>
                          <a:cs typeface="Calibri"/>
                        </a:rPr>
                        <a:t>Expected output, assertions, logs</a:t>
                      </a:r>
                    </a:p>
                  </a:txBody>
                  <a:tcPr marL="54864" marR="54864" anchor="ctr">
                    <a:solidFill>
                      <a:srgbClr val="FFFFFF"/>
                    </a:solidFill>
                  </a:tcPr>
                </a:tc>
                <a:tc>
                  <a:txBody>
                    <a:bodyPr/>
                    <a:lstStyle/>
                    <a:p>
                      <a:r>
                        <a:rPr sz="1600">
                          <a:solidFill>
                            <a:srgbClr val="1E2A44"/>
                          </a:solidFill>
                          <a:latin typeface="Calibri"/>
                          <a:ea typeface="Calibri"/>
                          <a:cs typeface="Calibri"/>
                        </a:rPr>
                        <a:t>Output equivalence alone misses metadata/layout/quality</a:t>
                      </a:r>
                    </a:p>
                  </a:txBody>
                  <a:tcPr marL="54864" marR="54864" anchor="ctr">
                    <a:solidFill>
                      <a:srgbClr val="FFFFFF"/>
                    </a:solidFill>
                  </a:tcPr>
                </a:tc>
                <a:extLst>
                  <a:ext uri="{0D108BD9-81ED-4DB2-BD59-A6C34878D82A}">
                    <a16:rowId xmlns:a16="http://schemas.microsoft.com/office/drawing/2014/main" val="10005"/>
                  </a:ext>
                </a:extLst>
              </a:tr>
              <a:tr h="458506">
                <a:tc>
                  <a:txBody>
                    <a:bodyPr/>
                    <a:lstStyle/>
                    <a:p>
                      <a:r>
                        <a:rPr sz="1600" b="1">
                          <a:solidFill>
                            <a:srgbClr val="1E2A44"/>
                          </a:solidFill>
                          <a:latin typeface="Calibri"/>
                          <a:ea typeface="Calibri"/>
                          <a:cs typeface="Calibri"/>
                        </a:rPr>
                        <a:t>Foundation</a:t>
                      </a:r>
                    </a:p>
                  </a:txBody>
                  <a:tcPr marL="54864" marR="54864" anchor="ctr">
                    <a:solidFill>
                      <a:srgbClr val="EFF4FA"/>
                    </a:solidFill>
                  </a:tcPr>
                </a:tc>
                <a:tc>
                  <a:txBody>
                    <a:bodyPr/>
                    <a:lstStyle/>
                    <a:p>
                      <a:r>
                        <a:rPr sz="1600">
                          <a:solidFill>
                            <a:srgbClr val="1E2A44"/>
                          </a:solidFill>
                          <a:latin typeface="Calibri"/>
                          <a:ea typeface="Calibri"/>
                          <a:cs typeface="Calibri"/>
                        </a:rPr>
                        <a:t>Selection, prioritisation, cost, APFD/APFDc</a:t>
                      </a:r>
                    </a:p>
                  </a:txBody>
                  <a:tcPr marL="54864" marR="54864" anchor="ctr">
                    <a:solidFill>
                      <a:srgbClr val="F2F5FA"/>
                    </a:solidFill>
                  </a:tcPr>
                </a:tc>
                <a:tc>
                  <a:txBody>
                    <a:bodyPr/>
                    <a:lstStyle/>
                    <a:p>
                      <a:r>
                        <a:rPr sz="1600">
                          <a:solidFill>
                            <a:srgbClr val="1E2A44"/>
                          </a:solidFill>
                          <a:latin typeface="Calibri"/>
                          <a:ea typeface="Calibri"/>
                          <a:cs typeface="Calibri"/>
                        </a:rPr>
                        <a:t>Retained, but features, costs, oracles redefined</a:t>
                      </a:r>
                    </a:p>
                  </a:txBody>
                  <a:tcPr marL="54864" marR="54864" anchor="ctr">
                    <a:solidFill>
                      <a:srgbClr val="F2F5FA"/>
                    </a:solidFill>
                  </a:tcPr>
                </a:tc>
                <a:extLst>
                  <a:ext uri="{0D108BD9-81ED-4DB2-BD59-A6C34878D82A}">
                    <a16:rowId xmlns:a16="http://schemas.microsoft.com/office/drawing/2014/main" val="10006"/>
                  </a:ext>
                </a:extLst>
              </a:tr>
            </a:tbl>
          </a:graphicData>
        </a:graphic>
      </p:graphicFrame>
      <p:sp>
        <p:nvSpPr>
          <p:cNvPr id="6" name="TextBox 5">
            <a:extLst>
              <a:ext uri="{FF2B5EF4-FFF2-40B4-BE49-F238E27FC236}">
                <a16:creationId xmlns:a16="http://schemas.microsoft.com/office/drawing/2014/main" id="{20A0D912-8214-488F-98DD-7686F63B0286}"/>
              </a:ext>
            </a:extLst>
          </p:cNvPr>
          <p:cNvSpPr>
            <a:spLocks noGrp="1"/>
          </p:cNvSpPr>
          <p:nvPr/>
        </p:nvSpPr>
        <p:spPr>
          <a:xfrm>
            <a:off x="685800" y="5168976"/>
            <a:ext cx="10881360" cy="486287"/>
          </a:xfrm>
          <a:prstGeom prst="rect">
            <a:avLst/>
          </a:prstGeom>
          <a:noFill/>
        </p:spPr>
        <p:txBody>
          <a:bodyPr wrap="square" lIns="27432" tIns="27432" rIns="27432" bIns="27432">
            <a:spAutoFit/>
          </a:bodyPr>
          <a:lstStyle/>
          <a:p>
            <a:r>
              <a:rPr sz="1400" b="1" i="1" dirty="0">
                <a:solidFill>
                  <a:srgbClr val="1D4E89"/>
                </a:solidFill>
                <a:latin typeface="Calibri"/>
                <a:ea typeface="Calibri"/>
                <a:cs typeface="Calibri"/>
              </a:rPr>
              <a:t>Classical principles are the foundation, but they do not transfer unchanged. This work is a quantum-specific adaptation and empirical validation, not the invention of regression testing.</a:t>
            </a:r>
          </a:p>
        </p:txBody>
      </p:sp>
      <p:sp>
        <p:nvSpPr>
          <p:cNvPr id="7" name="TextBox 6">
            <a:extLst>
              <a:ext uri="{FF2B5EF4-FFF2-40B4-BE49-F238E27FC236}">
                <a16:creationId xmlns:a16="http://schemas.microsoft.com/office/drawing/2014/main" id="{F1239CC1-E355-47E1-9072-BACE9A7F0757}"/>
              </a:ext>
            </a:extLst>
          </p:cNvPr>
          <p:cNvSpPr>
            <a:spLocks noGrp="1"/>
          </p:cNvSpPr>
          <p:nvPr/>
        </p:nvSpPr>
        <p:spPr>
          <a:xfrm>
            <a:off x="640080" y="6473952"/>
            <a:ext cx="9692640" cy="216982"/>
          </a:xfrm>
          <a:prstGeom prst="rect">
            <a:avLst/>
          </a:prstGeom>
          <a:noFill/>
        </p:spPr>
        <p:txBody>
          <a:bodyPr wrap="square" lIns="27432" tIns="27432" rIns="27432" bIns="27432">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8" name="TextBox 7">
            <a:extLst>
              <a:ext uri="{FF2B5EF4-FFF2-40B4-BE49-F238E27FC236}">
                <a16:creationId xmlns:a16="http://schemas.microsoft.com/office/drawing/2014/main" id="{9029760A-3F57-4568-8EE5-789227F9CBFB}"/>
              </a:ext>
            </a:extLst>
          </p:cNvPr>
          <p:cNvSpPr>
            <a:spLocks noGrp="1"/>
          </p:cNvSpPr>
          <p:nvPr/>
        </p:nvSpPr>
        <p:spPr>
          <a:xfrm>
            <a:off x="11155680" y="6473952"/>
            <a:ext cx="822960" cy="216982"/>
          </a:xfrm>
          <a:prstGeom prst="rect">
            <a:avLst/>
          </a:prstGeom>
          <a:noFill/>
        </p:spPr>
        <p:txBody>
          <a:bodyPr wrap="square" lIns="27432" tIns="27432" rIns="27432" bIns="27432">
            <a:spAutoFit/>
          </a:bodyPr>
          <a:lstStyle/>
          <a:p>
            <a:pPr algn="r">
              <a:buNone/>
            </a:pPr>
            <a:r>
              <a:rPr sz="1000" b="1" i="0">
                <a:solidFill>
                  <a:srgbClr val="64748C"/>
                </a:solidFill>
                <a:latin typeface="Calibri"/>
                <a:ea typeface="Calibri"/>
                <a:cs typeface="Calibri"/>
              </a:rPr>
              <a:t>33</a:t>
            </a:r>
          </a:p>
        </p:txBody>
      </p:sp>
      <p:pic>
        <p:nvPicPr>
          <p:cNvPr id="9"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9246895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DF4516-A32C-4D59-8436-F51503DE49EC}"/>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A50B7C39-E511-49A1-99D9-584EAA2DEBA0}"/>
              </a:ext>
            </a:extLst>
          </p:cNvPr>
          <p:cNvSpPr>
            <a:spLocks noGrp="1"/>
          </p:cNvSpPr>
          <p:nvPr/>
        </p:nvSpPr>
        <p:spPr>
          <a:xfrm>
            <a:off x="640080" y="384048"/>
            <a:ext cx="10972800" cy="301621"/>
          </a:xfrm>
          <a:prstGeom prst="rect">
            <a:avLst/>
          </a:prstGeom>
          <a:noFill/>
        </p:spPr>
        <p:txBody>
          <a:bodyPr wrap="square" lIns="27432" tIns="27432" rIns="27432" bIns="27432">
            <a:spAutoFit/>
          </a:bodyPr>
          <a:lstStyle/>
          <a:p>
            <a:r>
              <a:rPr sz="1600" b="1" i="0">
                <a:solidFill>
                  <a:srgbClr val="2F6FCB"/>
                </a:solidFill>
                <a:latin typeface="Calibri"/>
                <a:ea typeface="Calibri"/>
                <a:cs typeface="Calibri"/>
              </a:rPr>
              <a:t>BACKUP · FOR QUESTIONS</a:t>
            </a:r>
          </a:p>
        </p:txBody>
      </p:sp>
      <p:sp>
        <p:nvSpPr>
          <p:cNvPr id="4" name="TextBox 3">
            <a:extLst>
              <a:ext uri="{FF2B5EF4-FFF2-40B4-BE49-F238E27FC236}">
                <a16:creationId xmlns:a16="http://schemas.microsoft.com/office/drawing/2014/main" id="{A51422AB-91D8-4404-8490-4849DEB15DB6}"/>
              </a:ext>
            </a:extLst>
          </p:cNvPr>
          <p:cNvSpPr>
            <a:spLocks noGrp="1"/>
          </p:cNvSpPr>
          <p:nvPr/>
        </p:nvSpPr>
        <p:spPr>
          <a:xfrm>
            <a:off x="640080" y="694944"/>
            <a:ext cx="11155680" cy="547842"/>
          </a:xfrm>
          <a:prstGeom prst="rect">
            <a:avLst/>
          </a:prstGeom>
          <a:noFill/>
        </p:spPr>
        <p:txBody>
          <a:bodyPr wrap="square" lIns="27432" tIns="27432" rIns="27432" bIns="27432">
            <a:spAutoFit/>
          </a:bodyPr>
          <a:lstStyle/>
          <a:p>
            <a:r>
              <a:rPr sz="3200" b="1" i="0">
                <a:solidFill>
                  <a:srgbClr val="1E2A44"/>
                </a:solidFill>
                <a:latin typeface="Cambria"/>
                <a:ea typeface="Cambria"/>
                <a:cs typeface="Cambria"/>
              </a:rPr>
              <a:t>Evidence: Why Quantum Differs</a:t>
            </a:r>
          </a:p>
        </p:txBody>
      </p:sp>
      <p:sp>
        <p:nvSpPr>
          <p:cNvPr id="5" name="TextBox 4">
            <a:extLst>
              <a:ext uri="{FF2B5EF4-FFF2-40B4-BE49-F238E27FC236}">
                <a16:creationId xmlns:a16="http://schemas.microsoft.com/office/drawing/2014/main" id="{22FE65E3-949A-49A1-AC26-0D38ABBF0A85}"/>
              </a:ext>
            </a:extLst>
          </p:cNvPr>
          <p:cNvSpPr>
            <a:spLocks noGrp="1"/>
          </p:cNvSpPr>
          <p:nvPr/>
        </p:nvSpPr>
        <p:spPr>
          <a:xfrm>
            <a:off x="640080" y="1600200"/>
            <a:ext cx="10972800" cy="3851311"/>
          </a:xfrm>
          <a:prstGeom prst="rect">
            <a:avLst/>
          </a:prstGeom>
          <a:noFill/>
        </p:spPr>
        <p:txBody>
          <a:bodyPr wrap="square" lIns="27432" tIns="27432" rIns="27432" bIns="27432">
            <a:spAutoFit/>
          </a:bodyPr>
          <a:lstStyle/>
          <a:p>
            <a:pPr>
              <a:spcAft>
                <a:spcPts val="1400"/>
              </a:spcAft>
              <a:buNone/>
            </a:pPr>
            <a:r>
              <a:rPr sz="2000" b="1" i="0">
                <a:solidFill>
                  <a:srgbClr val="2F6FCB"/>
                </a:solidFill>
                <a:latin typeface="Calibri"/>
                <a:ea typeface="Calibri"/>
                <a:cs typeface="Calibri"/>
              </a:rPr>
              <a:t>▪  </a:t>
            </a:r>
            <a:r>
              <a:rPr sz="2000" b="1" i="0">
                <a:solidFill>
                  <a:srgbClr val="1E2A44"/>
                </a:solidFill>
                <a:latin typeface="Calibri"/>
                <a:ea typeface="Calibri"/>
                <a:cs typeface="Calibri"/>
              </a:rPr>
              <a:t>39.9% of real quantum-platform bugs are quantum-specific</a:t>
            </a:r>
            <a:r>
              <a:rPr sz="2000" b="0" i="0">
                <a:solidFill>
                  <a:srgbClr val="1E2A44"/>
                </a:solidFill>
                <a:latin typeface="Calibri"/>
                <a:ea typeface="Calibri"/>
                <a:cs typeface="Calibri"/>
              </a:rPr>
              <a:t> (concentrated in compile/optimise components), so a classical fault model is incomplete (Paltenghi &amp; Pradel, 2022).</a:t>
            </a:r>
          </a:p>
          <a:p>
            <a:pPr>
              <a:spcAft>
                <a:spcPts val="1400"/>
              </a:spcAft>
              <a:buNone/>
            </a:pPr>
            <a:r>
              <a:rPr sz="2000" b="1" i="0">
                <a:solidFill>
                  <a:srgbClr val="2F6FCB"/>
                </a:solidFill>
                <a:latin typeface="Calibri"/>
                <a:ea typeface="Calibri"/>
                <a:cs typeface="Calibri"/>
              </a:rPr>
              <a:t>▪  </a:t>
            </a:r>
            <a:r>
              <a:rPr sz="2000" b="1" i="0">
                <a:solidFill>
                  <a:srgbClr val="1E2A44"/>
                </a:solidFill>
                <a:latin typeface="Calibri"/>
                <a:ea typeface="Calibri"/>
                <a:cs typeface="Calibri"/>
              </a:rPr>
              <a:t>Quantum outputs are exponentially large distributions</a:t>
            </a:r>
            <a:r>
              <a:rPr sz="2000" b="0" i="0">
                <a:solidFill>
                  <a:srgbClr val="1E2A44"/>
                </a:solidFill>
                <a:latin typeface="Calibri"/>
                <a:ea typeface="Calibri"/>
                <a:cs typeface="Calibri"/>
              </a:rPr>
              <a:t>, so conventional distribution testing can miss phase-flip faults (Oldfield et al., 2025).</a:t>
            </a:r>
          </a:p>
          <a:p>
            <a:pPr>
              <a:spcAft>
                <a:spcPts val="1400"/>
              </a:spcAft>
              <a:buNone/>
            </a:pPr>
            <a:r>
              <a:rPr sz="2000" b="1" i="0">
                <a:solidFill>
                  <a:srgbClr val="2F6FCB"/>
                </a:solidFill>
                <a:latin typeface="Calibri"/>
                <a:ea typeface="Calibri"/>
                <a:cs typeface="Calibri"/>
              </a:rPr>
              <a:t>▪  </a:t>
            </a:r>
            <a:r>
              <a:rPr sz="2000" b="1" i="0">
                <a:solidFill>
                  <a:srgbClr val="1E2A44"/>
                </a:solidFill>
                <a:latin typeface="Calibri"/>
                <a:ea typeface="Calibri"/>
                <a:cs typeface="Calibri"/>
              </a:rPr>
              <a:t>State equivalence can’t be read from one observation</a:t>
            </a:r>
            <a:r>
              <a:rPr sz="2000" b="0" i="0">
                <a:solidFill>
                  <a:srgbClr val="1E2A44"/>
                </a:solidFill>
                <a:latin typeface="Calibri"/>
                <a:ea typeface="Calibri"/>
                <a:cs typeface="Calibri"/>
              </a:rPr>
              <a:t>: assurance needs repeated measurement, and specialised oracles expose non-crash bugs (Kang et al., 2024; Lee et al., 2025).</a:t>
            </a:r>
          </a:p>
          <a:p>
            <a:pPr>
              <a:spcAft>
                <a:spcPts val="1400"/>
              </a:spcAft>
              <a:buNone/>
            </a:pPr>
            <a:r>
              <a:rPr sz="2000" b="1" i="0">
                <a:solidFill>
                  <a:srgbClr val="2F6FCB"/>
                </a:solidFill>
                <a:latin typeface="Calibri"/>
                <a:ea typeface="Calibri"/>
                <a:cs typeface="Calibri"/>
              </a:rPr>
              <a:t>▪  </a:t>
            </a:r>
            <a:r>
              <a:rPr sz="2000" b="1" i="0">
                <a:solidFill>
                  <a:srgbClr val="1E2A44"/>
                </a:solidFill>
                <a:latin typeface="Calibri"/>
                <a:ea typeface="Calibri"/>
                <a:cs typeface="Calibri"/>
              </a:rPr>
              <a:t>Equivalence checking had to be redesigned</a:t>
            </a:r>
            <a:r>
              <a:rPr sz="2000" b="0" i="0">
                <a:solidFill>
                  <a:srgbClr val="1E2A44"/>
                </a:solidFill>
                <a:latin typeface="Calibri"/>
                <a:ea typeface="Calibri"/>
                <a:cs typeface="Calibri"/>
              </a:rPr>
              <a:t> for reversibility, superposition, and entanglement, not reused from classical (Burgholzer &amp; Wille, 2021).</a:t>
            </a:r>
          </a:p>
          <a:p>
            <a:pPr>
              <a:spcAft>
                <a:spcPts val="1400"/>
              </a:spcAft>
              <a:buNone/>
            </a:pPr>
            <a:r>
              <a:rPr sz="2000" b="1" i="0">
                <a:solidFill>
                  <a:srgbClr val="2F6FCB"/>
                </a:solidFill>
                <a:latin typeface="Calibri"/>
                <a:ea typeface="Calibri"/>
                <a:cs typeface="Calibri"/>
              </a:rPr>
              <a:t>▪  </a:t>
            </a:r>
            <a:r>
              <a:rPr sz="2000" b="1" i="0">
                <a:solidFill>
                  <a:srgbClr val="1E2A44"/>
                </a:solidFill>
                <a:latin typeface="Calibri"/>
                <a:ea typeface="Calibri"/>
                <a:cs typeface="Calibri"/>
              </a:rPr>
              <a:t>Compiler-pass reasoning must encode quantum semantics</a:t>
            </a:r>
            <a:r>
              <a:rPr sz="2000" b="0" i="0">
                <a:solidFill>
                  <a:srgbClr val="1E2A44"/>
                </a:solidFill>
                <a:latin typeface="Calibri"/>
                <a:ea typeface="Calibri"/>
                <a:cs typeface="Calibri"/>
              </a:rPr>
              <a:t>: formal verification confirms this is necessary and feasible (Tao et al., 2022).</a:t>
            </a:r>
          </a:p>
        </p:txBody>
      </p:sp>
      <p:sp>
        <p:nvSpPr>
          <p:cNvPr id="6" name="TextBox 5">
            <a:extLst>
              <a:ext uri="{FF2B5EF4-FFF2-40B4-BE49-F238E27FC236}">
                <a16:creationId xmlns:a16="http://schemas.microsoft.com/office/drawing/2014/main" id="{9949AB4F-EAF9-4A3A-86D2-55ED44A51220}"/>
              </a:ext>
            </a:extLst>
          </p:cNvPr>
          <p:cNvSpPr>
            <a:spLocks noGrp="1"/>
          </p:cNvSpPr>
          <p:nvPr/>
        </p:nvSpPr>
        <p:spPr>
          <a:xfrm>
            <a:off x="640080" y="5806440"/>
            <a:ext cx="10972800" cy="547842"/>
          </a:xfrm>
          <a:prstGeom prst="rect">
            <a:avLst/>
          </a:prstGeom>
          <a:noFill/>
        </p:spPr>
        <p:txBody>
          <a:bodyPr wrap="square" lIns="27432" tIns="27432" rIns="27432" bIns="27432">
            <a:spAutoFit/>
          </a:bodyPr>
          <a:lstStyle/>
          <a:p>
            <a:r>
              <a:rPr sz="1600" b="0" i="1">
                <a:solidFill>
                  <a:srgbClr val="64748C"/>
                </a:solidFill>
                <a:latin typeface="Calibri"/>
                <a:ea typeface="Calibri"/>
                <a:cs typeface="Calibri"/>
              </a:rPr>
              <a:t>Central claim: classical machinery does not directly solve quantum-transpiler regression testing. Its observability, oracle, equivalence and cost models do not hold unchanged.</a:t>
            </a:r>
          </a:p>
        </p:txBody>
      </p:sp>
      <p:sp>
        <p:nvSpPr>
          <p:cNvPr id="7" name="TextBox 6">
            <a:extLst>
              <a:ext uri="{FF2B5EF4-FFF2-40B4-BE49-F238E27FC236}">
                <a16:creationId xmlns:a16="http://schemas.microsoft.com/office/drawing/2014/main" id="{9BBDC4BE-CEE5-4507-BBBF-7A74C35100FC}"/>
              </a:ext>
            </a:extLst>
          </p:cNvPr>
          <p:cNvSpPr>
            <a:spLocks noGrp="1"/>
          </p:cNvSpPr>
          <p:nvPr/>
        </p:nvSpPr>
        <p:spPr>
          <a:xfrm>
            <a:off x="640080" y="6473952"/>
            <a:ext cx="9692640" cy="209288"/>
          </a:xfrm>
          <a:prstGeom prst="rect">
            <a:avLst/>
          </a:prstGeom>
          <a:noFill/>
        </p:spPr>
        <p:txBody>
          <a:bodyPr wrap="square" lIns="27432" tIns="27432" rIns="27432" bIns="27432">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8" name="TextBox 7">
            <a:extLst>
              <a:ext uri="{FF2B5EF4-FFF2-40B4-BE49-F238E27FC236}">
                <a16:creationId xmlns:a16="http://schemas.microsoft.com/office/drawing/2014/main" id="{2F49E2BE-F242-4689-B8DF-088605275223}"/>
              </a:ext>
            </a:extLst>
          </p:cNvPr>
          <p:cNvSpPr>
            <a:spLocks noGrp="1"/>
          </p:cNvSpPr>
          <p:nvPr/>
        </p:nvSpPr>
        <p:spPr>
          <a:xfrm>
            <a:off x="11155680" y="6473952"/>
            <a:ext cx="822960" cy="209288"/>
          </a:xfrm>
          <a:prstGeom prst="rect">
            <a:avLst/>
          </a:prstGeom>
          <a:noFill/>
        </p:spPr>
        <p:txBody>
          <a:bodyPr wrap="square" lIns="27432" tIns="27432" rIns="27432" bIns="27432">
            <a:spAutoFit/>
          </a:bodyPr>
          <a:lstStyle/>
          <a:p>
            <a:pPr algn="r">
              <a:buNone/>
            </a:pPr>
            <a:r>
              <a:rPr sz="1000" b="1" i="0">
                <a:solidFill>
                  <a:srgbClr val="64748C"/>
                </a:solidFill>
                <a:latin typeface="Calibri"/>
                <a:ea typeface="Calibri"/>
                <a:cs typeface="Calibri"/>
              </a:rPr>
              <a:t>34</a:t>
            </a:r>
          </a:p>
        </p:txBody>
      </p:sp>
      <p:pic>
        <p:nvPicPr>
          <p:cNvPr id="9"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1830718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74D552-4ECD-439C-A1E7-F63F633458DD}"/>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AE308B3F-974A-475A-B62A-CCA30E054592}"/>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BACKUP · FOR QUESTIONS</a:t>
            </a:r>
          </a:p>
        </p:txBody>
      </p:sp>
      <p:sp>
        <p:nvSpPr>
          <p:cNvPr id="4" name="TextBox 3">
            <a:extLst>
              <a:ext uri="{FF2B5EF4-FFF2-40B4-BE49-F238E27FC236}">
                <a16:creationId xmlns:a16="http://schemas.microsoft.com/office/drawing/2014/main" id="{44F0876A-99B0-4E9E-8F34-520A6198543F}"/>
              </a:ext>
            </a:extLst>
          </p:cNvPr>
          <p:cNvSpPr>
            <a:spLocks noGrp="1"/>
          </p:cNvSpPr>
          <p:nvPr/>
        </p:nvSpPr>
        <p:spPr>
          <a:xfrm>
            <a:off x="640080" y="694944"/>
            <a:ext cx="11155680" cy="590931"/>
          </a:xfrm>
          <a:prstGeom prst="rect">
            <a:avLst/>
          </a:prstGeom>
          <a:noFill/>
        </p:spPr>
        <p:txBody>
          <a:bodyPr wrap="square" lIns="36576" tIns="18288" rIns="36576" bIns="18288">
            <a:spAutoFit/>
          </a:bodyPr>
          <a:lstStyle/>
          <a:p>
            <a:r>
              <a:rPr sz="3600" b="1" i="0">
                <a:solidFill>
                  <a:srgbClr val="1E2A44"/>
                </a:solidFill>
                <a:latin typeface="Cambria"/>
                <a:ea typeface="Cambria"/>
                <a:cs typeface="Cambria"/>
              </a:rPr>
              <a:t>Pipeline Feasibility: Validity Gates</a:t>
            </a:r>
          </a:p>
        </p:txBody>
      </p:sp>
      <p:graphicFrame>
        <p:nvGraphicFramePr>
          <p:cNvPr id="12" name="Table 4"/>
          <p:cNvGraphicFramePr/>
          <p:nvPr/>
        </p:nvGraphicFramePr>
        <p:xfrm>
          <a:off x="603504" y="1554480"/>
          <a:ext cx="10972800" cy="3030048"/>
        </p:xfrm>
        <a:graphic>
          <a:graphicData uri="http://schemas.openxmlformats.org/drawingml/2006/table">
            <a:tbl>
              <a:tblPr>
                <a:tableStyleId>{5C22544A-7EE6-4342-B048-85BDC9FD1C3A}</a:tableStyleId>
              </a:tblPr>
              <a:tblGrid>
                <a:gridCol w="73152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432864">
                <a:tc>
                  <a:txBody>
                    <a:bodyPr/>
                    <a:lstStyle/>
                    <a:p>
                      <a:r>
                        <a:rPr sz="1800" b="1">
                          <a:solidFill>
                            <a:srgbClr val="FFFFFF"/>
                          </a:solidFill>
                          <a:latin typeface="Calibri"/>
                          <a:ea typeface="Calibri"/>
                          <a:cs typeface="Calibri"/>
                        </a:rPr>
                        <a:t>Implementation-validity gate</a:t>
                      </a:r>
                    </a:p>
                  </a:txBody>
                  <a:tcPr marL="54864" marR="54864" marT="18288" marB="18288" anchor="ctr">
                    <a:solidFill>
                      <a:srgbClr val="14264F"/>
                    </a:solidFill>
                  </a:tcPr>
                </a:tc>
                <a:tc>
                  <a:txBody>
                    <a:bodyPr/>
                    <a:lstStyle/>
                    <a:p>
                      <a:r>
                        <a:rPr sz="1800" b="1">
                          <a:solidFill>
                            <a:srgbClr val="FFFFFF"/>
                          </a:solidFill>
                          <a:latin typeface="Calibri"/>
                          <a:ea typeface="Calibri"/>
                          <a:cs typeface="Calibri"/>
                        </a:rPr>
                        <a:t>Result</a:t>
                      </a:r>
                    </a:p>
                  </a:txBody>
                  <a:tcPr marL="54864" marR="54864" marT="18288" marB="18288" anchor="ctr">
                    <a:solidFill>
                      <a:srgbClr val="14264F"/>
                    </a:solidFill>
                  </a:tcPr>
                </a:tc>
                <a:extLst>
                  <a:ext uri="{0D108BD9-81ED-4DB2-BD59-A6C34878D82A}">
                    <a16:rowId xmlns:a16="http://schemas.microsoft.com/office/drawing/2014/main" val="10000"/>
                  </a:ext>
                </a:extLst>
              </a:tr>
              <a:tr h="432864">
                <a:tc>
                  <a:txBody>
                    <a:bodyPr/>
                    <a:lstStyle/>
                    <a:p>
                      <a:r>
                        <a:rPr sz="1800">
                          <a:solidFill>
                            <a:srgbClr val="1E2A44"/>
                          </a:solidFill>
                          <a:latin typeface="Calibri"/>
                          <a:ea typeface="Calibri"/>
                          <a:cs typeface="Calibri"/>
                        </a:rPr>
                        <a:t>Budget compliance</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PASS</a:t>
                      </a:r>
                    </a:p>
                  </a:txBody>
                  <a:tcPr marL="54864" marR="54864" marT="18288" marB="18288" anchor="ctr">
                    <a:solidFill>
                      <a:srgbClr val="FFFFFF"/>
                    </a:solidFill>
                  </a:tcPr>
                </a:tc>
                <a:extLst>
                  <a:ext uri="{0D108BD9-81ED-4DB2-BD59-A6C34878D82A}">
                    <a16:rowId xmlns:a16="http://schemas.microsoft.com/office/drawing/2014/main" val="10001"/>
                  </a:ext>
                </a:extLst>
              </a:tr>
              <a:tr h="432864">
                <a:tc>
                  <a:txBody>
                    <a:bodyPr/>
                    <a:lstStyle/>
                    <a:p>
                      <a:r>
                        <a:rPr sz="1800">
                          <a:solidFill>
                            <a:srgbClr val="1E2A44"/>
                          </a:solidFill>
                          <a:latin typeface="Calibri"/>
                          <a:ea typeface="Calibri"/>
                          <a:cs typeface="Calibri"/>
                        </a:rPr>
                        <a:t>Reproducibility (same seed ⇒ same ranking)</a:t>
                      </a:r>
                    </a:p>
                  </a:txBody>
                  <a:tcPr marL="54864" marR="54864" marT="18288" marB="18288" anchor="ctr">
                    <a:solidFill>
                      <a:srgbClr val="EFF4FA"/>
                    </a:solidFill>
                  </a:tcPr>
                </a:tc>
                <a:tc>
                  <a:txBody>
                    <a:bodyPr/>
                    <a:lstStyle/>
                    <a:p>
                      <a:r>
                        <a:rPr sz="1800">
                          <a:solidFill>
                            <a:srgbClr val="1E2A44"/>
                          </a:solidFill>
                          <a:latin typeface="Calibri"/>
                          <a:ea typeface="Calibri"/>
                          <a:cs typeface="Calibri"/>
                        </a:rPr>
                        <a:t>PASS</a:t>
                      </a:r>
                    </a:p>
                  </a:txBody>
                  <a:tcPr marL="54864" marR="54864" marT="18288" marB="18288" anchor="ctr">
                    <a:solidFill>
                      <a:srgbClr val="EFF4FA"/>
                    </a:solidFill>
                  </a:tcPr>
                </a:tc>
                <a:extLst>
                  <a:ext uri="{0D108BD9-81ED-4DB2-BD59-A6C34878D82A}">
                    <a16:rowId xmlns:a16="http://schemas.microsoft.com/office/drawing/2014/main" val="10002"/>
                  </a:ext>
                </a:extLst>
              </a:tr>
              <a:tr h="432864">
                <a:tc>
                  <a:txBody>
                    <a:bodyPr/>
                    <a:lstStyle/>
                    <a:p>
                      <a:r>
                        <a:rPr sz="1800">
                          <a:solidFill>
                            <a:srgbClr val="1E2A44"/>
                          </a:solidFill>
                          <a:latin typeface="Calibri"/>
                          <a:ea typeface="Calibri"/>
                          <a:cs typeface="Calibri"/>
                        </a:rPr>
                        <a:t>Leakage absence (current-event outcome cannot change ranking)</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PASS</a:t>
                      </a:r>
                    </a:p>
                  </a:txBody>
                  <a:tcPr marL="54864" marR="54864" marT="18288" marB="18288" anchor="ctr">
                    <a:solidFill>
                      <a:srgbClr val="FFFFFF"/>
                    </a:solidFill>
                  </a:tcPr>
                </a:tc>
                <a:extLst>
                  <a:ext uri="{0D108BD9-81ED-4DB2-BD59-A6C34878D82A}">
                    <a16:rowId xmlns:a16="http://schemas.microsoft.com/office/drawing/2014/main" val="10003"/>
                  </a:ext>
                </a:extLst>
              </a:tr>
              <a:tr h="432864">
                <a:tc>
                  <a:txBody>
                    <a:bodyPr/>
                    <a:lstStyle/>
                    <a:p>
                      <a:r>
                        <a:rPr sz="1800">
                          <a:solidFill>
                            <a:srgbClr val="1E2A44"/>
                          </a:solidFill>
                          <a:latin typeface="Calibri"/>
                          <a:ea typeface="Calibri"/>
                          <a:cs typeface="Calibri"/>
                        </a:rPr>
                        <a:t>Label reproducibility from write-once artifacts</a:t>
                      </a:r>
                    </a:p>
                  </a:txBody>
                  <a:tcPr marL="54864" marR="54864" marT="18288" marB="18288" anchor="ctr">
                    <a:solidFill>
                      <a:srgbClr val="EFF4FA"/>
                    </a:solidFill>
                  </a:tcPr>
                </a:tc>
                <a:tc>
                  <a:txBody>
                    <a:bodyPr/>
                    <a:lstStyle/>
                    <a:p>
                      <a:r>
                        <a:rPr sz="1800">
                          <a:solidFill>
                            <a:srgbClr val="1E2A44"/>
                          </a:solidFill>
                          <a:latin typeface="Calibri"/>
                          <a:ea typeface="Calibri"/>
                          <a:cs typeface="Calibri"/>
                        </a:rPr>
                        <a:t>PASS</a:t>
                      </a:r>
                    </a:p>
                  </a:txBody>
                  <a:tcPr marL="54864" marR="54864" marT="18288" marB="18288" anchor="ctr">
                    <a:solidFill>
                      <a:srgbClr val="EFF4FA"/>
                    </a:solidFill>
                  </a:tcPr>
                </a:tc>
                <a:extLst>
                  <a:ext uri="{0D108BD9-81ED-4DB2-BD59-A6C34878D82A}">
                    <a16:rowId xmlns:a16="http://schemas.microsoft.com/office/drawing/2014/main" val="10004"/>
                  </a:ext>
                </a:extLst>
              </a:tr>
              <a:tr h="432864">
                <a:tc>
                  <a:txBody>
                    <a:bodyPr/>
                    <a:lstStyle/>
                    <a:p>
                      <a:r>
                        <a:rPr sz="1800">
                          <a:solidFill>
                            <a:srgbClr val="1E2A44"/>
                          </a:solidFill>
                          <a:latin typeface="Calibri"/>
                          <a:ea typeface="Calibri"/>
                          <a:cs typeface="Calibri"/>
                        </a:rPr>
                        <a:t>Metric correctness vs hand-computed cases</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PASS</a:t>
                      </a:r>
                    </a:p>
                  </a:txBody>
                  <a:tcPr marL="54864" marR="54864" marT="18288" marB="18288" anchor="ctr">
                    <a:solidFill>
                      <a:srgbClr val="FFFFFF"/>
                    </a:solidFill>
                  </a:tcPr>
                </a:tc>
                <a:extLst>
                  <a:ext uri="{0D108BD9-81ED-4DB2-BD59-A6C34878D82A}">
                    <a16:rowId xmlns:a16="http://schemas.microsoft.com/office/drawing/2014/main" val="10005"/>
                  </a:ext>
                </a:extLst>
              </a:tr>
              <a:tr h="432864">
                <a:tc>
                  <a:txBody>
                    <a:bodyPr/>
                    <a:lstStyle/>
                    <a:p>
                      <a:r>
                        <a:rPr sz="1800">
                          <a:solidFill>
                            <a:srgbClr val="1E2A44"/>
                          </a:solidFill>
                          <a:latin typeface="Calibri"/>
                          <a:ea typeface="Calibri"/>
                          <a:cs typeface="Calibri"/>
                        </a:rPr>
                        <a:t>Oracle coverage</a:t>
                      </a:r>
                    </a:p>
                  </a:txBody>
                  <a:tcPr marL="54864" marR="54864" marT="18288" marB="18288" anchor="ctr">
                    <a:solidFill>
                      <a:srgbClr val="EFF4FA"/>
                    </a:solidFill>
                  </a:tcPr>
                </a:tc>
                <a:tc>
                  <a:txBody>
                    <a:bodyPr/>
                    <a:lstStyle/>
                    <a:p>
                      <a:r>
                        <a:rPr sz="1800">
                          <a:solidFill>
                            <a:srgbClr val="1E2A44"/>
                          </a:solidFill>
                          <a:latin typeface="Calibri"/>
                          <a:ea typeface="Calibri"/>
                          <a:cs typeface="Calibri"/>
                        </a:rPr>
                        <a:t>PASS</a:t>
                      </a:r>
                    </a:p>
                  </a:txBody>
                  <a:tcPr marL="54864" marR="54864" marT="18288" marB="18288" anchor="ctr">
                    <a:solidFill>
                      <a:srgbClr val="EFF4FA"/>
                    </a:solidFill>
                  </a:tcPr>
                </a:tc>
                <a:extLst>
                  <a:ext uri="{0D108BD9-81ED-4DB2-BD59-A6C34878D82A}">
                    <a16:rowId xmlns:a16="http://schemas.microsoft.com/office/drawing/2014/main" val="10006"/>
                  </a:ext>
                </a:extLst>
              </a:tr>
            </a:tbl>
          </a:graphicData>
        </a:graphic>
      </p:graphicFrame>
      <p:sp>
        <p:nvSpPr>
          <p:cNvPr id="6" name="TextBox 5">
            <a:extLst>
              <a:ext uri="{FF2B5EF4-FFF2-40B4-BE49-F238E27FC236}">
                <a16:creationId xmlns:a16="http://schemas.microsoft.com/office/drawing/2014/main" id="{16FFCF62-18F7-4826-9A69-C66E857CCF9E}"/>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7" name="TextBox 6">
            <a:extLst>
              <a:ext uri="{FF2B5EF4-FFF2-40B4-BE49-F238E27FC236}">
                <a16:creationId xmlns:a16="http://schemas.microsoft.com/office/drawing/2014/main" id="{9C8655A3-5A76-4687-BD4B-C45B363922D2}"/>
              </a:ext>
            </a:extLst>
          </p:cNvPr>
          <p:cNvSpPr>
            <a:spLocks noGrp="1"/>
          </p:cNvSpPr>
          <p:nvPr/>
        </p:nvSpPr>
        <p:spPr>
          <a:xfrm>
            <a:off x="11155680" y="6473952"/>
            <a:ext cx="822960" cy="190821"/>
          </a:xfrm>
          <a:prstGeom prst="rect">
            <a:avLst/>
          </a:prstGeom>
          <a:noFill/>
        </p:spPr>
        <p:txBody>
          <a:bodyPr wrap="square" lIns="36576" tIns="18288" rIns="36576" bIns="18288">
            <a:spAutoFit/>
          </a:bodyPr>
          <a:lstStyle/>
          <a:p>
            <a:pPr algn="r">
              <a:buNone/>
            </a:pPr>
            <a:r>
              <a:rPr sz="1000" b="1" i="0">
                <a:solidFill>
                  <a:srgbClr val="64748C"/>
                </a:solidFill>
                <a:latin typeface="Calibri"/>
                <a:ea typeface="Calibri"/>
                <a:cs typeface="Calibri"/>
              </a:rPr>
              <a:t>35</a:t>
            </a:r>
          </a:p>
        </p:txBody>
      </p:sp>
      <p:pic>
        <p:nvPicPr>
          <p:cNvPr id="8"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6118361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F92F3FD-8566-4B4B-8911-FA6CAEF529EB}"/>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29CA6A43-F28C-467E-9370-07359AF8F797}"/>
              </a:ext>
            </a:extLst>
          </p:cNvPr>
          <p:cNvSpPr>
            <a:spLocks noGrp="1"/>
          </p:cNvSpPr>
          <p:nvPr/>
        </p:nvSpPr>
        <p:spPr>
          <a:xfrm>
            <a:off x="640080" y="384048"/>
            <a:ext cx="10972800" cy="339773"/>
          </a:xfrm>
          <a:prstGeom prst="rect">
            <a:avLst/>
          </a:prstGeom>
          <a:noFill/>
        </p:spPr>
        <p:txBody>
          <a:bodyPr wrap="square" lIns="36576" tIns="36576" rIns="36576" bIns="36576" anchor="t">
            <a:spAutoFit/>
          </a:bodyPr>
          <a:lstStyle/>
          <a:p>
            <a:pPr algn="l">
              <a:lnSpc>
                <a:spcPct val="108000"/>
              </a:lnSpc>
              <a:spcAft>
                <a:spcPts val="400"/>
              </a:spcAft>
              <a:buNone/>
            </a:pPr>
            <a:r>
              <a:rPr sz="1600" b="1" i="0">
                <a:solidFill>
                  <a:srgbClr val="2F6FCB"/>
                </a:solidFill>
                <a:latin typeface="Calibri"/>
                <a:ea typeface="Calibri"/>
                <a:cs typeface="Calibri"/>
              </a:rPr>
              <a:t>BACKUP · FOR QUESTIONS</a:t>
            </a:r>
          </a:p>
        </p:txBody>
      </p:sp>
      <p:sp>
        <p:nvSpPr>
          <p:cNvPr id="4" name="TextBox 3">
            <a:extLst>
              <a:ext uri="{FF2B5EF4-FFF2-40B4-BE49-F238E27FC236}">
                <a16:creationId xmlns:a16="http://schemas.microsoft.com/office/drawing/2014/main" id="{F26C74FF-A6AA-40B8-968C-BAE126F8C1D5}"/>
              </a:ext>
            </a:extLst>
          </p:cNvPr>
          <p:cNvSpPr>
            <a:spLocks noGrp="1"/>
          </p:cNvSpPr>
          <p:nvPr/>
        </p:nvSpPr>
        <p:spPr>
          <a:xfrm>
            <a:off x="640080" y="694944"/>
            <a:ext cx="11155680" cy="605679"/>
          </a:xfrm>
          <a:prstGeom prst="rect">
            <a:avLst/>
          </a:prstGeom>
          <a:noFill/>
        </p:spPr>
        <p:txBody>
          <a:bodyPr wrap="square" lIns="36576" tIns="36576" rIns="36576" bIns="36576" anchor="t">
            <a:spAutoFit/>
          </a:bodyPr>
          <a:lstStyle/>
          <a:p>
            <a:pPr algn="l">
              <a:lnSpc>
                <a:spcPct val="108000"/>
              </a:lnSpc>
              <a:spcAft>
                <a:spcPts val="400"/>
              </a:spcAft>
              <a:buNone/>
            </a:pPr>
            <a:r>
              <a:rPr sz="3200" b="1" i="0">
                <a:solidFill>
                  <a:srgbClr val="1E2A44"/>
                </a:solidFill>
                <a:latin typeface="Cambria"/>
                <a:ea typeface="Cambria"/>
                <a:cs typeface="Cambria"/>
              </a:rPr>
              <a:t>risk_score: The Formal Definition</a:t>
            </a:r>
          </a:p>
        </p:txBody>
      </p:sp>
      <p:sp>
        <p:nvSpPr>
          <p:cNvPr id="5" name="TextBox 4">
            <a:extLst>
              <a:ext uri="{FF2B5EF4-FFF2-40B4-BE49-F238E27FC236}">
                <a16:creationId xmlns:a16="http://schemas.microsoft.com/office/drawing/2014/main" id="{B6B7196E-DC02-49B7-8710-62DDE7DF442E}"/>
              </a:ext>
            </a:extLst>
          </p:cNvPr>
          <p:cNvSpPr>
            <a:spLocks noGrp="1"/>
          </p:cNvSpPr>
          <p:nvPr/>
        </p:nvSpPr>
        <p:spPr>
          <a:xfrm>
            <a:off x="640080" y="6473952"/>
            <a:ext cx="9692640" cy="248401"/>
          </a:xfrm>
          <a:prstGeom prst="rect">
            <a:avLst/>
          </a:prstGeom>
          <a:noFill/>
        </p:spPr>
        <p:txBody>
          <a:bodyPr wrap="square" lIns="36576" tIns="36576" rIns="36576" bIns="36576" anchor="t">
            <a:spAutoFit/>
          </a:bodyPr>
          <a:lstStyle/>
          <a:p>
            <a:pPr algn="l">
              <a:lnSpc>
                <a:spcPct val="108000"/>
              </a:lnSpc>
              <a:spcAft>
                <a:spcPts val="400"/>
              </a:spcAft>
              <a:buNone/>
            </a:pPr>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6" name="TextBox 5">
            <a:extLst>
              <a:ext uri="{FF2B5EF4-FFF2-40B4-BE49-F238E27FC236}">
                <a16:creationId xmlns:a16="http://schemas.microsoft.com/office/drawing/2014/main" id="{7117232A-88AF-4EA3-964F-EFE224ACE5C3}"/>
              </a:ext>
            </a:extLst>
          </p:cNvPr>
          <p:cNvSpPr>
            <a:spLocks noGrp="1"/>
          </p:cNvSpPr>
          <p:nvPr/>
        </p:nvSpPr>
        <p:spPr>
          <a:xfrm>
            <a:off x="11155680" y="6473952"/>
            <a:ext cx="822960" cy="248401"/>
          </a:xfrm>
          <a:prstGeom prst="rect">
            <a:avLst/>
          </a:prstGeom>
          <a:noFill/>
        </p:spPr>
        <p:txBody>
          <a:bodyPr wrap="square" lIns="36576" tIns="36576" rIns="36576" bIns="36576" anchor="t">
            <a:spAutoFit/>
          </a:bodyPr>
          <a:lstStyle/>
          <a:p>
            <a:pPr algn="r">
              <a:lnSpc>
                <a:spcPct val="108000"/>
              </a:lnSpc>
              <a:spcAft>
                <a:spcPts val="400"/>
              </a:spcAft>
              <a:buNone/>
            </a:pPr>
            <a:r>
              <a:rPr sz="1000" b="1" i="0">
                <a:solidFill>
                  <a:srgbClr val="64748C"/>
                </a:solidFill>
                <a:latin typeface="Calibri"/>
                <a:ea typeface="Calibri"/>
                <a:cs typeface="Calibri"/>
              </a:rPr>
              <a:t>36</a:t>
            </a:r>
          </a:p>
        </p:txBody>
      </p:sp>
      <p:sp>
        <p:nvSpPr>
          <p:cNvPr id="7" name="Rounded Rectangle 6">
            <a:extLst>
              <a:ext uri="{FF2B5EF4-FFF2-40B4-BE49-F238E27FC236}">
                <a16:creationId xmlns:a16="http://schemas.microsoft.com/office/drawing/2014/main" id="{FFAC0B12-9EFB-47DB-8A59-AD45AEC7203D}"/>
              </a:ext>
            </a:extLst>
          </p:cNvPr>
          <p:cNvSpPr>
            <a:spLocks noGrp="1"/>
          </p:cNvSpPr>
          <p:nvPr/>
        </p:nvSpPr>
        <p:spPr>
          <a:xfrm>
            <a:off x="640080" y="1600200"/>
            <a:ext cx="10927080" cy="1234440"/>
          </a:xfrm>
          <a:prstGeom prst="roundRect">
            <a:avLst/>
          </a:prstGeom>
          <a:solidFill>
            <a:srgbClr val="14264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8" name="TextBox 7">
            <a:extLst>
              <a:ext uri="{FF2B5EF4-FFF2-40B4-BE49-F238E27FC236}">
                <a16:creationId xmlns:a16="http://schemas.microsoft.com/office/drawing/2014/main" id="{CA060FA5-43F9-421E-BBBA-21380D082D42}"/>
              </a:ext>
            </a:extLst>
          </p:cNvPr>
          <p:cNvSpPr>
            <a:spLocks noGrp="1"/>
          </p:cNvSpPr>
          <p:nvPr/>
        </p:nvSpPr>
        <p:spPr>
          <a:xfrm>
            <a:off x="868680" y="1981041"/>
            <a:ext cx="10515600" cy="472758"/>
          </a:xfrm>
          <a:prstGeom prst="rect">
            <a:avLst/>
          </a:prstGeom>
          <a:noFill/>
        </p:spPr>
        <p:txBody>
          <a:bodyPr wrap="square" lIns="36576" tIns="36576" rIns="36576" bIns="36576" anchor="ctr">
            <a:spAutoFit/>
          </a:bodyPr>
          <a:lstStyle/>
          <a:p>
            <a:pPr algn="l">
              <a:lnSpc>
                <a:spcPct val="108000"/>
              </a:lnSpc>
              <a:spcAft>
                <a:spcPts val="400"/>
              </a:spcAft>
              <a:buNone/>
            </a:pPr>
            <a:r>
              <a:rPr sz="2400" b="1" i="0">
                <a:solidFill>
                  <a:srgbClr val="D5E3F7"/>
                </a:solidFill>
                <a:latin typeface="Consolas"/>
                <a:ea typeface="Consolas"/>
                <a:cs typeface="Consolas"/>
              </a:rPr>
              <a:t>risk_score  =  ( ε + CSM ) × CBS × IP × HR × OC × NM  ÷  EC</a:t>
            </a:r>
          </a:p>
        </p:txBody>
      </p:sp>
      <p:sp>
        <p:nvSpPr>
          <p:cNvPr id="9" name="TextBox 8">
            <a:extLst>
              <a:ext uri="{FF2B5EF4-FFF2-40B4-BE49-F238E27FC236}">
                <a16:creationId xmlns:a16="http://schemas.microsoft.com/office/drawing/2014/main" id="{4446D1F9-0458-4986-B2FF-D588254BFB33}"/>
              </a:ext>
            </a:extLst>
          </p:cNvPr>
          <p:cNvSpPr>
            <a:spLocks noGrp="1"/>
          </p:cNvSpPr>
          <p:nvPr/>
        </p:nvSpPr>
        <p:spPr>
          <a:xfrm>
            <a:off x="640080" y="3063240"/>
            <a:ext cx="11064240" cy="339773"/>
          </a:xfrm>
          <a:prstGeom prst="rect">
            <a:avLst/>
          </a:prstGeom>
          <a:noFill/>
        </p:spPr>
        <p:txBody>
          <a:bodyPr wrap="square" lIns="36576" tIns="36576" rIns="36576" bIns="36576" anchor="t">
            <a:spAutoFit/>
          </a:bodyPr>
          <a:lstStyle/>
          <a:p>
            <a:pPr algn="l">
              <a:lnSpc>
                <a:spcPct val="108000"/>
              </a:lnSpc>
              <a:spcAft>
                <a:spcPts val="400"/>
              </a:spcAft>
              <a:buNone/>
            </a:pPr>
            <a:r>
              <a:rPr sz="1600" b="0" i="1">
                <a:solidFill>
                  <a:srgbClr val="1E2A44"/>
                </a:solidFill>
                <a:latin typeface="Calibri"/>
                <a:ea typeface="Calibri"/>
                <a:cs typeface="Calibri"/>
              </a:rPr>
              <a:t>A transparent, hand-set heuristic: an interpretable score, not a calibrated probability.</a:t>
            </a:r>
          </a:p>
        </p:txBody>
      </p:sp>
      <p:sp>
        <p:nvSpPr>
          <p:cNvPr id="10" name="TextBox 9">
            <a:extLst>
              <a:ext uri="{FF2B5EF4-FFF2-40B4-BE49-F238E27FC236}">
                <a16:creationId xmlns:a16="http://schemas.microsoft.com/office/drawing/2014/main" id="{84FC139A-FF90-4C29-AC88-08A64FFEB4F9}"/>
              </a:ext>
            </a:extLst>
          </p:cNvPr>
          <p:cNvSpPr>
            <a:spLocks noGrp="1"/>
          </p:cNvSpPr>
          <p:nvPr/>
        </p:nvSpPr>
        <p:spPr>
          <a:xfrm>
            <a:off x="868680" y="3611880"/>
            <a:ext cx="10607040" cy="2818720"/>
          </a:xfrm>
          <a:prstGeom prst="rect">
            <a:avLst/>
          </a:prstGeom>
          <a:noFill/>
        </p:spPr>
        <p:txBody>
          <a:bodyPr wrap="square" lIns="36576" tIns="36576" rIns="36576" bIns="36576" anchor="t">
            <a:spAutoFit/>
          </a:bodyPr>
          <a:lstStyle/>
          <a:p>
            <a:pPr algn="l">
              <a:lnSpc>
                <a:spcPct val="112000"/>
              </a:lnSpc>
              <a:spcAft>
                <a:spcPts val="600"/>
              </a:spcAft>
              <a:buNone/>
            </a:pPr>
            <a:r>
              <a:rPr sz="1600" b="1" i="0">
                <a:solidFill>
                  <a:srgbClr val="1D4E89"/>
                </a:solidFill>
                <a:latin typeface="Consolas"/>
                <a:ea typeface="Consolas"/>
                <a:cs typeface="Consolas"/>
              </a:rPr>
              <a:t>ε  </a:t>
            </a:r>
            <a:r>
              <a:rPr sz="1600" b="0" i="0">
                <a:solidFill>
                  <a:srgbClr val="1E2A44"/>
                </a:solidFill>
                <a:latin typeface="Calibri"/>
                <a:ea typeface="Calibri"/>
                <a:cs typeface="Calibri"/>
              </a:rPr>
              <a:t>= small additive smoothing constant</a:t>
            </a:r>
          </a:p>
          <a:p>
            <a:pPr algn="l">
              <a:lnSpc>
                <a:spcPct val="112000"/>
              </a:lnSpc>
              <a:spcAft>
                <a:spcPts val="600"/>
              </a:spcAft>
              <a:buNone/>
            </a:pPr>
            <a:r>
              <a:rPr sz="1600" b="1" i="0">
                <a:solidFill>
                  <a:srgbClr val="1D4E89"/>
                </a:solidFill>
                <a:latin typeface="Consolas"/>
                <a:ea typeface="Consolas"/>
                <a:cs typeface="Consolas"/>
              </a:rPr>
              <a:t>CSM  </a:t>
            </a:r>
            <a:r>
              <a:rPr sz="1600" b="0" i="0">
                <a:solidFill>
                  <a:srgbClr val="1E2A44"/>
                </a:solidFill>
                <a:latin typeface="Calibri"/>
                <a:ea typeface="Calibri"/>
                <a:cs typeface="Calibri"/>
              </a:rPr>
              <a:t>= change-stage match (1 if the modified stage is exercised, else 0)</a:t>
            </a:r>
          </a:p>
          <a:p>
            <a:pPr algn="l">
              <a:lnSpc>
                <a:spcPct val="112000"/>
              </a:lnSpc>
              <a:spcAft>
                <a:spcPts val="600"/>
              </a:spcAft>
              <a:buNone/>
            </a:pPr>
            <a:r>
              <a:rPr sz="1600" b="1" i="0">
                <a:solidFill>
                  <a:srgbClr val="1D4E89"/>
                </a:solidFill>
                <a:latin typeface="Consolas"/>
                <a:ea typeface="Consolas"/>
                <a:cs typeface="Consolas"/>
              </a:rPr>
              <a:t>CBS  </a:t>
            </a:r>
            <a:r>
              <a:rPr sz="1600" b="0" i="0">
                <a:solidFill>
                  <a:srgbClr val="1E2A44"/>
                </a:solidFill>
                <a:latin typeface="Calibri"/>
                <a:ea typeface="Calibri"/>
                <a:cs typeface="Calibri"/>
              </a:rPr>
              <a:t>= circuit-backend sensitivity</a:t>
            </a:r>
          </a:p>
          <a:p>
            <a:pPr algn="l">
              <a:lnSpc>
                <a:spcPct val="112000"/>
              </a:lnSpc>
              <a:spcAft>
                <a:spcPts val="600"/>
              </a:spcAft>
              <a:buNone/>
            </a:pPr>
            <a:r>
              <a:rPr sz="1600" b="1" i="0">
                <a:solidFill>
                  <a:srgbClr val="1D4E89"/>
                </a:solidFill>
                <a:latin typeface="Consolas"/>
                <a:ea typeface="Consolas"/>
                <a:cs typeface="Consolas"/>
              </a:rPr>
              <a:t>IP  </a:t>
            </a:r>
            <a:r>
              <a:rPr sz="1600" b="0" i="0">
                <a:solidFill>
                  <a:srgbClr val="1E2A44"/>
                </a:solidFill>
                <a:latin typeface="Calibri"/>
                <a:ea typeface="Calibri"/>
                <a:cs typeface="Calibri"/>
              </a:rPr>
              <a:t>= impact prior (circuit criticality)</a:t>
            </a:r>
          </a:p>
          <a:p>
            <a:pPr algn="l">
              <a:lnSpc>
                <a:spcPct val="112000"/>
              </a:lnSpc>
              <a:spcAft>
                <a:spcPts val="600"/>
              </a:spcAft>
              <a:buNone/>
            </a:pPr>
            <a:r>
              <a:rPr sz="1600" b="1" i="0">
                <a:solidFill>
                  <a:srgbClr val="1D4E89"/>
                </a:solidFill>
                <a:latin typeface="Consolas"/>
                <a:ea typeface="Consolas"/>
                <a:cs typeface="Consolas"/>
              </a:rPr>
              <a:t>HR  </a:t>
            </a:r>
            <a:r>
              <a:rPr sz="1600" b="0" i="0">
                <a:solidFill>
                  <a:srgbClr val="1E2A44"/>
                </a:solidFill>
                <a:latin typeface="Calibri"/>
                <a:ea typeface="Calibri"/>
                <a:cs typeface="Calibri"/>
              </a:rPr>
              <a:t>= historical risk (1 + prior-failure-rate)</a:t>
            </a:r>
          </a:p>
          <a:p>
            <a:pPr algn="l">
              <a:lnSpc>
                <a:spcPct val="112000"/>
              </a:lnSpc>
              <a:spcAft>
                <a:spcPts val="600"/>
              </a:spcAft>
              <a:buNone/>
            </a:pPr>
            <a:r>
              <a:rPr sz="1600" b="1" i="0">
                <a:solidFill>
                  <a:srgbClr val="1D4E89"/>
                </a:solidFill>
                <a:latin typeface="Consolas"/>
                <a:ea typeface="Consolas"/>
                <a:cs typeface="Consolas"/>
              </a:rPr>
              <a:t>OC  </a:t>
            </a:r>
            <a:r>
              <a:rPr sz="1600" b="0" i="0">
                <a:solidFill>
                  <a:srgbClr val="1E2A44"/>
                </a:solidFill>
                <a:latin typeface="Calibri"/>
                <a:ea typeface="Calibri"/>
                <a:cs typeface="Calibri"/>
              </a:rPr>
              <a:t>= oracle confidence</a:t>
            </a:r>
          </a:p>
          <a:p>
            <a:pPr algn="l">
              <a:lnSpc>
                <a:spcPct val="112000"/>
              </a:lnSpc>
              <a:spcAft>
                <a:spcPts val="600"/>
              </a:spcAft>
              <a:buNone/>
            </a:pPr>
            <a:r>
              <a:rPr sz="1600" b="1" i="0">
                <a:solidFill>
                  <a:srgbClr val="1D4E89"/>
                </a:solidFill>
                <a:latin typeface="Consolas"/>
                <a:ea typeface="Consolas"/>
                <a:cs typeface="Consolas"/>
              </a:rPr>
              <a:t>NM  </a:t>
            </a:r>
            <a:r>
              <a:rPr sz="1600" b="0" i="0">
                <a:solidFill>
                  <a:srgbClr val="1E2A44"/>
                </a:solidFill>
                <a:latin typeface="Calibri"/>
                <a:ea typeface="Calibri"/>
                <a:cs typeface="Calibri"/>
              </a:rPr>
              <a:t>= novelty multiplier (down-weights repeats)</a:t>
            </a:r>
          </a:p>
          <a:p>
            <a:pPr algn="l">
              <a:lnSpc>
                <a:spcPct val="112000"/>
              </a:lnSpc>
              <a:spcAft>
                <a:spcPts val="600"/>
              </a:spcAft>
              <a:buNone/>
            </a:pPr>
            <a:r>
              <a:rPr sz="1600" b="1" i="0">
                <a:solidFill>
                  <a:srgbClr val="1D4E89"/>
                </a:solidFill>
                <a:latin typeface="Consolas"/>
                <a:ea typeface="Consolas"/>
                <a:cs typeface="Consolas"/>
              </a:rPr>
              <a:t>EC  </a:t>
            </a:r>
            <a:r>
              <a:rPr sz="1600" b="0" i="0">
                <a:solidFill>
                  <a:srgbClr val="1E2A44"/>
                </a:solidFill>
                <a:latin typeface="Calibri"/>
                <a:ea typeface="Calibri"/>
                <a:cs typeface="Calibri"/>
              </a:rPr>
              <a:t>= expected cost (transpilation + oracle time)</a:t>
            </a:r>
          </a:p>
        </p:txBody>
      </p:sp>
      <p:pic>
        <p:nvPicPr>
          <p:cNvPr id="11"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5619607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553E2E-8A78-4FC7-AEB3-51CF367960C0}"/>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069A4685-1F66-4E4B-8123-47D49E9EA793}"/>
              </a:ext>
            </a:extLst>
          </p:cNvPr>
          <p:cNvSpPr>
            <a:spLocks noGrp="1"/>
          </p:cNvSpPr>
          <p:nvPr/>
        </p:nvSpPr>
        <p:spPr>
          <a:xfrm>
            <a:off x="640080" y="384048"/>
            <a:ext cx="10972800" cy="301621"/>
          </a:xfrm>
          <a:prstGeom prst="rect">
            <a:avLst/>
          </a:prstGeom>
          <a:noFill/>
        </p:spPr>
        <p:txBody>
          <a:bodyPr wrap="square" lIns="27432" tIns="27432" rIns="27432" bIns="27432">
            <a:spAutoFit/>
          </a:bodyPr>
          <a:lstStyle/>
          <a:p>
            <a:r>
              <a:rPr sz="1600" b="1" i="0">
                <a:solidFill>
                  <a:srgbClr val="2F6FCB"/>
                </a:solidFill>
                <a:latin typeface="Calibri"/>
                <a:ea typeface="Calibri"/>
                <a:cs typeface="Calibri"/>
              </a:rPr>
              <a:t>BACKUP · FOR QUESTIONS</a:t>
            </a:r>
          </a:p>
        </p:txBody>
      </p:sp>
      <p:sp>
        <p:nvSpPr>
          <p:cNvPr id="4" name="TextBox 3">
            <a:extLst>
              <a:ext uri="{FF2B5EF4-FFF2-40B4-BE49-F238E27FC236}">
                <a16:creationId xmlns:a16="http://schemas.microsoft.com/office/drawing/2014/main" id="{271A847D-47DC-4446-B973-4E7660D2C2C3}"/>
              </a:ext>
            </a:extLst>
          </p:cNvPr>
          <p:cNvSpPr>
            <a:spLocks noGrp="1"/>
          </p:cNvSpPr>
          <p:nvPr/>
        </p:nvSpPr>
        <p:spPr>
          <a:xfrm>
            <a:off x="640080" y="694944"/>
            <a:ext cx="11155680" cy="547842"/>
          </a:xfrm>
          <a:prstGeom prst="rect">
            <a:avLst/>
          </a:prstGeom>
          <a:noFill/>
        </p:spPr>
        <p:txBody>
          <a:bodyPr wrap="square" lIns="27432" tIns="27432" rIns="27432" bIns="27432">
            <a:spAutoFit/>
          </a:bodyPr>
          <a:lstStyle/>
          <a:p>
            <a:r>
              <a:rPr sz="3200" b="1" i="0">
                <a:solidFill>
                  <a:srgbClr val="1E2A44"/>
                </a:solidFill>
                <a:latin typeface="Cambria"/>
                <a:ea typeface="Cambria"/>
                <a:cs typeface="Cambria"/>
              </a:rPr>
              <a:t>How Do We Evaluate Something Novel?</a:t>
            </a:r>
          </a:p>
        </p:txBody>
      </p:sp>
      <p:sp>
        <p:nvSpPr>
          <p:cNvPr id="5" name="TextBox 4">
            <a:extLst>
              <a:ext uri="{FF2B5EF4-FFF2-40B4-BE49-F238E27FC236}">
                <a16:creationId xmlns:a16="http://schemas.microsoft.com/office/drawing/2014/main" id="{90DC8E63-9C33-4CB4-A5CE-06C97BA78E4F}"/>
              </a:ext>
            </a:extLst>
          </p:cNvPr>
          <p:cNvSpPr>
            <a:spLocks noGrp="1"/>
          </p:cNvSpPr>
          <p:nvPr/>
        </p:nvSpPr>
        <p:spPr>
          <a:xfrm>
            <a:off x="640080" y="1463040"/>
            <a:ext cx="10972800" cy="547842"/>
          </a:xfrm>
          <a:prstGeom prst="rect">
            <a:avLst/>
          </a:prstGeom>
          <a:noFill/>
        </p:spPr>
        <p:txBody>
          <a:bodyPr wrap="square" lIns="27432" tIns="27432" rIns="27432" bIns="27432">
            <a:spAutoFit/>
          </a:bodyPr>
          <a:lstStyle/>
          <a:p>
            <a:r>
              <a:rPr sz="1600" b="0" i="1">
                <a:solidFill>
                  <a:srgbClr val="1E2A44"/>
                </a:solidFill>
                <a:latin typeface="Calibri"/>
                <a:ea typeface="Calibri"/>
                <a:cs typeface="Calibri"/>
              </a:rPr>
              <a:t>The method is new. The evaluation apparatus is entirely standard. We do not compare against a non-existent rival, so we do what every regression-testing study does:</a:t>
            </a:r>
          </a:p>
        </p:txBody>
      </p:sp>
      <p:sp>
        <p:nvSpPr>
          <p:cNvPr id="6" name="TextBox 5">
            <a:extLst>
              <a:ext uri="{FF2B5EF4-FFF2-40B4-BE49-F238E27FC236}">
                <a16:creationId xmlns:a16="http://schemas.microsoft.com/office/drawing/2014/main" id="{A689F4D6-58E8-4B04-BFD9-A7679EEDC660}"/>
              </a:ext>
            </a:extLst>
          </p:cNvPr>
          <p:cNvSpPr>
            <a:spLocks noGrp="1"/>
          </p:cNvSpPr>
          <p:nvPr/>
        </p:nvSpPr>
        <p:spPr>
          <a:xfrm>
            <a:off x="640080" y="2057400"/>
            <a:ext cx="11064240" cy="4754040"/>
          </a:xfrm>
          <a:prstGeom prst="rect">
            <a:avLst/>
          </a:prstGeom>
          <a:noFill/>
        </p:spPr>
        <p:txBody>
          <a:bodyPr wrap="square" lIns="27432" tIns="27432" rIns="27432" bIns="27432">
            <a:spAutoFit/>
          </a:bodyPr>
          <a:lstStyle/>
          <a:p>
            <a:pPr>
              <a:buNone/>
            </a:pPr>
            <a:r>
              <a:rPr sz="1800" b="1" i="0">
                <a:solidFill>
                  <a:srgbClr val="2F6FCB"/>
                </a:solidFill>
                <a:latin typeface="Calibri"/>
                <a:ea typeface="Calibri"/>
                <a:cs typeface="Calibri"/>
              </a:rPr>
              <a:t>▪  </a:t>
            </a:r>
            <a:r>
              <a:rPr sz="1800" b="1" i="0">
                <a:solidFill>
                  <a:srgbClr val="1D4E89"/>
                </a:solidFill>
                <a:latin typeface="Calibri"/>
                <a:ea typeface="Calibri"/>
                <a:cs typeface="Calibri"/>
              </a:rPr>
              <a:t>Established baselines:  </a:t>
            </a:r>
            <a:r>
              <a:rPr sz="1800" b="0" i="0">
                <a:solidFill>
                  <a:srgbClr val="1E2A44"/>
                </a:solidFill>
                <a:latin typeface="Calibri"/>
                <a:ea typeface="Calibri"/>
                <a:cs typeface="Calibri"/>
              </a:rPr>
              <a:t>the selector is compared against random ordering plus cost-, history-, coverage/diversity- and change-based heuristics: the field-standard set (Yoo &amp; Harman, 2012; Rothermel et al., 2001; Elsner et al., 2021).</a:t>
            </a:r>
          </a:p>
          <a:p>
            <a:pPr>
              <a:buNone/>
            </a:pPr>
            <a:r>
              <a:rPr sz="1800" b="1" i="0">
                <a:solidFill>
                  <a:srgbClr val="2F6FCB"/>
                </a:solidFill>
                <a:latin typeface="Calibri"/>
                <a:ea typeface="Calibri"/>
                <a:cs typeface="Calibri"/>
              </a:rPr>
              <a:t>▪  </a:t>
            </a:r>
            <a:r>
              <a:rPr sz="1800" b="1" i="0">
                <a:solidFill>
                  <a:srgbClr val="1D4E89"/>
                </a:solidFill>
                <a:latin typeface="Calibri"/>
                <a:ea typeface="Calibri"/>
                <a:cs typeface="Calibri"/>
              </a:rPr>
              <a:t>Standard metrics:  </a:t>
            </a:r>
            <a:r>
              <a:rPr sz="1800" b="0" i="0">
                <a:solidFill>
                  <a:srgbClr val="1E2A44"/>
                </a:solidFill>
                <a:latin typeface="Calibri"/>
                <a:ea typeface="Calibri"/>
                <a:cs typeface="Calibri"/>
              </a:rPr>
              <a:t>APFD (Rothermel et al., 2001), cost-cognizant APFDc (Elbaum et al., 2001), recall@budget and detection-vs-budget AUC (Machalica et al., 2019), selection overhead (Wang et al., 2026), diversity coverage (Feldt et al., 2016), oracle false-positive rate (Kang et al., 2024), and inter-rater κ (Cohen, 1960; Fleiss, 1971).</a:t>
            </a:r>
          </a:p>
          <a:p>
            <a:pPr>
              <a:buNone/>
            </a:pPr>
            <a:r>
              <a:rPr sz="1800" b="1" i="0">
                <a:solidFill>
                  <a:srgbClr val="2F6FCB"/>
                </a:solidFill>
                <a:latin typeface="Calibri"/>
                <a:ea typeface="Calibri"/>
                <a:cs typeface="Calibri"/>
              </a:rPr>
              <a:t>▪  </a:t>
            </a:r>
            <a:r>
              <a:rPr sz="1800" b="1" i="0">
                <a:solidFill>
                  <a:srgbClr val="1D4E89"/>
                </a:solidFill>
                <a:latin typeface="Calibri"/>
                <a:ea typeface="Calibri"/>
                <a:cs typeface="Calibri"/>
              </a:rPr>
              <a:t>Real ground truth:  </a:t>
            </a:r>
            <a:r>
              <a:rPr sz="1800" b="0" i="0">
                <a:solidFill>
                  <a:srgbClr val="1E2A44"/>
                </a:solidFill>
                <a:latin typeface="Calibri"/>
                <a:ea typeface="Calibri"/>
                <a:cs typeface="Calibri"/>
              </a:rPr>
              <a:t>evaluation on real, historical Qiskit regressions where the correct answer is known (e.g., a bug the output oracle passed but the matched oracle caught).</a:t>
            </a:r>
          </a:p>
          <a:p>
            <a:pPr>
              <a:buNone/>
            </a:pPr>
            <a:r>
              <a:rPr sz="1800" b="1" i="0">
                <a:solidFill>
                  <a:srgbClr val="2F6FCB"/>
                </a:solidFill>
                <a:latin typeface="Calibri"/>
                <a:ea typeface="Calibri"/>
                <a:cs typeface="Calibri"/>
              </a:rPr>
              <a:t>▪  </a:t>
            </a:r>
            <a:r>
              <a:rPr sz="1800" b="1" i="0">
                <a:solidFill>
                  <a:srgbClr val="1D4E89"/>
                </a:solidFill>
                <a:latin typeface="Calibri"/>
                <a:ea typeface="Calibri"/>
                <a:cs typeface="Calibri"/>
              </a:rPr>
              <a:t>Ablation:  </a:t>
            </a:r>
            <a:r>
              <a:rPr sz="1800" b="0" i="0">
                <a:solidFill>
                  <a:srgbClr val="1E2A44"/>
                </a:solidFill>
                <a:latin typeface="Calibri"/>
                <a:ea typeface="Calibri"/>
                <a:cs typeface="Calibri"/>
              </a:rPr>
              <a:t>quantum-specific components are switched off one at a time to show which actually carry the effect: the method is compared against reduced versions of itself.</a:t>
            </a:r>
          </a:p>
          <a:p>
            <a:pPr>
              <a:buNone/>
            </a:pPr>
            <a:r>
              <a:rPr sz="1800" b="1" i="0">
                <a:solidFill>
                  <a:srgbClr val="2F6FCB"/>
                </a:solidFill>
                <a:latin typeface="Calibri"/>
                <a:ea typeface="Calibri"/>
                <a:cs typeface="Calibri"/>
              </a:rPr>
              <a:t>▪  </a:t>
            </a:r>
            <a:r>
              <a:rPr sz="1800" b="1" i="0">
                <a:solidFill>
                  <a:srgbClr val="1D4E89"/>
                </a:solidFill>
                <a:latin typeface="Calibri"/>
                <a:ea typeface="Calibri"/>
                <a:cs typeface="Calibri"/>
              </a:rPr>
              <a:t>Self-audit:  </a:t>
            </a:r>
            <a:r>
              <a:rPr sz="1800" b="0" i="0">
                <a:solidFill>
                  <a:srgbClr val="1E2A44"/>
                </a:solidFill>
                <a:latin typeface="Calibri"/>
                <a:ea typeface="Calibri"/>
                <a:cs typeface="Calibri"/>
              </a:rPr>
              <a:t>six leakage-safe validity gates make every result reproducible and trustworthy, independent of any competitor.</a:t>
            </a:r>
          </a:p>
          <a:p>
            <a:pPr>
              <a:buNone/>
            </a:pPr>
            <a:r>
              <a:rPr sz="1800" b="1">
                <a:solidFill>
                  <a:srgbClr val="2F6FCB"/>
                </a:solidFill>
                <a:latin typeface="Calibri"/>
                <a:ea typeface="Calibri"/>
                <a:cs typeface="Calibri"/>
              </a:rPr>
              <a:t>▪  </a:t>
            </a:r>
            <a:r>
              <a:rPr sz="1800" b="1">
                <a:solidFill>
                  <a:srgbClr val="1D4E89"/>
                </a:solidFill>
                <a:latin typeface="Calibri"/>
                <a:ea typeface="Calibri"/>
                <a:cs typeface="Calibri"/>
              </a:rPr>
              <a:t>Unit of analysis:  </a:t>
            </a:r>
            <a:r>
              <a:rPr sz="1800">
                <a:solidFill>
                  <a:srgbClr val="1E2A44"/>
                </a:solidFill>
                <a:latin typeface="Calibri"/>
                <a:ea typeface="Calibri"/>
                <a:cs typeface="Calibri"/>
              </a:rPr>
              <a:t>the regression event is the independent unit, and test-oracle pairs are nested observations, not independent replications.</a:t>
            </a:r>
          </a:p>
        </p:txBody>
      </p:sp>
      <p:sp>
        <p:nvSpPr>
          <p:cNvPr id="8" name="TextBox 7">
            <a:extLst>
              <a:ext uri="{FF2B5EF4-FFF2-40B4-BE49-F238E27FC236}">
                <a16:creationId xmlns:a16="http://schemas.microsoft.com/office/drawing/2014/main" id="{C501485F-A052-4BE4-B62E-EF7025368102}"/>
              </a:ext>
            </a:extLst>
          </p:cNvPr>
          <p:cNvSpPr>
            <a:spLocks noGrp="1"/>
          </p:cNvSpPr>
          <p:nvPr/>
        </p:nvSpPr>
        <p:spPr>
          <a:xfrm>
            <a:off x="640080" y="6473952"/>
            <a:ext cx="9692640" cy="209288"/>
          </a:xfrm>
          <a:prstGeom prst="rect">
            <a:avLst/>
          </a:prstGeom>
          <a:noFill/>
        </p:spPr>
        <p:txBody>
          <a:bodyPr wrap="square" lIns="27432" tIns="27432" rIns="27432" bIns="27432">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9" name="TextBox 8">
            <a:extLst>
              <a:ext uri="{FF2B5EF4-FFF2-40B4-BE49-F238E27FC236}">
                <a16:creationId xmlns:a16="http://schemas.microsoft.com/office/drawing/2014/main" id="{6EC589BA-6808-49BF-9639-868C1E5D6C83}"/>
              </a:ext>
            </a:extLst>
          </p:cNvPr>
          <p:cNvSpPr>
            <a:spLocks noGrp="1"/>
          </p:cNvSpPr>
          <p:nvPr/>
        </p:nvSpPr>
        <p:spPr>
          <a:xfrm>
            <a:off x="11155680" y="6473952"/>
            <a:ext cx="822960" cy="209288"/>
          </a:xfrm>
          <a:prstGeom prst="rect">
            <a:avLst/>
          </a:prstGeom>
          <a:noFill/>
        </p:spPr>
        <p:txBody>
          <a:bodyPr wrap="square" lIns="27432" tIns="27432" rIns="27432" bIns="27432">
            <a:spAutoFit/>
          </a:bodyPr>
          <a:lstStyle/>
          <a:p>
            <a:pPr algn="r">
              <a:buNone/>
            </a:pPr>
            <a:r>
              <a:rPr sz="1000" b="1" i="0">
                <a:solidFill>
                  <a:srgbClr val="64748C"/>
                </a:solidFill>
                <a:latin typeface="Calibri"/>
                <a:ea typeface="Calibri"/>
                <a:cs typeface="Calibri"/>
              </a:rPr>
              <a:t>37</a:t>
            </a:r>
          </a:p>
        </p:txBody>
      </p:sp>
      <p:pic>
        <p:nvPicPr>
          <p:cNvPr id="10"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8059832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B66F64-5157-41D4-92FD-AFEAE19AF4B3}"/>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A941BDFD-AFD7-4B99-BA84-E6BB84A0CF32}"/>
              </a:ext>
            </a:extLst>
          </p:cNvPr>
          <p:cNvSpPr>
            <a:spLocks noGrp="1"/>
          </p:cNvSpPr>
          <p:nvPr/>
        </p:nvSpPr>
        <p:spPr>
          <a:xfrm>
            <a:off x="640080" y="384048"/>
            <a:ext cx="10972800" cy="301621"/>
          </a:xfrm>
          <a:prstGeom prst="rect">
            <a:avLst/>
          </a:prstGeom>
          <a:noFill/>
        </p:spPr>
        <p:txBody>
          <a:bodyPr wrap="square" lIns="27432" tIns="27432" rIns="27432" bIns="27432">
            <a:spAutoFit/>
          </a:bodyPr>
          <a:lstStyle/>
          <a:p>
            <a:r>
              <a:rPr sz="1600" b="1" i="0">
                <a:solidFill>
                  <a:srgbClr val="2F6FCB"/>
                </a:solidFill>
                <a:latin typeface="Calibri"/>
                <a:ea typeface="Calibri"/>
                <a:cs typeface="Calibri"/>
              </a:rPr>
              <a:t>BACKUP · FOR QUESTIONS</a:t>
            </a:r>
          </a:p>
        </p:txBody>
      </p:sp>
      <p:sp>
        <p:nvSpPr>
          <p:cNvPr id="4" name="TextBox 3">
            <a:extLst>
              <a:ext uri="{FF2B5EF4-FFF2-40B4-BE49-F238E27FC236}">
                <a16:creationId xmlns:a16="http://schemas.microsoft.com/office/drawing/2014/main" id="{6DF81AF7-AE63-4642-A18F-5DA2BDAEEB55}"/>
              </a:ext>
            </a:extLst>
          </p:cNvPr>
          <p:cNvSpPr>
            <a:spLocks noGrp="1"/>
          </p:cNvSpPr>
          <p:nvPr/>
        </p:nvSpPr>
        <p:spPr>
          <a:xfrm>
            <a:off x="640080" y="694944"/>
            <a:ext cx="11155680" cy="547842"/>
          </a:xfrm>
          <a:prstGeom prst="rect">
            <a:avLst/>
          </a:prstGeom>
          <a:noFill/>
        </p:spPr>
        <p:txBody>
          <a:bodyPr wrap="square" lIns="27432" tIns="27432" rIns="27432" bIns="27432">
            <a:spAutoFit/>
          </a:bodyPr>
          <a:lstStyle/>
          <a:p>
            <a:r>
              <a:rPr sz="3200" b="1" i="0">
                <a:solidFill>
                  <a:srgbClr val="1E2A44"/>
                </a:solidFill>
                <a:latin typeface="Cambria"/>
                <a:ea typeface="Cambria"/>
                <a:cs typeface="Cambria"/>
              </a:rPr>
              <a:t>Where the Tested Regressions Come From</a:t>
            </a:r>
          </a:p>
        </p:txBody>
      </p:sp>
      <p:sp>
        <p:nvSpPr>
          <p:cNvPr id="5" name="TextBox 4">
            <a:extLst>
              <a:ext uri="{FF2B5EF4-FFF2-40B4-BE49-F238E27FC236}">
                <a16:creationId xmlns:a16="http://schemas.microsoft.com/office/drawing/2014/main" id="{BAFC8D98-B2D7-4AD7-9E43-EF39A61E3A79}"/>
              </a:ext>
            </a:extLst>
          </p:cNvPr>
          <p:cNvSpPr>
            <a:spLocks noGrp="1"/>
          </p:cNvSpPr>
          <p:nvPr/>
        </p:nvSpPr>
        <p:spPr>
          <a:xfrm>
            <a:off x="640080" y="1463040"/>
            <a:ext cx="11064240" cy="547842"/>
          </a:xfrm>
          <a:prstGeom prst="rect">
            <a:avLst/>
          </a:prstGeom>
          <a:noFill/>
        </p:spPr>
        <p:txBody>
          <a:bodyPr wrap="square" lIns="27432" tIns="27432" rIns="27432" bIns="27432">
            <a:spAutoFit/>
          </a:bodyPr>
          <a:lstStyle/>
          <a:p>
            <a:r>
              <a:rPr sz="1600" b="0" i="1">
                <a:solidFill>
                  <a:srgbClr val="1E2A44"/>
                </a:solidFill>
                <a:latin typeface="Calibri"/>
                <a:ea typeface="Calibri"/>
                <a:cs typeface="Calibri"/>
              </a:rPr>
              <a:t>The events (e.g., H1 = PR #14603, H4 = PR #14120) are not “just GitHub”: for an open-source SDK the repository IS the authoritative primary record.</a:t>
            </a:r>
          </a:p>
        </p:txBody>
      </p:sp>
      <p:sp>
        <p:nvSpPr>
          <p:cNvPr id="6" name="TextBox 5">
            <a:extLst>
              <a:ext uri="{FF2B5EF4-FFF2-40B4-BE49-F238E27FC236}">
                <a16:creationId xmlns:a16="http://schemas.microsoft.com/office/drawing/2014/main" id="{A609D9C5-E3B2-4A99-95E1-661CEA417B21}"/>
              </a:ext>
            </a:extLst>
          </p:cNvPr>
          <p:cNvSpPr>
            <a:spLocks noGrp="1"/>
          </p:cNvSpPr>
          <p:nvPr/>
        </p:nvSpPr>
        <p:spPr>
          <a:xfrm>
            <a:off x="640080" y="2057400"/>
            <a:ext cx="11064240" cy="3697422"/>
          </a:xfrm>
          <a:prstGeom prst="rect">
            <a:avLst/>
          </a:prstGeom>
          <a:noFill/>
        </p:spPr>
        <p:txBody>
          <a:bodyPr wrap="square" lIns="27432" tIns="27432" rIns="27432" bIns="27432">
            <a:spAutoFit/>
          </a:bodyPr>
          <a:lstStyle/>
          <a:p>
            <a:pPr>
              <a:spcAft>
                <a:spcPts val="1100"/>
              </a:spcAft>
              <a:buNone/>
            </a:pPr>
            <a:r>
              <a:rPr sz="2000" b="1" i="0">
                <a:solidFill>
                  <a:srgbClr val="2F6FCB"/>
                </a:solidFill>
                <a:latin typeface="Calibri"/>
                <a:ea typeface="Calibri"/>
                <a:cs typeface="Calibri"/>
              </a:rPr>
              <a:t>▪  </a:t>
            </a:r>
            <a:r>
              <a:rPr sz="2000" b="1" i="0">
                <a:solidFill>
                  <a:srgbClr val="1D4E89"/>
                </a:solidFill>
                <a:latin typeface="Calibri"/>
                <a:ea typeface="Calibri"/>
                <a:cs typeface="Calibri"/>
              </a:rPr>
              <a:t>Canonical primary source:  </a:t>
            </a:r>
            <a:r>
              <a:rPr sz="2000" b="0" i="0">
                <a:solidFill>
                  <a:srgbClr val="1E2A44"/>
                </a:solidFill>
                <a:latin typeface="Calibri"/>
                <a:ea typeface="Calibri"/>
                <a:cs typeface="Calibri"/>
              </a:rPr>
              <a:t>merged pull requests, their linked issues, and release notes are the official record of what changed and why: permanent and citable.</a:t>
            </a:r>
          </a:p>
          <a:p>
            <a:pPr>
              <a:spcAft>
                <a:spcPts val="1100"/>
              </a:spcAft>
              <a:buNone/>
            </a:pPr>
            <a:r>
              <a:rPr sz="2000" b="1" i="0">
                <a:solidFill>
                  <a:srgbClr val="2F6FCB"/>
                </a:solidFill>
                <a:latin typeface="Calibri"/>
                <a:ea typeface="Calibri"/>
                <a:cs typeface="Calibri"/>
              </a:rPr>
              <a:t>▪  </a:t>
            </a:r>
            <a:r>
              <a:rPr sz="2000" b="1" i="0">
                <a:solidFill>
                  <a:srgbClr val="1D4E89"/>
                </a:solidFill>
                <a:latin typeface="Calibri"/>
                <a:ea typeface="Calibri"/>
                <a:cs typeface="Calibri"/>
              </a:rPr>
              <a:t>Standard methodology:  </a:t>
            </a:r>
            <a:r>
              <a:rPr sz="2000" b="0" i="0">
                <a:solidFill>
                  <a:srgbClr val="1E2A44"/>
                </a:solidFill>
                <a:latin typeface="Calibri"/>
                <a:ea typeface="Calibri"/>
                <a:cs typeface="Calibri"/>
              </a:rPr>
              <a:t>mining merged bug-fix commits is established empirical-software-engineering practice, the SZZ / Mining-Software-Repositories line (Śliwerski et al., 2005).</a:t>
            </a:r>
          </a:p>
          <a:p>
            <a:pPr>
              <a:spcAft>
                <a:spcPts val="1100"/>
              </a:spcAft>
              <a:buNone/>
            </a:pPr>
            <a:r>
              <a:rPr sz="2000" b="1" i="0">
                <a:solidFill>
                  <a:srgbClr val="2F6FCB"/>
                </a:solidFill>
                <a:latin typeface="Calibri"/>
                <a:ea typeface="Calibri"/>
                <a:cs typeface="Calibri"/>
              </a:rPr>
              <a:t>▪  </a:t>
            </a:r>
            <a:r>
              <a:rPr sz="2000" b="1" i="0">
                <a:solidFill>
                  <a:srgbClr val="1D4E89"/>
                </a:solidFill>
                <a:latin typeface="Calibri"/>
                <a:ea typeface="Calibri"/>
                <a:cs typeface="Calibri"/>
              </a:rPr>
              <a:t>Same source as accepted benchmarks:  </a:t>
            </a:r>
            <a:r>
              <a:rPr sz="2000" b="0" i="0">
                <a:solidFill>
                  <a:srgbClr val="1E2A44"/>
                </a:solidFill>
                <a:latin typeface="Calibri"/>
                <a:ea typeface="Calibri"/>
                <a:cs typeface="Calibri"/>
              </a:rPr>
              <a:t>Bugs4Q curates real Qiskit bugs from this history (Zhao et al., 2023), and Paltenghi and Pradel (2022) mined 223 real platform bugs the same way.</a:t>
            </a:r>
          </a:p>
          <a:p>
            <a:pPr>
              <a:spcAft>
                <a:spcPts val="1100"/>
              </a:spcAft>
              <a:buNone/>
            </a:pPr>
            <a:r>
              <a:rPr sz="2000" b="1" i="0">
                <a:solidFill>
                  <a:srgbClr val="2F6FCB"/>
                </a:solidFill>
                <a:latin typeface="Calibri"/>
                <a:ea typeface="Calibri"/>
                <a:cs typeface="Calibri"/>
              </a:rPr>
              <a:t>▪  </a:t>
            </a:r>
            <a:r>
              <a:rPr sz="2000" b="1" i="0">
                <a:solidFill>
                  <a:srgbClr val="1D4E89"/>
                </a:solidFill>
                <a:latin typeface="Calibri"/>
                <a:ea typeface="Calibri"/>
                <a:cs typeface="Calibri"/>
              </a:rPr>
              <a:t>Full traceability:  </a:t>
            </a:r>
            <a:r>
              <a:rPr sz="2000" b="0" i="0">
                <a:solidFill>
                  <a:srgbClr val="1E2A44"/>
                </a:solidFill>
                <a:latin typeface="Calibri"/>
                <a:ea typeface="Calibri"/>
                <a:cs typeface="Calibri"/>
              </a:rPr>
              <a:t>each event linked to inducing/fixing PR + issue thread + release note. All IDs, revisions and build scripts released for reproduction.</a:t>
            </a:r>
          </a:p>
          <a:p>
            <a:pPr>
              <a:spcAft>
                <a:spcPts val="1100"/>
              </a:spcAft>
              <a:buNone/>
            </a:pPr>
            <a:r>
              <a:rPr sz="2000" b="1" i="0">
                <a:solidFill>
                  <a:srgbClr val="2F6FCB"/>
                </a:solidFill>
                <a:latin typeface="Calibri"/>
                <a:ea typeface="Calibri"/>
                <a:cs typeface="Calibri"/>
              </a:rPr>
              <a:t>▪  </a:t>
            </a:r>
            <a:r>
              <a:rPr sz="2000" b="1" i="0">
                <a:solidFill>
                  <a:srgbClr val="1D4E89"/>
                </a:solidFill>
                <a:latin typeface="Calibri"/>
                <a:ea typeface="Calibri"/>
                <a:cs typeface="Calibri"/>
              </a:rPr>
              <a:t>Why not RFCs:  </a:t>
            </a:r>
            <a:r>
              <a:rPr sz="2000" b="0" i="0">
                <a:solidFill>
                  <a:srgbClr val="1E2A44"/>
                </a:solidFill>
                <a:latin typeface="Calibri"/>
                <a:ea typeface="Calibri"/>
                <a:cs typeface="Calibri"/>
              </a:rPr>
              <a:t>Qiskit RFCs cover major design changes, not routine bug fixes. Those live in the PR + release-note record, which is the correct provenance.</a:t>
            </a:r>
          </a:p>
        </p:txBody>
      </p:sp>
      <p:sp>
        <p:nvSpPr>
          <p:cNvPr id="7" name="TextBox 6">
            <a:extLst>
              <a:ext uri="{FF2B5EF4-FFF2-40B4-BE49-F238E27FC236}">
                <a16:creationId xmlns:a16="http://schemas.microsoft.com/office/drawing/2014/main" id="{13B47BE7-4A48-49A9-8995-2CF445FAB840}"/>
              </a:ext>
            </a:extLst>
          </p:cNvPr>
          <p:cNvSpPr>
            <a:spLocks noGrp="1"/>
          </p:cNvSpPr>
          <p:nvPr/>
        </p:nvSpPr>
        <p:spPr>
          <a:xfrm>
            <a:off x="640080" y="5989320"/>
            <a:ext cx="11064240" cy="301621"/>
          </a:xfrm>
          <a:prstGeom prst="rect">
            <a:avLst/>
          </a:prstGeom>
          <a:noFill/>
        </p:spPr>
        <p:txBody>
          <a:bodyPr wrap="square" lIns="27432" tIns="27432" rIns="27432" bIns="27432">
            <a:spAutoFit/>
          </a:bodyPr>
          <a:lstStyle/>
          <a:p>
            <a:r>
              <a:rPr sz="1600" b="0" i="1">
                <a:solidFill>
                  <a:srgbClr val="64748C"/>
                </a:solidFill>
                <a:latin typeface="Calibri"/>
                <a:ea typeface="Calibri"/>
                <a:cs typeface="Calibri"/>
              </a:rPr>
              <a:t>Every tested regression is traceable to a permanent, verifiable record, more so than most secondary sources.</a:t>
            </a:r>
          </a:p>
        </p:txBody>
      </p:sp>
      <p:sp>
        <p:nvSpPr>
          <p:cNvPr id="8" name="TextBox 7">
            <a:extLst>
              <a:ext uri="{FF2B5EF4-FFF2-40B4-BE49-F238E27FC236}">
                <a16:creationId xmlns:a16="http://schemas.microsoft.com/office/drawing/2014/main" id="{4A4A6840-C733-4E3B-8379-152A618B657C}"/>
              </a:ext>
            </a:extLst>
          </p:cNvPr>
          <p:cNvSpPr>
            <a:spLocks noGrp="1"/>
          </p:cNvSpPr>
          <p:nvPr/>
        </p:nvSpPr>
        <p:spPr>
          <a:xfrm>
            <a:off x="640080" y="6473952"/>
            <a:ext cx="9692640" cy="209288"/>
          </a:xfrm>
          <a:prstGeom prst="rect">
            <a:avLst/>
          </a:prstGeom>
          <a:noFill/>
        </p:spPr>
        <p:txBody>
          <a:bodyPr wrap="square" lIns="27432" tIns="27432" rIns="27432" bIns="27432">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9" name="TextBox 8">
            <a:extLst>
              <a:ext uri="{FF2B5EF4-FFF2-40B4-BE49-F238E27FC236}">
                <a16:creationId xmlns:a16="http://schemas.microsoft.com/office/drawing/2014/main" id="{734F58CB-B2D0-4048-8B3E-4ECB2C2C7E0C}"/>
              </a:ext>
            </a:extLst>
          </p:cNvPr>
          <p:cNvSpPr>
            <a:spLocks noGrp="1"/>
          </p:cNvSpPr>
          <p:nvPr/>
        </p:nvSpPr>
        <p:spPr>
          <a:xfrm>
            <a:off x="11155680" y="6473952"/>
            <a:ext cx="822960" cy="209288"/>
          </a:xfrm>
          <a:prstGeom prst="rect">
            <a:avLst/>
          </a:prstGeom>
          <a:noFill/>
        </p:spPr>
        <p:txBody>
          <a:bodyPr wrap="square" lIns="27432" tIns="27432" rIns="27432" bIns="27432">
            <a:spAutoFit/>
          </a:bodyPr>
          <a:lstStyle/>
          <a:p>
            <a:pPr algn="r">
              <a:buNone/>
            </a:pPr>
            <a:r>
              <a:rPr sz="1000" b="1" i="0">
                <a:solidFill>
                  <a:srgbClr val="64748C"/>
                </a:solidFill>
                <a:latin typeface="Calibri"/>
                <a:ea typeface="Calibri"/>
                <a:cs typeface="Calibri"/>
              </a:rPr>
              <a:t>38</a:t>
            </a:r>
          </a:p>
        </p:txBody>
      </p:sp>
      <p:pic>
        <p:nvPicPr>
          <p:cNvPr id="10"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20956340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0824DA0-841E-4BB1-8E0A-2DB93CDC46C7}"/>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F0F68FDA-6140-4348-B8D2-0D7F3A0E4344}"/>
              </a:ext>
            </a:extLst>
          </p:cNvPr>
          <p:cNvSpPr>
            <a:spLocks noGrp="1"/>
          </p:cNvSpPr>
          <p:nvPr/>
        </p:nvSpPr>
        <p:spPr>
          <a:xfrm>
            <a:off x="640080" y="384048"/>
            <a:ext cx="10972800" cy="358240"/>
          </a:xfrm>
          <a:prstGeom prst="rect">
            <a:avLst/>
          </a:prstGeom>
          <a:noFill/>
        </p:spPr>
        <p:txBody>
          <a:bodyPr wrap="square" lIns="45720" rIns="45720" anchor="t">
            <a:spAutoFit/>
          </a:bodyPr>
          <a:lstStyle/>
          <a:p>
            <a:pPr algn="l">
              <a:lnSpc>
                <a:spcPct val="108000"/>
              </a:lnSpc>
              <a:spcAft>
                <a:spcPts val="400"/>
              </a:spcAft>
              <a:buNone/>
            </a:pPr>
            <a:r>
              <a:rPr sz="1600" b="1" i="0">
                <a:solidFill>
                  <a:srgbClr val="2F6FCB"/>
                </a:solidFill>
                <a:latin typeface="Calibri"/>
                <a:ea typeface="Calibri"/>
                <a:cs typeface="Calibri"/>
              </a:rPr>
              <a:t>BACKUP · FOR QUESTIONS</a:t>
            </a:r>
          </a:p>
        </p:txBody>
      </p:sp>
      <p:sp>
        <p:nvSpPr>
          <p:cNvPr id="4" name="TextBox 3">
            <a:extLst>
              <a:ext uri="{FF2B5EF4-FFF2-40B4-BE49-F238E27FC236}">
                <a16:creationId xmlns:a16="http://schemas.microsoft.com/office/drawing/2014/main" id="{F19D8F4B-250E-464C-876E-2BA5A631DC30}"/>
              </a:ext>
            </a:extLst>
          </p:cNvPr>
          <p:cNvSpPr>
            <a:spLocks noGrp="1"/>
          </p:cNvSpPr>
          <p:nvPr/>
        </p:nvSpPr>
        <p:spPr>
          <a:xfrm>
            <a:off x="640080" y="694944"/>
            <a:ext cx="11155680" cy="624145"/>
          </a:xfrm>
          <a:prstGeom prst="rect">
            <a:avLst/>
          </a:prstGeom>
          <a:noFill/>
        </p:spPr>
        <p:txBody>
          <a:bodyPr wrap="square" lIns="45720" rIns="45720" anchor="t">
            <a:spAutoFit/>
          </a:bodyPr>
          <a:lstStyle/>
          <a:p>
            <a:pPr algn="l">
              <a:lnSpc>
                <a:spcPct val="108000"/>
              </a:lnSpc>
              <a:spcAft>
                <a:spcPts val="400"/>
              </a:spcAft>
              <a:buNone/>
            </a:pPr>
            <a:r>
              <a:rPr sz="3200" b="1" i="0">
                <a:solidFill>
                  <a:srgbClr val="1E2A44"/>
                </a:solidFill>
                <a:latin typeface="Cambria"/>
                <a:ea typeface="Cambria"/>
                <a:cs typeface="Cambria"/>
              </a:rPr>
              <a:t>Why Qiskit? A Fast-Moving Transpiler</a:t>
            </a:r>
          </a:p>
        </p:txBody>
      </p:sp>
      <p:sp>
        <p:nvSpPr>
          <p:cNvPr id="5" name="Rounded Rectangle 4">
            <a:extLst>
              <a:ext uri="{FF2B5EF4-FFF2-40B4-BE49-F238E27FC236}">
                <a16:creationId xmlns:a16="http://schemas.microsoft.com/office/drawing/2014/main" id="{D30CB448-4916-4C36-AE49-C58CA7543931}"/>
              </a:ext>
            </a:extLst>
          </p:cNvPr>
          <p:cNvSpPr>
            <a:spLocks noGrp="1"/>
          </p:cNvSpPr>
          <p:nvPr/>
        </p:nvSpPr>
        <p:spPr>
          <a:xfrm>
            <a:off x="640080" y="1481328"/>
            <a:ext cx="10927080" cy="749808"/>
          </a:xfrm>
          <a:prstGeom prst="roundRect">
            <a:avLst/>
          </a:prstGeom>
          <a:solidFill>
            <a:srgbClr val="F1F6FC"/>
          </a:solidFill>
          <a:ln w="15875">
            <a:solidFill>
              <a:srgbClr val="2F6FC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6" name="TextBox 5">
            <a:extLst>
              <a:ext uri="{FF2B5EF4-FFF2-40B4-BE49-F238E27FC236}">
                <a16:creationId xmlns:a16="http://schemas.microsoft.com/office/drawing/2014/main" id="{A043F8BB-8234-4DBB-822F-804B0899C29C}"/>
              </a:ext>
            </a:extLst>
          </p:cNvPr>
          <p:cNvSpPr>
            <a:spLocks noGrp="1"/>
          </p:cNvSpPr>
          <p:nvPr/>
        </p:nvSpPr>
        <p:spPr>
          <a:xfrm>
            <a:off x="822960" y="1660474"/>
            <a:ext cx="10561320" cy="391517"/>
          </a:xfrm>
          <a:prstGeom prst="rect">
            <a:avLst/>
          </a:prstGeom>
          <a:noFill/>
        </p:spPr>
        <p:txBody>
          <a:bodyPr wrap="square" lIns="45720" rIns="45720" anchor="ctr">
            <a:spAutoFit/>
          </a:bodyPr>
          <a:lstStyle/>
          <a:p>
            <a:pPr algn="l">
              <a:lnSpc>
                <a:spcPct val="108000"/>
              </a:lnSpc>
              <a:spcAft>
                <a:spcPts val="400"/>
              </a:spcAft>
              <a:buNone/>
            </a:pPr>
            <a:r>
              <a:rPr b="1" i="0">
                <a:solidFill>
                  <a:srgbClr val="1D4E89"/>
                </a:solidFill>
                <a:latin typeface="Calibri"/>
                <a:ea typeface="Calibri"/>
                <a:cs typeface="Calibri"/>
              </a:rPr>
              <a:t>Qiskit ships a new minor version about every three months, and almost every release changes the transpiler.</a:t>
            </a:r>
          </a:p>
        </p:txBody>
      </p:sp>
      <p:sp>
        <p:nvSpPr>
          <p:cNvPr id="7" name="Rounded Rectangle 6">
            <a:extLst>
              <a:ext uri="{FF2B5EF4-FFF2-40B4-BE49-F238E27FC236}">
                <a16:creationId xmlns:a16="http://schemas.microsoft.com/office/drawing/2014/main" id="{225F818A-4582-44E4-9322-9F0445B2F4AE}"/>
              </a:ext>
            </a:extLst>
          </p:cNvPr>
          <p:cNvSpPr>
            <a:spLocks noGrp="1"/>
          </p:cNvSpPr>
          <p:nvPr/>
        </p:nvSpPr>
        <p:spPr>
          <a:xfrm>
            <a:off x="640080" y="2450592"/>
            <a:ext cx="5440680" cy="2697480"/>
          </a:xfrm>
          <a:prstGeom prst="roundRect">
            <a:avLst/>
          </a:prstGeom>
          <a:solidFill>
            <a:srgbClr val="F2F5FA"/>
          </a:solidFill>
          <a:ln w="15875">
            <a:solidFill>
              <a:srgbClr val="2F6FC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8" name="TextBox 7">
            <a:extLst>
              <a:ext uri="{FF2B5EF4-FFF2-40B4-BE49-F238E27FC236}">
                <a16:creationId xmlns:a16="http://schemas.microsoft.com/office/drawing/2014/main" id="{ABFCDEE7-2136-440D-B17C-6E65034E817D}"/>
              </a:ext>
            </a:extLst>
          </p:cNvPr>
          <p:cNvSpPr>
            <a:spLocks noGrp="1"/>
          </p:cNvSpPr>
          <p:nvPr/>
        </p:nvSpPr>
        <p:spPr>
          <a:xfrm>
            <a:off x="868680" y="2578608"/>
            <a:ext cx="5029200" cy="358240"/>
          </a:xfrm>
          <a:prstGeom prst="rect">
            <a:avLst/>
          </a:prstGeom>
          <a:noFill/>
        </p:spPr>
        <p:txBody>
          <a:bodyPr wrap="square" lIns="45720" rIns="45720" anchor="t">
            <a:spAutoFit/>
          </a:bodyPr>
          <a:lstStyle/>
          <a:p>
            <a:pPr algn="l">
              <a:lnSpc>
                <a:spcPct val="108000"/>
              </a:lnSpc>
              <a:spcAft>
                <a:spcPts val="400"/>
              </a:spcAft>
              <a:buNone/>
            </a:pPr>
            <a:r>
              <a:rPr sz="1600" b="1" i="0">
                <a:solidFill>
                  <a:srgbClr val="1D4E89"/>
                </a:solidFill>
                <a:latin typeface="Calibri"/>
                <a:ea typeface="Calibri"/>
                <a:cs typeface="Calibri"/>
              </a:rPr>
              <a:t>RELEASE VELOCITY (2.x series)</a:t>
            </a:r>
          </a:p>
        </p:txBody>
      </p:sp>
      <p:sp>
        <p:nvSpPr>
          <p:cNvPr id="9" name="TextBox 8">
            <a:extLst>
              <a:ext uri="{FF2B5EF4-FFF2-40B4-BE49-F238E27FC236}">
                <a16:creationId xmlns:a16="http://schemas.microsoft.com/office/drawing/2014/main" id="{6DC4F138-0C24-4EB1-B841-584BE1659540}"/>
              </a:ext>
            </a:extLst>
          </p:cNvPr>
          <p:cNvSpPr>
            <a:spLocks noGrp="1"/>
          </p:cNvSpPr>
          <p:nvPr/>
        </p:nvSpPr>
        <p:spPr>
          <a:xfrm>
            <a:off x="868680" y="3017520"/>
            <a:ext cx="5074920" cy="1580882"/>
          </a:xfrm>
          <a:prstGeom prst="rect">
            <a:avLst/>
          </a:prstGeom>
          <a:noFill/>
        </p:spPr>
        <p:txBody>
          <a:bodyPr wrap="square" lIns="45720" rIns="45720" anchor="t">
            <a:spAutoFit/>
          </a:bodyPr>
          <a:lstStyle/>
          <a:p>
            <a:pPr algn="l">
              <a:lnSpc>
                <a:spcPct val="112000"/>
              </a:lnSpc>
              <a:spcAft>
                <a:spcPts val="1100"/>
              </a:spcAft>
              <a:buNone/>
            </a:pPr>
            <a:r>
              <a:rPr b="1" i="0">
                <a:solidFill>
                  <a:srgbClr val="2F6FCB"/>
                </a:solidFill>
                <a:latin typeface="Calibri"/>
                <a:ea typeface="Calibri"/>
                <a:cs typeface="Calibri"/>
              </a:rPr>
              <a:t>▪  </a:t>
            </a:r>
            <a:r>
              <a:rPr sz="1600" b="1" i="0">
                <a:solidFill>
                  <a:srgbClr val="1D4E89"/>
                </a:solidFill>
                <a:latin typeface="Calibri"/>
                <a:ea typeface="Calibri"/>
                <a:cs typeface="Calibri"/>
              </a:rPr>
              <a:t>~3-month cadence:  </a:t>
            </a:r>
            <a:r>
              <a:rPr sz="1600" b="0" i="0">
                <a:solidFill>
                  <a:srgbClr val="1E2A44"/>
                </a:solidFill>
                <a:latin typeface="Calibri"/>
                <a:ea typeface="Calibri"/>
                <a:cs typeface="Calibri"/>
              </a:rPr>
              <a:t>a new minor version on a roughly quarterly schedule (official policy).</a:t>
            </a:r>
          </a:p>
          <a:p>
            <a:pPr algn="l">
              <a:lnSpc>
                <a:spcPct val="112000"/>
              </a:lnSpc>
              <a:spcAft>
                <a:spcPts val="1100"/>
              </a:spcAft>
              <a:buNone/>
            </a:pPr>
            <a:r>
              <a:rPr b="1" i="0">
                <a:solidFill>
                  <a:srgbClr val="2F6FCB"/>
                </a:solidFill>
                <a:latin typeface="Calibri"/>
                <a:ea typeface="Calibri"/>
                <a:cs typeface="Calibri"/>
              </a:rPr>
              <a:t>▪  </a:t>
            </a:r>
            <a:r>
              <a:rPr sz="1600" b="1" i="0">
                <a:solidFill>
                  <a:srgbClr val="1D4E89"/>
                </a:solidFill>
                <a:latin typeface="Calibri"/>
                <a:ea typeface="Calibri"/>
                <a:cs typeface="Calibri"/>
              </a:rPr>
              <a:t>2.0 → 2.4:  </a:t>
            </a:r>
            <a:r>
              <a:rPr sz="1600" b="0" i="0">
                <a:solidFill>
                  <a:srgbClr val="1E2A44"/>
                </a:solidFill>
                <a:latin typeface="Calibri"/>
                <a:ea typeface="Calibri"/>
                <a:cs typeface="Calibri"/>
              </a:rPr>
              <a:t>five minor versions from ~2025 to mid-2026.</a:t>
            </a:r>
          </a:p>
          <a:p>
            <a:pPr algn="l">
              <a:lnSpc>
                <a:spcPct val="112000"/>
              </a:lnSpc>
              <a:spcAft>
                <a:spcPts val="1100"/>
              </a:spcAft>
              <a:buNone/>
            </a:pPr>
            <a:r>
              <a:rPr b="1" i="0">
                <a:solidFill>
                  <a:srgbClr val="2F6FCB"/>
                </a:solidFill>
                <a:latin typeface="Calibri"/>
                <a:ea typeface="Calibri"/>
                <a:cs typeface="Calibri"/>
              </a:rPr>
              <a:t>▪  </a:t>
            </a:r>
            <a:r>
              <a:rPr sz="1600" b="1" i="0">
                <a:solidFill>
                  <a:srgbClr val="1D4E89"/>
                </a:solidFill>
                <a:latin typeface="Calibri"/>
                <a:ea typeface="Calibri"/>
                <a:cs typeface="Calibri"/>
              </a:rPr>
              <a:t>Plus patches:  </a:t>
            </a:r>
            <a:r>
              <a:rPr sz="1600" b="0" i="0">
                <a:solidFill>
                  <a:srgbClr val="1E2A44"/>
                </a:solidFill>
                <a:latin typeface="Calibri"/>
                <a:ea typeface="Calibri"/>
                <a:cs typeface="Calibri"/>
              </a:rPr>
              <a:t>2.4.0 → 2.4.1 → 2.4.2 in quick succession.</a:t>
            </a:r>
          </a:p>
        </p:txBody>
      </p:sp>
      <p:sp>
        <p:nvSpPr>
          <p:cNvPr id="10" name="Rounded Rectangle 9">
            <a:extLst>
              <a:ext uri="{FF2B5EF4-FFF2-40B4-BE49-F238E27FC236}">
                <a16:creationId xmlns:a16="http://schemas.microsoft.com/office/drawing/2014/main" id="{3A0F6F56-BE7C-42E2-A880-EF67C12192F9}"/>
              </a:ext>
            </a:extLst>
          </p:cNvPr>
          <p:cNvSpPr>
            <a:spLocks noGrp="1"/>
          </p:cNvSpPr>
          <p:nvPr/>
        </p:nvSpPr>
        <p:spPr>
          <a:xfrm>
            <a:off x="6309360" y="2450592"/>
            <a:ext cx="5257800" cy="2697480"/>
          </a:xfrm>
          <a:prstGeom prst="roundRect">
            <a:avLst/>
          </a:prstGeom>
          <a:solidFill>
            <a:srgbClr val="F2F5FA"/>
          </a:solidFill>
          <a:ln w="15875">
            <a:solidFill>
              <a:srgbClr val="14264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11" name="TextBox 10">
            <a:extLst>
              <a:ext uri="{FF2B5EF4-FFF2-40B4-BE49-F238E27FC236}">
                <a16:creationId xmlns:a16="http://schemas.microsoft.com/office/drawing/2014/main" id="{E1D6B200-BF76-468F-9667-BE1B36E9B948}"/>
              </a:ext>
            </a:extLst>
          </p:cNvPr>
          <p:cNvSpPr>
            <a:spLocks noGrp="1"/>
          </p:cNvSpPr>
          <p:nvPr/>
        </p:nvSpPr>
        <p:spPr>
          <a:xfrm>
            <a:off x="6537960" y="2578608"/>
            <a:ext cx="4846320" cy="358240"/>
          </a:xfrm>
          <a:prstGeom prst="rect">
            <a:avLst/>
          </a:prstGeom>
          <a:noFill/>
        </p:spPr>
        <p:txBody>
          <a:bodyPr wrap="square" lIns="45720" rIns="45720" anchor="t">
            <a:spAutoFit/>
          </a:bodyPr>
          <a:lstStyle/>
          <a:p>
            <a:pPr algn="l">
              <a:lnSpc>
                <a:spcPct val="108000"/>
              </a:lnSpc>
              <a:spcAft>
                <a:spcPts val="400"/>
              </a:spcAft>
              <a:buNone/>
            </a:pPr>
            <a:r>
              <a:rPr sz="1600" b="1" i="0">
                <a:solidFill>
                  <a:srgbClr val="14264F"/>
                </a:solidFill>
                <a:latin typeface="Calibri"/>
                <a:ea typeface="Calibri"/>
                <a:cs typeface="Calibri"/>
              </a:rPr>
              <a:t>NEARLY EVERY RELEASE TOUCHES THE TRANSPILER</a:t>
            </a:r>
          </a:p>
        </p:txBody>
      </p:sp>
      <p:sp>
        <p:nvSpPr>
          <p:cNvPr id="12" name="TextBox 11">
            <a:extLst>
              <a:ext uri="{FF2B5EF4-FFF2-40B4-BE49-F238E27FC236}">
                <a16:creationId xmlns:a16="http://schemas.microsoft.com/office/drawing/2014/main" id="{B4260594-3B00-4CE6-8608-4DEF695C1320}"/>
              </a:ext>
            </a:extLst>
          </p:cNvPr>
          <p:cNvSpPr>
            <a:spLocks noGrp="1"/>
          </p:cNvSpPr>
          <p:nvPr/>
        </p:nvSpPr>
        <p:spPr>
          <a:xfrm>
            <a:off x="6537960" y="3017520"/>
            <a:ext cx="4892040" cy="2098010"/>
          </a:xfrm>
          <a:prstGeom prst="rect">
            <a:avLst/>
          </a:prstGeom>
          <a:noFill/>
        </p:spPr>
        <p:txBody>
          <a:bodyPr wrap="square" lIns="45720" rIns="45720" anchor="t">
            <a:spAutoFit/>
          </a:bodyPr>
          <a:lstStyle/>
          <a:p>
            <a:pPr algn="l">
              <a:lnSpc>
                <a:spcPct val="112000"/>
              </a:lnSpc>
              <a:spcAft>
                <a:spcPts val="1100"/>
              </a:spcAft>
              <a:buNone/>
            </a:pPr>
            <a:r>
              <a:rPr sz="1600" b="1" i="0">
                <a:solidFill>
                  <a:srgbClr val="2F6FCB"/>
                </a:solidFill>
                <a:latin typeface="Calibri"/>
                <a:ea typeface="Calibri"/>
                <a:cs typeface="Calibri"/>
              </a:rPr>
              <a:t>▪  </a:t>
            </a:r>
            <a:r>
              <a:rPr sz="1600" b="1" i="0">
                <a:solidFill>
                  <a:srgbClr val="14264F"/>
                </a:solidFill>
                <a:latin typeface="Calibri"/>
                <a:ea typeface="Calibri"/>
                <a:cs typeface="Calibri"/>
              </a:rPr>
              <a:t>v2.2:  </a:t>
            </a:r>
            <a:r>
              <a:rPr sz="1600" b="0" i="0">
                <a:solidFill>
                  <a:srgbClr val="1E2A44"/>
                </a:solidFill>
                <a:latin typeface="Calibri"/>
                <a:ea typeface="Calibri"/>
                <a:cs typeface="Calibri"/>
              </a:rPr>
              <a:t>transpilation 10–20% faster, standalone transpiler in C.</a:t>
            </a:r>
          </a:p>
          <a:p>
            <a:pPr algn="l">
              <a:lnSpc>
                <a:spcPct val="112000"/>
              </a:lnSpc>
              <a:spcAft>
                <a:spcPts val="1100"/>
              </a:spcAft>
              <a:buNone/>
            </a:pPr>
            <a:r>
              <a:rPr sz="1600" b="1" i="0">
                <a:solidFill>
                  <a:srgbClr val="2F6FCB"/>
                </a:solidFill>
                <a:latin typeface="Calibri"/>
                <a:ea typeface="Calibri"/>
                <a:cs typeface="Calibri"/>
              </a:rPr>
              <a:t>▪  </a:t>
            </a:r>
            <a:r>
              <a:rPr sz="1600" b="1" i="0">
                <a:solidFill>
                  <a:srgbClr val="14264F"/>
                </a:solidFill>
                <a:latin typeface="Calibri"/>
                <a:ea typeface="Calibri"/>
                <a:cs typeface="Calibri"/>
              </a:rPr>
              <a:t>v2.3:  </a:t>
            </a:r>
            <a:r>
              <a:rPr sz="1600" b="0" i="0">
                <a:solidFill>
                  <a:srgbClr val="1E2A44"/>
                </a:solidFill>
                <a:latin typeface="Calibri"/>
                <a:ea typeface="Calibri"/>
                <a:cs typeface="Calibri"/>
              </a:rPr>
              <a:t>VF2Layout and VF2PostLayout reworked, custom transpiler passes in C.</a:t>
            </a:r>
          </a:p>
          <a:p>
            <a:pPr algn="l">
              <a:lnSpc>
                <a:spcPct val="112000"/>
              </a:lnSpc>
              <a:spcAft>
                <a:spcPts val="1100"/>
              </a:spcAft>
              <a:buNone/>
            </a:pPr>
            <a:r>
              <a:rPr sz="1600" b="1" i="0">
                <a:solidFill>
                  <a:srgbClr val="2F6FCB"/>
                </a:solidFill>
                <a:latin typeface="Calibri"/>
                <a:ea typeface="Calibri"/>
                <a:cs typeface="Calibri"/>
              </a:rPr>
              <a:t>▪  </a:t>
            </a:r>
            <a:r>
              <a:rPr sz="1600" b="1" i="0">
                <a:solidFill>
                  <a:srgbClr val="14264F"/>
                </a:solidFill>
                <a:latin typeface="Calibri"/>
                <a:ea typeface="Calibri"/>
                <a:cs typeface="Calibri"/>
              </a:rPr>
              <a:t>v2.4:  </a:t>
            </a:r>
            <a:r>
              <a:rPr sz="1600" b="0" i="0">
                <a:solidFill>
                  <a:srgbClr val="1E2A44"/>
                </a:solidFill>
                <a:latin typeface="Calibri"/>
                <a:ea typeface="Calibri"/>
                <a:cs typeface="Calibri"/>
              </a:rPr>
              <a:t>faster fault-tolerant transpilation pipeline, DAG-level transpiler passes.</a:t>
            </a:r>
          </a:p>
        </p:txBody>
      </p:sp>
      <p:sp>
        <p:nvSpPr>
          <p:cNvPr id="13" name="Rounded Rectangle 12">
            <a:extLst>
              <a:ext uri="{FF2B5EF4-FFF2-40B4-BE49-F238E27FC236}">
                <a16:creationId xmlns:a16="http://schemas.microsoft.com/office/drawing/2014/main" id="{075DA46A-B791-4428-AF0E-2C0743D5EF69}"/>
              </a:ext>
            </a:extLst>
          </p:cNvPr>
          <p:cNvSpPr>
            <a:spLocks noGrp="1"/>
          </p:cNvSpPr>
          <p:nvPr/>
        </p:nvSpPr>
        <p:spPr>
          <a:xfrm>
            <a:off x="640080" y="5321808"/>
            <a:ext cx="10927080" cy="932688"/>
          </a:xfrm>
          <a:prstGeom prst="roundRect">
            <a:avLst/>
          </a:prstGeom>
          <a:solidFill>
            <a:srgbClr val="14264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14" name="TextBox 13">
            <a:extLst>
              <a:ext uri="{FF2B5EF4-FFF2-40B4-BE49-F238E27FC236}">
                <a16:creationId xmlns:a16="http://schemas.microsoft.com/office/drawing/2014/main" id="{ED7B8393-D47A-426A-A5F6-F65B7F084D85}"/>
              </a:ext>
            </a:extLst>
          </p:cNvPr>
          <p:cNvSpPr>
            <a:spLocks noGrp="1"/>
          </p:cNvSpPr>
          <p:nvPr/>
        </p:nvSpPr>
        <p:spPr>
          <a:xfrm>
            <a:off x="868680" y="5350693"/>
            <a:ext cx="10515600" cy="874920"/>
          </a:xfrm>
          <a:prstGeom prst="rect">
            <a:avLst/>
          </a:prstGeom>
          <a:noFill/>
        </p:spPr>
        <p:txBody>
          <a:bodyPr wrap="square" lIns="45720" rIns="45720" anchor="ctr">
            <a:spAutoFit/>
          </a:bodyPr>
          <a:lstStyle/>
          <a:p>
            <a:pPr algn="l">
              <a:lnSpc>
                <a:spcPct val="108000"/>
              </a:lnSpc>
              <a:spcAft>
                <a:spcPts val="400"/>
              </a:spcAft>
              <a:buNone/>
            </a:pPr>
            <a:r>
              <a:rPr sz="1600" b="1" i="0">
                <a:solidFill>
                  <a:srgbClr val="9FB2D6"/>
                </a:solidFill>
                <a:latin typeface="Calibri"/>
                <a:ea typeface="Calibri"/>
                <a:cs typeface="Calibri"/>
              </a:rPr>
              <a:t>The passes we study are live targets: </a:t>
            </a:r>
            <a:r>
              <a:rPr sz="1600" b="0" i="0">
                <a:solidFill>
                  <a:srgbClr val="FFFFFF"/>
                </a:solidFill>
                <a:latin typeface="Calibri"/>
                <a:ea typeface="Calibri"/>
                <a:cs typeface="Calibri"/>
              </a:rPr>
              <a:t>VF2PostLayout (the site of our H4 regression) was itself reworked in v2.3.</a:t>
            </a:r>
          </a:p>
          <a:p>
            <a:pPr algn="l">
              <a:lnSpc>
                <a:spcPct val="108000"/>
              </a:lnSpc>
              <a:spcAft>
                <a:spcPts val="400"/>
              </a:spcAft>
              <a:buNone/>
            </a:pPr>
            <a:r>
              <a:rPr sz="1400" b="0" i="0">
                <a:solidFill>
                  <a:srgbClr val="D5E3F7"/>
                </a:solidFill>
                <a:latin typeface="Calibri"/>
                <a:ea typeface="Calibri"/>
                <a:cs typeface="Calibri"/>
              </a:rPr>
              <a:t>A high-churn transpiler makes every release a fresh regression opportunity, which is exactly why Qiskit (the most actively developed quantum compiler, with the richest public record of real fixes to mine) is the right subject.</a:t>
            </a:r>
          </a:p>
        </p:txBody>
      </p:sp>
      <p:sp>
        <p:nvSpPr>
          <p:cNvPr id="15" name="TextBox 14">
            <a:extLst>
              <a:ext uri="{FF2B5EF4-FFF2-40B4-BE49-F238E27FC236}">
                <a16:creationId xmlns:a16="http://schemas.microsoft.com/office/drawing/2014/main" id="{8E6260DA-18D4-4368-A6DE-959BDB089962}"/>
              </a:ext>
            </a:extLst>
          </p:cNvPr>
          <p:cNvSpPr>
            <a:spLocks noGrp="1"/>
          </p:cNvSpPr>
          <p:nvPr/>
        </p:nvSpPr>
        <p:spPr>
          <a:xfrm>
            <a:off x="640080" y="6473952"/>
            <a:ext cx="9692640" cy="266868"/>
          </a:xfrm>
          <a:prstGeom prst="rect">
            <a:avLst/>
          </a:prstGeom>
          <a:noFill/>
        </p:spPr>
        <p:txBody>
          <a:bodyPr wrap="square" lIns="45720" rIns="45720" anchor="t">
            <a:spAutoFit/>
          </a:bodyPr>
          <a:lstStyle/>
          <a:p>
            <a:pPr algn="l">
              <a:lnSpc>
                <a:spcPct val="108000"/>
              </a:lnSpc>
              <a:spcAft>
                <a:spcPts val="400"/>
              </a:spcAft>
              <a:buNone/>
            </a:pPr>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16" name="TextBox 15">
            <a:extLst>
              <a:ext uri="{FF2B5EF4-FFF2-40B4-BE49-F238E27FC236}">
                <a16:creationId xmlns:a16="http://schemas.microsoft.com/office/drawing/2014/main" id="{BBE40352-74B7-4119-AA1F-C8F72F111152}"/>
              </a:ext>
            </a:extLst>
          </p:cNvPr>
          <p:cNvSpPr>
            <a:spLocks noGrp="1"/>
          </p:cNvSpPr>
          <p:nvPr/>
        </p:nvSpPr>
        <p:spPr>
          <a:xfrm>
            <a:off x="11155680" y="6473952"/>
            <a:ext cx="822960" cy="266868"/>
          </a:xfrm>
          <a:prstGeom prst="rect">
            <a:avLst/>
          </a:prstGeom>
          <a:noFill/>
        </p:spPr>
        <p:txBody>
          <a:bodyPr wrap="square" lIns="45720" rIns="45720" anchor="t">
            <a:spAutoFit/>
          </a:bodyPr>
          <a:lstStyle/>
          <a:p>
            <a:pPr algn="r">
              <a:lnSpc>
                <a:spcPct val="108000"/>
              </a:lnSpc>
              <a:spcAft>
                <a:spcPts val="400"/>
              </a:spcAft>
              <a:buNone/>
            </a:pPr>
            <a:r>
              <a:rPr sz="1000" b="1" i="0">
                <a:solidFill>
                  <a:srgbClr val="64748C"/>
                </a:solidFill>
                <a:latin typeface="Calibri"/>
                <a:ea typeface="Calibri"/>
                <a:cs typeface="Calibri"/>
              </a:rPr>
              <a:t>39</a:t>
            </a:r>
          </a:p>
        </p:txBody>
      </p:sp>
      <p:pic>
        <p:nvPicPr>
          <p:cNvPr id="17"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20936333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B66F64-5157-41D4-92FD-AFEAE19AF4B3}"/>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A941BDFD-AFD7-4B99-BA84-E6BB84A0CF32}"/>
              </a:ext>
            </a:extLst>
          </p:cNvPr>
          <p:cNvSpPr>
            <a:spLocks noGrp="1"/>
          </p:cNvSpPr>
          <p:nvPr/>
        </p:nvSpPr>
        <p:spPr>
          <a:xfrm>
            <a:off x="640080" y="384048"/>
            <a:ext cx="10972800" cy="301621"/>
          </a:xfrm>
          <a:prstGeom prst="rect">
            <a:avLst/>
          </a:prstGeom>
          <a:noFill/>
        </p:spPr>
        <p:txBody>
          <a:bodyPr wrap="square" lIns="27432" tIns="27432" rIns="27432" bIns="27432">
            <a:spAutoFit/>
          </a:bodyPr>
          <a:lstStyle/>
          <a:p>
            <a:r>
              <a:rPr sz="1600" b="1" i="0">
                <a:solidFill>
                  <a:srgbClr val="2F6FCB"/>
                </a:solidFill>
                <a:latin typeface="Calibri"/>
                <a:ea typeface="Calibri"/>
                <a:cs typeface="Calibri"/>
              </a:rPr>
              <a:t>BACKUP · FOR QUESTIONS</a:t>
            </a:r>
          </a:p>
        </p:txBody>
      </p:sp>
      <p:sp>
        <p:nvSpPr>
          <p:cNvPr id="4" name="TextBox 3">
            <a:extLst>
              <a:ext uri="{FF2B5EF4-FFF2-40B4-BE49-F238E27FC236}">
                <a16:creationId xmlns:a16="http://schemas.microsoft.com/office/drawing/2014/main" id="{6DF81AF7-AE63-4642-A18F-5DA2BDAEEB55}"/>
              </a:ext>
            </a:extLst>
          </p:cNvPr>
          <p:cNvSpPr>
            <a:spLocks noGrp="1"/>
          </p:cNvSpPr>
          <p:nvPr/>
        </p:nvSpPr>
        <p:spPr>
          <a:xfrm>
            <a:off x="640080" y="694944"/>
            <a:ext cx="11155680" cy="547842"/>
          </a:xfrm>
          <a:prstGeom prst="rect">
            <a:avLst/>
          </a:prstGeom>
          <a:noFill/>
        </p:spPr>
        <p:txBody>
          <a:bodyPr wrap="square" lIns="27432" tIns="27432" rIns="27432" bIns="27432">
            <a:spAutoFit/>
          </a:bodyPr>
          <a:lstStyle/>
          <a:p>
            <a:r>
              <a:rPr sz="3200" b="1" i="0">
                <a:solidFill>
                  <a:srgbClr val="1E2A44"/>
                </a:solidFill>
                <a:latin typeface="Cambria"/>
                <a:ea typeface="Cambria"/>
                <a:cs typeface="Cambria"/>
              </a:rPr>
              <a:t>Evidence: The Output-Equivalence Claim Still Holds Today</a:t>
            </a:r>
          </a:p>
        </p:txBody>
      </p:sp>
      <p:sp>
        <p:nvSpPr>
          <p:cNvPr id="5" name="TextBox 4">
            <a:extLst>
              <a:ext uri="{FF2B5EF4-FFF2-40B4-BE49-F238E27FC236}">
                <a16:creationId xmlns:a16="http://schemas.microsoft.com/office/drawing/2014/main" id="{BAFC8D98-B2D7-4AD7-9E43-EF39A61E3A79}"/>
              </a:ext>
            </a:extLst>
          </p:cNvPr>
          <p:cNvSpPr>
            <a:spLocks noGrp="1"/>
          </p:cNvSpPr>
          <p:nvPr/>
        </p:nvSpPr>
        <p:spPr>
          <a:xfrm>
            <a:off x="640080" y="1463040"/>
            <a:ext cx="11064240" cy="547842"/>
          </a:xfrm>
          <a:prstGeom prst="rect">
            <a:avLst/>
          </a:prstGeom>
          <a:noFill/>
        </p:spPr>
        <p:txBody>
          <a:bodyPr wrap="square" lIns="27432" tIns="27432" rIns="27432" bIns="27432">
            <a:spAutoFit/>
          </a:bodyPr>
          <a:lstStyle/>
          <a:p>
            <a:r>
              <a:rPr sz="1600" b="0" i="1">
                <a:solidFill>
                  <a:srgbClr val="1E2A44"/>
                </a:solidFill>
                <a:latin typeface="Calibri"/>
                <a:ea typeface="Calibri"/>
                <a:cs typeface="Calibri"/>
              </a:rPr>
              <a:t>This isn't a 2021 description of Qiskit. It's what Qiskit's own CI test suite does right now.</a:t>
            </a:r>
          </a:p>
        </p:txBody>
      </p:sp>
      <p:sp>
        <p:nvSpPr>
          <p:cNvPr id="6" name="TextBox 5">
            <a:extLst>
              <a:ext uri="{FF2B5EF4-FFF2-40B4-BE49-F238E27FC236}">
                <a16:creationId xmlns:a16="http://schemas.microsoft.com/office/drawing/2014/main" id="{A609D9C5-E3B2-4A99-95E1-661CEA417B21}"/>
              </a:ext>
            </a:extLst>
          </p:cNvPr>
          <p:cNvSpPr>
            <a:spLocks noGrp="1"/>
          </p:cNvSpPr>
          <p:nvPr/>
        </p:nvSpPr>
        <p:spPr>
          <a:xfrm>
            <a:off x="640080" y="2057400"/>
            <a:ext cx="11064240" cy="3697422"/>
          </a:xfrm>
          <a:prstGeom prst="rect">
            <a:avLst/>
          </a:prstGeom>
          <a:noFill/>
        </p:spPr>
        <p:txBody>
          <a:bodyPr wrap="square" lIns="27432" tIns="27432" rIns="27432" bIns="27432">
            <a:spAutoFit/>
          </a:bodyPr>
          <a:lstStyle/>
          <a:p>
            <a:pPr>
              <a:spcAft>
                <a:spcPts val="1100"/>
              </a:spcAft>
              <a:buNone/>
            </a:pPr>
            <a:r>
              <a:rPr sz="2000" b="1" i="0">
                <a:solidFill>
                  <a:srgbClr val="2F6FCB"/>
                </a:solidFill>
                <a:latin typeface="Calibri"/>
                <a:ea typeface="Calibri"/>
                <a:cs typeface="Calibri"/>
              </a:rPr>
              <a:t>▪  </a:t>
            </a:r>
            <a:r>
              <a:rPr sz="2000" b="1" i="0">
                <a:solidFill>
                  <a:srgbClr val="1D4E89"/>
                </a:solidFill>
                <a:latin typeface="Calibri"/>
                <a:ea typeface="Calibri"/>
                <a:cs typeface="Calibri"/>
              </a:rPr>
              <a:t>Live source: </a:t>
            </a:r>
            <a:r>
              <a:rPr sz="2000" b="0" i="0">
                <a:solidFill>
                  <a:srgbClr val="1E2A44"/>
                </a:solidFill>
                <a:latin typeface="Calibri"/>
                <a:ea typeface="Calibri"/>
                <a:cs typeface="Calibri"/>
              </a:rPr>
              <a:t>pulled directly from Qiskit's main branch on GitHub, dated to this defence (August 2026): test/randomized/test_transpiler_equivalence.py.</a:t>
            </a:r>
          </a:p>
          <a:p>
            <a:pPr>
              <a:spcAft>
                <a:spcPts val="1100"/>
              </a:spcAft>
              <a:buNone/>
            </a:pPr>
            <a:r>
              <a:rPr sz="2000" b="1" i="0">
                <a:solidFill>
                  <a:srgbClr val="2F6FCB"/>
                </a:solidFill>
                <a:latin typeface="Calibri"/>
                <a:ea typeface="Calibri"/>
                <a:cs typeface="Calibri"/>
              </a:rPr>
              <a:t>▪  </a:t>
            </a:r>
            <a:r>
              <a:rPr sz="2000" b="1" i="0">
                <a:solidFill>
                  <a:srgbClr val="1D4E89"/>
                </a:solidFill>
                <a:latin typeface="Calibri"/>
                <a:ea typeface="Calibri"/>
                <a:cs typeface="Calibri"/>
              </a:rPr>
              <a:t>What the core test does: </a:t>
            </a:r>
            <a:r>
              <a:rPr sz="2000" b="0" i="0">
                <a:solidFill>
                  <a:srgbClr val="1E2A44"/>
                </a:solidFill>
                <a:latin typeface="Calibri"/>
                <a:ea typeface="Calibri"/>
                <a:cs typeface="Calibri"/>
              </a:rPr>
              <a:t>its equivalent_transpile test builds a random circuit, simulates it, transpiles it, simulates the transpiled version, then asserts the measurement counts match.</a:t>
            </a:r>
          </a:p>
          <a:p>
            <a:pPr>
              <a:spcAft>
                <a:spcPts val="1100"/>
              </a:spcAft>
              <a:buNone/>
            </a:pPr>
            <a:r>
              <a:rPr sz="2000" b="1" i="0">
                <a:solidFill>
                  <a:srgbClr val="2F6FCB"/>
                </a:solidFill>
                <a:latin typeface="Calibri"/>
                <a:ea typeface="Calibri"/>
                <a:cs typeface="Calibri"/>
              </a:rPr>
              <a:t>▪  </a:t>
            </a:r>
            <a:r>
              <a:rPr sz="2000" b="1" i="0">
                <a:solidFill>
                  <a:srgbClr val="1D4E89"/>
                </a:solidFill>
                <a:latin typeface="Calibri"/>
                <a:ea typeface="Calibri"/>
                <a:cs typeface="Calibri"/>
              </a:rPr>
              <a:t>What it never checks: </a:t>
            </a:r>
            <a:r>
              <a:rPr sz="2000" b="0" i="0">
                <a:solidFill>
                  <a:srgbClr val="1E2A44"/>
                </a:solidFill>
                <a:latin typeface="Calibri"/>
                <a:ea typeface="Calibri"/>
                <a:cs typeface="Calibri"/>
              </a:rPr>
              <a:t>property_set, layout objects, or routing metadata: only the output counts.</a:t>
            </a:r>
          </a:p>
          <a:p>
            <a:pPr>
              <a:spcAft>
                <a:spcPts val="1100"/>
              </a:spcAft>
              <a:buNone/>
            </a:pPr>
            <a:r>
              <a:rPr sz="2000" b="1" i="0">
                <a:solidFill>
                  <a:srgbClr val="2F6FCB"/>
                </a:solidFill>
                <a:latin typeface="Calibri"/>
                <a:ea typeface="Calibri"/>
                <a:cs typeface="Calibri"/>
              </a:rPr>
              <a:t>▪  </a:t>
            </a:r>
            <a:r>
              <a:rPr sz="2000" b="1" i="0">
                <a:solidFill>
                  <a:srgbClr val="1D4E89"/>
                </a:solidFill>
                <a:latin typeface="Calibri"/>
                <a:ea typeface="Calibri"/>
                <a:cs typeface="Calibri"/>
              </a:rPr>
              <a:t>Verifiable on demand: </a:t>
            </a:r>
            <a:r>
              <a:rPr sz="2000" b="0" i="0">
                <a:solidFill>
                  <a:srgbClr val="1E2A44"/>
                </a:solidFill>
                <a:latin typeface="Calibri"/>
                <a:ea typeface="Calibri"/>
                <a:cs typeface="Calibri"/>
              </a:rPr>
              <a:t>the file path and method name can be pulled up live if a committee member asks to see it.</a:t>
            </a:r>
          </a:p>
        </p:txBody>
      </p:sp>
      <p:sp>
        <p:nvSpPr>
          <p:cNvPr id="7" name="TextBox 6">
            <a:extLst>
              <a:ext uri="{FF2B5EF4-FFF2-40B4-BE49-F238E27FC236}">
                <a16:creationId xmlns:a16="http://schemas.microsoft.com/office/drawing/2014/main" id="{13B47BE7-4A48-49A9-8995-2CF445FAB840}"/>
              </a:ext>
            </a:extLst>
          </p:cNvPr>
          <p:cNvSpPr>
            <a:spLocks noGrp="1"/>
          </p:cNvSpPr>
          <p:nvPr/>
        </p:nvSpPr>
        <p:spPr>
          <a:xfrm>
            <a:off x="685800" y="4859253"/>
            <a:ext cx="11064240" cy="301621"/>
          </a:xfrm>
          <a:prstGeom prst="rect">
            <a:avLst/>
          </a:prstGeom>
          <a:noFill/>
        </p:spPr>
        <p:txBody>
          <a:bodyPr wrap="square" lIns="27432" tIns="27432" rIns="27432" bIns="27432">
            <a:spAutoFit/>
          </a:bodyPr>
          <a:lstStyle/>
          <a:p>
            <a:r>
              <a:rPr sz="1600" b="0" i="1" dirty="0">
                <a:solidFill>
                  <a:srgbClr val="64748C"/>
                </a:solidFill>
                <a:latin typeface="Calibri"/>
                <a:ea typeface="Calibri"/>
                <a:cs typeface="Calibri"/>
              </a:rPr>
              <a:t>Current, first-party evidence, not a claim about </a:t>
            </a:r>
            <a:r>
              <a:rPr sz="1600" b="0" i="1" dirty="0" err="1">
                <a:solidFill>
                  <a:srgbClr val="64748C"/>
                </a:solidFill>
                <a:latin typeface="Calibri"/>
                <a:ea typeface="Calibri"/>
                <a:cs typeface="Calibri"/>
              </a:rPr>
              <a:t>Qiskit's</a:t>
            </a:r>
            <a:r>
              <a:rPr sz="1600" b="0" i="1" dirty="0">
                <a:solidFill>
                  <a:srgbClr val="64748C"/>
                </a:solidFill>
                <a:latin typeface="Calibri"/>
                <a:ea typeface="Calibri"/>
                <a:cs typeface="Calibri"/>
              </a:rPr>
              <a:t> test suite from five years ago.</a:t>
            </a:r>
          </a:p>
        </p:txBody>
      </p:sp>
      <p:sp>
        <p:nvSpPr>
          <p:cNvPr id="8" name="TextBox 7">
            <a:extLst>
              <a:ext uri="{FF2B5EF4-FFF2-40B4-BE49-F238E27FC236}">
                <a16:creationId xmlns:a16="http://schemas.microsoft.com/office/drawing/2014/main" id="{4A4A6840-C733-4E3B-8379-152A618B657C}"/>
              </a:ext>
            </a:extLst>
          </p:cNvPr>
          <p:cNvSpPr>
            <a:spLocks noGrp="1"/>
          </p:cNvSpPr>
          <p:nvPr/>
        </p:nvSpPr>
        <p:spPr>
          <a:xfrm>
            <a:off x="640080" y="6473952"/>
            <a:ext cx="9692640" cy="209288"/>
          </a:xfrm>
          <a:prstGeom prst="rect">
            <a:avLst/>
          </a:prstGeom>
          <a:noFill/>
        </p:spPr>
        <p:txBody>
          <a:bodyPr wrap="square" lIns="27432" tIns="27432" rIns="27432" bIns="27432">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9" name="TextBox 8">
            <a:extLst>
              <a:ext uri="{FF2B5EF4-FFF2-40B4-BE49-F238E27FC236}">
                <a16:creationId xmlns:a16="http://schemas.microsoft.com/office/drawing/2014/main" id="{734F58CB-B2D0-4048-8B3E-4ECB2C2C7E0C}"/>
              </a:ext>
            </a:extLst>
          </p:cNvPr>
          <p:cNvSpPr>
            <a:spLocks noGrp="1"/>
          </p:cNvSpPr>
          <p:nvPr/>
        </p:nvSpPr>
        <p:spPr>
          <a:xfrm>
            <a:off x="11155680" y="6473952"/>
            <a:ext cx="822960" cy="209288"/>
          </a:xfrm>
          <a:prstGeom prst="rect">
            <a:avLst/>
          </a:prstGeom>
          <a:noFill/>
        </p:spPr>
        <p:txBody>
          <a:bodyPr wrap="square" lIns="27432" tIns="27432" rIns="27432" bIns="27432">
            <a:spAutoFit/>
          </a:bodyPr>
          <a:lstStyle/>
          <a:p>
            <a:pPr algn="r">
              <a:buNone/>
            </a:pPr>
            <a:r>
              <a:rPr sz="1000" b="1" i="0">
                <a:solidFill>
                  <a:srgbClr val="64748C"/>
                </a:solidFill>
                <a:latin typeface="Calibri"/>
                <a:ea typeface="Calibri"/>
                <a:cs typeface="Calibri"/>
              </a:rPr>
              <a:t>40</a:t>
            </a:r>
          </a:p>
        </p:txBody>
      </p:sp>
      <p:pic>
        <p:nvPicPr>
          <p:cNvPr id="10"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76A410A-18A0-4D30-B422-800EDCF7549F}"/>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4CBC3B5E-8F2E-4209-90E5-F5304AAE3B92}"/>
              </a:ext>
            </a:extLst>
          </p:cNvPr>
          <p:cNvSpPr>
            <a:spLocks noGrp="1"/>
          </p:cNvSpPr>
          <p:nvPr/>
        </p:nvSpPr>
        <p:spPr>
          <a:xfrm>
            <a:off x="640080" y="384048"/>
            <a:ext cx="10972800" cy="301621"/>
          </a:xfrm>
          <a:prstGeom prst="rect">
            <a:avLst/>
          </a:prstGeom>
          <a:noFill/>
        </p:spPr>
        <p:txBody>
          <a:bodyPr wrap="square" lIns="27432" tIns="27432" rIns="27432" bIns="27432">
            <a:spAutoFit/>
          </a:bodyPr>
          <a:lstStyle/>
          <a:p>
            <a:r>
              <a:rPr sz="1600" b="1" i="0">
                <a:solidFill>
                  <a:srgbClr val="2F6FCB"/>
                </a:solidFill>
                <a:latin typeface="Calibri"/>
                <a:ea typeface="Calibri"/>
                <a:cs typeface="Calibri"/>
              </a:rPr>
              <a:t>BACKUP · FOR QUESTIONS</a:t>
            </a:r>
          </a:p>
        </p:txBody>
      </p:sp>
      <p:sp>
        <p:nvSpPr>
          <p:cNvPr id="4" name="TextBox 3">
            <a:extLst>
              <a:ext uri="{FF2B5EF4-FFF2-40B4-BE49-F238E27FC236}">
                <a16:creationId xmlns:a16="http://schemas.microsoft.com/office/drawing/2014/main" id="{B5C1EA48-9FC3-454B-8780-099C50682C7C}"/>
              </a:ext>
            </a:extLst>
          </p:cNvPr>
          <p:cNvSpPr>
            <a:spLocks noGrp="1"/>
          </p:cNvSpPr>
          <p:nvPr/>
        </p:nvSpPr>
        <p:spPr>
          <a:xfrm>
            <a:off x="640080" y="694944"/>
            <a:ext cx="11155680" cy="547842"/>
          </a:xfrm>
          <a:prstGeom prst="rect">
            <a:avLst/>
          </a:prstGeom>
          <a:noFill/>
        </p:spPr>
        <p:txBody>
          <a:bodyPr wrap="square" lIns="27432" tIns="27432" rIns="27432" bIns="27432">
            <a:spAutoFit/>
          </a:bodyPr>
          <a:lstStyle/>
          <a:p>
            <a:r>
              <a:rPr sz="3200" b="1" i="0">
                <a:solidFill>
                  <a:srgbClr val="1E2A44"/>
                </a:solidFill>
                <a:latin typeface="Cambria"/>
                <a:ea typeface="Cambria"/>
                <a:cs typeface="Cambria"/>
              </a:rPr>
              <a:t>Do We Run Quantum Simulations? (No Hardware)</a:t>
            </a:r>
          </a:p>
        </p:txBody>
      </p:sp>
      <p:sp>
        <p:nvSpPr>
          <p:cNvPr id="5" name="TextBox 4">
            <a:extLst>
              <a:ext uri="{FF2B5EF4-FFF2-40B4-BE49-F238E27FC236}">
                <a16:creationId xmlns:a16="http://schemas.microsoft.com/office/drawing/2014/main" id="{C11692C7-9B0B-487E-990B-4AB308B2688D}"/>
              </a:ext>
            </a:extLst>
          </p:cNvPr>
          <p:cNvSpPr>
            <a:spLocks noGrp="1"/>
          </p:cNvSpPr>
          <p:nvPr/>
        </p:nvSpPr>
        <p:spPr>
          <a:xfrm>
            <a:off x="640080" y="1463040"/>
            <a:ext cx="11064240" cy="547842"/>
          </a:xfrm>
          <a:prstGeom prst="rect">
            <a:avLst/>
          </a:prstGeom>
          <a:noFill/>
        </p:spPr>
        <p:txBody>
          <a:bodyPr wrap="square" lIns="27432" tIns="27432" rIns="27432" bIns="27432">
            <a:spAutoFit/>
          </a:bodyPr>
          <a:lstStyle/>
          <a:p>
            <a:r>
              <a:rPr sz="1600" b="0" i="1">
                <a:solidFill>
                  <a:srgbClr val="1E2A44"/>
                </a:solidFill>
                <a:latin typeface="Calibri"/>
                <a:ea typeface="Calibri"/>
                <a:cs typeface="Calibri"/>
              </a:rPr>
              <a:t>Yes, classical simulation only, on the CPU. A simulator is classical software that computes what a quantum device would do, and it never needs a quantum device.</a:t>
            </a:r>
          </a:p>
        </p:txBody>
      </p:sp>
      <p:sp>
        <p:nvSpPr>
          <p:cNvPr id="6" name="TextBox 5">
            <a:extLst>
              <a:ext uri="{FF2B5EF4-FFF2-40B4-BE49-F238E27FC236}">
                <a16:creationId xmlns:a16="http://schemas.microsoft.com/office/drawing/2014/main" id="{6FE38BEC-BAFE-4AFA-93D1-1E36822DAA32}"/>
              </a:ext>
            </a:extLst>
          </p:cNvPr>
          <p:cNvSpPr>
            <a:spLocks noGrp="1"/>
          </p:cNvSpPr>
          <p:nvPr/>
        </p:nvSpPr>
        <p:spPr>
          <a:xfrm>
            <a:off x="640080" y="2057400"/>
            <a:ext cx="11064240" cy="3338350"/>
          </a:xfrm>
          <a:prstGeom prst="rect">
            <a:avLst/>
          </a:prstGeom>
          <a:noFill/>
        </p:spPr>
        <p:txBody>
          <a:bodyPr wrap="square" lIns="27432" tIns="27432" rIns="27432" bIns="27432">
            <a:spAutoFit/>
          </a:bodyPr>
          <a:lstStyle/>
          <a:p>
            <a:pPr>
              <a:spcAft>
                <a:spcPts val="1000"/>
              </a:spcAft>
              <a:buNone/>
            </a:pPr>
            <a:r>
              <a:rPr b="1" i="0" dirty="0">
                <a:solidFill>
                  <a:srgbClr val="2F6FCB"/>
                </a:solidFill>
                <a:latin typeface="Calibri"/>
                <a:ea typeface="Calibri"/>
                <a:cs typeface="Calibri"/>
              </a:rPr>
              <a:t>▪  </a:t>
            </a:r>
            <a:r>
              <a:rPr b="1" i="0" dirty="0">
                <a:solidFill>
                  <a:srgbClr val="1D4E89"/>
                </a:solidFill>
                <a:latin typeface="Calibri"/>
                <a:ea typeface="Calibri"/>
                <a:cs typeface="Calibri"/>
              </a:rPr>
              <a:t>What we test is classical:  </a:t>
            </a:r>
            <a:r>
              <a:rPr b="0" i="0" dirty="0">
                <a:solidFill>
                  <a:srgbClr val="1E2A44"/>
                </a:solidFill>
                <a:latin typeface="Calibri"/>
                <a:ea typeface="Calibri"/>
                <a:cs typeface="Calibri"/>
              </a:rPr>
              <a:t>the </a:t>
            </a:r>
            <a:r>
              <a:rPr b="0" i="0" dirty="0" err="1">
                <a:solidFill>
                  <a:srgbClr val="1E2A44"/>
                </a:solidFill>
                <a:latin typeface="Calibri"/>
                <a:ea typeface="Calibri"/>
                <a:cs typeface="Calibri"/>
              </a:rPr>
              <a:t>transpiler</a:t>
            </a:r>
            <a:r>
              <a:rPr b="0" i="0" dirty="0">
                <a:solidFill>
                  <a:srgbClr val="1E2A44"/>
                </a:solidFill>
                <a:latin typeface="Calibri"/>
                <a:ea typeface="Calibri"/>
                <a:cs typeface="Calibri"/>
              </a:rPr>
              <a:t> is compiler software, so checking its output is a classical computation, not a physics experiment.</a:t>
            </a:r>
          </a:p>
          <a:p>
            <a:pPr>
              <a:spcAft>
                <a:spcPts val="1000"/>
              </a:spcAft>
              <a:buNone/>
            </a:pPr>
            <a:r>
              <a:rPr b="1" i="0" dirty="0">
                <a:solidFill>
                  <a:srgbClr val="2F6FCB"/>
                </a:solidFill>
                <a:latin typeface="Calibri"/>
                <a:ea typeface="Calibri"/>
                <a:cs typeface="Calibri"/>
              </a:rPr>
              <a:t>▪  </a:t>
            </a:r>
            <a:r>
              <a:rPr b="1" i="0" dirty="0">
                <a:solidFill>
                  <a:srgbClr val="1D4E89"/>
                </a:solidFill>
                <a:latin typeface="Calibri"/>
                <a:ea typeface="Calibri"/>
                <a:cs typeface="Calibri"/>
              </a:rPr>
              <a:t>How the check runs:  </a:t>
            </a:r>
            <a:r>
              <a:rPr b="0" i="0" dirty="0">
                <a:solidFill>
                  <a:srgbClr val="1E2A44"/>
                </a:solidFill>
                <a:latin typeface="Calibri"/>
                <a:ea typeface="Calibri"/>
                <a:cs typeface="Calibri"/>
              </a:rPr>
              <a:t>for small circuits (≤ 12 qubits) we compute the exact unitary with linear algebra (</a:t>
            </a:r>
            <a:r>
              <a:rPr b="0" i="0" dirty="0" err="1">
                <a:solidFill>
                  <a:srgbClr val="1E2A44"/>
                </a:solidFill>
                <a:latin typeface="Calibri"/>
                <a:ea typeface="Calibri"/>
                <a:cs typeface="Calibri"/>
              </a:rPr>
              <a:t>Qiskit’s</a:t>
            </a:r>
            <a:r>
              <a:rPr b="0" i="0" dirty="0">
                <a:solidFill>
                  <a:srgbClr val="1E2A44"/>
                </a:solidFill>
                <a:latin typeface="Calibri"/>
                <a:ea typeface="Calibri"/>
                <a:cs typeface="Calibri"/>
              </a:rPr>
              <a:t> classical simulator) and compare up to global phase (Burgholzer &amp; Wille, 2021).</a:t>
            </a:r>
          </a:p>
          <a:p>
            <a:pPr>
              <a:spcAft>
                <a:spcPts val="1000"/>
              </a:spcAft>
              <a:buNone/>
            </a:pPr>
            <a:r>
              <a:rPr b="1" i="0" dirty="0">
                <a:solidFill>
                  <a:srgbClr val="2F6FCB"/>
                </a:solidFill>
                <a:latin typeface="Calibri"/>
                <a:ea typeface="Calibri"/>
                <a:cs typeface="Calibri"/>
              </a:rPr>
              <a:t>▪  </a:t>
            </a:r>
            <a:r>
              <a:rPr b="1" i="0" dirty="0">
                <a:solidFill>
                  <a:srgbClr val="1D4E89"/>
                </a:solidFill>
                <a:latin typeface="Calibri"/>
                <a:ea typeface="Calibri"/>
                <a:cs typeface="Calibri"/>
              </a:rPr>
              <a:t>It runs on a laptop:  </a:t>
            </a:r>
            <a:r>
              <a:rPr b="0" i="0" dirty="0">
                <a:solidFill>
                  <a:srgbClr val="1E2A44"/>
                </a:solidFill>
                <a:latin typeface="Calibri"/>
                <a:ea typeface="Calibri"/>
                <a:cs typeface="Calibri"/>
              </a:rPr>
              <a:t>the corpus uses up to 8 qubits, so every semantic check simulates in milliseconds on a 32 GB CPU: no device, no queue, no noise.</a:t>
            </a:r>
          </a:p>
          <a:p>
            <a:pPr>
              <a:spcAft>
                <a:spcPts val="1000"/>
              </a:spcAft>
              <a:buNone/>
            </a:pPr>
            <a:r>
              <a:rPr b="1" i="0" dirty="0">
                <a:solidFill>
                  <a:srgbClr val="2F6FCB"/>
                </a:solidFill>
                <a:latin typeface="Calibri"/>
                <a:ea typeface="Calibri"/>
                <a:cs typeface="Calibri"/>
              </a:rPr>
              <a:t>▪  </a:t>
            </a:r>
            <a:r>
              <a:rPr b="1" i="0" dirty="0">
                <a:solidFill>
                  <a:srgbClr val="1D4E89"/>
                </a:solidFill>
                <a:latin typeface="Calibri"/>
                <a:ea typeface="Calibri"/>
                <a:cs typeface="Calibri"/>
              </a:rPr>
              <a:t>Where simulation would blow up:  </a:t>
            </a:r>
            <a:r>
              <a:rPr b="0" i="0" dirty="0">
                <a:solidFill>
                  <a:srgbClr val="1E2A44"/>
                </a:solidFill>
                <a:latin typeface="Calibri"/>
                <a:ea typeface="Calibri"/>
                <a:cs typeface="Calibri"/>
              </a:rPr>
              <a:t>above the cap we do NOT simulate. Structural checks (basis + coupling-map) take over, and even the 27-qubit performance test only times the compiler, not the circuit's output.</a:t>
            </a:r>
          </a:p>
          <a:p>
            <a:pPr>
              <a:spcAft>
                <a:spcPts val="1000"/>
              </a:spcAft>
              <a:buNone/>
            </a:pPr>
            <a:r>
              <a:rPr b="1" i="0" dirty="0">
                <a:solidFill>
                  <a:srgbClr val="2F6FCB"/>
                </a:solidFill>
                <a:latin typeface="Calibri"/>
                <a:ea typeface="Calibri"/>
                <a:cs typeface="Calibri"/>
              </a:rPr>
              <a:t>▪  </a:t>
            </a:r>
            <a:r>
              <a:rPr b="1" i="0" dirty="0">
                <a:solidFill>
                  <a:srgbClr val="1D4E89"/>
                </a:solidFill>
                <a:latin typeface="Calibri"/>
                <a:ea typeface="Calibri"/>
                <a:cs typeface="Calibri"/>
              </a:rPr>
              <a:t>No hardware on the critical path:  </a:t>
            </a:r>
            <a:r>
              <a:rPr b="0" i="0" dirty="0">
                <a:solidFill>
                  <a:srgbClr val="1E2A44"/>
                </a:solidFill>
                <a:latin typeface="Calibri"/>
                <a:ea typeface="Calibri"/>
                <a:cs typeface="Calibri"/>
              </a:rPr>
              <a:t>our research validates the compiler transformation, not physical execution. It stops one step before hardware is needed. Physical-noise fidelity is a separate, downstream question, out of scope.</a:t>
            </a:r>
          </a:p>
        </p:txBody>
      </p:sp>
      <p:sp>
        <p:nvSpPr>
          <p:cNvPr id="7" name="TextBox 6">
            <a:extLst>
              <a:ext uri="{FF2B5EF4-FFF2-40B4-BE49-F238E27FC236}">
                <a16:creationId xmlns:a16="http://schemas.microsoft.com/office/drawing/2014/main" id="{55465CE5-1AD5-4416-9840-0CC8F9A978EA}"/>
              </a:ext>
            </a:extLst>
          </p:cNvPr>
          <p:cNvSpPr>
            <a:spLocks noGrp="1"/>
          </p:cNvSpPr>
          <p:nvPr/>
        </p:nvSpPr>
        <p:spPr>
          <a:xfrm>
            <a:off x="640080" y="5989320"/>
            <a:ext cx="11064240" cy="547842"/>
          </a:xfrm>
          <a:prstGeom prst="rect">
            <a:avLst/>
          </a:prstGeom>
          <a:noFill/>
        </p:spPr>
        <p:txBody>
          <a:bodyPr wrap="square" lIns="27432" tIns="27432" rIns="27432" bIns="27432">
            <a:spAutoFit/>
          </a:bodyPr>
          <a:lstStyle/>
          <a:p>
            <a:r>
              <a:rPr sz="1600" b="0" i="1">
                <a:solidFill>
                  <a:srgbClr val="64748C"/>
                </a:solidFill>
                <a:latin typeface="Calibri"/>
                <a:ea typeface="Calibri"/>
                <a:cs typeface="Calibri"/>
              </a:rPr>
              <a:t>Simulator ≠ hardware: it runs on an ordinary CPU. Exact simulation is exponential, so the design caps it and falls back, which is why no quantum device is needed.</a:t>
            </a:r>
          </a:p>
        </p:txBody>
      </p:sp>
      <p:sp>
        <p:nvSpPr>
          <p:cNvPr id="8" name="TextBox 7">
            <a:extLst>
              <a:ext uri="{FF2B5EF4-FFF2-40B4-BE49-F238E27FC236}">
                <a16:creationId xmlns:a16="http://schemas.microsoft.com/office/drawing/2014/main" id="{8A1C9B6E-20D9-4B0D-994B-E94BA0B3DF9E}"/>
              </a:ext>
            </a:extLst>
          </p:cNvPr>
          <p:cNvSpPr>
            <a:spLocks noGrp="1"/>
          </p:cNvSpPr>
          <p:nvPr/>
        </p:nvSpPr>
        <p:spPr>
          <a:xfrm>
            <a:off x="640080" y="6473952"/>
            <a:ext cx="9692640" cy="209288"/>
          </a:xfrm>
          <a:prstGeom prst="rect">
            <a:avLst/>
          </a:prstGeom>
          <a:noFill/>
        </p:spPr>
        <p:txBody>
          <a:bodyPr wrap="square" lIns="27432" tIns="27432" rIns="27432" bIns="27432">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9" name="TextBox 8">
            <a:extLst>
              <a:ext uri="{FF2B5EF4-FFF2-40B4-BE49-F238E27FC236}">
                <a16:creationId xmlns:a16="http://schemas.microsoft.com/office/drawing/2014/main" id="{1DEA3CD3-7DB5-42A4-B08C-DF6F8CF0D76D}"/>
              </a:ext>
            </a:extLst>
          </p:cNvPr>
          <p:cNvSpPr>
            <a:spLocks noGrp="1"/>
          </p:cNvSpPr>
          <p:nvPr/>
        </p:nvSpPr>
        <p:spPr>
          <a:xfrm>
            <a:off x="11155680" y="6473952"/>
            <a:ext cx="822960" cy="209288"/>
          </a:xfrm>
          <a:prstGeom prst="rect">
            <a:avLst/>
          </a:prstGeom>
          <a:noFill/>
        </p:spPr>
        <p:txBody>
          <a:bodyPr wrap="square" lIns="27432" tIns="27432" rIns="27432" bIns="27432">
            <a:spAutoFit/>
          </a:bodyPr>
          <a:lstStyle/>
          <a:p>
            <a:pPr algn="r">
              <a:buNone/>
            </a:pPr>
            <a:r>
              <a:rPr sz="1000" b="1" i="0">
                <a:solidFill>
                  <a:srgbClr val="64748C"/>
                </a:solidFill>
                <a:latin typeface="Calibri"/>
                <a:ea typeface="Calibri"/>
                <a:cs typeface="Calibri"/>
              </a:rPr>
              <a:t>41</a:t>
            </a:r>
          </a:p>
        </p:txBody>
      </p:sp>
      <p:pic>
        <p:nvPicPr>
          <p:cNvPr id="10"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15775869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5A79B37-06D9-42FE-8BB7-93465E353F33}"/>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1E387A94-A2E5-45C1-BBAD-DB7CBF311E87}"/>
              </a:ext>
            </a:extLst>
          </p:cNvPr>
          <p:cNvSpPr>
            <a:spLocks noGrp="1"/>
          </p:cNvSpPr>
          <p:nvPr/>
        </p:nvSpPr>
        <p:spPr>
          <a:xfrm>
            <a:off x="640080" y="384048"/>
            <a:ext cx="10972800" cy="301621"/>
          </a:xfrm>
          <a:prstGeom prst="rect">
            <a:avLst/>
          </a:prstGeom>
          <a:noFill/>
        </p:spPr>
        <p:txBody>
          <a:bodyPr wrap="square" lIns="27432" tIns="27432" rIns="27432" bIns="27432">
            <a:spAutoFit/>
          </a:bodyPr>
          <a:lstStyle/>
          <a:p>
            <a:r>
              <a:rPr sz="1600" b="1" i="0">
                <a:solidFill>
                  <a:srgbClr val="2F6FCB"/>
                </a:solidFill>
                <a:latin typeface="Calibri"/>
                <a:ea typeface="Calibri"/>
                <a:cs typeface="Calibri"/>
              </a:rPr>
              <a:t>BACKUP · FOR QUESTIONS</a:t>
            </a:r>
          </a:p>
        </p:txBody>
      </p:sp>
      <p:sp>
        <p:nvSpPr>
          <p:cNvPr id="4" name="TextBox 3">
            <a:extLst>
              <a:ext uri="{FF2B5EF4-FFF2-40B4-BE49-F238E27FC236}">
                <a16:creationId xmlns:a16="http://schemas.microsoft.com/office/drawing/2014/main" id="{ED01F0E9-BFBF-40EC-A233-1E0BCB754AA3}"/>
              </a:ext>
            </a:extLst>
          </p:cNvPr>
          <p:cNvSpPr>
            <a:spLocks noGrp="1"/>
          </p:cNvSpPr>
          <p:nvPr/>
        </p:nvSpPr>
        <p:spPr>
          <a:xfrm>
            <a:off x="640080" y="694944"/>
            <a:ext cx="11155680" cy="547842"/>
          </a:xfrm>
          <a:prstGeom prst="rect">
            <a:avLst/>
          </a:prstGeom>
          <a:noFill/>
        </p:spPr>
        <p:txBody>
          <a:bodyPr wrap="square" lIns="27432" tIns="27432" rIns="27432" bIns="27432">
            <a:spAutoFit/>
          </a:bodyPr>
          <a:lstStyle/>
          <a:p>
            <a:r>
              <a:rPr sz="3200" b="1" i="0">
                <a:solidFill>
                  <a:srgbClr val="1E2A44"/>
                </a:solidFill>
                <a:latin typeface="Cambria"/>
                <a:ea typeface="Cambria"/>
                <a:cs typeface="Cambria"/>
              </a:rPr>
              <a:t>Precedent: Testing Quantum Compilers Without Hardware</a:t>
            </a:r>
          </a:p>
        </p:txBody>
      </p:sp>
      <p:sp>
        <p:nvSpPr>
          <p:cNvPr id="5" name="TextBox 4">
            <a:extLst>
              <a:ext uri="{FF2B5EF4-FFF2-40B4-BE49-F238E27FC236}">
                <a16:creationId xmlns:a16="http://schemas.microsoft.com/office/drawing/2014/main" id="{E7F3F270-B533-45EF-9BCD-EBECBB761DDD}"/>
              </a:ext>
            </a:extLst>
          </p:cNvPr>
          <p:cNvSpPr>
            <a:spLocks noGrp="1"/>
          </p:cNvSpPr>
          <p:nvPr/>
        </p:nvSpPr>
        <p:spPr>
          <a:xfrm>
            <a:off x="640080" y="1225296"/>
            <a:ext cx="11064240" cy="547842"/>
          </a:xfrm>
          <a:prstGeom prst="rect">
            <a:avLst/>
          </a:prstGeom>
          <a:noFill/>
        </p:spPr>
        <p:txBody>
          <a:bodyPr wrap="square" lIns="27432" tIns="27432" rIns="27432" bIns="27432">
            <a:spAutoFit/>
          </a:bodyPr>
          <a:lstStyle/>
          <a:p>
            <a:r>
              <a:rPr sz="1600" b="0" i="1">
                <a:solidFill>
                  <a:srgbClr val="1E2A44"/>
                </a:solidFill>
                <a:latin typeface="Calibri"/>
                <a:ea typeface="Calibri"/>
                <a:cs typeface="Calibri"/>
              </a:rPr>
              <a:t>Top-venue studies evaluate quantum compilers and quantum-software testing in classical software or simulation. None required a QPU.</a:t>
            </a:r>
          </a:p>
        </p:txBody>
      </p:sp>
      <p:sp>
        <p:nvSpPr>
          <p:cNvPr id="7" name="TextBox 6">
            <a:extLst>
              <a:ext uri="{FF2B5EF4-FFF2-40B4-BE49-F238E27FC236}">
                <a16:creationId xmlns:a16="http://schemas.microsoft.com/office/drawing/2014/main" id="{6A2B5D5E-33B4-43BE-AABA-97EA70D7616B}"/>
              </a:ext>
            </a:extLst>
          </p:cNvPr>
          <p:cNvSpPr>
            <a:spLocks noGrp="1"/>
          </p:cNvSpPr>
          <p:nvPr/>
        </p:nvSpPr>
        <p:spPr>
          <a:xfrm>
            <a:off x="640080" y="6165000"/>
            <a:ext cx="11064240" cy="301621"/>
          </a:xfrm>
          <a:prstGeom prst="rect">
            <a:avLst/>
          </a:prstGeom>
          <a:noFill/>
        </p:spPr>
        <p:txBody>
          <a:bodyPr wrap="square" lIns="27432" tIns="27432" rIns="27432" bIns="27432">
            <a:spAutoFit/>
          </a:bodyPr>
          <a:lstStyle/>
          <a:p>
            <a:r>
              <a:rPr sz="1600" b="0" i="1">
                <a:solidFill>
                  <a:srgbClr val="64748C"/>
                </a:solidFill>
                <a:latin typeface="Calibri"/>
                <a:ea typeface="Calibri"/>
                <a:cs typeface="Calibri"/>
              </a:rPr>
              <a:t>Our study is in exactly this established, hardware-free mode, evaluating the compiler transformation, not physical execution.</a:t>
            </a:r>
          </a:p>
        </p:txBody>
      </p:sp>
      <p:sp>
        <p:nvSpPr>
          <p:cNvPr id="8" name="TextBox 7">
            <a:extLst>
              <a:ext uri="{FF2B5EF4-FFF2-40B4-BE49-F238E27FC236}">
                <a16:creationId xmlns:a16="http://schemas.microsoft.com/office/drawing/2014/main" id="{ADA6119B-A72B-4841-ADE4-3A8B202A8FE2}"/>
              </a:ext>
            </a:extLst>
          </p:cNvPr>
          <p:cNvSpPr>
            <a:spLocks noGrp="1"/>
          </p:cNvSpPr>
          <p:nvPr/>
        </p:nvSpPr>
        <p:spPr>
          <a:xfrm>
            <a:off x="640080" y="6473952"/>
            <a:ext cx="9692640" cy="209288"/>
          </a:xfrm>
          <a:prstGeom prst="rect">
            <a:avLst/>
          </a:prstGeom>
          <a:noFill/>
        </p:spPr>
        <p:txBody>
          <a:bodyPr wrap="square" lIns="27432" tIns="27432" rIns="27432" bIns="27432">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9" name="TextBox 8">
            <a:extLst>
              <a:ext uri="{FF2B5EF4-FFF2-40B4-BE49-F238E27FC236}">
                <a16:creationId xmlns:a16="http://schemas.microsoft.com/office/drawing/2014/main" id="{54E230EA-39C2-42F2-AB9F-E9432D07206C}"/>
              </a:ext>
            </a:extLst>
          </p:cNvPr>
          <p:cNvSpPr>
            <a:spLocks noGrp="1"/>
          </p:cNvSpPr>
          <p:nvPr/>
        </p:nvSpPr>
        <p:spPr>
          <a:xfrm>
            <a:off x="11155680" y="6473952"/>
            <a:ext cx="822960" cy="209288"/>
          </a:xfrm>
          <a:prstGeom prst="rect">
            <a:avLst/>
          </a:prstGeom>
          <a:noFill/>
        </p:spPr>
        <p:txBody>
          <a:bodyPr wrap="square" lIns="27432" tIns="27432" rIns="27432" bIns="27432">
            <a:spAutoFit/>
          </a:bodyPr>
          <a:lstStyle/>
          <a:p>
            <a:pPr algn="r">
              <a:buNone/>
            </a:pPr>
            <a:r>
              <a:rPr sz="1000" b="1" i="0">
                <a:solidFill>
                  <a:srgbClr val="64748C"/>
                </a:solidFill>
                <a:latin typeface="Calibri"/>
                <a:ea typeface="Calibri"/>
                <a:cs typeface="Calibri"/>
              </a:rPr>
              <a:t>42</a:t>
            </a:r>
          </a:p>
        </p:txBody>
      </p:sp>
      <p:graphicFrame>
        <p:nvGraphicFramePr>
          <p:cNvPr id="20" name="Table 9"/>
          <p:cNvGraphicFramePr/>
          <p:nvPr/>
        </p:nvGraphicFramePr>
        <p:xfrm>
          <a:off x="603504" y="1847088"/>
          <a:ext cx="10378440" cy="3960000"/>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489204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tblGrid>
              <a:tr h="330000">
                <a:tc>
                  <a:txBody>
                    <a:bodyPr/>
                    <a:lstStyle/>
                    <a:p>
                      <a:r>
                        <a:rPr sz="1100" b="1">
                          <a:solidFill>
                            <a:srgbClr val="FFFFFF"/>
                          </a:solidFill>
                          <a:latin typeface="Calibri"/>
                          <a:ea typeface="Calibri"/>
                          <a:cs typeface="Calibri"/>
                        </a:rPr>
                        <a:t>Study</a:t>
                      </a:r>
                    </a:p>
                  </a:txBody>
                  <a:tcPr marL="54864" marR="45720" marT="9144" marB="9144" anchor="ctr">
                    <a:solidFill>
                      <a:srgbClr val="14264F"/>
                    </a:solidFill>
                  </a:tcPr>
                </a:tc>
                <a:tc>
                  <a:txBody>
                    <a:bodyPr/>
                    <a:lstStyle/>
                    <a:p>
                      <a:r>
                        <a:rPr sz="1100" b="1">
                          <a:solidFill>
                            <a:srgbClr val="FFFFFF"/>
                          </a:solidFill>
                          <a:latin typeface="Calibri"/>
                          <a:ea typeface="Calibri"/>
                          <a:cs typeface="Calibri"/>
                        </a:rPr>
                        <a:t>Venue (year)</a:t>
                      </a:r>
                    </a:p>
                  </a:txBody>
                  <a:tcPr marL="54864" marR="45720" marT="9144" marB="9144" anchor="ctr">
                    <a:solidFill>
                      <a:srgbClr val="14264F"/>
                    </a:solidFill>
                  </a:tcPr>
                </a:tc>
                <a:tc>
                  <a:txBody>
                    <a:bodyPr/>
                    <a:lstStyle/>
                    <a:p>
                      <a:pPr algn="ctr">
                        <a:buNone/>
                      </a:pPr>
                      <a:r>
                        <a:rPr sz="1100" b="1">
                          <a:solidFill>
                            <a:srgbClr val="FFFFFF"/>
                          </a:solidFill>
                          <a:latin typeface="Calibri"/>
                          <a:ea typeface="Calibri"/>
                          <a:cs typeface="Calibri"/>
                        </a:rPr>
                        <a:t>Tier</a:t>
                      </a:r>
                    </a:p>
                  </a:txBody>
                  <a:tcPr marL="54864" marR="45720" marT="9144" marB="9144" anchor="ctr">
                    <a:solidFill>
                      <a:srgbClr val="14264F"/>
                    </a:solidFill>
                  </a:tcPr>
                </a:tc>
                <a:tc>
                  <a:txBody>
                    <a:bodyPr/>
                    <a:lstStyle/>
                    <a:p>
                      <a:r>
                        <a:rPr sz="1100" b="1">
                          <a:solidFill>
                            <a:srgbClr val="FFFFFF"/>
                          </a:solidFill>
                          <a:latin typeface="Calibri"/>
                          <a:ea typeface="Calibri"/>
                          <a:cs typeface="Calibri"/>
                        </a:rPr>
                        <a:t>Ran on</a:t>
                      </a:r>
                    </a:p>
                  </a:txBody>
                  <a:tcPr marL="54864" marR="45720" marT="9144" marB="9144" anchor="ctr">
                    <a:solidFill>
                      <a:srgbClr val="14264F"/>
                    </a:solidFill>
                  </a:tcPr>
                </a:tc>
                <a:tc>
                  <a:txBody>
                    <a:bodyPr/>
                    <a:lstStyle/>
                    <a:p>
                      <a:pPr algn="ctr">
                        <a:buNone/>
                      </a:pPr>
                      <a:r>
                        <a:rPr sz="1100" b="1">
                          <a:solidFill>
                            <a:srgbClr val="FFFFFF"/>
                          </a:solidFill>
                          <a:latin typeface="Calibri"/>
                          <a:ea typeface="Calibri"/>
                          <a:cs typeface="Calibri"/>
                        </a:rPr>
                        <a:t>QPU?</a:t>
                      </a:r>
                    </a:p>
                  </a:txBody>
                  <a:tcPr marL="54864" marR="45720" marT="9144" marB="9144" anchor="ctr">
                    <a:solidFill>
                      <a:srgbClr val="14264F"/>
                    </a:solidFill>
                  </a:tcPr>
                </a:tc>
                <a:extLst>
                  <a:ext uri="{0D108BD9-81ED-4DB2-BD59-A6C34878D82A}">
                    <a16:rowId xmlns:a16="http://schemas.microsoft.com/office/drawing/2014/main" val="10000"/>
                  </a:ext>
                </a:extLst>
              </a:tr>
              <a:tr h="330000">
                <a:tc>
                  <a:txBody>
                    <a:bodyPr/>
                    <a:lstStyle/>
                    <a:p>
                      <a:r>
                        <a:rPr sz="1100">
                          <a:solidFill>
                            <a:srgbClr val="1E2A44"/>
                          </a:solidFill>
                          <a:latin typeface="Calibri"/>
                          <a:ea typeface="Calibri"/>
                          <a:cs typeface="Calibri"/>
                        </a:rPr>
                        <a:t>Giallar (Tao et al., 2022)</a:t>
                      </a:r>
                    </a:p>
                  </a:txBody>
                  <a:tcPr marL="54864" marR="45720" marT="9144" marB="9144" anchor="ctr">
                    <a:solidFill>
                      <a:srgbClr val="FFFFFF"/>
                    </a:solidFill>
                  </a:tcPr>
                </a:tc>
                <a:tc>
                  <a:txBody>
                    <a:bodyPr/>
                    <a:lstStyle/>
                    <a:p>
                      <a:r>
                        <a:rPr sz="1100">
                          <a:solidFill>
                            <a:srgbClr val="1E2A44"/>
                          </a:solidFill>
                          <a:latin typeface="Calibri"/>
                          <a:ea typeface="Calibri"/>
                          <a:cs typeface="Calibri"/>
                        </a:rPr>
                        <a:t>PLDI 2022</a:t>
                      </a:r>
                    </a:p>
                  </a:txBody>
                  <a:tcPr marL="54864" marR="45720" marT="9144" marB="9144" anchor="ctr">
                    <a:solidFill>
                      <a:srgbClr val="FFFFFF"/>
                    </a:solidFill>
                  </a:tcPr>
                </a:tc>
                <a:tc>
                  <a:txBody>
                    <a:bodyPr/>
                    <a:lstStyle/>
                    <a:p>
                      <a:pPr algn="ctr">
                        <a:buNone/>
                      </a:pPr>
                      <a:r>
                        <a:rPr sz="1100" b="1">
                          <a:solidFill>
                            <a:srgbClr val="14264F"/>
                          </a:solidFill>
                          <a:latin typeface="Calibri"/>
                          <a:ea typeface="Calibri"/>
                          <a:cs typeface="Calibri"/>
                        </a:rPr>
                        <a:t>A*</a:t>
                      </a:r>
                    </a:p>
                  </a:txBody>
                  <a:tcPr marL="54864" marR="45720" marT="9144" marB="9144" anchor="ctr">
                    <a:solidFill>
                      <a:srgbClr val="FFFFFF"/>
                    </a:solidFill>
                  </a:tcPr>
                </a:tc>
                <a:tc>
                  <a:txBody>
                    <a:bodyPr/>
                    <a:lstStyle/>
                    <a:p>
                      <a:r>
                        <a:rPr sz="1100">
                          <a:solidFill>
                            <a:srgbClr val="1E2A44"/>
                          </a:solidFill>
                          <a:latin typeface="Calibri"/>
                          <a:ea typeface="Calibri"/>
                          <a:cs typeface="Calibri"/>
                        </a:rPr>
                        <a:t>symbolic pass verification (classical)</a:t>
                      </a:r>
                    </a:p>
                  </a:txBody>
                  <a:tcPr marL="54864" marR="45720" marT="9144" marB="9144" anchor="ctr">
                    <a:solidFill>
                      <a:srgbClr val="FFFFFF"/>
                    </a:solidFill>
                  </a:tcPr>
                </a:tc>
                <a:tc>
                  <a:txBody>
                    <a:bodyPr/>
                    <a:lstStyle/>
                    <a:p>
                      <a:pPr algn="ctr">
                        <a:buNone/>
                      </a:pPr>
                      <a:r>
                        <a:rPr sz="1100" b="1">
                          <a:solidFill>
                            <a:srgbClr val="1D4E89"/>
                          </a:solidFill>
                          <a:latin typeface="Calibri"/>
                          <a:ea typeface="Calibri"/>
                          <a:cs typeface="Calibri"/>
                        </a:rPr>
                        <a:t>No</a:t>
                      </a:r>
                    </a:p>
                  </a:txBody>
                  <a:tcPr marL="54864" marR="45720" marT="9144" marB="9144" anchor="ctr">
                    <a:solidFill>
                      <a:srgbClr val="FFFFFF"/>
                    </a:solidFill>
                  </a:tcPr>
                </a:tc>
                <a:extLst>
                  <a:ext uri="{0D108BD9-81ED-4DB2-BD59-A6C34878D82A}">
                    <a16:rowId xmlns:a16="http://schemas.microsoft.com/office/drawing/2014/main" val="10001"/>
                  </a:ext>
                </a:extLst>
              </a:tr>
              <a:tr h="330000">
                <a:tc>
                  <a:txBody>
                    <a:bodyPr/>
                    <a:lstStyle/>
                    <a:p>
                      <a:r>
                        <a:rPr sz="1100">
                          <a:solidFill>
                            <a:srgbClr val="1E2A44"/>
                          </a:solidFill>
                          <a:latin typeface="Calibri"/>
                          <a:ea typeface="Calibri"/>
                          <a:cs typeface="Calibri"/>
                        </a:rPr>
                        <a:t>VOQC (Hietala et al., 2021)</a:t>
                      </a:r>
                    </a:p>
                  </a:txBody>
                  <a:tcPr marL="54864" marR="45720" marT="9144" marB="9144" anchor="ctr">
                    <a:solidFill>
                      <a:srgbClr val="F2F5FA"/>
                    </a:solidFill>
                  </a:tcPr>
                </a:tc>
                <a:tc>
                  <a:txBody>
                    <a:bodyPr/>
                    <a:lstStyle/>
                    <a:p>
                      <a:r>
                        <a:rPr sz="1100">
                          <a:solidFill>
                            <a:srgbClr val="1E2A44"/>
                          </a:solidFill>
                          <a:latin typeface="Calibri"/>
                          <a:ea typeface="Calibri"/>
                          <a:cs typeface="Calibri"/>
                        </a:rPr>
                        <a:t>POPL 2021</a:t>
                      </a:r>
                    </a:p>
                  </a:txBody>
                  <a:tcPr marL="54864" marR="45720" marT="9144" marB="9144" anchor="ctr">
                    <a:solidFill>
                      <a:srgbClr val="F2F5FA"/>
                    </a:solidFill>
                  </a:tcPr>
                </a:tc>
                <a:tc>
                  <a:txBody>
                    <a:bodyPr/>
                    <a:lstStyle/>
                    <a:p>
                      <a:pPr algn="ctr">
                        <a:buNone/>
                      </a:pPr>
                      <a:r>
                        <a:rPr sz="1100" b="1">
                          <a:solidFill>
                            <a:srgbClr val="14264F"/>
                          </a:solidFill>
                          <a:latin typeface="Calibri"/>
                          <a:ea typeface="Calibri"/>
                          <a:cs typeface="Calibri"/>
                        </a:rPr>
                        <a:t>A*</a:t>
                      </a:r>
                    </a:p>
                  </a:txBody>
                  <a:tcPr marL="54864" marR="45720" marT="9144" marB="9144" anchor="ctr">
                    <a:solidFill>
                      <a:srgbClr val="F2F5FA"/>
                    </a:solidFill>
                  </a:tcPr>
                </a:tc>
                <a:tc>
                  <a:txBody>
                    <a:bodyPr/>
                    <a:lstStyle/>
                    <a:p>
                      <a:r>
                        <a:rPr sz="1100">
                          <a:solidFill>
                            <a:srgbClr val="1E2A44"/>
                          </a:solidFill>
                          <a:latin typeface="Calibri"/>
                          <a:ea typeface="Calibri"/>
                          <a:cs typeface="Calibri"/>
                        </a:rPr>
                        <a:t>Coq proofs over circuit semantics</a:t>
                      </a:r>
                    </a:p>
                  </a:txBody>
                  <a:tcPr marL="54864" marR="45720" marT="9144" marB="9144" anchor="ctr">
                    <a:solidFill>
                      <a:srgbClr val="F2F5FA"/>
                    </a:solidFill>
                  </a:tcPr>
                </a:tc>
                <a:tc>
                  <a:txBody>
                    <a:bodyPr/>
                    <a:lstStyle/>
                    <a:p>
                      <a:pPr algn="ctr">
                        <a:buNone/>
                      </a:pPr>
                      <a:r>
                        <a:rPr sz="1100" b="1">
                          <a:solidFill>
                            <a:srgbClr val="1D4E89"/>
                          </a:solidFill>
                          <a:latin typeface="Calibri"/>
                          <a:ea typeface="Calibri"/>
                          <a:cs typeface="Calibri"/>
                        </a:rPr>
                        <a:t>No</a:t>
                      </a:r>
                    </a:p>
                  </a:txBody>
                  <a:tcPr marL="54864" marR="45720" marT="9144" marB="9144" anchor="ctr">
                    <a:solidFill>
                      <a:srgbClr val="F2F5FA"/>
                    </a:solidFill>
                  </a:tcPr>
                </a:tc>
                <a:extLst>
                  <a:ext uri="{0D108BD9-81ED-4DB2-BD59-A6C34878D82A}">
                    <a16:rowId xmlns:a16="http://schemas.microsoft.com/office/drawing/2014/main" val="10002"/>
                  </a:ext>
                </a:extLst>
              </a:tr>
              <a:tr h="330000">
                <a:tc>
                  <a:txBody>
                    <a:bodyPr/>
                    <a:lstStyle/>
                    <a:p>
                      <a:r>
                        <a:rPr sz="1100">
                          <a:solidFill>
                            <a:srgbClr val="1E2A44"/>
                          </a:solidFill>
                          <a:latin typeface="Calibri"/>
                          <a:ea typeface="Calibri"/>
                          <a:cs typeface="Calibri"/>
                        </a:rPr>
                        <a:t>Burgholzer et al. (2020)</a:t>
                      </a:r>
                    </a:p>
                  </a:txBody>
                  <a:tcPr marL="54864" marR="45720" marT="9144" marB="9144" anchor="ctr">
                    <a:solidFill>
                      <a:srgbClr val="FFFFFF"/>
                    </a:solidFill>
                  </a:tcPr>
                </a:tc>
                <a:tc>
                  <a:txBody>
                    <a:bodyPr/>
                    <a:lstStyle/>
                    <a:p>
                      <a:r>
                        <a:rPr sz="1100">
                          <a:solidFill>
                            <a:srgbClr val="1E2A44"/>
                          </a:solidFill>
                          <a:latin typeface="Calibri"/>
                          <a:ea typeface="Calibri"/>
                          <a:cs typeface="Calibri"/>
                        </a:rPr>
                        <a:t>IEEE QCE 2020</a:t>
                      </a:r>
                    </a:p>
                  </a:txBody>
                  <a:tcPr marL="54864" marR="45720" marT="9144" marB="9144" anchor="ctr">
                    <a:solidFill>
                      <a:srgbClr val="FFFFFF"/>
                    </a:solidFill>
                  </a:tcPr>
                </a:tc>
                <a:tc>
                  <a:txBody>
                    <a:bodyPr/>
                    <a:lstStyle/>
                    <a:p>
                      <a:pPr algn="ctr">
                        <a:buNone/>
                      </a:pPr>
                      <a:r>
                        <a:rPr sz="1100" b="1">
                          <a:solidFill>
                            <a:srgbClr val="14264F"/>
                          </a:solidFill>
                          <a:latin typeface="Calibri"/>
                          <a:ea typeface="Calibri"/>
                          <a:cs typeface="Calibri"/>
                        </a:rPr>
                        <a:t>Nat.</a:t>
                      </a:r>
                    </a:p>
                  </a:txBody>
                  <a:tcPr marL="54864" marR="45720" marT="9144" marB="9144" anchor="ctr">
                    <a:solidFill>
                      <a:srgbClr val="FFFFFF"/>
                    </a:solidFill>
                  </a:tcPr>
                </a:tc>
                <a:tc>
                  <a:txBody>
                    <a:bodyPr/>
                    <a:lstStyle/>
                    <a:p>
                      <a:r>
                        <a:rPr sz="1100">
                          <a:solidFill>
                            <a:srgbClr val="1E2A44"/>
                          </a:solidFill>
                          <a:latin typeface="Calibri"/>
                          <a:ea typeface="Calibri"/>
                          <a:cs typeface="Calibri"/>
                        </a:rPr>
                        <a:t>equivalence checking of Qiskit compilation</a:t>
                      </a:r>
                    </a:p>
                  </a:txBody>
                  <a:tcPr marL="54864" marR="45720" marT="9144" marB="9144" anchor="ctr">
                    <a:solidFill>
                      <a:srgbClr val="FFFFFF"/>
                    </a:solidFill>
                  </a:tcPr>
                </a:tc>
                <a:tc>
                  <a:txBody>
                    <a:bodyPr/>
                    <a:lstStyle/>
                    <a:p>
                      <a:pPr algn="ctr">
                        <a:buNone/>
                      </a:pPr>
                      <a:r>
                        <a:rPr sz="1100" b="1">
                          <a:solidFill>
                            <a:srgbClr val="1D4E89"/>
                          </a:solidFill>
                          <a:latin typeface="Calibri"/>
                          <a:ea typeface="Calibri"/>
                          <a:cs typeface="Calibri"/>
                        </a:rPr>
                        <a:t>No</a:t>
                      </a:r>
                    </a:p>
                  </a:txBody>
                  <a:tcPr marL="54864" marR="45720" marT="9144" marB="9144" anchor="ctr">
                    <a:solidFill>
                      <a:srgbClr val="FFFFFF"/>
                    </a:solidFill>
                  </a:tcPr>
                </a:tc>
                <a:extLst>
                  <a:ext uri="{0D108BD9-81ED-4DB2-BD59-A6C34878D82A}">
                    <a16:rowId xmlns:a16="http://schemas.microsoft.com/office/drawing/2014/main" val="10003"/>
                  </a:ext>
                </a:extLst>
              </a:tr>
              <a:tr h="330000">
                <a:tc>
                  <a:txBody>
                    <a:bodyPr/>
                    <a:lstStyle/>
                    <a:p>
                      <a:r>
                        <a:rPr sz="1100">
                          <a:solidFill>
                            <a:srgbClr val="1E2A44"/>
                          </a:solidFill>
                          <a:latin typeface="Calibri"/>
                          <a:ea typeface="Calibri"/>
                          <a:cs typeface="Calibri"/>
                        </a:rPr>
                        <a:t>MorphQ (Paltenghi &amp; Pradel, 2023)</a:t>
                      </a:r>
                    </a:p>
                  </a:txBody>
                  <a:tcPr marL="54864" marR="45720" marT="9144" marB="9144" anchor="ctr">
                    <a:solidFill>
                      <a:srgbClr val="F2F5FA"/>
                    </a:solidFill>
                  </a:tcPr>
                </a:tc>
                <a:tc>
                  <a:txBody>
                    <a:bodyPr/>
                    <a:lstStyle/>
                    <a:p>
                      <a:r>
                        <a:rPr sz="1100">
                          <a:solidFill>
                            <a:srgbClr val="1E2A44"/>
                          </a:solidFill>
                          <a:latin typeface="Calibri"/>
                          <a:ea typeface="Calibri"/>
                          <a:cs typeface="Calibri"/>
                        </a:rPr>
                        <a:t>ICSE 2023</a:t>
                      </a:r>
                    </a:p>
                  </a:txBody>
                  <a:tcPr marL="54864" marR="45720" marT="9144" marB="9144" anchor="ctr">
                    <a:solidFill>
                      <a:srgbClr val="F2F5FA"/>
                    </a:solidFill>
                  </a:tcPr>
                </a:tc>
                <a:tc>
                  <a:txBody>
                    <a:bodyPr/>
                    <a:lstStyle/>
                    <a:p>
                      <a:pPr algn="ctr">
                        <a:buNone/>
                      </a:pPr>
                      <a:r>
                        <a:rPr sz="1100" b="1">
                          <a:solidFill>
                            <a:srgbClr val="14264F"/>
                          </a:solidFill>
                          <a:latin typeface="Calibri"/>
                          <a:ea typeface="Calibri"/>
                          <a:cs typeface="Calibri"/>
                        </a:rPr>
                        <a:t>A*</a:t>
                      </a:r>
                    </a:p>
                  </a:txBody>
                  <a:tcPr marL="54864" marR="45720" marT="9144" marB="9144" anchor="ctr">
                    <a:solidFill>
                      <a:srgbClr val="F2F5FA"/>
                    </a:solidFill>
                  </a:tcPr>
                </a:tc>
                <a:tc>
                  <a:txBody>
                    <a:bodyPr/>
                    <a:lstStyle/>
                    <a:p>
                      <a:r>
                        <a:rPr sz="1100">
                          <a:solidFill>
                            <a:srgbClr val="1E2A44"/>
                          </a:solidFill>
                          <a:latin typeface="Calibri"/>
                          <a:ea typeface="Calibri"/>
                          <a:cs typeface="Calibri"/>
                        </a:rPr>
                        <a:t>Qiskit simulator (8,000+ program pairs)</a:t>
                      </a:r>
                    </a:p>
                  </a:txBody>
                  <a:tcPr marL="54864" marR="45720" marT="9144" marB="9144" anchor="ctr">
                    <a:solidFill>
                      <a:srgbClr val="F2F5FA"/>
                    </a:solidFill>
                  </a:tcPr>
                </a:tc>
                <a:tc>
                  <a:txBody>
                    <a:bodyPr/>
                    <a:lstStyle/>
                    <a:p>
                      <a:pPr algn="ctr">
                        <a:buNone/>
                      </a:pPr>
                      <a:r>
                        <a:rPr sz="1100" b="1">
                          <a:solidFill>
                            <a:srgbClr val="1D4E89"/>
                          </a:solidFill>
                          <a:latin typeface="Calibri"/>
                          <a:ea typeface="Calibri"/>
                          <a:cs typeface="Calibri"/>
                        </a:rPr>
                        <a:t>No</a:t>
                      </a:r>
                    </a:p>
                  </a:txBody>
                  <a:tcPr marL="54864" marR="45720" marT="9144" marB="9144" anchor="ctr">
                    <a:solidFill>
                      <a:srgbClr val="F2F5FA"/>
                    </a:solidFill>
                  </a:tcPr>
                </a:tc>
                <a:extLst>
                  <a:ext uri="{0D108BD9-81ED-4DB2-BD59-A6C34878D82A}">
                    <a16:rowId xmlns:a16="http://schemas.microsoft.com/office/drawing/2014/main" val="10004"/>
                  </a:ext>
                </a:extLst>
              </a:tr>
              <a:tr h="330000">
                <a:tc>
                  <a:txBody>
                    <a:bodyPr/>
                    <a:lstStyle/>
                    <a:p>
                      <a:r>
                        <a:rPr sz="1100">
                          <a:solidFill>
                            <a:srgbClr val="1E2A44"/>
                          </a:solidFill>
                          <a:latin typeface="Calibri"/>
                          <a:ea typeface="Calibri"/>
                          <a:cs typeface="Calibri"/>
                        </a:rPr>
                        <a:t>Muskit (Mendiluze et al., 2021)</a:t>
                      </a:r>
                    </a:p>
                  </a:txBody>
                  <a:tcPr marL="54864" marR="45720" marT="9144" marB="9144" anchor="ctr">
                    <a:solidFill>
                      <a:srgbClr val="FFFFFF"/>
                    </a:solidFill>
                  </a:tcPr>
                </a:tc>
                <a:tc>
                  <a:txBody>
                    <a:bodyPr/>
                    <a:lstStyle/>
                    <a:p>
                      <a:r>
                        <a:rPr sz="1100">
                          <a:solidFill>
                            <a:srgbClr val="1E2A44"/>
                          </a:solidFill>
                          <a:latin typeface="Calibri"/>
                          <a:ea typeface="Calibri"/>
                          <a:cs typeface="Calibri"/>
                        </a:rPr>
                        <a:t>ASE 2021</a:t>
                      </a:r>
                    </a:p>
                  </a:txBody>
                  <a:tcPr marL="54864" marR="45720" marT="9144" marB="9144" anchor="ctr">
                    <a:solidFill>
                      <a:srgbClr val="FFFFFF"/>
                    </a:solidFill>
                  </a:tcPr>
                </a:tc>
                <a:tc>
                  <a:txBody>
                    <a:bodyPr/>
                    <a:lstStyle/>
                    <a:p>
                      <a:pPr algn="ctr">
                        <a:buNone/>
                      </a:pPr>
                      <a:r>
                        <a:rPr sz="1100" b="1">
                          <a:solidFill>
                            <a:srgbClr val="14264F"/>
                          </a:solidFill>
                          <a:latin typeface="Calibri"/>
                          <a:ea typeface="Calibri"/>
                          <a:cs typeface="Calibri"/>
                        </a:rPr>
                        <a:t>A*</a:t>
                      </a:r>
                    </a:p>
                  </a:txBody>
                  <a:tcPr marL="54864" marR="45720" marT="9144" marB="9144" anchor="ctr">
                    <a:solidFill>
                      <a:srgbClr val="FFFFFF"/>
                    </a:solidFill>
                  </a:tcPr>
                </a:tc>
                <a:tc>
                  <a:txBody>
                    <a:bodyPr/>
                    <a:lstStyle/>
                    <a:p>
                      <a:r>
                        <a:rPr sz="1100">
                          <a:solidFill>
                            <a:srgbClr val="1E2A44"/>
                          </a:solidFill>
                          <a:latin typeface="Calibri"/>
                          <a:ea typeface="Calibri"/>
                          <a:cs typeface="Calibri"/>
                        </a:rPr>
                        <a:t>Qiskit software (mutation analysis)</a:t>
                      </a:r>
                    </a:p>
                  </a:txBody>
                  <a:tcPr marL="54864" marR="45720" marT="9144" marB="9144" anchor="ctr">
                    <a:solidFill>
                      <a:srgbClr val="FFFFFF"/>
                    </a:solidFill>
                  </a:tcPr>
                </a:tc>
                <a:tc>
                  <a:txBody>
                    <a:bodyPr/>
                    <a:lstStyle/>
                    <a:p>
                      <a:pPr algn="ctr">
                        <a:buNone/>
                      </a:pPr>
                      <a:r>
                        <a:rPr sz="1100" b="1">
                          <a:solidFill>
                            <a:srgbClr val="1D4E89"/>
                          </a:solidFill>
                          <a:latin typeface="Calibri"/>
                          <a:ea typeface="Calibri"/>
                          <a:cs typeface="Calibri"/>
                        </a:rPr>
                        <a:t>No</a:t>
                      </a:r>
                    </a:p>
                  </a:txBody>
                  <a:tcPr marL="54864" marR="45720" marT="9144" marB="9144" anchor="ctr">
                    <a:solidFill>
                      <a:srgbClr val="FFFFFF"/>
                    </a:solidFill>
                  </a:tcPr>
                </a:tc>
                <a:extLst>
                  <a:ext uri="{0D108BD9-81ED-4DB2-BD59-A6C34878D82A}">
                    <a16:rowId xmlns:a16="http://schemas.microsoft.com/office/drawing/2014/main" val="10005"/>
                  </a:ext>
                </a:extLst>
              </a:tr>
              <a:tr h="330000">
                <a:tc>
                  <a:txBody>
                    <a:bodyPr/>
                    <a:lstStyle/>
                    <a:p>
                      <a:r>
                        <a:rPr sz="1100">
                          <a:solidFill>
                            <a:srgbClr val="1E2A44"/>
                          </a:solidFill>
                          <a:latin typeface="Calibri"/>
                          <a:ea typeface="Calibri"/>
                          <a:cs typeface="Calibri"/>
                        </a:rPr>
                        <a:t>Bugs4Q (Zhao et al., 2023)</a:t>
                      </a:r>
                    </a:p>
                  </a:txBody>
                  <a:tcPr marL="54864" marR="45720" marT="9144" marB="9144" anchor="ctr">
                    <a:solidFill>
                      <a:srgbClr val="F2F5FA"/>
                    </a:solidFill>
                  </a:tcPr>
                </a:tc>
                <a:tc>
                  <a:txBody>
                    <a:bodyPr/>
                    <a:lstStyle/>
                    <a:p>
                      <a:r>
                        <a:rPr sz="1100">
                          <a:solidFill>
                            <a:srgbClr val="1E2A44"/>
                          </a:solidFill>
                          <a:latin typeface="Calibri"/>
                          <a:ea typeface="Calibri"/>
                          <a:cs typeface="Calibri"/>
                        </a:rPr>
                        <a:t>J. Syst. Softw. (2023)</a:t>
                      </a:r>
                    </a:p>
                  </a:txBody>
                  <a:tcPr marL="54864" marR="45720" marT="9144" marB="9144" anchor="ctr">
                    <a:solidFill>
                      <a:srgbClr val="F2F5FA"/>
                    </a:solidFill>
                  </a:tcPr>
                </a:tc>
                <a:tc>
                  <a:txBody>
                    <a:bodyPr/>
                    <a:lstStyle/>
                    <a:p>
                      <a:pPr algn="ctr">
                        <a:buNone/>
                      </a:pPr>
                      <a:r>
                        <a:rPr sz="1100" b="1">
                          <a:solidFill>
                            <a:srgbClr val="14264F"/>
                          </a:solidFill>
                          <a:latin typeface="Calibri"/>
                          <a:ea typeface="Calibri"/>
                          <a:cs typeface="Calibri"/>
                        </a:rPr>
                        <a:t>Q1</a:t>
                      </a:r>
                    </a:p>
                  </a:txBody>
                  <a:tcPr marL="54864" marR="45720" marT="9144" marB="9144" anchor="ctr">
                    <a:solidFill>
                      <a:srgbClr val="F2F5FA"/>
                    </a:solidFill>
                  </a:tcPr>
                </a:tc>
                <a:tc>
                  <a:txBody>
                    <a:bodyPr/>
                    <a:lstStyle/>
                    <a:p>
                      <a:r>
                        <a:rPr sz="1100">
                          <a:solidFill>
                            <a:srgbClr val="1E2A44"/>
                          </a:solidFill>
                          <a:latin typeface="Calibri"/>
                          <a:ea typeface="Calibri"/>
                          <a:cs typeface="Calibri"/>
                        </a:rPr>
                        <a:t>Qiskit buggy/fixed revisions</a:t>
                      </a:r>
                    </a:p>
                  </a:txBody>
                  <a:tcPr marL="54864" marR="45720" marT="9144" marB="9144" anchor="ctr">
                    <a:solidFill>
                      <a:srgbClr val="F2F5FA"/>
                    </a:solidFill>
                  </a:tcPr>
                </a:tc>
                <a:tc>
                  <a:txBody>
                    <a:bodyPr/>
                    <a:lstStyle/>
                    <a:p>
                      <a:pPr algn="ctr">
                        <a:buNone/>
                      </a:pPr>
                      <a:r>
                        <a:rPr sz="1100" b="1">
                          <a:solidFill>
                            <a:srgbClr val="1D4E89"/>
                          </a:solidFill>
                          <a:latin typeface="Calibri"/>
                          <a:ea typeface="Calibri"/>
                          <a:cs typeface="Calibri"/>
                        </a:rPr>
                        <a:t>No</a:t>
                      </a:r>
                    </a:p>
                  </a:txBody>
                  <a:tcPr marL="54864" marR="45720" marT="9144" marB="9144" anchor="ctr">
                    <a:solidFill>
                      <a:srgbClr val="F2F5FA"/>
                    </a:solidFill>
                  </a:tcPr>
                </a:tc>
                <a:extLst>
                  <a:ext uri="{0D108BD9-81ED-4DB2-BD59-A6C34878D82A}">
                    <a16:rowId xmlns:a16="http://schemas.microsoft.com/office/drawing/2014/main" val="10006"/>
                  </a:ext>
                </a:extLst>
              </a:tr>
              <a:tr h="330000">
                <a:tc>
                  <a:txBody>
                    <a:bodyPr/>
                    <a:lstStyle/>
                    <a:p>
                      <a:r>
                        <a:rPr sz="1100">
                          <a:solidFill>
                            <a:srgbClr val="1E2A44"/>
                          </a:solidFill>
                          <a:latin typeface="Calibri"/>
                          <a:ea typeface="Calibri"/>
                          <a:cs typeface="Calibri"/>
                        </a:rPr>
                        <a:t>QMutPy (Fortunato et al., 2022)</a:t>
                      </a:r>
                    </a:p>
                  </a:txBody>
                  <a:tcPr marL="54864" marR="45720" marT="9144" marB="9144" anchor="ctr">
                    <a:solidFill>
                      <a:srgbClr val="FFFFFF"/>
                    </a:solidFill>
                  </a:tcPr>
                </a:tc>
                <a:tc>
                  <a:txBody>
                    <a:bodyPr/>
                    <a:lstStyle/>
                    <a:p>
                      <a:r>
                        <a:rPr sz="1100">
                          <a:solidFill>
                            <a:srgbClr val="1E2A44"/>
                          </a:solidFill>
                          <a:latin typeface="Calibri"/>
                          <a:ea typeface="Calibri"/>
                          <a:cs typeface="Calibri"/>
                        </a:rPr>
                        <a:t>IEEE TQE 2022</a:t>
                      </a:r>
                    </a:p>
                  </a:txBody>
                  <a:tcPr marL="54864" marR="45720" marT="9144" marB="9144" anchor="ctr">
                    <a:solidFill>
                      <a:srgbClr val="FFFFFF"/>
                    </a:solidFill>
                  </a:tcPr>
                </a:tc>
                <a:tc>
                  <a:txBody>
                    <a:bodyPr/>
                    <a:lstStyle/>
                    <a:p>
                      <a:pPr algn="ctr">
                        <a:buNone/>
                      </a:pPr>
                      <a:r>
                        <a:rPr sz="1100" b="1">
                          <a:solidFill>
                            <a:srgbClr val="14264F"/>
                          </a:solidFill>
                          <a:latin typeface="Calibri"/>
                          <a:ea typeface="Calibri"/>
                          <a:cs typeface="Calibri"/>
                        </a:rPr>
                        <a:t>Q1</a:t>
                      </a:r>
                    </a:p>
                  </a:txBody>
                  <a:tcPr marL="54864" marR="45720" marT="9144" marB="9144" anchor="ctr">
                    <a:solidFill>
                      <a:srgbClr val="FFFFFF"/>
                    </a:solidFill>
                  </a:tcPr>
                </a:tc>
                <a:tc>
                  <a:txBody>
                    <a:bodyPr/>
                    <a:lstStyle/>
                    <a:p>
                      <a:r>
                        <a:rPr sz="1100">
                          <a:solidFill>
                            <a:srgbClr val="1E2A44"/>
                          </a:solidFill>
                          <a:latin typeface="Calibri"/>
                          <a:ea typeface="Calibri"/>
                          <a:cs typeface="Calibri"/>
                        </a:rPr>
                        <a:t>Qiskit software (24 programs)</a:t>
                      </a:r>
                    </a:p>
                  </a:txBody>
                  <a:tcPr marL="54864" marR="45720" marT="9144" marB="9144" anchor="ctr">
                    <a:solidFill>
                      <a:srgbClr val="FFFFFF"/>
                    </a:solidFill>
                  </a:tcPr>
                </a:tc>
                <a:tc>
                  <a:txBody>
                    <a:bodyPr/>
                    <a:lstStyle/>
                    <a:p>
                      <a:pPr algn="ctr">
                        <a:buNone/>
                      </a:pPr>
                      <a:r>
                        <a:rPr sz="1100" b="1">
                          <a:solidFill>
                            <a:srgbClr val="1D4E89"/>
                          </a:solidFill>
                          <a:latin typeface="Calibri"/>
                          <a:ea typeface="Calibri"/>
                          <a:cs typeface="Calibri"/>
                        </a:rPr>
                        <a:t>No</a:t>
                      </a:r>
                    </a:p>
                  </a:txBody>
                  <a:tcPr marL="54864" marR="45720" marT="9144" marB="9144" anchor="ctr">
                    <a:solidFill>
                      <a:srgbClr val="FFFFFF"/>
                    </a:solidFill>
                  </a:tcPr>
                </a:tc>
                <a:extLst>
                  <a:ext uri="{0D108BD9-81ED-4DB2-BD59-A6C34878D82A}">
                    <a16:rowId xmlns:a16="http://schemas.microsoft.com/office/drawing/2014/main" val="10007"/>
                  </a:ext>
                </a:extLst>
              </a:tr>
              <a:tr h="330000">
                <a:tc>
                  <a:txBody>
                    <a:bodyPr/>
                    <a:lstStyle/>
                    <a:p>
                      <a:r>
                        <a:rPr sz="1100">
                          <a:solidFill>
                            <a:srgbClr val="1E2A44"/>
                          </a:solidFill>
                          <a:latin typeface="Calibri"/>
                          <a:ea typeface="Calibri"/>
                          <a:cs typeface="Calibri"/>
                        </a:rPr>
                        <a:t>Coverage criteria (Ali et al., 2021)</a:t>
                      </a:r>
                    </a:p>
                  </a:txBody>
                  <a:tcPr marL="54864" marR="45720" marT="9144" marB="9144" anchor="ctr">
                    <a:solidFill>
                      <a:srgbClr val="F2F5FA"/>
                    </a:solidFill>
                  </a:tcPr>
                </a:tc>
                <a:tc>
                  <a:txBody>
                    <a:bodyPr/>
                    <a:lstStyle/>
                    <a:p>
                      <a:r>
                        <a:rPr sz="1100">
                          <a:solidFill>
                            <a:srgbClr val="1E2A44"/>
                          </a:solidFill>
                          <a:latin typeface="Calibri"/>
                          <a:ea typeface="Calibri"/>
                          <a:cs typeface="Calibri"/>
                        </a:rPr>
                        <a:t>ICST 2021</a:t>
                      </a:r>
                    </a:p>
                  </a:txBody>
                  <a:tcPr marL="54864" marR="45720" marT="9144" marB="9144" anchor="ctr">
                    <a:solidFill>
                      <a:srgbClr val="F2F5FA"/>
                    </a:solidFill>
                  </a:tcPr>
                </a:tc>
                <a:tc>
                  <a:txBody>
                    <a:bodyPr/>
                    <a:lstStyle/>
                    <a:p>
                      <a:pPr algn="ctr">
                        <a:buNone/>
                      </a:pPr>
                      <a:r>
                        <a:rPr sz="1100" b="1">
                          <a:solidFill>
                            <a:srgbClr val="14264F"/>
                          </a:solidFill>
                          <a:latin typeface="Calibri"/>
                          <a:ea typeface="Calibri"/>
                          <a:cs typeface="Calibri"/>
                        </a:rPr>
                        <a:t>A</a:t>
                      </a:r>
                    </a:p>
                  </a:txBody>
                  <a:tcPr marL="54864" marR="45720" marT="9144" marB="9144" anchor="ctr">
                    <a:solidFill>
                      <a:srgbClr val="F2F5FA"/>
                    </a:solidFill>
                  </a:tcPr>
                </a:tc>
                <a:tc>
                  <a:txBody>
                    <a:bodyPr/>
                    <a:lstStyle/>
                    <a:p>
                      <a:r>
                        <a:rPr sz="1100">
                          <a:solidFill>
                            <a:srgbClr val="1E2A44"/>
                          </a:solidFill>
                          <a:latin typeface="Calibri"/>
                          <a:ea typeface="Calibri"/>
                          <a:cs typeface="Calibri"/>
                        </a:rPr>
                        <a:t>simulator + statistical oracles</a:t>
                      </a:r>
                    </a:p>
                  </a:txBody>
                  <a:tcPr marL="54864" marR="45720" marT="9144" marB="9144" anchor="ctr">
                    <a:solidFill>
                      <a:srgbClr val="F2F5FA"/>
                    </a:solidFill>
                  </a:tcPr>
                </a:tc>
                <a:tc>
                  <a:txBody>
                    <a:bodyPr/>
                    <a:lstStyle/>
                    <a:p>
                      <a:pPr algn="ctr">
                        <a:buNone/>
                      </a:pPr>
                      <a:r>
                        <a:rPr sz="1100" b="1">
                          <a:solidFill>
                            <a:srgbClr val="1D4E89"/>
                          </a:solidFill>
                          <a:latin typeface="Calibri"/>
                          <a:ea typeface="Calibri"/>
                          <a:cs typeface="Calibri"/>
                        </a:rPr>
                        <a:t>No</a:t>
                      </a:r>
                    </a:p>
                  </a:txBody>
                  <a:tcPr marL="54864" marR="45720" marT="9144" marB="9144" anchor="ctr">
                    <a:solidFill>
                      <a:srgbClr val="F2F5FA"/>
                    </a:solidFill>
                  </a:tcPr>
                </a:tc>
                <a:extLst>
                  <a:ext uri="{0D108BD9-81ED-4DB2-BD59-A6C34878D82A}">
                    <a16:rowId xmlns:a16="http://schemas.microsoft.com/office/drawing/2014/main" val="10008"/>
                  </a:ext>
                </a:extLst>
              </a:tr>
              <a:tr h="330000">
                <a:tc>
                  <a:txBody>
                    <a:bodyPr/>
                    <a:lstStyle/>
                    <a:p>
                      <a:r>
                        <a:rPr sz="1100">
                          <a:solidFill>
                            <a:srgbClr val="1E2A44"/>
                          </a:solidFill>
                          <a:latin typeface="Calibri"/>
                          <a:ea typeface="Calibri"/>
                          <a:cs typeface="Calibri"/>
                        </a:rPr>
                        <a:t>QuSBT (Wang et al., 2022)</a:t>
                      </a:r>
                    </a:p>
                  </a:txBody>
                  <a:tcPr marL="54864" marR="45720" marT="9144" marB="9144" anchor="ctr">
                    <a:solidFill>
                      <a:srgbClr val="FFFFFF"/>
                    </a:solidFill>
                  </a:tcPr>
                </a:tc>
                <a:tc>
                  <a:txBody>
                    <a:bodyPr/>
                    <a:lstStyle/>
                    <a:p>
                      <a:r>
                        <a:rPr sz="1100">
                          <a:solidFill>
                            <a:srgbClr val="1E2A44"/>
                          </a:solidFill>
                          <a:latin typeface="Calibri"/>
                          <a:ea typeface="Calibri"/>
                          <a:cs typeface="Calibri"/>
                        </a:rPr>
                        <a:t>ICSE-C 2022</a:t>
                      </a:r>
                    </a:p>
                  </a:txBody>
                  <a:tcPr marL="54864" marR="45720" marT="9144" marB="9144" anchor="ctr">
                    <a:solidFill>
                      <a:srgbClr val="FFFFFF"/>
                    </a:solidFill>
                  </a:tcPr>
                </a:tc>
                <a:tc>
                  <a:txBody>
                    <a:bodyPr/>
                    <a:lstStyle/>
                    <a:p>
                      <a:pPr algn="ctr">
                        <a:buNone/>
                      </a:pPr>
                      <a:r>
                        <a:rPr sz="1100" b="1">
                          <a:solidFill>
                            <a:srgbClr val="14264F"/>
                          </a:solidFill>
                          <a:latin typeface="Calibri"/>
                          <a:ea typeface="Calibri"/>
                          <a:cs typeface="Calibri"/>
                        </a:rPr>
                        <a:t>A*</a:t>
                      </a:r>
                    </a:p>
                  </a:txBody>
                  <a:tcPr marL="54864" marR="45720" marT="9144" marB="9144" anchor="ctr">
                    <a:solidFill>
                      <a:srgbClr val="FFFFFF"/>
                    </a:solidFill>
                  </a:tcPr>
                </a:tc>
                <a:tc>
                  <a:txBody>
                    <a:bodyPr/>
                    <a:lstStyle/>
                    <a:p>
                      <a:r>
                        <a:rPr sz="1100">
                          <a:solidFill>
                            <a:srgbClr val="1E2A44"/>
                          </a:solidFill>
                          <a:latin typeface="Calibri"/>
                          <a:ea typeface="Calibri"/>
                          <a:cs typeface="Calibri"/>
                        </a:rPr>
                        <a:t>Qiskit as the simulation framework</a:t>
                      </a:r>
                    </a:p>
                  </a:txBody>
                  <a:tcPr marL="54864" marR="45720" marT="9144" marB="9144" anchor="ctr">
                    <a:solidFill>
                      <a:srgbClr val="FFFFFF"/>
                    </a:solidFill>
                  </a:tcPr>
                </a:tc>
                <a:tc>
                  <a:txBody>
                    <a:bodyPr/>
                    <a:lstStyle/>
                    <a:p>
                      <a:pPr algn="ctr">
                        <a:buNone/>
                      </a:pPr>
                      <a:r>
                        <a:rPr sz="1100" b="1">
                          <a:solidFill>
                            <a:srgbClr val="1D4E89"/>
                          </a:solidFill>
                          <a:latin typeface="Calibri"/>
                          <a:ea typeface="Calibri"/>
                          <a:cs typeface="Calibri"/>
                        </a:rPr>
                        <a:t>No</a:t>
                      </a:r>
                    </a:p>
                  </a:txBody>
                  <a:tcPr marL="54864" marR="45720" marT="9144" marB="9144" anchor="ctr">
                    <a:solidFill>
                      <a:srgbClr val="FFFFFF"/>
                    </a:solidFill>
                  </a:tcPr>
                </a:tc>
                <a:extLst>
                  <a:ext uri="{0D108BD9-81ED-4DB2-BD59-A6C34878D82A}">
                    <a16:rowId xmlns:a16="http://schemas.microsoft.com/office/drawing/2014/main" val="10009"/>
                  </a:ext>
                </a:extLst>
              </a:tr>
              <a:tr h="330000">
                <a:tc>
                  <a:txBody>
                    <a:bodyPr/>
                    <a:lstStyle/>
                    <a:p>
                      <a:r>
                        <a:rPr sz="1100">
                          <a:solidFill>
                            <a:srgbClr val="1E2A44"/>
                          </a:solidFill>
                          <a:latin typeface="Calibri"/>
                          <a:ea typeface="Calibri"/>
                          <a:cs typeface="Calibri"/>
                        </a:rPr>
                        <a:t>Simulator fuzzing (Klimis et al., 2025)</a:t>
                      </a:r>
                    </a:p>
                  </a:txBody>
                  <a:tcPr marL="54864" marR="45720" marT="9144" marB="9144" anchor="ctr">
                    <a:solidFill>
                      <a:srgbClr val="F2F5FA"/>
                    </a:solidFill>
                  </a:tcPr>
                </a:tc>
                <a:tc>
                  <a:txBody>
                    <a:bodyPr/>
                    <a:lstStyle/>
                    <a:p>
                      <a:r>
                        <a:rPr sz="1100">
                          <a:solidFill>
                            <a:srgbClr val="1E2A44"/>
                          </a:solidFill>
                          <a:latin typeface="Calibri"/>
                          <a:ea typeface="Calibri"/>
                          <a:cs typeface="Calibri"/>
                        </a:rPr>
                        <a:t>OOPSLA 2025</a:t>
                      </a:r>
                    </a:p>
                  </a:txBody>
                  <a:tcPr marL="54864" marR="45720" marT="9144" marB="9144" anchor="ctr">
                    <a:solidFill>
                      <a:srgbClr val="F2F5FA"/>
                    </a:solidFill>
                  </a:tcPr>
                </a:tc>
                <a:tc>
                  <a:txBody>
                    <a:bodyPr/>
                    <a:lstStyle/>
                    <a:p>
                      <a:pPr algn="ctr">
                        <a:buNone/>
                      </a:pPr>
                      <a:r>
                        <a:rPr sz="1100" b="1">
                          <a:solidFill>
                            <a:srgbClr val="14264F"/>
                          </a:solidFill>
                          <a:latin typeface="Calibri"/>
                          <a:ea typeface="Calibri"/>
                          <a:cs typeface="Calibri"/>
                        </a:rPr>
                        <a:t>A*</a:t>
                      </a:r>
                    </a:p>
                  </a:txBody>
                  <a:tcPr marL="54864" marR="45720" marT="9144" marB="9144" anchor="ctr">
                    <a:solidFill>
                      <a:srgbClr val="F2F5FA"/>
                    </a:solidFill>
                  </a:tcPr>
                </a:tc>
                <a:tc>
                  <a:txBody>
                    <a:bodyPr/>
                    <a:lstStyle/>
                    <a:p>
                      <a:r>
                        <a:rPr sz="1100">
                          <a:solidFill>
                            <a:srgbClr val="1E2A44"/>
                          </a:solidFill>
                          <a:latin typeface="Calibri"/>
                          <a:ea typeface="Calibri"/>
                          <a:cs typeface="Calibri"/>
                        </a:rPr>
                        <a:t>Qiskit/Cirq simulators (800,000+ circuits)</a:t>
                      </a:r>
                    </a:p>
                  </a:txBody>
                  <a:tcPr marL="54864" marR="45720" marT="9144" marB="9144" anchor="ctr">
                    <a:solidFill>
                      <a:srgbClr val="F2F5FA"/>
                    </a:solidFill>
                  </a:tcPr>
                </a:tc>
                <a:tc>
                  <a:txBody>
                    <a:bodyPr/>
                    <a:lstStyle/>
                    <a:p>
                      <a:pPr algn="ctr">
                        <a:buNone/>
                      </a:pPr>
                      <a:r>
                        <a:rPr sz="1100" b="1">
                          <a:solidFill>
                            <a:srgbClr val="1D4E89"/>
                          </a:solidFill>
                          <a:latin typeface="Calibri"/>
                          <a:ea typeface="Calibri"/>
                          <a:cs typeface="Calibri"/>
                        </a:rPr>
                        <a:t>No</a:t>
                      </a:r>
                    </a:p>
                  </a:txBody>
                  <a:tcPr marL="54864" marR="45720" marT="9144" marB="9144" anchor="ctr">
                    <a:solidFill>
                      <a:srgbClr val="F2F5FA"/>
                    </a:solidFill>
                  </a:tcPr>
                </a:tc>
                <a:extLst>
                  <a:ext uri="{0D108BD9-81ED-4DB2-BD59-A6C34878D82A}">
                    <a16:rowId xmlns:a16="http://schemas.microsoft.com/office/drawing/2014/main" val="10010"/>
                  </a:ext>
                </a:extLst>
              </a:tr>
              <a:tr h="330000">
                <a:tc>
                  <a:txBody>
                    <a:bodyPr/>
                    <a:lstStyle/>
                    <a:p>
                      <a:r>
                        <a:rPr sz="1100">
                          <a:solidFill>
                            <a:srgbClr val="1E2A44"/>
                          </a:solidFill>
                          <a:latin typeface="Calibri"/>
                          <a:ea typeface="Calibri"/>
                          <a:cs typeface="Calibri"/>
                        </a:rPr>
                        <a:t>Exact inference (Lee et al., 2025)</a:t>
                      </a:r>
                    </a:p>
                  </a:txBody>
                  <a:tcPr marL="54864" marR="45720" marT="9144" marB="9144" anchor="ctr">
                    <a:solidFill>
                      <a:srgbClr val="FFFFFF"/>
                    </a:solidFill>
                  </a:tcPr>
                </a:tc>
                <a:tc>
                  <a:txBody>
                    <a:bodyPr/>
                    <a:lstStyle/>
                    <a:p>
                      <a:r>
                        <a:rPr sz="1100">
                          <a:solidFill>
                            <a:srgbClr val="1E2A44"/>
                          </a:solidFill>
                          <a:latin typeface="Calibri"/>
                          <a:ea typeface="Calibri"/>
                          <a:cs typeface="Calibri"/>
                        </a:rPr>
                        <a:t>ASE 2025</a:t>
                      </a:r>
                    </a:p>
                  </a:txBody>
                  <a:tcPr marL="54864" marR="45720" marT="9144" marB="9144" anchor="ctr">
                    <a:solidFill>
                      <a:srgbClr val="FFFFFF"/>
                    </a:solidFill>
                  </a:tcPr>
                </a:tc>
                <a:tc>
                  <a:txBody>
                    <a:bodyPr/>
                    <a:lstStyle/>
                    <a:p>
                      <a:pPr algn="ctr">
                        <a:buNone/>
                      </a:pPr>
                      <a:r>
                        <a:rPr sz="1100" b="1">
                          <a:solidFill>
                            <a:srgbClr val="14264F"/>
                          </a:solidFill>
                          <a:latin typeface="Calibri"/>
                          <a:ea typeface="Calibri"/>
                          <a:cs typeface="Calibri"/>
                        </a:rPr>
                        <a:t>A*</a:t>
                      </a:r>
                    </a:p>
                  </a:txBody>
                  <a:tcPr marL="54864" marR="45720" marT="9144" marB="9144" anchor="ctr">
                    <a:solidFill>
                      <a:srgbClr val="FFFFFF"/>
                    </a:solidFill>
                  </a:tcPr>
                </a:tc>
                <a:tc>
                  <a:txBody>
                    <a:bodyPr/>
                    <a:lstStyle/>
                    <a:p>
                      <a:r>
                        <a:rPr sz="1100">
                          <a:solidFill>
                            <a:srgbClr val="1E2A44"/>
                          </a:solidFill>
                          <a:latin typeface="Calibri"/>
                          <a:ea typeface="Calibri"/>
                          <a:cs typeface="Calibri"/>
                        </a:rPr>
                        <a:t>classical exact inference oracle</a:t>
                      </a:r>
                    </a:p>
                  </a:txBody>
                  <a:tcPr marL="54864" marR="45720" marT="9144" marB="9144" anchor="ctr">
                    <a:solidFill>
                      <a:srgbClr val="FFFFFF"/>
                    </a:solidFill>
                  </a:tcPr>
                </a:tc>
                <a:tc>
                  <a:txBody>
                    <a:bodyPr/>
                    <a:lstStyle/>
                    <a:p>
                      <a:pPr algn="ctr">
                        <a:buNone/>
                      </a:pPr>
                      <a:r>
                        <a:rPr sz="1100" b="1">
                          <a:solidFill>
                            <a:srgbClr val="1D4E89"/>
                          </a:solidFill>
                          <a:latin typeface="Calibri"/>
                          <a:ea typeface="Calibri"/>
                          <a:cs typeface="Calibri"/>
                        </a:rPr>
                        <a:t>No</a:t>
                      </a:r>
                    </a:p>
                  </a:txBody>
                  <a:tcPr marL="54864" marR="45720" marT="9144" marB="9144" anchor="ctr">
                    <a:solidFill>
                      <a:srgbClr val="FFFFFF"/>
                    </a:solidFill>
                  </a:tcPr>
                </a:tc>
                <a:extLst>
                  <a:ext uri="{0D108BD9-81ED-4DB2-BD59-A6C34878D82A}">
                    <a16:rowId xmlns:a16="http://schemas.microsoft.com/office/drawing/2014/main" val="10011"/>
                  </a:ext>
                </a:extLst>
              </a:tr>
            </a:tbl>
          </a:graphicData>
        </a:graphic>
      </p:graphicFrame>
      <p:sp>
        <p:nvSpPr>
          <p:cNvPr id="11" name="TextBox 10">
            <a:extLst>
              <a:ext uri="{FF2B5EF4-FFF2-40B4-BE49-F238E27FC236}">
                <a16:creationId xmlns:a16="http://schemas.microsoft.com/office/drawing/2014/main" id="{8C3EA295-C07A-40E3-89F5-7EEAAC5BD553}"/>
              </a:ext>
            </a:extLst>
          </p:cNvPr>
          <p:cNvSpPr>
            <a:spLocks noGrp="1"/>
          </p:cNvSpPr>
          <p:nvPr/>
        </p:nvSpPr>
        <p:spPr>
          <a:xfrm>
            <a:off x="640080" y="5970000"/>
            <a:ext cx="11064240" cy="180000"/>
          </a:xfrm>
          <a:prstGeom prst="rect">
            <a:avLst/>
          </a:prstGeom>
          <a:noFill/>
        </p:spPr>
        <p:txBody>
          <a:bodyPr wrap="square">
            <a:spAutoFit/>
          </a:bodyPr>
          <a:lstStyle/>
          <a:p>
            <a:r>
              <a:rPr sz="900" i="1">
                <a:solidFill>
                  <a:srgbClr val="64748C"/>
                </a:solidFill>
                <a:latin typeface="Calibri"/>
                <a:ea typeface="Calibri"/>
                <a:cs typeface="Calibri"/>
              </a:rPr>
              <a:t>Conference tier: CORE 2023 (A* = top tier, A = strong). Journals: Scimago quartile (Q1 = top 25%). IEEE QCE is a specialised quantum venue (CORE national tier).</a:t>
            </a:r>
          </a:p>
        </p:txBody>
      </p:sp>
      <p:pic>
        <p:nvPicPr>
          <p:cNvPr id="12"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3571121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2196</TotalTime>
  <Words>17971</Words>
  <Application>Microsoft Office PowerPoint</Application>
  <DocSecurity>0</DocSecurity>
  <PresentationFormat>Widescreen</PresentationFormat>
  <Paragraphs>1240</Paragraphs>
  <Slides>41</Slides>
  <Notes>40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Furqan Nasir</cp:lastModifiedBy>
  <cp:revision>142</cp:revision>
  <dcterms:created xsi:type="dcterms:W3CDTF">2026-08-25T13:49:55Z</dcterms:created>
  <dcterms:modified xsi:type="dcterms:W3CDTF">2026-08-31T05:00:11Z</dcterms:modified>
</cp:coreProperties>
</file>