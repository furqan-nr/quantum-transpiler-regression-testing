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69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Respected Chair and members of the Board of Advanced Studies and Research, thank you for the opportunity to present my PhD synopsis. My research is titled “A Leakage-Safe Framework for Observability-Aware Regression Testing of Quantum Compilers.” The central problem is simple: a quantum compiler can regress even when its final output still appears correct. I therefore investigate how to expose faults that conventional output checks cannot observe, while selecting tests under realistic time and computing budgets. I will present the research gap, the proposed framework, the feasibility evidence obtained so far, and the plan for completing the study.</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will follow the same structure as the proposal. I will begin with the research context, problem statement, questions, objectives, scope, and expected contributions. I will then position the work in the literature and explain what remains unresolved. The third section presents the methodology: the pipeline, the matched-oracle strategy, and the cost-aware test selector. After that, I will discuss the initial feasibility results, followed by the one-year completion plan. I will close with the main conclusions and invite questions. Additional technical material is included after the main presentation for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Quantum programs cannot be sent directly to hardware. They first pass through a compiler pipeline that rewrites the circuit to satisfy the device’s gate set and connectivity constraints. In Qiskit, this compiler component is the transpiler. Because it changes frequently, an apparently routine update can create a regression: the circuit may become incorrect, unnecessarily deep, slow to compile, or internally inconsistent. The research challenge is therefore not merely to test whether compilation finishes. It is to detect meaningful regressions early, reliably, and within a practical testing budget before they affect downstream users.</a:t>
            </a:r>
            <a:endParaRPr/>
          </a:p>
          <a:p>
            <a:endParaRPr/>
          </a:p>
          <a:p>
            <a:r>
              <a:t>[Sources]</a:t>
            </a:r>
            <a:endParaRPr/>
          </a:p>
          <a:p>
            <a:r>
              <a:t>- References cited on slide: [8] and [1]. See slide 21.</a:t>
            </a:r>
            <a:endParaRPr/>
          </a:p>
          <a:p>
            <a:r>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has two coupled parts. First is observability. The conventional semantic-equivalence check compares the final compiled circuit with the intended computation. That is necessary, but it may miss faults in internal contracts, layout metadata, determinism, or other properties when the final unitary still looks acceptable. Second is affordability. A fast-moving compiler may have a very large regression suite, so executing every test against every change is too slow and costly. My thesis therefore addresses both questions together: which faults can the current screen observe, and which high-value tests should run first under a fixed budget?</a:t>
            </a:r>
            <a:endParaRPr/>
          </a:p>
          <a:p>
            <a:endParaRPr/>
          </a:p>
          <a:p>
            <a:r>
              <a:t>[Sources]</a:t>
            </a:r>
            <a:endParaRPr/>
          </a:p>
          <a:p>
            <a:r>
              <a:t>- References cited on slide: [6] and [5]. See slide 21.</a:t>
            </a:r>
            <a:endParaRPr/>
          </a:p>
          <a:p>
            <a:r>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taxonomy makes the observability issue concrete. A transpiler regression may appear through seven channels. The reference screen already watches four: semantic differences, compilation failures, circuit-quality degradation, and performance slowdown. The remaining three create the gap. The output circuit can be semantically correct while its contract or layout metadata is wrong; repeated runs can become non-deterministic; or a relevant global phase can be altered. My argument is not that output equivalence is unimportant. It is that one output-oriented oracle cannot represent every fault class. Each channel requires an oracle capable of observing the property that can actually fail.</a:t>
            </a:r>
          </a:p>
          <a:p>
            <a:endParaRPr/>
          </a:p>
          <a:p>
            <a:r>
              <a:t>[Sources]</a:t>
            </a:r>
          </a:p>
          <a:p>
            <a:r>
              <a:t>- Fault-channel synthesis draws on the testing and equivalence literature summarized in slides 9 and 21, especially [5] and [6].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questions define the study. RQ1 measures the prevalence of real regressions that escape the four-oracle reference screen. RQ2 asks whether those misses can be closed using fault-matched contract, property, isolated-pass, or determinism oracles. RQ3 concerns operational soundness: can the complete leakage-safe and cost-aware pipeline be built and pass an executable validity audit? RQ4 deliberately separates feasibility from confirmatory comparison. Part A verifies that the selector and five baselines run correctly under identical budgets and anti-leakage rules. Part B proceeds only after a prospectively determined number of independent forward-regression events has been verified, at which point earlier fault detection can be compared rigorously.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objective maps directly to a research question. Objective one mines merged bug fixes, classifies their manifestation channels, and quantifies inter-rater agreement so that prevalence is not based on one person’s judgment. Objective two requires at least one source-confirmed real regression that passes the reference screen but fails a matched oracle. Objective three produces the open prototype, called cart, and subjects it to six implementation-validity gates while verifying at least one forward regression. Objective four first demonstrates fair execution of the selector and all baselines, then commits to a powered comparative study once the event target fixed by prospective precision analysis is reached. This mapping keeps every claim tied to auditable evidence.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scope is intentionally bounded. The feasibility study focuses on the Qiskit 2.x transpiler, runs on an ordinary laptop, and uses small circuits—normally up to eight qubits, with the H4 timing study extending to 16 through 27 qubits. No quantum hardware is required because the object under test is classical compiler software. Within that scope, the intended contributions are threefold: empirical measurement and source-level demonstration of the observability gap; a reproducible, leakage-safe, cost-aware methodology and open prototype; and, to my knowledge, the first framework that combines these properties for regression-test selection in a quantum transpiler. The claim is carefully limited to the evidence 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literature provides strong components, but not the complete solution. Classical regression testing gives mature methods for selection, prioritisation, and cost-aware scheduling. Quantum-software research offers metamorphic, property-based, differential, and compiler-specific techniques. Equivalence checking provides a trusted semantic oracle, while systems such as CertiQ, Giallar, and concolic testing show that compiler passes and internal state can be inspected. The unresolved gap is integration: prior work does not combine matched internal oracles with leakage-safe, budget-aware selection of existing transpiler regression tests. This thesis connects those previously separate lines of work.</a:t>
            </a:r>
          </a:p>
          <a:p>
            <a:endParaRPr/>
          </a:p>
          <a:p>
            <a:r>
              <a:t>[Sources]</a:t>
            </a:r>
          </a:p>
          <a:p>
            <a:r>
              <a:t>- References cited on slide: [3], [4], [7], [23], [24], [6], [26], [27], [42], and [14]. See slide 21.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matrix shows the positioning more precisely. Classical prioritisation and predictive selection are cost-aware and can order existing tests, but they do not supply quantum-specific quality-assurance oracles or cohort separation. Quantum-testing approaches such as MorphQ, QuCheck, QEMI, QDiff, and QSPE provide strong bug-finding oracles, yet they are not designed as cost-aware selectors for an existing transpiler regression suite. Giallar verifies passes formally, and Benchpress benchmarks compilation, but neither covers the full combination. The proposed work is differentiated by treating oracle coverage, cost, existing-test selection, temporal leakage control, and cohort separation as one auditable evaluation design.</a:t>
            </a:r>
          </a:p>
          <a:p>
            <a:endParaRPr/>
          </a:p>
          <a:p>
            <a:r>
              <a:t>[Sources]</a:t>
            </a:r>
          </a:p>
          <a:p>
            <a:r>
              <a:t>- Comparative synthesis uses the works identified in this table and the selected references on slide 21.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cart methodology has five stages. Stage one pins revisions and environments and records provenance and pass traces. Stage two constructs temporally separated event cohorts, including forward regressions and fix-boundary events. Stage three applies width-tiered semantic checks and fault-matched oracles while withholding labels. Stage four is the leakage-safe selection and evaluation stage: the risk score and five baselines rank tests using pre-execution information only; the ranked order is then joined with withheld labels offline under the same CPU-time budget. Stage five computes effectiveness, diagnostic, and validity measures. Every stage rests on a shared reproducibility substrate: fixed environments, write-once artifacts, CPU calibration, frozen mappings, temporal splits, and explicit claim boundaries.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single oracle covers every manifestation. A unitary-equivalence oracle is appropriate for semantic differences, while compilation validity catches failures to produce a circuit. Circuit-quality and performance regressions require dedicated thresholds or comparative measures. Contract or metadata corruption requires a contract-oriented check, and non-determinism requires repeated execution under identical conditions. The key design principle is therefore matched observability: choose the oracle according to the property that can fail. The reference black-box screen covers the first four channels, but not contract and determinism in a standard way. H1 provides the feasibility demonstration that a matched contract oracle can close one such gap.</a:t>
            </a:r>
          </a:p>
          <a:p>
            <a:endParaRPr/>
          </a:p>
          <a:p>
            <a:r>
              <a:t>[Sources]</a:t>
            </a:r>
          </a:p>
          <a:p>
            <a:r>
              <a:t>- Oracle design is grounded in the equivalence and quantum-testing literature summarized on slides 9 and 21.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selector ranks each candidate test by expected value per unit cost. Value combines whether the test exercises the changed stage, sensitivity of the circuit and backend, impact or criticality, historical risk, confidence in the oracle, and novelty. Cost is the measured baseline time for transpilation plus the oracle. This is an interpretable heuristic, not a learned probability and not a black-box AI model. To prevent leakage, it uses only information available before the test executes. The weights are frozen before evaluation, compared with five baselines, examined through ablation, and stress-tested with broad weight perturbations and reserve-budget sweeps. The goal is an explainable ordering that remains robust under reasonable design choices.</a:t>
            </a:r>
          </a:p>
          <a:p>
            <a:endParaRPr/>
          </a:p>
          <a:p>
            <a:r>
              <a:t>[Sources]</a:t>
            </a:r>
          </a:p>
          <a:p>
            <a:r>
              <a:t>- The selection and cost-aware evaluation foundation follows the regression-testing literature summarized in [3] and [14].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initial work is a feasibility study rather than a powered claim of superiority. Everything was run on one ordinary laptop, mostly with circuits of eight qubits or fewer. The purpose was to determine whether the full pipeline could execute end to end, whether its leakage and budget safeguards were implementable, and whether real historical Qiskit regressions could be reconstructed from source. This matters because the later comparison is meaningful only if the event construction, oracles, labels, ranking logic, budgets, and metrics all work together. The feasibility results show that this operational foundation exists; they do not yet replace the planned full-scale 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reports the historical events attempted and, importantly, distinguishes what has and has not been established. H4 is a verified forward performance regression under a multi-run timing protocol. H1 is a fix-boundary event that demonstrates the observability gap: semantic output equivalence passes, while a matched contract check detects the fault. H2 and H5 have not yet been run, and H3 is currently blocked because it requires a noisy target. I present these statuses explicitly to avoid treating incomplete cases as evidence. At this stage, H4 supports pipeline feasibility and H1 supports gap closability; expanding the set of forward-regression events remains part of the work plan.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H4 is a performance regression in VF2PostLayout. The vertical axis is logarithmic, so the growth is substantial: the median slowdown is about 1.9 times at 16 qubits, 97 times at 20 qubits, and 342 times at 27 qubits. The multi-run protocol separates a repeatable regression signal from ordinary timing noise. However, this width-extended experiment is not the same regime as the primary corpus, which is capped at eight qubits. I therefore use H4 to demonstrate that the pipeline can verify a genuine forward regression and handle performance evidence—not to generalise the plotted slowdown to the entire study population.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H1 is the clearest demonstration of the central thesis. On the buggy build, the black-box output-equivalence oracle reports that the compiled circuit is equivalent, so the reference screen misses the fault. A matched property or isolated-pass oracle, however, reports a contract-metadata failure and exposes the regression. Because the two checks are applied to the same real historical event, this is direct evidence that the gap is not merely theoretical. It also shows that the gap is closable: the fault becomes observable when the oracle is aligned with the failed contract. The next stage is to measure how often this pattern occurs across a larger, independently classified event 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26-fix seed gives a preliminary view of where transpiler faults manifest. Seven fixes concern contract or metadata, six compilation failure, five semantic output, four circuit quality, two non-determinism, one global phase, and one performance. The orange channels—contract or metadata, non-determinism, and global phase—sum to ten of 26, or approximately 38 percent, outside the reference screen as currently defined. This is a seed estimate, not the final prevalence claim. The full study must expand the mining, apply the classification protocol independently, report inter-rater agreement, and preserve the temporal and cohort rules before drawing a general conclusion.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remaining work is organised into five phases over one year. The feasibility study, prototype, and initial evidence constitute phase one and are complete. Phase two expands the mining and aims to verify at least three forward regressions. Phase three performs the selector-versus-baseline comparison under equal budgets. Phase four strengthens validation and examines generalisation to another software development kit, subject to the evidence and available time. Phase five completes the thesis and defence. The sequence is deliberate: I will not conduct or over-interpret the powered selector comparison before the independent forward-event target and validity conditions are satisfied.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the feasibility study has produced an operational prototype and usable evidence from two different historical events. H4 verifies that the pipeline can reconstruct and measure a forward performance regression. H1 demonstrates the central observability claim: a real contract fault can pass the reference output screen yet be detected by a matched oracle. The 26-fix seed suggests that the gap may be material, but that prevalence estimate and the comparative advantage of the selector remain to be established through the planned full study. The contribution is therefore a cautious, auditable path from observability diagnosis to budget-aware regression testing. Thank you. I welcome the Board’s questions and guidance.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lists the principal sources used to ground the proposal across classical regression-test prioritisation, quantum-software testing, circuit equivalence, compiler verification, and empirical bug studies. I will not read the references individually. I include them so that each major claim and methodological choice can be traced to the relevant literature. The numbering follows the full proposal reference list, which is why some numbers are not consecutive on this selected slide.</a:t>
            </a:r>
          </a:p>
          <a:p>
            <a:endParaRPr/>
          </a:p>
          <a:p>
            <a:r>
              <a:t>[Sources]</a:t>
            </a:r>
          </a:p>
          <a:p>
            <a:r>
              <a:t>- The selected references are displayed on this slide; numbering follows the proposal’s full bibliography.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framework shows how the research questions fit together. The main goal is effective, leakage-safe, cost-aware Qiskit transpiler regression testing. The left branch concerns observability: RQ1 quantifies how often the four-oracle screen misses real faults, and RQ2 tests whether matched oracles can close source-confirmed misses. The right branch concerns budgeted prioritisation: RQ4(a) establishes correct feasibility execution, while RQ4(b) performs the powered comparison only after the entry condition is met. RQ3 is the audited operational foundation supporting both branches through cohort separation, provenance, write-once evidence, calibration, and validity gates. The final conclusion remains explicitly scope-bounded to the evidence 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validity gates are executable checks on the implementation rather than informal assurances. Budget compliance verifies that every strategy respects the same resource limit. Reproducibility checks that the same seed yields the same ranking. Leakage absence confirms that changing the current event’s outcome cannot alter its pre-execution ranking. Label reproducibility traces labels back to write-once artifacts. Metric correctness is checked against hand-computed cases, and oracle coverage confirms that the required channels are represented. All six gates pass in the feasibility prototype. This supports operational soundness, but it does not by itself prove that the proposed selector is superior; that remains the purpose of the later comparison.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Formally, the risk score multiplies a smoothed change-stage match by circuit-backend sensitivity, impact prior, historical risk, oracle confidence, and a novelty multiplier, then divides by expected cost. The small epsilon prevents a zero change-stage match from automatically eliminating a potentially valuable test. Historical risk is defined as one plus the prior failure rate, while expected cost includes both transpilation and oracle time. The multiplicative form makes the reasoning transparent: a test moves earlier when it is more relevant, sensitive, consequential, historically risky, trustworthy, or novel, and later when it is expensive. The score is a hand-set ranking heuristic, not a calibrated probability of failure.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 builds on classical regression testing, but the concepts cannot be transferred unchanged. Classical systems usually provide deterministic and directly inspectable outcomes; a quantum transpiler must account for probabilistic observations and internal mappings. Correctness may be defined up to global phase and qubit permutation. The fault model includes routing, entanglement, phase, backend, and noise concerns, while simulation and oracle costs can grow rapidly. I retain the classical foundations—selection, prioritisation, budget accounting, APFD, and APFDc—but redefine features, costs, and oracles for quantum compilation. The novelty is this adaptation and its empirical validation, not the invention of regression testing itself.</a:t>
            </a:r>
          </a:p>
          <a:p>
            <a:endParaRPr/>
          </a:p>
          <a:p>
            <a:r>
              <a:t>[Sources]</a:t>
            </a:r>
          </a:p>
          <a:p>
            <a:r>
              <a:t>- Classical prioritisation and quantum equivalence foundations are summarized in [3] and [6].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Several findings show why a quantum-specific treatment is necessary. Empirical studies report a substantial class of quantum-platform bugs concentrated in compile and optimise components. Quantum outputs form exponentially large distributions, and conventional distribution checks can miss phase-related faults. A single observation cannot establish state equivalence, so repeated measurements and specialised oracles are needed. Equivalence algorithms themselves had to be redesigned for reversibility, superposition, and entanglement. Finally, formal work on compiler passes demonstrates that quantum semantics must be represented explicitly. Together, this evidence supports the central claim: classical testing machinery remains valuable, but its observability, oracle, equivalence, and cost assumptions do not hold unchanged.</a:t>
            </a:r>
          </a:p>
          <a:p>
            <a:endParaRPr/>
          </a:p>
          <a:p>
            <a:r>
              <a:t>[Sources]</a:t>
            </a:r>
          </a:p>
          <a:p>
            <a:r>
              <a:t>- References cited on slide: [1], [46], [47], [48], [6], and [27]. See slide 21 and the proposal bibliography.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novel method can still be evaluated with standard apparatus. The selector is compared against five established baseline families: random, cost-based, history-based, coverage or diversity-based, and change-based. Outcomes use recognised measures such as APFD, APFDc, recall at budget, detection-versus-budget area under the curve, oracle false-positive rate, and inter-rater agreement. Ground truth comes from real historical regressions with known buggy and fixed revisions. Ablation removes quantum-specific components one at a time, while the six validity gates audit the implementation. Most importantly, the regression event—not each test-oracle pair—is the independent unit of analysis, preventing pseudo-replication and overstated significance.</a:t>
            </a:r>
          </a:p>
          <a:p>
            <a:endParaRPr/>
          </a:p>
          <a:p>
            <a:r>
              <a:t>[Sources]</a:t>
            </a:r>
          </a:p>
          <a:p>
            <a:r>
              <a:t>- References cited on slide: [3], [10], [14], [12], [40], and [41]. See the proposal bibliography.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historical events are taken from the authoritative development record of the open-source software: merged pull requests, linked issues, fixing commits, and release notes. For an open-source SDK, this repository history is the primary record of what changed, why it changed, and which revisions bound the fault. Mining merged bug fixes is an established empirical-software-engineering method, and accepted quantum bug benchmarks use the same provenance. Each event in this study is traced to its inducing or fixing record, exact revisions, environment, and reproducible build scripts. RFCs are not the right source for routine defects because they document major designs; the relevant evidence for regressions resides in the pull-request and release record.</a:t>
            </a:r>
          </a:p>
          <a:p>
            <a:endParaRPr/>
          </a:p>
          <a:p>
            <a:r>
              <a:t>[Sources]</a:t>
            </a:r>
          </a:p>
          <a:p>
            <a:r>
              <a:t>- References cited on slide: [49], [29], and [1]. See the proposal bibliography.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quantum processor is required for this research. The transpiler itself is classical compiler software, and the study evaluates its transformation on an ordinary CPU. For small circuits, exact unitary simulation uses classical linear algebra and compares results up to global phase. The main corpus is capped at eight qubits, so these checks remain practical. Beyond the semantic-simulation cap, the framework switches to structural checks such as basis and coupling-map validity. Even the 27-qubit H4 experiment measures compiler time rather than executing the circuit. Physical-noise fidelity is a downstream hardware question and is outside the present scope; no device, queue, or quantum-hardware access lies on the critical path.</a:t>
            </a:r>
          </a:p>
          <a:p>
            <a:endParaRPr/>
          </a:p>
          <a:p>
            <a:r>
              <a:t>[Sources]</a:t>
            </a:r>
          </a:p>
          <a:p>
            <a:r>
              <a:t>- Quantum-circuit equivalence background is cited on slide as [6].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strong precedent for evaluating quantum compilers and testing techniques without a quantum processor. Giallar and VOQC use symbolic verification and formal proof. Other studies use equivalence checking, buggy and fixed Qiskit revisions, mutation analysis, classical simulators, statistical oracles, fuzzing, or exact inference. The table spans leading programming-languages, software-engineering, testing, and quantum-software venues, and every listed study operates in classical software or simulation rather than on a QPU. My study follows this established mode: it evaluates the compiler transformation and its regression-testing process, not physical execution on a noisy device.</a:t>
            </a:r>
          </a:p>
          <a:p>
            <a:endParaRPr/>
          </a:p>
          <a:p>
            <a:r>
              <a:t>[Sources]</a:t>
            </a:r>
          </a:p>
          <a:p>
            <a:r>
              <a:t>- References cited on slide: [27], [44], [50], [7], [30], [29], [31], [51], [52], [53], and [48]. See the proposal bibliography.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Qiskit is an appropriate case because its transpiler is both influential and fast-moving. The 2.x series follows a roughly quarterly minor-release cadence, with additional patch releases, and most recent releases have changed transpilation internals or performance. Examples include the standalone C transpiler work, changes to VF2Layout and VF2PostLayout, custom passes in C, and later DAG-level and fault-tolerant pipeline improvements. This creates a rich, traceable sequence of real changes and fixes. The choice is therefore methodological, not merely convenient: high change velocity creates repeated regression opportunities, and Qiskit’s public history provides the provenance required for source-level reconstruction and temporal evaluation.</a:t>
            </a:r>
          </a:p>
          <a:p>
            <a:endParaRPr/>
          </a:p>
          <a:p>
            <a:r>
              <a:t>[Sources]</a:t>
            </a:r>
          </a:p>
          <a:p>
            <a:r>
              <a:t>- Qiskit release policy and official release notes for the 2.x series, as summarized on this slide.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834E8-6504-46CB-A7EF-334343022297}"/>
              </a:ext>
            </a:extLst>
          </p:cNvPr>
          <p:cNvSpPr>
            <a:spLocks noGrp="1"/>
          </p:cNvSpPr>
          <p:nvPr>
            <p:ph type="ctrTitle"/>
          </p:nvPr>
        </p:nvSpPr>
        <p:spPr>
          <a:xfrm>
            <a:off x="685800" y="2130425"/>
            <a:ext cx="7772400" cy="1470025"/>
          </a:xfrm>
        </p:spPr>
        <p:txBody>
          <a:bodyPr/>
          <a:lstStyle/>
          <a:p>
            <a:r>
              <a:t>Click to edit Master title style</a:t>
            </a:r>
            <a:endParaRPr/>
          </a:p>
        </p:txBody>
      </p:sp>
      <p:sp>
        <p:nvSpPr>
          <p:cNvPr id="3" name="Subtitle 2">
            <a:extLst>
              <a:ext uri="{FF2B5EF4-FFF2-40B4-BE49-F238E27FC236}">
                <a16:creationId xmlns:a16="http://schemas.microsoft.com/office/drawing/2014/main" id="{4A1E87CE-74C0-47E8-9093-06704190BF89}"/>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endParaRPr/>
          </a:p>
        </p:txBody>
      </p:sp>
      <p:sp>
        <p:nvSpPr>
          <p:cNvPr id="4" name="Date Placeholder 3">
            <a:extLst>
              <a:ext uri="{FF2B5EF4-FFF2-40B4-BE49-F238E27FC236}">
                <a16:creationId xmlns:a16="http://schemas.microsoft.com/office/drawing/2014/main" id="{7049C38E-84E3-4116-9C01-4E2A439C96B2}"/>
              </a:ext>
            </a:extLst>
          </p:cNvPr>
          <p:cNvSpPr>
            <a:spLocks noGrp="1"/>
          </p:cNvSpPr>
          <p:nvPr>
            <p:ph type="dt" idx="10"/>
          </p:nvPr>
        </p:nvSpPr>
        <p:spPr/>
        <p:txBody>
          <a:body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8A31650D-FCE8-4A1A-B7BF-F351495620D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15C3707-E2CA-407B-8A56-37402A2DF08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6F52-7B04-403F-B68B-37CA7B9D3A46}"/>
              </a:ext>
            </a:extLst>
          </p:cNvPr>
          <p:cNvSpPr>
            <a:spLocks noGrp="1"/>
          </p:cNvSpPr>
          <p:nvPr>
            <p:ph type="title"/>
          </p:nvPr>
        </p:nvSpPr>
        <p:spPr/>
        <p:txBody>
          <a:bodyPr/>
          <a:lstStyle/>
          <a:p>
            <a:r>
              <a:t>Click to edit Master title style</a:t>
            </a:r>
            <a:endParaRPr/>
          </a:p>
        </p:txBody>
      </p:sp>
      <p:sp>
        <p:nvSpPr>
          <p:cNvPr id="3" name="Content Placeholder 2">
            <a:extLst>
              <a:ext uri="{FF2B5EF4-FFF2-40B4-BE49-F238E27FC236}">
                <a16:creationId xmlns:a16="http://schemas.microsoft.com/office/drawing/2014/main" id="{A62334A2-43E7-4CF9-BD7B-4D44D716ED39}"/>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5739417B-BCBB-4A11-A3A1-5C7C6BF42E76}"/>
              </a:ext>
            </a:extLst>
          </p:cNvPr>
          <p:cNvSpPr>
            <a:spLocks noGrp="1"/>
          </p:cNvSpPr>
          <p:nvPr>
            <p:ph type="dt" idx="10"/>
          </p:nvPr>
        </p:nvSpPr>
        <p:spPr/>
        <p:txBody>
          <a:body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F5B44C7D-777A-483E-8818-D99C8AEE782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439CB34-32C5-4A55-AEEC-172CAAB74FB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8E15-9FB4-4822-8D95-C295A70EDDC7}"/>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endParaRPr/>
          </a:p>
        </p:txBody>
      </p:sp>
      <p:sp>
        <p:nvSpPr>
          <p:cNvPr id="3" name="Text Placeholder 2">
            <a:extLst>
              <a:ext uri="{FF2B5EF4-FFF2-40B4-BE49-F238E27FC236}">
                <a16:creationId xmlns:a16="http://schemas.microsoft.com/office/drawing/2014/main" id="{B481E305-1C42-4A3E-884F-44B5C9822801}"/>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30BDA6B9-9B03-4FC7-893E-356C6260D0D1}"/>
              </a:ext>
            </a:extLst>
          </p:cNvPr>
          <p:cNvSpPr>
            <a:spLocks noGrp="1"/>
          </p:cNvSpPr>
          <p:nvPr>
            <p:ph type="dt" idx="10"/>
          </p:nvPr>
        </p:nvSpPr>
        <p:spPr/>
        <p:txBody>
          <a:body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6367E563-0ED1-47CC-9D47-CCF28AC76E4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3555B3B-6C50-4BEC-899A-D4245F8CD22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0FFF3-5474-4B13-B455-24C639409CF9}"/>
              </a:ext>
            </a:extLst>
          </p:cNvPr>
          <p:cNvSpPr>
            <a:spLocks noGrp="1"/>
          </p:cNvSpPr>
          <p:nvPr>
            <p:ph type="title"/>
          </p:nvPr>
        </p:nvSpPr>
        <p:spPr/>
        <p:txBody>
          <a:bodyPr/>
          <a:lstStyle/>
          <a:p>
            <a:r>
              <a:t>Click to edit Master title style</a:t>
            </a:r>
            <a:endParaRPr/>
          </a:p>
        </p:txBody>
      </p:sp>
      <p:sp>
        <p:nvSpPr>
          <p:cNvPr id="3" name="Content Placeholder 2">
            <a:extLst>
              <a:ext uri="{FF2B5EF4-FFF2-40B4-BE49-F238E27FC236}">
                <a16:creationId xmlns:a16="http://schemas.microsoft.com/office/drawing/2014/main" id="{B9EF1884-42AB-4553-ABB7-2C4CA2136A41}"/>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Content Placeholder 3">
            <a:extLst>
              <a:ext uri="{FF2B5EF4-FFF2-40B4-BE49-F238E27FC236}">
                <a16:creationId xmlns:a16="http://schemas.microsoft.com/office/drawing/2014/main" id="{BC219971-FFFC-45C4-8BC0-DE13CFC09B6A}"/>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5" name="Date Placeholder 4">
            <a:extLst>
              <a:ext uri="{FF2B5EF4-FFF2-40B4-BE49-F238E27FC236}">
                <a16:creationId xmlns:a16="http://schemas.microsoft.com/office/drawing/2014/main" id="{7FB86B5E-BD08-46B3-905F-12BE73DD4F13}"/>
              </a:ext>
            </a:extLst>
          </p:cNvPr>
          <p:cNvSpPr>
            <a:spLocks noGrp="1"/>
          </p:cNvSpPr>
          <p:nvPr>
            <p:ph type="dt" idx="10"/>
          </p:nvPr>
        </p:nvSpPr>
        <p:spPr/>
        <p:txBody>
          <a:bodyPr/>
          <a:lstStyle/>
          <a:p>
            <a:fld id="{5BCAD085-E8A6-8845-BD4E-CB4CCA059FC4}" type="datetimeFigureOut">
              <a:t>8/26/2026</a:t>
            </a:fld>
            <a:endParaRPr/>
          </a:p>
        </p:txBody>
      </p:sp>
      <p:sp>
        <p:nvSpPr>
          <p:cNvPr id="6" name="Footer Placeholder 5">
            <a:extLst>
              <a:ext uri="{FF2B5EF4-FFF2-40B4-BE49-F238E27FC236}">
                <a16:creationId xmlns:a16="http://schemas.microsoft.com/office/drawing/2014/main" id="{091C3957-0DA6-4605-A227-069C5A849EF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4378532-4967-48C4-8B08-78F05A9A1CF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A65B0-EDD9-472C-890F-32344705849E}"/>
              </a:ext>
            </a:extLst>
          </p:cNvPr>
          <p:cNvSpPr>
            <a:spLocks noGrp="1"/>
          </p:cNvSpPr>
          <p:nvPr>
            <p:ph type="title"/>
          </p:nvPr>
        </p:nvSpPr>
        <p:spPr/>
        <p:txBody>
          <a:bodyPr/>
          <a:lstStyle>
            <a:lvl1pPr>
              <a:buNone/>
              <a:defRPr/>
            </a:lvl1pPr>
          </a:lstStyle>
          <a:p>
            <a:r>
              <a:t>Click to edit Master title style</a:t>
            </a:r>
            <a:endParaRPr/>
          </a:p>
        </p:txBody>
      </p:sp>
      <p:sp>
        <p:nvSpPr>
          <p:cNvPr id="3" name="Text Placeholder 2">
            <a:extLst>
              <a:ext uri="{FF2B5EF4-FFF2-40B4-BE49-F238E27FC236}">
                <a16:creationId xmlns:a16="http://schemas.microsoft.com/office/drawing/2014/main" id="{066108E6-B216-45AC-8CBE-4AD8A12D0D9C}"/>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3210AE6-3F18-4DA2-A5B2-2F0F50E3E444}"/>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5" name="Text Placeholder 4">
            <a:extLst>
              <a:ext uri="{FF2B5EF4-FFF2-40B4-BE49-F238E27FC236}">
                <a16:creationId xmlns:a16="http://schemas.microsoft.com/office/drawing/2014/main" id="{14183947-16AA-489A-B116-719F61ECDFB5}"/>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364A1E21-357D-4C5B-A715-EA3ED766BD13}"/>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7" name="Date Placeholder 6">
            <a:extLst>
              <a:ext uri="{FF2B5EF4-FFF2-40B4-BE49-F238E27FC236}">
                <a16:creationId xmlns:a16="http://schemas.microsoft.com/office/drawing/2014/main" id="{FD39D588-A6A5-4B8C-9B73-97AC1D5A7541}"/>
              </a:ext>
            </a:extLst>
          </p:cNvPr>
          <p:cNvSpPr>
            <a:spLocks noGrp="1"/>
          </p:cNvSpPr>
          <p:nvPr>
            <p:ph type="dt" idx="10"/>
          </p:nvPr>
        </p:nvSpPr>
        <p:spPr/>
        <p:txBody>
          <a:bodyPr/>
          <a:lstStyle/>
          <a:p>
            <a:fld id="{5BCAD085-E8A6-8845-BD4E-CB4CCA059FC4}" type="datetimeFigureOut">
              <a:t>8/26/2026</a:t>
            </a:fld>
            <a:endParaRPr/>
          </a:p>
        </p:txBody>
      </p:sp>
      <p:sp>
        <p:nvSpPr>
          <p:cNvPr id="8" name="Footer Placeholder 7">
            <a:extLst>
              <a:ext uri="{FF2B5EF4-FFF2-40B4-BE49-F238E27FC236}">
                <a16:creationId xmlns:a16="http://schemas.microsoft.com/office/drawing/2014/main" id="{1CF5D95D-55C6-4135-A09A-CEB17419795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837D95B1-F229-40F7-8783-75FA479D13A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3295-66D8-4994-B6CE-E70995614A58}"/>
              </a:ext>
            </a:extLst>
          </p:cNvPr>
          <p:cNvSpPr>
            <a:spLocks noGrp="1"/>
          </p:cNvSpPr>
          <p:nvPr>
            <p:ph type="title"/>
          </p:nvPr>
        </p:nvSpPr>
        <p:spPr/>
        <p:txBody>
          <a:bodyPr/>
          <a:lstStyle/>
          <a:p>
            <a:r>
              <a:t>Click to edit Master title style</a:t>
            </a:r>
            <a:endParaRPr/>
          </a:p>
        </p:txBody>
      </p:sp>
      <p:sp>
        <p:nvSpPr>
          <p:cNvPr id="3" name="Date Placeholder 2">
            <a:extLst>
              <a:ext uri="{FF2B5EF4-FFF2-40B4-BE49-F238E27FC236}">
                <a16:creationId xmlns:a16="http://schemas.microsoft.com/office/drawing/2014/main" id="{9B439DEC-851D-44E8-9DB7-5CCC97F6610A}"/>
              </a:ext>
            </a:extLst>
          </p:cNvPr>
          <p:cNvSpPr>
            <a:spLocks noGrp="1"/>
          </p:cNvSpPr>
          <p:nvPr>
            <p:ph type="dt" idx="10"/>
          </p:nvPr>
        </p:nvSpPr>
        <p:spPr/>
        <p:txBody>
          <a:bodyPr/>
          <a:lstStyle/>
          <a:p>
            <a:fld id="{5BCAD085-E8A6-8845-BD4E-CB4CCA059FC4}" type="datetimeFigureOut">
              <a:t>8/26/2026</a:t>
            </a:fld>
            <a:endParaRPr/>
          </a:p>
        </p:txBody>
      </p:sp>
      <p:sp>
        <p:nvSpPr>
          <p:cNvPr id="4" name="Footer Placeholder 3">
            <a:extLst>
              <a:ext uri="{FF2B5EF4-FFF2-40B4-BE49-F238E27FC236}">
                <a16:creationId xmlns:a16="http://schemas.microsoft.com/office/drawing/2014/main" id="{A63FF1DE-5FA1-4334-B036-49B32FF1CDA8}"/>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7C544EB2-0E55-4B90-8B98-0AF3DA0E8C4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6528B5-FF84-4454-B67D-5CB7600A3B65}"/>
              </a:ext>
            </a:extLst>
          </p:cNvPr>
          <p:cNvSpPr>
            <a:spLocks noGrp="1"/>
          </p:cNvSpPr>
          <p:nvPr>
            <p:ph type="dt" idx="10"/>
          </p:nvPr>
        </p:nvSpPr>
        <p:spPr/>
        <p:txBody>
          <a:bodyPr/>
          <a:lstStyle/>
          <a:p>
            <a:fld id="{5BCAD085-E8A6-8845-BD4E-CB4CCA059FC4}" type="datetimeFigureOut">
              <a:t>8/26/2026</a:t>
            </a:fld>
            <a:endParaRPr/>
          </a:p>
        </p:txBody>
      </p:sp>
      <p:sp>
        <p:nvSpPr>
          <p:cNvPr id="3" name="Footer Placeholder 2">
            <a:extLst>
              <a:ext uri="{FF2B5EF4-FFF2-40B4-BE49-F238E27FC236}">
                <a16:creationId xmlns:a16="http://schemas.microsoft.com/office/drawing/2014/main" id="{570185FE-2F8F-41CD-BD5D-277A8E6804A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B0DAB8C-A75E-434E-9B0B-F658ADBFE64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5E6CD-0377-483A-93FF-1DB68B26A55B}"/>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endParaRPr/>
          </a:p>
        </p:txBody>
      </p:sp>
      <p:sp>
        <p:nvSpPr>
          <p:cNvPr id="3" name="Content Placeholder 2">
            <a:extLst>
              <a:ext uri="{FF2B5EF4-FFF2-40B4-BE49-F238E27FC236}">
                <a16:creationId xmlns:a16="http://schemas.microsoft.com/office/drawing/2014/main" id="{D83BF4F3-DC9A-4221-9CC7-38CB826D59B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Text Placeholder 3">
            <a:extLst>
              <a:ext uri="{FF2B5EF4-FFF2-40B4-BE49-F238E27FC236}">
                <a16:creationId xmlns:a16="http://schemas.microsoft.com/office/drawing/2014/main" id="{4BD3517F-DB6C-489F-9A59-1044ADE1D0DA}"/>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10B80B49-B25C-48F2-9A94-AED52648DCDD}"/>
              </a:ext>
            </a:extLst>
          </p:cNvPr>
          <p:cNvSpPr>
            <a:spLocks noGrp="1"/>
          </p:cNvSpPr>
          <p:nvPr>
            <p:ph type="dt" idx="10"/>
          </p:nvPr>
        </p:nvSpPr>
        <p:spPr/>
        <p:txBody>
          <a:bodyPr/>
          <a:lstStyle/>
          <a:p>
            <a:fld id="{5BCAD085-E8A6-8845-BD4E-CB4CCA059FC4}" type="datetimeFigureOut">
              <a:t>8/26/2026</a:t>
            </a:fld>
            <a:endParaRPr/>
          </a:p>
        </p:txBody>
      </p:sp>
      <p:sp>
        <p:nvSpPr>
          <p:cNvPr id="6" name="Footer Placeholder 5">
            <a:extLst>
              <a:ext uri="{FF2B5EF4-FFF2-40B4-BE49-F238E27FC236}">
                <a16:creationId xmlns:a16="http://schemas.microsoft.com/office/drawing/2014/main" id="{430874E3-C397-45F4-AF55-0C27E8257C7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50717D4-FC52-463C-B8F8-E18B75A60B9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A01B4-6CE4-4A74-8477-CA25CA4E6DAE}"/>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endParaRPr/>
          </a:p>
        </p:txBody>
      </p:sp>
      <p:sp>
        <p:nvSpPr>
          <p:cNvPr id="3" name="Picture Placeholder 2">
            <a:extLst>
              <a:ext uri="{FF2B5EF4-FFF2-40B4-BE49-F238E27FC236}">
                <a16:creationId xmlns:a16="http://schemas.microsoft.com/office/drawing/2014/main" id="{B2197575-2E52-4600-8F90-48076FF1D43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5C310B4-90FB-4EDE-A7CC-D5821D75231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DD9892E5-4BDB-4EDD-BD38-10A7BCFA7887}"/>
              </a:ext>
            </a:extLst>
          </p:cNvPr>
          <p:cNvSpPr>
            <a:spLocks noGrp="1"/>
          </p:cNvSpPr>
          <p:nvPr>
            <p:ph type="dt" idx="10"/>
          </p:nvPr>
        </p:nvSpPr>
        <p:spPr/>
        <p:txBody>
          <a:bodyPr/>
          <a:lstStyle/>
          <a:p>
            <a:fld id="{5BCAD085-E8A6-8845-BD4E-CB4CCA059FC4}" type="datetimeFigureOut">
              <a:t>8/26/2026</a:t>
            </a:fld>
            <a:endParaRPr/>
          </a:p>
        </p:txBody>
      </p:sp>
      <p:sp>
        <p:nvSpPr>
          <p:cNvPr id="6" name="Footer Placeholder 5">
            <a:extLst>
              <a:ext uri="{FF2B5EF4-FFF2-40B4-BE49-F238E27FC236}">
                <a16:creationId xmlns:a16="http://schemas.microsoft.com/office/drawing/2014/main" id="{282BF07E-7E05-4649-B81C-84DB004B71E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0108B7B-0BC7-45FA-A34C-9078E4C7BD2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8941-7F50-44C0-82A8-18EC9CEA3B6A}"/>
              </a:ext>
            </a:extLst>
          </p:cNvPr>
          <p:cNvSpPr>
            <a:spLocks noGrp="1"/>
          </p:cNvSpPr>
          <p:nvPr>
            <p:ph type="title"/>
          </p:nvPr>
        </p:nvSpPr>
        <p:spPr/>
        <p:txBody>
          <a:bodyPr/>
          <a:lstStyle/>
          <a:p>
            <a:r>
              <a:t>Click to edit Master title style</a:t>
            </a:r>
            <a:endParaRPr/>
          </a:p>
        </p:txBody>
      </p:sp>
      <p:sp>
        <p:nvSpPr>
          <p:cNvPr id="3" name="Vertical Text Placeholder 2">
            <a:extLst>
              <a:ext uri="{FF2B5EF4-FFF2-40B4-BE49-F238E27FC236}">
                <a16:creationId xmlns:a16="http://schemas.microsoft.com/office/drawing/2014/main" id="{84229F71-153C-4444-9997-730A285D5F11}"/>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91E31CAF-D166-4E9E-80B1-6D2982E6184F}"/>
              </a:ext>
            </a:extLst>
          </p:cNvPr>
          <p:cNvSpPr>
            <a:spLocks noGrp="1"/>
          </p:cNvSpPr>
          <p:nvPr>
            <p:ph type="dt" idx="10"/>
          </p:nvPr>
        </p:nvSpPr>
        <p:spPr/>
        <p:txBody>
          <a:body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8586010B-9AA4-4AB2-9ED5-6BDF737386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441991C-CA88-4D1D-A5BA-8D931B59DD3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28DB58-AC47-454A-ABA3-3C4F6020678A}"/>
              </a:ext>
            </a:extLst>
          </p:cNvPr>
          <p:cNvSpPr>
            <a:spLocks noGrp="1"/>
          </p:cNvSpPr>
          <p:nvPr>
            <p:ph type="title"/>
          </p:nvPr>
        </p:nvSpPr>
        <p:spPr>
          <a:xfrm>
            <a:off x="6629400" y="274638"/>
            <a:ext cx="2057400" cy="5851525"/>
          </a:xfrm>
        </p:spPr>
        <p:txBody>
          <a:bodyPr vert="eaVert"/>
          <a:lstStyle/>
          <a:p>
            <a:r>
              <a:t>Click to edit Master title style</a:t>
            </a:r>
            <a:endParaRPr/>
          </a:p>
        </p:txBody>
      </p:sp>
      <p:sp>
        <p:nvSpPr>
          <p:cNvPr id="3" name="Vertical Text Placeholder 2">
            <a:extLst>
              <a:ext uri="{FF2B5EF4-FFF2-40B4-BE49-F238E27FC236}">
                <a16:creationId xmlns:a16="http://schemas.microsoft.com/office/drawing/2014/main" id="{2F6816B4-9CC5-4B1B-A681-355A0058AD84}"/>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F678C5A3-6FAF-4971-B71D-B96F5E583FE9}"/>
              </a:ext>
            </a:extLst>
          </p:cNvPr>
          <p:cNvSpPr>
            <a:spLocks noGrp="1"/>
          </p:cNvSpPr>
          <p:nvPr>
            <p:ph type="dt" idx="10"/>
          </p:nvPr>
        </p:nvSpPr>
        <p:spPr/>
        <p:txBody>
          <a:body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6369C069-BE71-484B-8A6A-3DE52E5B73D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D376FA5-0DA2-4D4D-A5B1-12E0ABAF4BD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285B36-C54A-4686-A635-A875343CFDD9}"/>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a16:creationId xmlns:a16="http://schemas.microsoft.com/office/drawing/2014/main" id="{864B1E77-086B-4C7D-9591-36302353F1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418DA898-4347-4739-BA5A-84C8EF4A2DC1}"/>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76CD67FB-79AE-4505-88A3-7688FF5C7816}"/>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3DAAE360-CE2A-43AC-BA62-2BA7D5AB6D9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8FDCF4-13EC-4206-BD69-29EA0B757930}"/>
              </a:ext>
            </a:extLst>
          </p:cNvPr>
          <p:cNvSpPr>
            <a:spLocks noGrp="1"/>
          </p:cNvSpPr>
          <p:nvPr/>
        </p:nvSpPr>
        <p:spPr>
          <a:xfrm>
            <a:off x="-75895" y="0"/>
            <a:ext cx="12191695" cy="6858000"/>
          </a:xfrm>
          <a:prstGeom prst="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4" name="Rounded Rectangle 3">
            <a:extLst>
              <a:ext uri="{FF2B5EF4-FFF2-40B4-BE49-F238E27FC236}">
                <a16:creationId xmlns:a16="http://schemas.microsoft.com/office/drawing/2014/main" id="{5ADDF1F0-6E5F-4D08-A264-FCB96D83DC94}"/>
              </a:ext>
            </a:extLst>
          </p:cNvPr>
          <p:cNvSpPr>
            <a:spLocks noGrp="1"/>
          </p:cNvSpPr>
          <p:nvPr/>
        </p:nvSpPr>
        <p:spPr>
          <a:xfrm>
            <a:off x="747065" y="1143000"/>
            <a:ext cx="502920" cy="100584"/>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5" name="TextBox 4">
            <a:extLst>
              <a:ext uri="{FF2B5EF4-FFF2-40B4-BE49-F238E27FC236}">
                <a16:creationId xmlns:a16="http://schemas.microsoft.com/office/drawing/2014/main" id="{8EC87A27-2664-40B5-A744-4511D0A8F5D8}"/>
              </a:ext>
            </a:extLst>
          </p:cNvPr>
          <p:cNvSpPr>
            <a:spLocks noGrp="1"/>
          </p:cNvSpPr>
          <p:nvPr/>
        </p:nvSpPr>
        <p:spPr>
          <a:xfrm>
            <a:off x="747065" y="1325880"/>
            <a:ext cx="10332720" cy="344710"/>
          </a:xfrm>
          <a:prstGeom prst="rect">
            <a:avLst/>
          </a:prstGeom>
          <a:noFill/>
        </p:spPr>
        <p:txBody>
          <a:bodyPr wrap="square" lIns="36576" tIns="18288" rIns="36576" bIns="18288">
            <a:spAutoFit/>
          </a:bodyPr>
          <a:lstStyle/>
          <a:p>
            <a:r>
              <a:rPr sz="2000" b="1" i="0">
                <a:solidFill>
                  <a:srgbClr val="14B8A6"/>
                </a:solidFill>
                <a:latin typeface="Calibri"/>
                <a:ea typeface="Calibri"/>
                <a:cs typeface="Calibri"/>
              </a:rPr>
              <a:t>PhD SYNOPSIS  ·  BOARD OF ADVANCED STUDIES &amp; RESEARCH (BASR)</a:t>
            </a:r>
          </a:p>
        </p:txBody>
      </p:sp>
      <p:sp>
        <p:nvSpPr>
          <p:cNvPr id="6" name="TextBox 5">
            <a:extLst>
              <a:ext uri="{FF2B5EF4-FFF2-40B4-BE49-F238E27FC236}">
                <a16:creationId xmlns:a16="http://schemas.microsoft.com/office/drawing/2014/main" id="{70444E23-AA2E-4EB2-9AB6-0503210C65B6}"/>
              </a:ext>
            </a:extLst>
          </p:cNvPr>
          <p:cNvSpPr>
            <a:spLocks noGrp="1"/>
          </p:cNvSpPr>
          <p:nvPr/>
        </p:nvSpPr>
        <p:spPr>
          <a:xfrm>
            <a:off x="747065" y="1828800"/>
            <a:ext cx="10607040" cy="1883593"/>
          </a:xfrm>
          <a:prstGeom prst="rect">
            <a:avLst/>
          </a:prstGeom>
          <a:noFill/>
        </p:spPr>
        <p:txBody>
          <a:bodyPr wrap="square" lIns="36576" tIns="18288" rIns="36576" bIns="18288">
            <a:spAutoFit/>
          </a:bodyPr>
          <a:lstStyle/>
          <a:p>
            <a:r>
              <a:rPr sz="4000" b="1" i="0">
                <a:solidFill>
                  <a:srgbClr val="FFFFFF"/>
                </a:solidFill>
                <a:latin typeface="Cambria"/>
                <a:ea typeface="Cambria"/>
                <a:cs typeface="Cambria"/>
              </a:rPr>
              <a:t>A Leakage-Safe Framework for Observability-Aware Regression Testing of Quantum Compilers</a:t>
            </a:r>
          </a:p>
        </p:txBody>
      </p:sp>
      <p:sp>
        <p:nvSpPr>
          <p:cNvPr id="7" name="TextBox 6">
            <a:extLst>
              <a:ext uri="{FF2B5EF4-FFF2-40B4-BE49-F238E27FC236}">
                <a16:creationId xmlns:a16="http://schemas.microsoft.com/office/drawing/2014/main" id="{009D7E75-89A6-457C-B3C8-F825C5762F63}"/>
              </a:ext>
            </a:extLst>
          </p:cNvPr>
          <p:cNvSpPr>
            <a:spLocks noGrp="1"/>
          </p:cNvSpPr>
          <p:nvPr/>
        </p:nvSpPr>
        <p:spPr>
          <a:xfrm>
            <a:off x="747065" y="3920320"/>
            <a:ext cx="10332720" cy="406265"/>
          </a:xfrm>
          <a:prstGeom prst="rect">
            <a:avLst/>
          </a:prstGeom>
          <a:noFill/>
        </p:spPr>
        <p:txBody>
          <a:bodyPr wrap="square" lIns="36576" tIns="18288" rIns="36576" bIns="18288">
            <a:spAutoFit/>
          </a:bodyPr>
          <a:lstStyle/>
          <a:p>
            <a:r>
              <a:rPr sz="2400" b="0" i="1">
                <a:solidFill>
                  <a:srgbClr val="D5E3F7"/>
                </a:solidFill>
                <a:latin typeface="Calibri"/>
                <a:ea typeface="Calibri"/>
                <a:cs typeface="Calibri"/>
              </a:rPr>
              <a:t>Catching the transpiler regressions the standard output check cannot observe</a:t>
            </a:r>
          </a:p>
        </p:txBody>
      </p:sp>
      <p:sp>
        <p:nvSpPr>
          <p:cNvPr id="8" name="TextBox 7">
            <a:extLst>
              <a:ext uri="{FF2B5EF4-FFF2-40B4-BE49-F238E27FC236}">
                <a16:creationId xmlns:a16="http://schemas.microsoft.com/office/drawing/2014/main" id="{DC3A5D53-9E9F-49A2-B6BF-1D8FA3BEEE9E}"/>
              </a:ext>
            </a:extLst>
          </p:cNvPr>
          <p:cNvSpPr>
            <a:spLocks noGrp="1"/>
          </p:cNvSpPr>
          <p:nvPr/>
        </p:nvSpPr>
        <p:spPr>
          <a:xfrm>
            <a:off x="747065" y="4526280"/>
            <a:ext cx="10424160" cy="1529650"/>
          </a:xfrm>
          <a:prstGeom prst="rect">
            <a:avLst/>
          </a:prstGeom>
          <a:noFill/>
        </p:spPr>
        <p:txBody>
          <a:bodyPr wrap="square" lIns="36576" tIns="18288" rIns="36576" bIns="18288">
            <a:spAutoFit/>
          </a:bodyPr>
          <a:lstStyle/>
          <a:p>
            <a:r>
              <a:rPr sz="3200" b="1" i="0" dirty="0">
                <a:solidFill>
                  <a:srgbClr val="FFFFFF"/>
                </a:solidFill>
                <a:latin typeface="Calibri"/>
                <a:ea typeface="Calibri"/>
                <a:cs typeface="Calibri"/>
              </a:rPr>
              <a:t>Furqan Nasir</a:t>
            </a:r>
          </a:p>
          <a:p>
            <a:pPr>
              <a:spcBef>
                <a:spcPts val="200"/>
              </a:spcBef>
              <a:buNone/>
            </a:pPr>
            <a:r>
              <a:rPr sz="2000" b="0" i="0" dirty="0">
                <a:solidFill>
                  <a:srgbClr val="D5E3F7"/>
                </a:solidFill>
                <a:latin typeface="Calibri"/>
                <a:ea typeface="Calibri"/>
                <a:cs typeface="Calibri"/>
              </a:rPr>
              <a:t>PhD </a:t>
            </a:r>
            <a:r>
              <a:rPr lang="en-US" sz="2000" b="0" i="0" dirty="0" smtClean="0">
                <a:solidFill>
                  <a:srgbClr val="D5E3F7"/>
                </a:solidFill>
                <a:latin typeface="Calibri"/>
                <a:ea typeface="Calibri"/>
                <a:cs typeface="Calibri"/>
              </a:rPr>
              <a:t>Scholar </a:t>
            </a:r>
            <a:r>
              <a:rPr sz="2000" b="0" i="0" dirty="0" smtClean="0">
                <a:solidFill>
                  <a:srgbClr val="D5E3F7"/>
                </a:solidFill>
                <a:latin typeface="Calibri"/>
                <a:ea typeface="Calibri"/>
                <a:cs typeface="Calibri"/>
              </a:rPr>
              <a:t>in </a:t>
            </a:r>
            <a:r>
              <a:rPr sz="2000" b="0" i="0" dirty="0">
                <a:solidFill>
                  <a:srgbClr val="D5E3F7"/>
                </a:solidFill>
                <a:latin typeface="Calibri"/>
                <a:ea typeface="Calibri"/>
                <a:cs typeface="Calibri"/>
              </a:rPr>
              <a:t>Computer Science</a:t>
            </a:r>
          </a:p>
          <a:p>
            <a:pPr>
              <a:spcBef>
                <a:spcPts val="200"/>
              </a:spcBef>
              <a:buNone/>
            </a:pPr>
            <a:r>
              <a:rPr sz="2000" b="0" i="0" dirty="0">
                <a:solidFill>
                  <a:srgbClr val="9FB2D6"/>
                </a:solidFill>
                <a:latin typeface="Calibri"/>
                <a:ea typeface="Calibri"/>
                <a:cs typeface="Calibri"/>
              </a:rPr>
              <a:t>City University of Science &amp; IT, Peshawar</a:t>
            </a:r>
          </a:p>
          <a:p>
            <a:pPr>
              <a:spcBef>
                <a:spcPts val="200"/>
              </a:spcBef>
              <a:buNone/>
            </a:pPr>
            <a:r>
              <a:rPr lang="en-US" sz="2000" b="1" i="0" dirty="0" smtClean="0">
                <a:solidFill>
                  <a:srgbClr val="14B8A6"/>
                </a:solidFill>
                <a:latin typeface="Calibri"/>
                <a:ea typeface="Calibri"/>
                <a:cs typeface="Calibri"/>
              </a:rPr>
              <a:t>August</a:t>
            </a:r>
            <a:r>
              <a:rPr sz="2000" b="1" i="0" dirty="0" smtClean="0">
                <a:solidFill>
                  <a:srgbClr val="14B8A6"/>
                </a:solidFill>
                <a:latin typeface="Calibri"/>
                <a:ea typeface="Calibri"/>
                <a:cs typeface="Calibri"/>
              </a:rPr>
              <a:t> </a:t>
            </a:r>
            <a:r>
              <a:rPr sz="2000" b="1" i="0" dirty="0">
                <a:solidFill>
                  <a:srgbClr val="14B8A6"/>
                </a:solidFill>
                <a:latin typeface="Calibri"/>
                <a:ea typeface="Calibri"/>
                <a:cs typeface="Calibri"/>
              </a:rPr>
              <a:t>2026</a:t>
            </a:r>
          </a:p>
        </p:txBody>
      </p:sp>
    </p:spTree>
    <p:extLst>
      <p:ext uri="{BB962C8B-B14F-4D97-AF65-F5344CB8AC3E}">
        <p14:creationId xmlns:p14="http://schemas.microsoft.com/office/powerpoint/2010/main" val="1490624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B5573C-BB58-4039-82A4-B05CBD30AE4B}"/>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 name="TextBox 2">
            <a:extLst>
              <a:ext uri="{FF2B5EF4-FFF2-40B4-BE49-F238E27FC236}">
                <a16:creationId xmlns:a16="http://schemas.microsoft.com/office/drawing/2014/main" id="{BD7DE088-7F57-48F9-88B5-AE4BFB67F7CD}"/>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ea typeface="Calibri"/>
                <a:cs typeface="Calibri"/>
              </a:rPr>
              <a:t>FOLLOWING THE PROPOSAL CHAPTERS</a:t>
            </a:r>
          </a:p>
        </p:txBody>
      </p:sp>
      <p:sp>
        <p:nvSpPr>
          <p:cNvPr id="4" name="TextBox 3">
            <a:extLst>
              <a:ext uri="{FF2B5EF4-FFF2-40B4-BE49-F238E27FC236}">
                <a16:creationId xmlns:a16="http://schemas.microsoft.com/office/drawing/2014/main" id="{9736F494-55E2-4072-8BF1-3D11E5889EAA}"/>
              </a:ext>
            </a:extLst>
          </p:cNvPr>
          <p:cNvSpPr>
            <a:spLocks noGrp="1"/>
          </p:cNvSpPr>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ea typeface="Cambria"/>
                <a:cs typeface="Cambria"/>
              </a:rPr>
              <a:t>Outline</a:t>
            </a:r>
          </a:p>
        </p:txBody>
      </p:sp>
      <p:sp>
        <p:nvSpPr>
          <p:cNvPr id="5" name="Rounded Rectangle 4">
            <a:extLst>
              <a:ext uri="{FF2B5EF4-FFF2-40B4-BE49-F238E27FC236}">
                <a16:creationId xmlns:a16="http://schemas.microsoft.com/office/drawing/2014/main" id="{E2C02959-6E32-4CA9-986D-30C932F199BB}"/>
              </a:ext>
            </a:extLst>
          </p:cNvPr>
          <p:cNvSpPr>
            <a:spLocks noGrp="1"/>
          </p:cNvSpPr>
          <p:nvPr/>
        </p:nvSpPr>
        <p:spPr>
          <a:xfrm>
            <a:off x="640080" y="1691640"/>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6" name="Rounded Rectangle 5">
            <a:extLst>
              <a:ext uri="{FF2B5EF4-FFF2-40B4-BE49-F238E27FC236}">
                <a16:creationId xmlns:a16="http://schemas.microsoft.com/office/drawing/2014/main" id="{7BB8D216-4363-4450-9FB2-EA3DB4D5473C}"/>
              </a:ext>
            </a:extLst>
          </p:cNvPr>
          <p:cNvSpPr>
            <a:spLocks noGrp="1"/>
          </p:cNvSpPr>
          <p:nvPr/>
        </p:nvSpPr>
        <p:spPr>
          <a:xfrm>
            <a:off x="896112" y="2020824"/>
            <a:ext cx="566928" cy="566928"/>
          </a:xfrm>
          <a:prstGeom prst="roundRect">
            <a:avLst>
              <a:gd name="adj" fmla="val 2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1</a:t>
            </a:r>
          </a:p>
        </p:txBody>
      </p:sp>
      <p:sp>
        <p:nvSpPr>
          <p:cNvPr id="7" name="TextBox 6">
            <a:extLst>
              <a:ext uri="{FF2B5EF4-FFF2-40B4-BE49-F238E27FC236}">
                <a16:creationId xmlns:a16="http://schemas.microsoft.com/office/drawing/2014/main" id="{4D339F3C-117F-4CC8-9DEC-AF1DC52467E4}"/>
              </a:ext>
            </a:extLst>
          </p:cNvPr>
          <p:cNvSpPr>
            <a:spLocks noGrp="1"/>
          </p:cNvSpPr>
          <p:nvPr/>
        </p:nvSpPr>
        <p:spPr>
          <a:xfrm>
            <a:off x="1691639" y="2143531"/>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Introduction</a:t>
            </a:r>
          </a:p>
        </p:txBody>
      </p:sp>
      <p:sp>
        <p:nvSpPr>
          <p:cNvPr id="8" name="Rounded Rectangle 7">
            <a:extLst>
              <a:ext uri="{FF2B5EF4-FFF2-40B4-BE49-F238E27FC236}">
                <a16:creationId xmlns:a16="http://schemas.microsoft.com/office/drawing/2014/main" id="{486ABDAE-366A-4DD2-8DF4-F5CD0FF89D8A}"/>
              </a:ext>
            </a:extLst>
          </p:cNvPr>
          <p:cNvSpPr>
            <a:spLocks noGrp="1"/>
          </p:cNvSpPr>
          <p:nvPr/>
        </p:nvSpPr>
        <p:spPr>
          <a:xfrm>
            <a:off x="6355080" y="1691640"/>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9" name="Rounded Rectangle 8">
            <a:extLst>
              <a:ext uri="{FF2B5EF4-FFF2-40B4-BE49-F238E27FC236}">
                <a16:creationId xmlns:a16="http://schemas.microsoft.com/office/drawing/2014/main" id="{155003C1-1A6D-49C8-B266-CE7C8A98E806}"/>
              </a:ext>
            </a:extLst>
          </p:cNvPr>
          <p:cNvSpPr>
            <a:spLocks noGrp="1"/>
          </p:cNvSpPr>
          <p:nvPr/>
        </p:nvSpPr>
        <p:spPr>
          <a:xfrm>
            <a:off x="6611112" y="2020824"/>
            <a:ext cx="566928" cy="566928"/>
          </a:xfrm>
          <a:prstGeom prst="roundRect">
            <a:avLst>
              <a:gd name="adj" fmla="val 2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2</a:t>
            </a:r>
          </a:p>
        </p:txBody>
      </p:sp>
      <p:sp>
        <p:nvSpPr>
          <p:cNvPr id="10" name="TextBox 9">
            <a:extLst>
              <a:ext uri="{FF2B5EF4-FFF2-40B4-BE49-F238E27FC236}">
                <a16:creationId xmlns:a16="http://schemas.microsoft.com/office/drawing/2014/main" id="{CFEBDE90-FE47-44C2-AB31-A9B575CA180E}"/>
              </a:ext>
            </a:extLst>
          </p:cNvPr>
          <p:cNvSpPr>
            <a:spLocks noGrp="1"/>
          </p:cNvSpPr>
          <p:nvPr/>
        </p:nvSpPr>
        <p:spPr>
          <a:xfrm>
            <a:off x="7406640" y="2143531"/>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Literature Review</a:t>
            </a:r>
          </a:p>
        </p:txBody>
      </p:sp>
      <p:sp>
        <p:nvSpPr>
          <p:cNvPr id="11" name="Rounded Rectangle 10">
            <a:extLst>
              <a:ext uri="{FF2B5EF4-FFF2-40B4-BE49-F238E27FC236}">
                <a16:creationId xmlns:a16="http://schemas.microsoft.com/office/drawing/2014/main" id="{BEBA957B-5FA9-4B2A-AB9A-09309CF65CC3}"/>
              </a:ext>
            </a:extLst>
          </p:cNvPr>
          <p:cNvSpPr>
            <a:spLocks noGrp="1"/>
          </p:cNvSpPr>
          <p:nvPr/>
        </p:nvSpPr>
        <p:spPr>
          <a:xfrm>
            <a:off x="640080" y="3099816"/>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2" name="Rounded Rectangle 11">
            <a:extLst>
              <a:ext uri="{FF2B5EF4-FFF2-40B4-BE49-F238E27FC236}">
                <a16:creationId xmlns:a16="http://schemas.microsoft.com/office/drawing/2014/main" id="{BC71A87F-C264-4EE9-8AD6-95E7C8A80CA1}"/>
              </a:ext>
            </a:extLst>
          </p:cNvPr>
          <p:cNvSpPr>
            <a:spLocks noGrp="1"/>
          </p:cNvSpPr>
          <p:nvPr/>
        </p:nvSpPr>
        <p:spPr>
          <a:xfrm>
            <a:off x="896112" y="3429000"/>
            <a:ext cx="566928" cy="566928"/>
          </a:xfrm>
          <a:prstGeom prst="roundRect">
            <a:avLst>
              <a:gd name="adj" fmla="val 2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3</a:t>
            </a:r>
          </a:p>
        </p:txBody>
      </p:sp>
      <p:sp>
        <p:nvSpPr>
          <p:cNvPr id="13" name="TextBox 12">
            <a:extLst>
              <a:ext uri="{FF2B5EF4-FFF2-40B4-BE49-F238E27FC236}">
                <a16:creationId xmlns:a16="http://schemas.microsoft.com/office/drawing/2014/main" id="{602E6220-A469-4BE8-BB30-212ED0C8CC3B}"/>
              </a:ext>
            </a:extLst>
          </p:cNvPr>
          <p:cNvSpPr>
            <a:spLocks noGrp="1"/>
          </p:cNvSpPr>
          <p:nvPr/>
        </p:nvSpPr>
        <p:spPr>
          <a:xfrm>
            <a:off x="1691639" y="3551707"/>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Proposed Methodology</a:t>
            </a:r>
          </a:p>
        </p:txBody>
      </p:sp>
      <p:sp>
        <p:nvSpPr>
          <p:cNvPr id="14" name="Rounded Rectangle 13">
            <a:extLst>
              <a:ext uri="{FF2B5EF4-FFF2-40B4-BE49-F238E27FC236}">
                <a16:creationId xmlns:a16="http://schemas.microsoft.com/office/drawing/2014/main" id="{836FEA60-BC6D-480E-A412-FB6047A89237}"/>
              </a:ext>
            </a:extLst>
          </p:cNvPr>
          <p:cNvSpPr>
            <a:spLocks noGrp="1"/>
          </p:cNvSpPr>
          <p:nvPr/>
        </p:nvSpPr>
        <p:spPr>
          <a:xfrm>
            <a:off x="6355080" y="3099816"/>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5" name="Rounded Rectangle 14">
            <a:extLst>
              <a:ext uri="{FF2B5EF4-FFF2-40B4-BE49-F238E27FC236}">
                <a16:creationId xmlns:a16="http://schemas.microsoft.com/office/drawing/2014/main" id="{3D8C69B4-1B4A-4B13-8189-58E39EC5F075}"/>
              </a:ext>
            </a:extLst>
          </p:cNvPr>
          <p:cNvSpPr>
            <a:spLocks noGrp="1"/>
          </p:cNvSpPr>
          <p:nvPr/>
        </p:nvSpPr>
        <p:spPr>
          <a:xfrm>
            <a:off x="6611112" y="3429000"/>
            <a:ext cx="566928" cy="566928"/>
          </a:xfrm>
          <a:prstGeom prst="roundRect">
            <a:avLst>
              <a:gd name="adj" fmla="val 2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4</a:t>
            </a:r>
          </a:p>
        </p:txBody>
      </p:sp>
      <p:sp>
        <p:nvSpPr>
          <p:cNvPr id="16" name="TextBox 15">
            <a:extLst>
              <a:ext uri="{FF2B5EF4-FFF2-40B4-BE49-F238E27FC236}">
                <a16:creationId xmlns:a16="http://schemas.microsoft.com/office/drawing/2014/main" id="{2B1284C8-DC29-4F19-A681-979D03C54A30}"/>
              </a:ext>
            </a:extLst>
          </p:cNvPr>
          <p:cNvSpPr>
            <a:spLocks noGrp="1"/>
          </p:cNvSpPr>
          <p:nvPr/>
        </p:nvSpPr>
        <p:spPr>
          <a:xfrm>
            <a:off x="7406640" y="3551707"/>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Initial Results</a:t>
            </a:r>
          </a:p>
        </p:txBody>
      </p:sp>
      <p:sp>
        <p:nvSpPr>
          <p:cNvPr id="17" name="Rounded Rectangle 16">
            <a:extLst>
              <a:ext uri="{FF2B5EF4-FFF2-40B4-BE49-F238E27FC236}">
                <a16:creationId xmlns:a16="http://schemas.microsoft.com/office/drawing/2014/main" id="{21F645CC-8596-4E20-90FA-5EE7E3A47F8E}"/>
              </a:ext>
            </a:extLst>
          </p:cNvPr>
          <p:cNvSpPr>
            <a:spLocks noGrp="1"/>
          </p:cNvSpPr>
          <p:nvPr/>
        </p:nvSpPr>
        <p:spPr>
          <a:xfrm>
            <a:off x="640080" y="4507992"/>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8" name="Rounded Rectangle 17">
            <a:extLst>
              <a:ext uri="{FF2B5EF4-FFF2-40B4-BE49-F238E27FC236}">
                <a16:creationId xmlns:a16="http://schemas.microsoft.com/office/drawing/2014/main" id="{1256DC56-1FBD-4D8F-8065-E58F9000B948}"/>
              </a:ext>
            </a:extLst>
          </p:cNvPr>
          <p:cNvSpPr>
            <a:spLocks noGrp="1"/>
          </p:cNvSpPr>
          <p:nvPr/>
        </p:nvSpPr>
        <p:spPr>
          <a:xfrm>
            <a:off x="896112" y="4837176"/>
            <a:ext cx="566928" cy="566928"/>
          </a:xfrm>
          <a:prstGeom prst="roundRect">
            <a:avLst>
              <a:gd name="adj" fmla="val 2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5</a:t>
            </a:r>
          </a:p>
        </p:txBody>
      </p:sp>
      <p:sp>
        <p:nvSpPr>
          <p:cNvPr id="19" name="TextBox 18">
            <a:extLst>
              <a:ext uri="{FF2B5EF4-FFF2-40B4-BE49-F238E27FC236}">
                <a16:creationId xmlns:a16="http://schemas.microsoft.com/office/drawing/2014/main" id="{F80461D9-1CBB-4484-B41E-F542C5659090}"/>
              </a:ext>
            </a:extLst>
          </p:cNvPr>
          <p:cNvSpPr>
            <a:spLocks noGrp="1"/>
          </p:cNvSpPr>
          <p:nvPr/>
        </p:nvSpPr>
        <p:spPr>
          <a:xfrm>
            <a:off x="1691639" y="4959883"/>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Work Plan</a:t>
            </a:r>
          </a:p>
        </p:txBody>
      </p:sp>
      <p:sp>
        <p:nvSpPr>
          <p:cNvPr id="20" name="Rounded Rectangle 19">
            <a:extLst>
              <a:ext uri="{FF2B5EF4-FFF2-40B4-BE49-F238E27FC236}">
                <a16:creationId xmlns:a16="http://schemas.microsoft.com/office/drawing/2014/main" id="{0F13E6D8-B9C4-4EC6-90E7-0D1EC9A9749B}"/>
              </a:ext>
            </a:extLst>
          </p:cNvPr>
          <p:cNvSpPr>
            <a:spLocks noGrp="1"/>
          </p:cNvSpPr>
          <p:nvPr/>
        </p:nvSpPr>
        <p:spPr>
          <a:xfrm>
            <a:off x="6355080" y="4507992"/>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21" name="Rounded Rectangle 20">
            <a:extLst>
              <a:ext uri="{FF2B5EF4-FFF2-40B4-BE49-F238E27FC236}">
                <a16:creationId xmlns:a16="http://schemas.microsoft.com/office/drawing/2014/main" id="{024EC792-5629-4C73-8880-6887F004DD10}"/>
              </a:ext>
            </a:extLst>
          </p:cNvPr>
          <p:cNvSpPr>
            <a:spLocks noGrp="1"/>
          </p:cNvSpPr>
          <p:nvPr/>
        </p:nvSpPr>
        <p:spPr>
          <a:xfrm>
            <a:off x="6611112" y="4837176"/>
            <a:ext cx="566928" cy="566928"/>
          </a:xfrm>
          <a:prstGeom prst="roundRect">
            <a:avLst>
              <a:gd name="adj" fmla="val 2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6</a:t>
            </a:r>
          </a:p>
        </p:txBody>
      </p:sp>
      <p:sp>
        <p:nvSpPr>
          <p:cNvPr id="22" name="TextBox 21">
            <a:extLst>
              <a:ext uri="{FF2B5EF4-FFF2-40B4-BE49-F238E27FC236}">
                <a16:creationId xmlns:a16="http://schemas.microsoft.com/office/drawing/2014/main" id="{B9A0790E-9D25-4D45-BE40-E5187AF35F0F}"/>
              </a:ext>
            </a:extLst>
          </p:cNvPr>
          <p:cNvSpPr>
            <a:spLocks noGrp="1"/>
          </p:cNvSpPr>
          <p:nvPr/>
        </p:nvSpPr>
        <p:spPr>
          <a:xfrm>
            <a:off x="7406640" y="4959883"/>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Summary &amp; Q&amp;A</a:t>
            </a:r>
          </a:p>
        </p:txBody>
      </p:sp>
      <p:sp>
        <p:nvSpPr>
          <p:cNvPr id="23" name="TextBox 22">
            <a:extLst>
              <a:ext uri="{FF2B5EF4-FFF2-40B4-BE49-F238E27FC236}">
                <a16:creationId xmlns:a16="http://schemas.microsoft.com/office/drawing/2014/main" id="{B8B113E6-85BC-4A23-B7E7-19376B71C455}"/>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24" name="TextBox 23">
            <a:extLst>
              <a:ext uri="{FF2B5EF4-FFF2-40B4-BE49-F238E27FC236}">
                <a16:creationId xmlns:a16="http://schemas.microsoft.com/office/drawing/2014/main" id="{814C86CB-0AF8-43CE-AFD6-036314F5207F}"/>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100" b="1" i="0">
                <a:solidFill>
                  <a:srgbClr val="64748C"/>
                </a:solidFill>
                <a:latin typeface="Calibri"/>
                <a:ea typeface="Calibri"/>
                <a:cs typeface="Calibri"/>
              </a:rPr>
              <a:t>2</a:t>
            </a:r>
          </a:p>
        </p:txBody>
      </p:sp>
      <p:pic>
        <p:nvPicPr>
          <p:cNvPr id="25"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452256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59A2E-20FA-4770-9E1B-C586789A7A9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6A81DFF-AA2D-44FF-9E4F-329199A84746}"/>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ea typeface="Calibri"/>
                <a:cs typeface="Calibri"/>
              </a:rPr>
              <a:t>INTRODUCTION</a:t>
            </a:r>
          </a:p>
        </p:txBody>
      </p:sp>
      <p:sp>
        <p:nvSpPr>
          <p:cNvPr id="4" name="TextBox 3">
            <a:extLst>
              <a:ext uri="{FF2B5EF4-FFF2-40B4-BE49-F238E27FC236}">
                <a16:creationId xmlns:a16="http://schemas.microsoft.com/office/drawing/2014/main" id="{A490E76B-21BA-4A58-8A22-FE4E02499271}"/>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What This Research Is About</a:t>
            </a:r>
          </a:p>
        </p:txBody>
      </p:sp>
      <p:sp>
        <p:nvSpPr>
          <p:cNvPr id="5" name="TextBox 4">
            <a:extLst>
              <a:ext uri="{FF2B5EF4-FFF2-40B4-BE49-F238E27FC236}">
                <a16:creationId xmlns:a16="http://schemas.microsoft.com/office/drawing/2014/main" id="{8DF49E98-2B92-4D48-B7EE-1995ECE63C96}"/>
              </a:ext>
            </a:extLst>
          </p:cNvPr>
          <p:cNvSpPr>
            <a:spLocks noGrp="1"/>
          </p:cNvSpPr>
          <p:nvPr/>
        </p:nvSpPr>
        <p:spPr>
          <a:xfrm>
            <a:off x="640080" y="1737360"/>
            <a:ext cx="11064240" cy="3237809"/>
          </a:xfrm>
          <a:prstGeom prst="rect">
            <a:avLst/>
          </a:prstGeom>
          <a:noFill/>
        </p:spPr>
        <p:txBody>
          <a:bodyPr wrap="square" lIns="36576" tIns="18288" rIns="36576" bIns="18288">
            <a:spAutoFit/>
          </a:bodyPr>
          <a:lstStyle/>
          <a:p>
            <a:pPr>
              <a:spcAft>
                <a:spcPts val="1600"/>
              </a:spcAft>
              <a:buNone/>
            </a:pPr>
            <a:r>
              <a:rPr sz="2400" b="1" i="0" dirty="0">
                <a:solidFill>
                  <a:srgbClr val="14B8A6"/>
                </a:solidFill>
                <a:latin typeface="Calibri"/>
                <a:ea typeface="Calibri"/>
                <a:cs typeface="Calibri"/>
              </a:rPr>
              <a:t>▪  </a:t>
            </a:r>
            <a:r>
              <a:rPr sz="2400" b="0" i="0" dirty="0">
                <a:solidFill>
                  <a:srgbClr val="1E2A44"/>
                </a:solidFill>
                <a:latin typeface="Calibri"/>
                <a:ea typeface="Calibri"/>
                <a:cs typeface="Calibri"/>
              </a:rPr>
              <a:t>A quantum program must be rewritten to run on real hardware. In </a:t>
            </a:r>
            <a:r>
              <a:rPr sz="2400" b="0" i="0" dirty="0" err="1">
                <a:solidFill>
                  <a:srgbClr val="1E2A44"/>
                </a:solidFill>
                <a:latin typeface="Calibri"/>
                <a:ea typeface="Calibri"/>
                <a:cs typeface="Calibri"/>
              </a:rPr>
              <a:t>Qiskit</a:t>
            </a:r>
            <a:r>
              <a:rPr sz="2400" b="0" i="0" dirty="0">
                <a:solidFill>
                  <a:srgbClr val="1E2A44"/>
                </a:solidFill>
                <a:latin typeface="Calibri"/>
                <a:ea typeface="Calibri"/>
                <a:cs typeface="Calibri"/>
              </a:rPr>
              <a:t>, the “</a:t>
            </a:r>
            <a:r>
              <a:rPr sz="2400" b="0" i="0" dirty="0" err="1">
                <a:solidFill>
                  <a:srgbClr val="1E2A44"/>
                </a:solidFill>
                <a:latin typeface="Calibri"/>
                <a:ea typeface="Calibri"/>
                <a:cs typeface="Calibri"/>
              </a:rPr>
              <a:t>transpiler</a:t>
            </a:r>
            <a:r>
              <a:rPr sz="2400" b="0" i="0" dirty="0">
                <a:solidFill>
                  <a:srgbClr val="1E2A44"/>
                </a:solidFill>
                <a:latin typeface="Calibri"/>
                <a:ea typeface="Calibri"/>
                <a:cs typeface="Calibri"/>
              </a:rPr>
              <a:t>” does this rewriting. [8]</a:t>
            </a:r>
          </a:p>
          <a:p>
            <a:pPr>
              <a:spcAft>
                <a:spcPts val="1600"/>
              </a:spcAft>
              <a:buNone/>
            </a:pPr>
            <a:r>
              <a:rPr sz="2400" b="1" i="0" dirty="0">
                <a:solidFill>
                  <a:srgbClr val="14B8A6"/>
                </a:solidFill>
                <a:latin typeface="Calibri"/>
                <a:ea typeface="Calibri"/>
                <a:cs typeface="Calibri"/>
              </a:rPr>
              <a:t>▪  </a:t>
            </a:r>
            <a:r>
              <a:rPr sz="2400" b="0" i="0" dirty="0">
                <a:solidFill>
                  <a:srgbClr val="1E2A44"/>
                </a:solidFill>
                <a:latin typeface="Calibri"/>
                <a:ea typeface="Calibri"/>
                <a:cs typeface="Calibri"/>
              </a:rPr>
              <a:t>The </a:t>
            </a:r>
            <a:r>
              <a:rPr sz="2400" b="0" i="0" dirty="0" err="1">
                <a:solidFill>
                  <a:srgbClr val="1E2A44"/>
                </a:solidFill>
                <a:latin typeface="Calibri"/>
                <a:ea typeface="Calibri"/>
                <a:cs typeface="Calibri"/>
              </a:rPr>
              <a:t>transpiler</a:t>
            </a:r>
            <a:r>
              <a:rPr sz="2400" b="0" i="0" dirty="0">
                <a:solidFill>
                  <a:srgbClr val="1E2A44"/>
                </a:solidFill>
                <a:latin typeface="Calibri"/>
                <a:ea typeface="Calibri"/>
                <a:cs typeface="Calibri"/>
              </a:rPr>
              <a:t> is updated very often, and any update can accidentally introduce a regression (a bug caused by a change). [1]</a:t>
            </a:r>
          </a:p>
          <a:p>
            <a:pPr>
              <a:spcAft>
                <a:spcPts val="1600"/>
              </a:spcAft>
              <a:buNone/>
            </a:pPr>
            <a:r>
              <a:rPr sz="2400" b="1" i="0" dirty="0">
                <a:solidFill>
                  <a:srgbClr val="14B8A6"/>
                </a:solidFill>
                <a:latin typeface="Calibri"/>
                <a:ea typeface="Calibri"/>
                <a:cs typeface="Calibri"/>
              </a:rPr>
              <a:t>▪  </a:t>
            </a:r>
            <a:r>
              <a:rPr sz="2400" b="0" i="0" dirty="0">
                <a:solidFill>
                  <a:srgbClr val="1E2A44"/>
                </a:solidFill>
                <a:latin typeface="Calibri"/>
                <a:ea typeface="Calibri"/>
                <a:cs typeface="Calibri"/>
              </a:rPr>
              <a:t>A regression can give a wrong result, a lower-quality circuit, or slower compilation.</a:t>
            </a:r>
          </a:p>
          <a:p>
            <a:pPr>
              <a:spcAft>
                <a:spcPts val="1600"/>
              </a:spcAft>
              <a:buNone/>
            </a:pPr>
            <a:r>
              <a:rPr sz="2400" b="1" i="0" dirty="0">
                <a:solidFill>
                  <a:srgbClr val="14B8A6"/>
                </a:solidFill>
                <a:latin typeface="Calibri"/>
                <a:ea typeface="Calibri"/>
                <a:cs typeface="Calibri"/>
              </a:rPr>
              <a:t>▪  </a:t>
            </a:r>
            <a:r>
              <a:rPr sz="2400" b="0" i="0" dirty="0">
                <a:solidFill>
                  <a:srgbClr val="1E2A44"/>
                </a:solidFill>
                <a:latin typeface="Calibri"/>
                <a:ea typeface="Calibri"/>
                <a:cs typeface="Calibri"/>
              </a:rPr>
              <a:t>We need regression testing that is trustworthy and affordable — catching these before they reach users.</a:t>
            </a:r>
          </a:p>
        </p:txBody>
      </p:sp>
      <p:sp>
        <p:nvSpPr>
          <p:cNvPr id="6" name="TextBox 5">
            <a:extLst>
              <a:ext uri="{FF2B5EF4-FFF2-40B4-BE49-F238E27FC236}">
                <a16:creationId xmlns:a16="http://schemas.microsoft.com/office/drawing/2014/main" id="{FC529F13-AE71-4614-BBA4-483C80C08D0D}"/>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lang="en-US" sz="1000" dirty="0">
                <a:solidFill>
                  <a:srgbClr val="64748C"/>
                </a:solidFill>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5DEE56B-5FD8-4748-BA85-46F49E66C73A}"/>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3</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803742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D868FA-9CF4-416B-9E2A-86CC66D3F2E8}"/>
              </a:ext>
            </a:extLst>
          </p:cNvPr>
          <p:cNvSpPr>
            <a:spLocks noGrp="1"/>
          </p:cNvSpPr>
          <p:nvPr/>
        </p:nvSpPr>
        <p:spPr>
          <a:xfrm>
            <a:off x="0" y="0"/>
            <a:ext cx="12191695" cy="9464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FB3F1B12-026B-4453-AF0C-052D56D58DD3}"/>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PROBLEM STATEMENT</a:t>
            </a:r>
          </a:p>
        </p:txBody>
      </p:sp>
      <p:sp>
        <p:nvSpPr>
          <p:cNvPr id="4" name="TextBox 3">
            <a:extLst>
              <a:ext uri="{FF2B5EF4-FFF2-40B4-BE49-F238E27FC236}">
                <a16:creationId xmlns:a16="http://schemas.microsoft.com/office/drawing/2014/main" id="{35E1811F-6A43-4015-B8F0-65CBA09D1C11}"/>
              </a:ext>
            </a:extLst>
          </p:cNvPr>
          <p:cNvSpPr>
            <a:spLocks noGrp="1"/>
          </p:cNvSpPr>
          <p:nvPr/>
        </p:nvSpPr>
        <p:spPr>
          <a:xfrm>
            <a:off x="640080" y="694944"/>
            <a:ext cx="11155680" cy="652486"/>
          </a:xfrm>
          <a:prstGeom prst="rect">
            <a:avLst/>
          </a:prstGeom>
          <a:noFill/>
        </p:spPr>
        <p:txBody>
          <a:bodyPr wrap="square" lIns="36576" tIns="18288" rIns="36576" bIns="18288">
            <a:spAutoFit/>
          </a:bodyPr>
          <a:lstStyle/>
          <a:p>
            <a:r>
              <a:rPr sz="4000" b="1" i="0">
                <a:solidFill>
                  <a:srgbClr val="1E2A44"/>
                </a:solidFill>
                <a:latin typeface="Cambria"/>
                <a:ea typeface="Cambria"/>
                <a:cs typeface="Cambria"/>
              </a:rPr>
              <a:t>The Problem</a:t>
            </a:r>
          </a:p>
        </p:txBody>
      </p:sp>
      <p:sp>
        <p:nvSpPr>
          <p:cNvPr id="5" name="Rounded Rectangle 4">
            <a:extLst>
              <a:ext uri="{FF2B5EF4-FFF2-40B4-BE49-F238E27FC236}">
                <a16:creationId xmlns:a16="http://schemas.microsoft.com/office/drawing/2014/main" id="{7768B53A-01FF-477D-BB18-2ABC85988646}"/>
              </a:ext>
            </a:extLst>
          </p:cNvPr>
          <p:cNvSpPr>
            <a:spLocks noGrp="1"/>
          </p:cNvSpPr>
          <p:nvPr/>
        </p:nvSpPr>
        <p:spPr>
          <a:xfrm>
            <a:off x="640080" y="1691640"/>
            <a:ext cx="5349240" cy="4416552"/>
          </a:xfrm>
          <a:prstGeom prst="roundRect">
            <a:avLst>
              <a:gd name="adj" fmla="val 6000"/>
            </a:avLst>
          </a:prstGeom>
          <a:solidFill>
            <a:srgbClr val="F7F0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6" name="TextBox 5">
            <a:extLst>
              <a:ext uri="{FF2B5EF4-FFF2-40B4-BE49-F238E27FC236}">
                <a16:creationId xmlns:a16="http://schemas.microsoft.com/office/drawing/2014/main" id="{168C442C-22E7-4A4A-A231-D6E7E01D1E3D}"/>
              </a:ext>
            </a:extLst>
          </p:cNvPr>
          <p:cNvSpPr>
            <a:spLocks noGrp="1"/>
          </p:cNvSpPr>
          <p:nvPr/>
        </p:nvSpPr>
        <p:spPr>
          <a:xfrm>
            <a:off x="896112" y="1892807"/>
            <a:ext cx="4937760" cy="406265"/>
          </a:xfrm>
          <a:prstGeom prst="rect">
            <a:avLst/>
          </a:prstGeom>
          <a:noFill/>
        </p:spPr>
        <p:txBody>
          <a:bodyPr wrap="square" lIns="36576" tIns="18288" rIns="36576" bIns="18288">
            <a:spAutoFit/>
          </a:bodyPr>
          <a:lstStyle/>
          <a:p>
            <a:r>
              <a:rPr sz="2400" b="1" i="0">
                <a:solidFill>
                  <a:srgbClr val="9A532E"/>
                </a:solidFill>
                <a:latin typeface="Calibri"/>
                <a:ea typeface="Calibri"/>
                <a:cs typeface="Calibri"/>
              </a:rPr>
              <a:t>1.  We can’t always observe the fault</a:t>
            </a:r>
          </a:p>
        </p:txBody>
      </p:sp>
      <p:sp>
        <p:nvSpPr>
          <p:cNvPr id="7" name="TextBox 6">
            <a:extLst>
              <a:ext uri="{FF2B5EF4-FFF2-40B4-BE49-F238E27FC236}">
                <a16:creationId xmlns:a16="http://schemas.microsoft.com/office/drawing/2014/main" id="{7815E2A0-6077-4A66-9937-9CB4DF506999}"/>
              </a:ext>
            </a:extLst>
          </p:cNvPr>
          <p:cNvSpPr>
            <a:spLocks noGrp="1"/>
          </p:cNvSpPr>
          <p:nvPr/>
        </p:nvSpPr>
        <p:spPr>
          <a:xfrm>
            <a:off x="896112" y="2377440"/>
            <a:ext cx="4937760" cy="2114425"/>
          </a:xfrm>
          <a:prstGeom prst="rect">
            <a:avLst/>
          </a:prstGeom>
          <a:noFill/>
        </p:spPr>
        <p:txBody>
          <a:bodyPr wrap="square" lIns="36576" tIns="18288" rIns="36576" bIns="18288">
            <a:spAutoFit/>
          </a:bodyPr>
          <a:lstStyle/>
          <a:p>
            <a:pPr>
              <a:spcAft>
                <a:spcPts val="900"/>
              </a:spcAft>
              <a:buNone/>
            </a:pPr>
            <a:r>
              <a:rPr sz="2000" b="1" i="0">
                <a:solidFill>
                  <a:srgbClr val="14B8A6"/>
                </a:solidFill>
                <a:latin typeface="Calibri"/>
                <a:ea typeface="Calibri"/>
                <a:cs typeface="Calibri"/>
              </a:rPr>
              <a:t>▪  </a:t>
            </a:r>
            <a:r>
              <a:rPr sz="2000" b="0" i="0">
                <a:solidFill>
                  <a:srgbClr val="1E2A44"/>
                </a:solidFill>
                <a:latin typeface="Calibri"/>
                <a:ea typeface="Calibri"/>
                <a:cs typeface="Calibri"/>
              </a:rPr>
              <a:t>The usual check, an output-equivalence oracle, looks only at the final output. [6]</a:t>
            </a:r>
          </a:p>
          <a:p>
            <a:pPr>
              <a:spcAft>
                <a:spcPts val="900"/>
              </a:spcAft>
              <a:buNone/>
            </a:pPr>
            <a:r>
              <a:rPr sz="2000" b="1" i="0">
                <a:solidFill>
                  <a:srgbClr val="14B8A6"/>
                </a:solidFill>
                <a:latin typeface="Calibri"/>
                <a:ea typeface="Calibri"/>
                <a:cs typeface="Calibri"/>
              </a:rPr>
              <a:t>▪  </a:t>
            </a:r>
            <a:r>
              <a:rPr sz="2000" b="0" i="0">
                <a:solidFill>
                  <a:srgbClr val="1E2A44"/>
                </a:solidFill>
                <a:latin typeface="Calibri"/>
                <a:ea typeface="Calibri"/>
                <a:cs typeface="Calibri"/>
              </a:rPr>
              <a:t>Some regressions keep the output correct but corrupt the transpiler’s internal state. [5]</a:t>
            </a:r>
          </a:p>
          <a:p>
            <a:pPr>
              <a:spcAft>
                <a:spcPts val="900"/>
              </a:spcAft>
              <a:buNone/>
            </a:pPr>
            <a:r>
              <a:rPr sz="2000" b="1" i="0">
                <a:solidFill>
                  <a:srgbClr val="14B8A6"/>
                </a:solidFill>
                <a:latin typeface="Calibri"/>
                <a:ea typeface="Calibri"/>
                <a:cs typeface="Calibri"/>
              </a:rPr>
              <a:t>▪  </a:t>
            </a:r>
            <a:r>
              <a:rPr sz="2000" b="0" i="0">
                <a:solidFill>
                  <a:srgbClr val="1E2A44"/>
                </a:solidFill>
                <a:latin typeface="Calibri"/>
                <a:ea typeface="Calibri"/>
                <a:cs typeface="Calibri"/>
              </a:rPr>
              <a:t>So the output-equivalence oracle cannot observe them — an observability gap.</a:t>
            </a:r>
          </a:p>
        </p:txBody>
      </p:sp>
      <p:sp>
        <p:nvSpPr>
          <p:cNvPr id="8" name="Rounded Rectangle 7">
            <a:extLst>
              <a:ext uri="{FF2B5EF4-FFF2-40B4-BE49-F238E27FC236}">
                <a16:creationId xmlns:a16="http://schemas.microsoft.com/office/drawing/2014/main" id="{1AA1FC3F-6D36-474B-878A-DA28EBF8ADA6}"/>
              </a:ext>
            </a:extLst>
          </p:cNvPr>
          <p:cNvSpPr>
            <a:spLocks noGrp="1"/>
          </p:cNvSpPr>
          <p:nvPr/>
        </p:nvSpPr>
        <p:spPr>
          <a:xfrm>
            <a:off x="6355080" y="1691640"/>
            <a:ext cx="5349240" cy="4416552"/>
          </a:xfrm>
          <a:prstGeom prst="roundRect">
            <a:avLst>
              <a:gd name="adj" fmla="val 6000"/>
            </a:avLst>
          </a:prstGeom>
          <a:solidFill>
            <a:srgbClr val="E7F6F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9" name="TextBox 8">
            <a:extLst>
              <a:ext uri="{FF2B5EF4-FFF2-40B4-BE49-F238E27FC236}">
                <a16:creationId xmlns:a16="http://schemas.microsoft.com/office/drawing/2014/main" id="{49F5A6C7-CCB7-46A5-B7AA-AF3A6BE26290}"/>
              </a:ext>
            </a:extLst>
          </p:cNvPr>
          <p:cNvSpPr>
            <a:spLocks noGrp="1"/>
          </p:cNvSpPr>
          <p:nvPr/>
        </p:nvSpPr>
        <p:spPr>
          <a:xfrm>
            <a:off x="6611112" y="1892807"/>
            <a:ext cx="4937760" cy="406265"/>
          </a:xfrm>
          <a:prstGeom prst="rect">
            <a:avLst/>
          </a:prstGeom>
          <a:noFill/>
        </p:spPr>
        <p:txBody>
          <a:bodyPr wrap="square" lIns="36576" tIns="18288" rIns="36576" bIns="18288">
            <a:spAutoFit/>
          </a:bodyPr>
          <a:lstStyle/>
          <a:p>
            <a:r>
              <a:rPr sz="2400" b="1" i="0">
                <a:solidFill>
                  <a:srgbClr val="0E7C7B"/>
                </a:solidFill>
                <a:latin typeface="Calibri"/>
                <a:ea typeface="Calibri"/>
                <a:cs typeface="Calibri"/>
              </a:rPr>
              <a:t>2.  We can’t afford to test everything</a:t>
            </a:r>
          </a:p>
        </p:txBody>
      </p:sp>
      <p:sp>
        <p:nvSpPr>
          <p:cNvPr id="10" name="TextBox 9">
            <a:extLst>
              <a:ext uri="{FF2B5EF4-FFF2-40B4-BE49-F238E27FC236}">
                <a16:creationId xmlns:a16="http://schemas.microsoft.com/office/drawing/2014/main" id="{33FDB571-EFBF-4A9F-9437-50BD22DB0A22}"/>
              </a:ext>
            </a:extLst>
          </p:cNvPr>
          <p:cNvSpPr>
            <a:spLocks noGrp="1"/>
          </p:cNvSpPr>
          <p:nvPr/>
        </p:nvSpPr>
        <p:spPr>
          <a:xfrm>
            <a:off x="6611112" y="2377440"/>
            <a:ext cx="4937760" cy="2114425"/>
          </a:xfrm>
          <a:prstGeom prst="rect">
            <a:avLst/>
          </a:prstGeom>
          <a:noFill/>
        </p:spPr>
        <p:txBody>
          <a:bodyPr wrap="square" lIns="36576" tIns="18288" rIns="36576" bIns="18288">
            <a:spAutoFit/>
          </a:bodyPr>
          <a:lstStyle/>
          <a:p>
            <a:pPr>
              <a:spcAft>
                <a:spcPts val="900"/>
              </a:spcAft>
              <a:buNone/>
            </a:pPr>
            <a:r>
              <a:rPr sz="2000" b="1" i="0">
                <a:solidFill>
                  <a:srgbClr val="14B8A6"/>
                </a:solidFill>
                <a:latin typeface="Calibri"/>
                <a:ea typeface="Calibri"/>
                <a:cs typeface="Calibri"/>
              </a:rPr>
              <a:t>▪  </a:t>
            </a:r>
            <a:r>
              <a:rPr sz="2000" b="0" i="0">
                <a:solidFill>
                  <a:srgbClr val="1E2A44"/>
                </a:solidFill>
                <a:latin typeface="Calibri"/>
                <a:ea typeface="Calibri"/>
                <a:cs typeface="Calibri"/>
              </a:rPr>
              <a:t>There are far too many tests to run them all on every update.</a:t>
            </a:r>
          </a:p>
          <a:p>
            <a:pPr>
              <a:spcAft>
                <a:spcPts val="900"/>
              </a:spcAft>
              <a:buNone/>
            </a:pPr>
            <a:r>
              <a:rPr sz="2000" b="1" i="0">
                <a:solidFill>
                  <a:srgbClr val="14B8A6"/>
                </a:solidFill>
                <a:latin typeface="Calibri"/>
                <a:ea typeface="Calibri"/>
                <a:cs typeface="Calibri"/>
              </a:rPr>
              <a:t>▪  </a:t>
            </a:r>
            <a:r>
              <a:rPr sz="2000" b="0" i="0">
                <a:solidFill>
                  <a:srgbClr val="1E2A44"/>
                </a:solidFill>
                <a:latin typeface="Calibri"/>
                <a:ea typeface="Calibri"/>
                <a:cs typeface="Calibri"/>
              </a:rPr>
              <a:t>Running everything each time is too slow and too expensive.</a:t>
            </a:r>
          </a:p>
          <a:p>
            <a:pPr>
              <a:spcAft>
                <a:spcPts val="900"/>
              </a:spcAft>
              <a:buNone/>
            </a:pPr>
            <a:r>
              <a:rPr sz="2000" b="1" i="0">
                <a:solidFill>
                  <a:srgbClr val="14B8A6"/>
                </a:solidFill>
                <a:latin typeface="Calibri"/>
                <a:ea typeface="Calibri"/>
                <a:cs typeface="Calibri"/>
              </a:rPr>
              <a:t>▪  </a:t>
            </a:r>
            <a:r>
              <a:rPr sz="2000" b="0" i="0">
                <a:solidFill>
                  <a:srgbClr val="1E2A44"/>
                </a:solidFill>
                <a:latin typeface="Calibri"/>
                <a:ea typeface="Calibri"/>
                <a:cs typeface="Calibri"/>
              </a:rPr>
              <a:t>We must select a small, high-value set — under a budget.</a:t>
            </a:r>
          </a:p>
        </p:txBody>
      </p:sp>
      <p:sp>
        <p:nvSpPr>
          <p:cNvPr id="11" name="TextBox 10">
            <a:extLst>
              <a:ext uri="{FF2B5EF4-FFF2-40B4-BE49-F238E27FC236}">
                <a16:creationId xmlns:a16="http://schemas.microsoft.com/office/drawing/2014/main" id="{90DCFE25-9ACC-4C5B-B603-D0F6FE841F9B}"/>
              </a:ext>
            </a:extLst>
          </p:cNvPr>
          <p:cNvSpPr>
            <a:spLocks noGrp="1"/>
          </p:cNvSpPr>
          <p:nvPr/>
        </p:nvSpPr>
        <p:spPr>
          <a:xfrm>
            <a:off x="640080" y="5074920"/>
            <a:ext cx="11064240" cy="344710"/>
          </a:xfrm>
          <a:prstGeom prst="rect">
            <a:avLst/>
          </a:prstGeom>
          <a:noFill/>
        </p:spPr>
        <p:txBody>
          <a:bodyPr wrap="square" lIns="36576" tIns="18288" rIns="36576" bIns="18288">
            <a:spAutoFit/>
          </a:bodyPr>
          <a:lstStyle/>
          <a:p>
            <a:endParaRPr sz="2000" b="1" i="1">
              <a:solidFill>
                <a:srgbClr val="1E2A44"/>
              </a:solidFill>
              <a:latin typeface="Calibri"/>
              <a:ea typeface="Calibri"/>
              <a:cs typeface="Calibri"/>
            </a:endParaRPr>
          </a:p>
        </p:txBody>
      </p:sp>
      <p:sp>
        <p:nvSpPr>
          <p:cNvPr id="12" name="TextBox 11">
            <a:extLst>
              <a:ext uri="{FF2B5EF4-FFF2-40B4-BE49-F238E27FC236}">
                <a16:creationId xmlns:a16="http://schemas.microsoft.com/office/drawing/2014/main" id="{705A03C4-E2C5-494B-81AB-CB549F2AF386}"/>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3" name="TextBox 12">
            <a:extLst>
              <a:ext uri="{FF2B5EF4-FFF2-40B4-BE49-F238E27FC236}">
                <a16:creationId xmlns:a16="http://schemas.microsoft.com/office/drawing/2014/main" id="{1388FA03-703A-4BD0-83BA-77B1E723CAD0}"/>
              </a:ext>
            </a:extLst>
          </p:cNvPr>
          <p:cNvSpPr>
            <a:spLocks noGrp="1"/>
          </p:cNvSpPr>
          <p:nvPr/>
        </p:nvSpPr>
        <p:spPr>
          <a:xfrm>
            <a:off x="11155680" y="6473952"/>
            <a:ext cx="822960" cy="198516"/>
          </a:xfrm>
          <a:prstGeom prst="rect">
            <a:avLst/>
          </a:prstGeom>
          <a:noFill/>
        </p:spPr>
        <p:txBody>
          <a:bodyPr wrap="square" lIns="36576" tIns="18288" rIns="36576" bIns="18288">
            <a:spAutoFit/>
          </a:bodyPr>
          <a:lstStyle/>
          <a:p>
            <a:pPr algn="r">
              <a:buNone/>
            </a:pPr>
            <a:r>
              <a:rPr sz="1050" b="1" i="0">
                <a:solidFill>
                  <a:srgbClr val="64748C"/>
                </a:solidFill>
                <a:latin typeface="Calibri"/>
                <a:ea typeface="Calibri"/>
                <a:cs typeface="Calibri"/>
              </a:rPr>
              <a:t>4</a:t>
            </a:r>
          </a:p>
        </p:txBody>
      </p:sp>
      <p:pic>
        <p:nvPicPr>
          <p:cNvPr id="14"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58349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F22466-AF26-4553-988C-F5207D3A8F5E}"/>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F2A60DC3-5578-40E0-9BCA-AFB35E5C485E}"/>
              </a:ext>
            </a:extLst>
          </p:cNvPr>
          <p:cNvSpPr>
            <a:spLocks noGrp="1"/>
          </p:cNvSpPr>
          <p:nvPr/>
        </p:nvSpPr>
        <p:spPr>
          <a:xfrm>
            <a:off x="640080" y="384048"/>
            <a:ext cx="10972800" cy="305276"/>
          </a:xfrm>
          <a:prstGeom prst="rect">
            <a:avLst/>
          </a:prstGeom>
          <a:noFill/>
        </p:spPr>
        <p:txBody>
          <a:bodyPr wrap="square" lIns="27432" tIns="27432" rIns="27432" bIns="27432" anchor="t">
            <a:spAutoFit/>
          </a:bodyPr>
          <a:lstStyle/>
          <a:p>
            <a:pPr algn="l">
              <a:lnSpc>
                <a:spcPct val="106000"/>
              </a:lnSpc>
              <a:spcAft>
                <a:spcPts val="300"/>
              </a:spcAft>
              <a:buNone/>
            </a:pPr>
            <a:r>
              <a:rPr sz="1600" b="1">
                <a:solidFill>
                  <a:srgbClr val="14B8A6"/>
                </a:solidFill>
                <a:latin typeface="Calibri"/>
                <a:ea typeface="Calibri"/>
                <a:cs typeface="Calibri"/>
              </a:rPr>
              <a:t>PROBLEM STATEMENT</a:t>
            </a:r>
          </a:p>
        </p:txBody>
      </p:sp>
      <p:sp>
        <p:nvSpPr>
          <p:cNvPr id="4" name="TextBox 3">
            <a:extLst>
              <a:ext uri="{FF2B5EF4-FFF2-40B4-BE49-F238E27FC236}">
                <a16:creationId xmlns:a16="http://schemas.microsoft.com/office/drawing/2014/main" id="{23E7B06B-26A3-4CEF-9140-10056A6DB6D1}"/>
              </a:ext>
            </a:extLst>
          </p:cNvPr>
          <p:cNvSpPr>
            <a:spLocks noGrp="1"/>
          </p:cNvSpPr>
          <p:nvPr/>
        </p:nvSpPr>
        <p:spPr>
          <a:xfrm>
            <a:off x="640080" y="676656"/>
            <a:ext cx="11338560" cy="642612"/>
          </a:xfrm>
          <a:prstGeom prst="rect">
            <a:avLst/>
          </a:prstGeom>
          <a:noFill/>
        </p:spPr>
        <p:txBody>
          <a:bodyPr wrap="square" lIns="27432" tIns="27432" rIns="27432" bIns="27432" anchor="t">
            <a:spAutoFit/>
          </a:bodyPr>
          <a:lstStyle/>
          <a:p>
            <a:pPr algn="l">
              <a:lnSpc>
                <a:spcPct val="106000"/>
              </a:lnSpc>
              <a:spcAft>
                <a:spcPts val="300"/>
              </a:spcAft>
              <a:buNone/>
            </a:pPr>
            <a:r>
              <a:rPr sz="3600" b="1">
                <a:solidFill>
                  <a:srgbClr val="1E2A44"/>
                </a:solidFill>
                <a:latin typeface="Cambria"/>
                <a:ea typeface="Cambria"/>
                <a:cs typeface="Cambria"/>
              </a:rPr>
              <a:t>Seven Ways a Regression Shows Up</a:t>
            </a:r>
          </a:p>
        </p:txBody>
      </p:sp>
      <p:sp>
        <p:nvSpPr>
          <p:cNvPr id="5" name="Rounded Rectangle 4">
            <a:extLst>
              <a:ext uri="{FF2B5EF4-FFF2-40B4-BE49-F238E27FC236}">
                <a16:creationId xmlns:a16="http://schemas.microsoft.com/office/drawing/2014/main" id="{28862F75-DEFE-486D-9212-046C8FFCD7B4}"/>
              </a:ext>
            </a:extLst>
          </p:cNvPr>
          <p:cNvSpPr>
            <a:spLocks noGrp="1"/>
          </p:cNvSpPr>
          <p:nvPr/>
        </p:nvSpPr>
        <p:spPr>
          <a:xfrm>
            <a:off x="640080" y="1463040"/>
            <a:ext cx="10927080" cy="786384"/>
          </a:xfrm>
          <a:prstGeom prst="roundRect">
            <a:avLst/>
          </a:prstGeom>
          <a:solidFill>
            <a:srgbClr val="EAF4F3"/>
          </a:solidFill>
          <a:ln w="15875">
            <a:solidFill>
              <a:srgbClr val="14B8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6" name="TextBox 5">
            <a:extLst>
              <a:ext uri="{FF2B5EF4-FFF2-40B4-BE49-F238E27FC236}">
                <a16:creationId xmlns:a16="http://schemas.microsoft.com/office/drawing/2014/main" id="{FF05ED1E-3C79-4347-8FD9-468E843D87C9}"/>
              </a:ext>
            </a:extLst>
          </p:cNvPr>
          <p:cNvSpPr>
            <a:spLocks noGrp="1"/>
          </p:cNvSpPr>
          <p:nvPr/>
        </p:nvSpPr>
        <p:spPr>
          <a:xfrm>
            <a:off x="841248" y="1534926"/>
            <a:ext cx="10561320" cy="642612"/>
          </a:xfrm>
          <a:prstGeom prst="rect">
            <a:avLst/>
          </a:prstGeom>
          <a:noFill/>
        </p:spPr>
        <p:txBody>
          <a:bodyPr wrap="square" lIns="27432" tIns="27432" rIns="27432" bIns="27432" anchor="ctr">
            <a:spAutoFit/>
          </a:bodyPr>
          <a:lstStyle/>
          <a:p>
            <a:pPr algn="l">
              <a:lnSpc>
                <a:spcPct val="106000"/>
              </a:lnSpc>
              <a:spcAft>
                <a:spcPts val="300"/>
              </a:spcAft>
              <a:buNone/>
            </a:pPr>
            <a:r>
              <a:rPr b="0">
                <a:solidFill>
                  <a:srgbClr val="0E7C7B"/>
                </a:solidFill>
                <a:latin typeface="Calibri"/>
                <a:ea typeface="Calibri"/>
                <a:cs typeface="Calibri"/>
              </a:rPr>
              <a:t>A single transpiler regression can surface through seven channels. The reference screen watches four of them. The other three have no standard oracle, and that blind spot is the observability gap this research targets.</a:t>
            </a:r>
          </a:p>
        </p:txBody>
      </p:sp>
      <p:sp>
        <p:nvSpPr>
          <p:cNvPr id="7" name="Rounded Rectangle 6">
            <a:extLst>
              <a:ext uri="{FF2B5EF4-FFF2-40B4-BE49-F238E27FC236}">
                <a16:creationId xmlns:a16="http://schemas.microsoft.com/office/drawing/2014/main" id="{CB87DFBD-AF2F-4262-80F9-998667B21B49}"/>
              </a:ext>
            </a:extLst>
          </p:cNvPr>
          <p:cNvSpPr>
            <a:spLocks noGrp="1"/>
          </p:cNvSpPr>
          <p:nvPr/>
        </p:nvSpPr>
        <p:spPr>
          <a:xfrm>
            <a:off x="640080" y="2468880"/>
            <a:ext cx="7178040" cy="3611880"/>
          </a:xfrm>
          <a:prstGeom prst="roundRect">
            <a:avLst/>
          </a:prstGeom>
          <a:solidFill>
            <a:srgbClr val="F2F5FA"/>
          </a:solidFill>
          <a:ln w="15875">
            <a:solidFill>
              <a:srgbClr val="14B8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8" name="TextBox 7">
            <a:extLst>
              <a:ext uri="{FF2B5EF4-FFF2-40B4-BE49-F238E27FC236}">
                <a16:creationId xmlns:a16="http://schemas.microsoft.com/office/drawing/2014/main" id="{7B779E08-2C1C-4FC0-BE26-98259269F1F8}"/>
              </a:ext>
            </a:extLst>
          </p:cNvPr>
          <p:cNvSpPr>
            <a:spLocks noGrp="1"/>
          </p:cNvSpPr>
          <p:nvPr/>
        </p:nvSpPr>
        <p:spPr>
          <a:xfrm>
            <a:off x="868680" y="2596896"/>
            <a:ext cx="6766560" cy="349006"/>
          </a:xfrm>
          <a:prstGeom prst="rect">
            <a:avLst/>
          </a:prstGeom>
          <a:noFill/>
        </p:spPr>
        <p:txBody>
          <a:bodyPr wrap="square" lIns="27432" tIns="27432" rIns="27432" bIns="27432" anchor="t">
            <a:spAutoFit/>
          </a:bodyPr>
          <a:lstStyle/>
          <a:p>
            <a:pPr algn="l">
              <a:lnSpc>
                <a:spcPct val="106000"/>
              </a:lnSpc>
              <a:spcAft>
                <a:spcPts val="300"/>
              </a:spcAft>
              <a:buNone/>
            </a:pPr>
            <a:r>
              <a:rPr b="1">
                <a:solidFill>
                  <a:srgbClr val="0E7C7B"/>
                </a:solidFill>
                <a:latin typeface="Calibri"/>
                <a:ea typeface="Calibri"/>
                <a:cs typeface="Calibri"/>
              </a:rPr>
              <a:t>WATCHED BY THE REFERENCE SCREEN</a:t>
            </a:r>
          </a:p>
        </p:txBody>
      </p:sp>
      <p:sp>
        <p:nvSpPr>
          <p:cNvPr id="9" name="TextBox 8">
            <a:extLst>
              <a:ext uri="{FF2B5EF4-FFF2-40B4-BE49-F238E27FC236}">
                <a16:creationId xmlns:a16="http://schemas.microsoft.com/office/drawing/2014/main" id="{7A9445A5-FC19-4F69-9937-A70A7DF97D6F}"/>
              </a:ext>
            </a:extLst>
          </p:cNvPr>
          <p:cNvSpPr>
            <a:spLocks noGrp="1"/>
          </p:cNvSpPr>
          <p:nvPr/>
        </p:nvSpPr>
        <p:spPr>
          <a:xfrm>
            <a:off x="868680" y="304495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14B8A6"/>
                </a:solidFill>
                <a:latin typeface="Calibri"/>
                <a:ea typeface="Calibri"/>
                <a:cs typeface="Calibri"/>
              </a:rPr>
              <a:t>▪  </a:t>
            </a:r>
            <a:r>
              <a:rPr b="1">
                <a:solidFill>
                  <a:srgbClr val="1E2A44"/>
                </a:solidFill>
                <a:latin typeface="Calibri"/>
                <a:ea typeface="Calibri"/>
                <a:cs typeface="Calibri"/>
              </a:rPr>
              <a:t>Semantic difference</a:t>
            </a:r>
          </a:p>
          <a:p>
            <a:pPr algn="l">
              <a:lnSpc>
                <a:spcPct val="105000"/>
              </a:lnSpc>
              <a:spcAft>
                <a:spcPts val="200"/>
              </a:spcAft>
              <a:buNone/>
            </a:pPr>
            <a:r>
              <a:rPr sz="1400" b="0">
                <a:solidFill>
                  <a:srgbClr val="64748C"/>
                </a:solidFill>
                <a:latin typeface="Calibri"/>
                <a:ea typeface="Calibri"/>
                <a:cs typeface="Calibri"/>
              </a:rPr>
              <a:t>     The compiled circuit now computes a different unitary.</a:t>
            </a:r>
          </a:p>
        </p:txBody>
      </p:sp>
      <p:sp>
        <p:nvSpPr>
          <p:cNvPr id="10" name="TextBox 9">
            <a:extLst>
              <a:ext uri="{FF2B5EF4-FFF2-40B4-BE49-F238E27FC236}">
                <a16:creationId xmlns:a16="http://schemas.microsoft.com/office/drawing/2014/main" id="{7F5343B3-E6C3-447E-880B-0741B106D503}"/>
              </a:ext>
            </a:extLst>
          </p:cNvPr>
          <p:cNvSpPr>
            <a:spLocks noGrp="1"/>
          </p:cNvSpPr>
          <p:nvPr/>
        </p:nvSpPr>
        <p:spPr>
          <a:xfrm>
            <a:off x="868680" y="377647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14B8A6"/>
                </a:solidFill>
                <a:latin typeface="Calibri"/>
                <a:ea typeface="Calibri"/>
                <a:cs typeface="Calibri"/>
              </a:rPr>
              <a:t>▪  </a:t>
            </a:r>
            <a:r>
              <a:rPr b="1">
                <a:solidFill>
                  <a:srgbClr val="1E2A44"/>
                </a:solidFill>
                <a:latin typeface="Calibri"/>
                <a:ea typeface="Calibri"/>
                <a:cs typeface="Calibri"/>
              </a:rPr>
              <a:t>Compilation failure</a:t>
            </a:r>
          </a:p>
          <a:p>
            <a:pPr algn="l">
              <a:lnSpc>
                <a:spcPct val="105000"/>
              </a:lnSpc>
              <a:spcAft>
                <a:spcPts val="200"/>
              </a:spcAft>
              <a:buNone/>
            </a:pPr>
            <a:r>
              <a:rPr sz="1400" b="0">
                <a:solidFill>
                  <a:srgbClr val="64748C"/>
                </a:solidFill>
                <a:latin typeface="Calibri"/>
                <a:ea typeface="Calibri"/>
                <a:cs typeface="Calibri"/>
              </a:rPr>
              <a:t>     The transpiler crashes or refuses to produce a circuit.</a:t>
            </a:r>
          </a:p>
        </p:txBody>
      </p:sp>
      <p:sp>
        <p:nvSpPr>
          <p:cNvPr id="11" name="TextBox 10">
            <a:extLst>
              <a:ext uri="{FF2B5EF4-FFF2-40B4-BE49-F238E27FC236}">
                <a16:creationId xmlns:a16="http://schemas.microsoft.com/office/drawing/2014/main" id="{787C829E-8172-4FB0-937D-89FA8489740B}"/>
              </a:ext>
            </a:extLst>
          </p:cNvPr>
          <p:cNvSpPr>
            <a:spLocks noGrp="1"/>
          </p:cNvSpPr>
          <p:nvPr/>
        </p:nvSpPr>
        <p:spPr>
          <a:xfrm>
            <a:off x="868680" y="450799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14B8A6"/>
                </a:solidFill>
                <a:latin typeface="Calibri"/>
                <a:ea typeface="Calibri"/>
                <a:cs typeface="Calibri"/>
              </a:rPr>
              <a:t>▪  </a:t>
            </a:r>
            <a:r>
              <a:rPr b="1">
                <a:solidFill>
                  <a:srgbClr val="1E2A44"/>
                </a:solidFill>
                <a:latin typeface="Calibri"/>
                <a:ea typeface="Calibri"/>
                <a:cs typeface="Calibri"/>
              </a:rPr>
              <a:t>Circuit-quality regression</a:t>
            </a:r>
          </a:p>
          <a:p>
            <a:pPr algn="l">
              <a:lnSpc>
                <a:spcPct val="105000"/>
              </a:lnSpc>
              <a:spcAft>
                <a:spcPts val="200"/>
              </a:spcAft>
              <a:buNone/>
            </a:pPr>
            <a:r>
              <a:rPr sz="1400" b="0">
                <a:solidFill>
                  <a:srgbClr val="64748C"/>
                </a:solidFill>
                <a:latin typeface="Calibri"/>
                <a:ea typeface="Calibri"/>
                <a:cs typeface="Calibri"/>
              </a:rPr>
              <a:t>     The output is correct but has more gates or greater depth.</a:t>
            </a:r>
          </a:p>
        </p:txBody>
      </p:sp>
      <p:sp>
        <p:nvSpPr>
          <p:cNvPr id="12" name="TextBox 11">
            <a:extLst>
              <a:ext uri="{FF2B5EF4-FFF2-40B4-BE49-F238E27FC236}">
                <a16:creationId xmlns:a16="http://schemas.microsoft.com/office/drawing/2014/main" id="{D07D66B4-D3F1-497D-BBBF-B4C885BF97B2}"/>
              </a:ext>
            </a:extLst>
          </p:cNvPr>
          <p:cNvSpPr>
            <a:spLocks noGrp="1"/>
          </p:cNvSpPr>
          <p:nvPr/>
        </p:nvSpPr>
        <p:spPr>
          <a:xfrm>
            <a:off x="868680" y="523951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14B8A6"/>
                </a:solidFill>
                <a:latin typeface="Calibri"/>
                <a:ea typeface="Calibri"/>
                <a:cs typeface="Calibri"/>
              </a:rPr>
              <a:t>▪  </a:t>
            </a:r>
            <a:r>
              <a:rPr b="1">
                <a:solidFill>
                  <a:srgbClr val="1E2A44"/>
                </a:solidFill>
                <a:latin typeface="Calibri"/>
                <a:ea typeface="Calibri"/>
                <a:cs typeface="Calibri"/>
              </a:rPr>
              <a:t>Performance regression</a:t>
            </a:r>
          </a:p>
          <a:p>
            <a:pPr algn="l">
              <a:lnSpc>
                <a:spcPct val="105000"/>
              </a:lnSpc>
              <a:spcAft>
                <a:spcPts val="200"/>
              </a:spcAft>
              <a:buNone/>
            </a:pPr>
            <a:r>
              <a:rPr sz="1400" b="0">
                <a:solidFill>
                  <a:srgbClr val="64748C"/>
                </a:solidFill>
                <a:latin typeface="Calibri"/>
                <a:ea typeface="Calibri"/>
                <a:cs typeface="Calibri"/>
              </a:rPr>
              <a:t>     The circuit is correct, but transpilation takes far longer.</a:t>
            </a:r>
          </a:p>
        </p:txBody>
      </p:sp>
      <p:sp>
        <p:nvSpPr>
          <p:cNvPr id="13" name="Rounded Rectangle 12">
            <a:extLst>
              <a:ext uri="{FF2B5EF4-FFF2-40B4-BE49-F238E27FC236}">
                <a16:creationId xmlns:a16="http://schemas.microsoft.com/office/drawing/2014/main" id="{02249842-BA9E-4945-A9CE-5DA2424F17B0}"/>
              </a:ext>
            </a:extLst>
          </p:cNvPr>
          <p:cNvSpPr>
            <a:spLocks noGrp="1"/>
          </p:cNvSpPr>
          <p:nvPr/>
        </p:nvSpPr>
        <p:spPr>
          <a:xfrm>
            <a:off x="8001000" y="2468880"/>
            <a:ext cx="3566160" cy="3611880"/>
          </a:xfrm>
          <a:prstGeom prst="roundRect">
            <a:avLst/>
          </a:prstGeom>
          <a:solidFill>
            <a:srgbClr val="F2F5FA"/>
          </a:solidFill>
          <a:ln w="15875">
            <a:solidFill>
              <a:srgbClr val="14B8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14" name="TextBox 13">
            <a:extLst>
              <a:ext uri="{FF2B5EF4-FFF2-40B4-BE49-F238E27FC236}">
                <a16:creationId xmlns:a16="http://schemas.microsoft.com/office/drawing/2014/main" id="{2D2DD6C6-91DD-4C54-B72A-141BF7690AAB}"/>
              </a:ext>
            </a:extLst>
          </p:cNvPr>
          <p:cNvSpPr>
            <a:spLocks noGrp="1"/>
          </p:cNvSpPr>
          <p:nvPr/>
        </p:nvSpPr>
        <p:spPr>
          <a:xfrm>
            <a:off x="8229600" y="2596896"/>
            <a:ext cx="3154680" cy="349006"/>
          </a:xfrm>
          <a:prstGeom prst="rect">
            <a:avLst/>
          </a:prstGeom>
          <a:noFill/>
        </p:spPr>
        <p:txBody>
          <a:bodyPr wrap="square" lIns="27432" tIns="27432" rIns="27432" bIns="27432" anchor="t">
            <a:spAutoFit/>
          </a:bodyPr>
          <a:lstStyle/>
          <a:p>
            <a:pPr algn="l">
              <a:lnSpc>
                <a:spcPct val="106000"/>
              </a:lnSpc>
              <a:spcAft>
                <a:spcPts val="300"/>
              </a:spcAft>
              <a:buNone/>
            </a:pPr>
            <a:r>
              <a:rPr b="1">
                <a:solidFill>
                  <a:srgbClr val="0E7C7B"/>
                </a:solidFill>
                <a:latin typeface="Calibri"/>
                <a:ea typeface="Calibri"/>
                <a:cs typeface="Calibri"/>
              </a:rPr>
              <a:t>THE OBSERVABILITY GAP</a:t>
            </a:r>
          </a:p>
        </p:txBody>
      </p:sp>
      <p:sp>
        <p:nvSpPr>
          <p:cNvPr id="15" name="TextBox 14">
            <a:extLst>
              <a:ext uri="{FF2B5EF4-FFF2-40B4-BE49-F238E27FC236}">
                <a16:creationId xmlns:a16="http://schemas.microsoft.com/office/drawing/2014/main" id="{0F7EC0CF-EE6F-4097-BBB1-2E7DC6AE6432}"/>
              </a:ext>
            </a:extLst>
          </p:cNvPr>
          <p:cNvSpPr>
            <a:spLocks noGrp="1"/>
          </p:cNvSpPr>
          <p:nvPr/>
        </p:nvSpPr>
        <p:spPr>
          <a:xfrm>
            <a:off x="8229600" y="2871216"/>
            <a:ext cx="3154680" cy="283796"/>
          </a:xfrm>
          <a:prstGeom prst="rect">
            <a:avLst/>
          </a:prstGeom>
          <a:noFill/>
        </p:spPr>
        <p:txBody>
          <a:bodyPr wrap="square" lIns="27432" tIns="27432" rIns="27432" bIns="27432" anchor="t">
            <a:spAutoFit/>
          </a:bodyPr>
          <a:lstStyle/>
          <a:p>
            <a:pPr algn="l">
              <a:lnSpc>
                <a:spcPct val="106000"/>
              </a:lnSpc>
              <a:spcAft>
                <a:spcPts val="300"/>
              </a:spcAft>
              <a:buNone/>
            </a:pPr>
            <a:r>
              <a:rPr sz="1400" b="0">
                <a:solidFill>
                  <a:srgbClr val="64748C"/>
                </a:solidFill>
                <a:latin typeface="Calibri"/>
                <a:ea typeface="Calibri"/>
                <a:cs typeface="Calibri"/>
              </a:rPr>
              <a:t>no standard oracle</a:t>
            </a:r>
          </a:p>
        </p:txBody>
      </p:sp>
      <p:sp>
        <p:nvSpPr>
          <p:cNvPr id="16" name="TextBox 15">
            <a:extLst>
              <a:ext uri="{FF2B5EF4-FFF2-40B4-BE49-F238E27FC236}">
                <a16:creationId xmlns:a16="http://schemas.microsoft.com/office/drawing/2014/main" id="{5D594739-D5CC-43A1-BDE8-52E8A9F96808}"/>
              </a:ext>
            </a:extLst>
          </p:cNvPr>
          <p:cNvSpPr>
            <a:spLocks noGrp="1"/>
          </p:cNvSpPr>
          <p:nvPr/>
        </p:nvSpPr>
        <p:spPr>
          <a:xfrm>
            <a:off x="8229600" y="3218688"/>
            <a:ext cx="3154680" cy="824328"/>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14B8A6"/>
                </a:solidFill>
                <a:latin typeface="Calibri"/>
                <a:ea typeface="Calibri"/>
                <a:cs typeface="Calibri"/>
              </a:rPr>
              <a:t>▪  </a:t>
            </a:r>
            <a:r>
              <a:rPr b="1">
                <a:solidFill>
                  <a:srgbClr val="1E2A44"/>
                </a:solidFill>
                <a:latin typeface="Calibri"/>
                <a:ea typeface="Calibri"/>
                <a:cs typeface="Calibri"/>
              </a:rPr>
              <a:t>Contract / metadata</a:t>
            </a:r>
          </a:p>
          <a:p>
            <a:pPr algn="l">
              <a:lnSpc>
                <a:spcPct val="105000"/>
              </a:lnSpc>
              <a:spcAft>
                <a:spcPts val="200"/>
              </a:spcAft>
              <a:buNone/>
            </a:pPr>
            <a:r>
              <a:rPr sz="1400" b="0">
                <a:solidFill>
                  <a:srgbClr val="64748C"/>
                </a:solidFill>
                <a:latin typeface="Calibri"/>
                <a:ea typeface="Calibri"/>
                <a:cs typeface="Calibri"/>
              </a:rPr>
              <a:t>     The output looks right, but the recorded qubit mapping is wrong.</a:t>
            </a:r>
          </a:p>
        </p:txBody>
      </p:sp>
      <p:sp>
        <p:nvSpPr>
          <p:cNvPr id="17" name="TextBox 16">
            <a:extLst>
              <a:ext uri="{FF2B5EF4-FFF2-40B4-BE49-F238E27FC236}">
                <a16:creationId xmlns:a16="http://schemas.microsoft.com/office/drawing/2014/main" id="{63C90DF2-0AD2-453B-8250-AB3DA44F3B1E}"/>
              </a:ext>
            </a:extLst>
          </p:cNvPr>
          <p:cNvSpPr>
            <a:spLocks noGrp="1"/>
          </p:cNvSpPr>
          <p:nvPr/>
        </p:nvSpPr>
        <p:spPr>
          <a:xfrm>
            <a:off x="8229600" y="4151376"/>
            <a:ext cx="3154680" cy="824328"/>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14B8A6"/>
                </a:solidFill>
                <a:latin typeface="Calibri"/>
                <a:ea typeface="Calibri"/>
                <a:cs typeface="Calibri"/>
              </a:rPr>
              <a:t>▪  </a:t>
            </a:r>
            <a:r>
              <a:rPr b="1">
                <a:solidFill>
                  <a:srgbClr val="1E2A44"/>
                </a:solidFill>
                <a:latin typeface="Calibri"/>
                <a:ea typeface="Calibri"/>
                <a:cs typeface="Calibri"/>
              </a:rPr>
              <a:t>Non-determinism</a:t>
            </a:r>
          </a:p>
          <a:p>
            <a:pPr algn="l">
              <a:lnSpc>
                <a:spcPct val="105000"/>
              </a:lnSpc>
              <a:spcAft>
                <a:spcPts val="200"/>
              </a:spcAft>
              <a:buNone/>
            </a:pPr>
            <a:r>
              <a:rPr sz="1400" b="0">
                <a:solidFill>
                  <a:srgbClr val="64748C"/>
                </a:solidFill>
                <a:latin typeface="Calibri"/>
                <a:ea typeface="Calibri"/>
                <a:cs typeface="Calibri"/>
              </a:rPr>
              <a:t>     Different results across runs with identical settings.</a:t>
            </a:r>
          </a:p>
        </p:txBody>
      </p:sp>
      <p:sp>
        <p:nvSpPr>
          <p:cNvPr id="18" name="TextBox 17">
            <a:extLst>
              <a:ext uri="{FF2B5EF4-FFF2-40B4-BE49-F238E27FC236}">
                <a16:creationId xmlns:a16="http://schemas.microsoft.com/office/drawing/2014/main" id="{EEF22B11-4C68-40B6-9E40-C05CAADEB1E7}"/>
              </a:ext>
            </a:extLst>
          </p:cNvPr>
          <p:cNvSpPr>
            <a:spLocks noGrp="1"/>
          </p:cNvSpPr>
          <p:nvPr/>
        </p:nvSpPr>
        <p:spPr>
          <a:xfrm>
            <a:off x="8229600" y="5084064"/>
            <a:ext cx="3154680" cy="824328"/>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14B8A6"/>
                </a:solidFill>
                <a:latin typeface="Calibri"/>
                <a:ea typeface="Calibri"/>
                <a:cs typeface="Calibri"/>
              </a:rPr>
              <a:t>▪  </a:t>
            </a:r>
            <a:r>
              <a:rPr b="1">
                <a:solidFill>
                  <a:srgbClr val="1E2A44"/>
                </a:solidFill>
                <a:latin typeface="Calibri"/>
                <a:ea typeface="Calibri"/>
                <a:cs typeface="Calibri"/>
              </a:rPr>
              <a:t>Global-phase discrepancy</a:t>
            </a:r>
          </a:p>
          <a:p>
            <a:pPr algn="l">
              <a:lnSpc>
                <a:spcPct val="105000"/>
              </a:lnSpc>
              <a:spcAft>
                <a:spcPts val="200"/>
              </a:spcAft>
              <a:buNone/>
            </a:pPr>
            <a:r>
              <a:rPr sz="1400" b="0">
                <a:solidFill>
                  <a:srgbClr val="64748C"/>
                </a:solidFill>
                <a:latin typeface="Calibri"/>
                <a:ea typeface="Calibri"/>
                <a:cs typeface="Calibri"/>
              </a:rPr>
              <a:t>     An operationally relevant overall phase is dropped or changed.</a:t>
            </a:r>
          </a:p>
        </p:txBody>
      </p:sp>
      <p:sp>
        <p:nvSpPr>
          <p:cNvPr id="19" name="TextBox 18">
            <a:extLst>
              <a:ext uri="{FF2B5EF4-FFF2-40B4-BE49-F238E27FC236}">
                <a16:creationId xmlns:a16="http://schemas.microsoft.com/office/drawing/2014/main" id="{5590B781-0464-4F3E-85BB-422B51C88237}"/>
              </a:ext>
            </a:extLst>
          </p:cNvPr>
          <p:cNvSpPr>
            <a:spLocks noGrp="1"/>
          </p:cNvSpPr>
          <p:nvPr/>
        </p:nvSpPr>
        <p:spPr>
          <a:xfrm>
            <a:off x="640080" y="6473952"/>
            <a:ext cx="9692640" cy="211596"/>
          </a:xfrm>
          <a:prstGeom prst="rect">
            <a:avLst/>
          </a:prstGeom>
          <a:noFill/>
        </p:spPr>
        <p:txBody>
          <a:bodyPr wrap="square" lIns="27432" tIns="27432" rIns="27432" bIns="27432" anchor="t">
            <a:spAutoFit/>
          </a:bodyPr>
          <a:lstStyle/>
          <a:p>
            <a:pPr algn="l">
              <a:lnSpc>
                <a:spcPct val="106000"/>
              </a:lnSpc>
              <a:spcAft>
                <a:spcPts val="300"/>
              </a:spcAft>
              <a:buNone/>
            </a:pPr>
            <a:r>
              <a:rPr sz="1000" b="0" dirty="0">
                <a:solidFill>
                  <a:srgbClr val="64748C"/>
                </a:solidFill>
                <a:latin typeface="Calibri"/>
                <a:ea typeface="Calibri"/>
                <a:cs typeface="Calibri"/>
              </a:rPr>
              <a:t>PhD Synopsis  ·  A Leakage-Safe Framework for Observability-Aware Regression Testing of Quantum Compilers</a:t>
            </a:r>
          </a:p>
        </p:txBody>
      </p:sp>
      <p:sp>
        <p:nvSpPr>
          <p:cNvPr id="20" name="TextBox 19">
            <a:extLst>
              <a:ext uri="{FF2B5EF4-FFF2-40B4-BE49-F238E27FC236}">
                <a16:creationId xmlns:a16="http://schemas.microsoft.com/office/drawing/2014/main" id="{A80A744E-A3D3-4F91-9A8F-5DFDEDFBD8F7}"/>
              </a:ext>
            </a:extLst>
          </p:cNvPr>
          <p:cNvSpPr>
            <a:spLocks noGrp="1"/>
          </p:cNvSpPr>
          <p:nvPr/>
        </p:nvSpPr>
        <p:spPr>
          <a:xfrm>
            <a:off x="11155680" y="6473952"/>
            <a:ext cx="822960" cy="234808"/>
          </a:xfrm>
          <a:prstGeom prst="rect">
            <a:avLst/>
          </a:prstGeom>
          <a:noFill/>
        </p:spPr>
        <p:txBody>
          <a:bodyPr wrap="square" lIns="27432" tIns="27432" rIns="27432" bIns="27432" anchor="t">
            <a:spAutoFit/>
          </a:bodyPr>
          <a:lstStyle/>
          <a:p>
            <a:pPr algn="r">
              <a:lnSpc>
                <a:spcPct val="106000"/>
              </a:lnSpc>
              <a:spcAft>
                <a:spcPts val="300"/>
              </a:spcAft>
              <a:buNone/>
            </a:pPr>
            <a:r>
              <a:rPr sz="1050" b="1">
                <a:solidFill>
                  <a:srgbClr val="64748C"/>
                </a:solidFill>
                <a:latin typeface="Calibri"/>
                <a:ea typeface="Calibri"/>
                <a:cs typeface="Calibri"/>
              </a:rPr>
              <a:t>5</a:t>
            </a:r>
          </a:p>
        </p:txBody>
      </p:sp>
      <p:pic>
        <p:nvPicPr>
          <p:cNvPr id="21"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347668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1E7E83-9701-4226-A4D9-265E6B0CB0F9}"/>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 name="TextBox 2">
            <a:extLst>
              <a:ext uri="{FF2B5EF4-FFF2-40B4-BE49-F238E27FC236}">
                <a16:creationId xmlns:a16="http://schemas.microsoft.com/office/drawing/2014/main" id="{68D74DCF-1842-44FC-9178-BD5F420AC434}"/>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RESEARCH QUESTIONS &amp; OBJECTIVES</a:t>
            </a:r>
          </a:p>
        </p:txBody>
      </p:sp>
      <p:sp>
        <p:nvSpPr>
          <p:cNvPr id="4" name="TextBox 3">
            <a:extLst>
              <a:ext uri="{FF2B5EF4-FFF2-40B4-BE49-F238E27FC236}">
                <a16:creationId xmlns:a16="http://schemas.microsoft.com/office/drawing/2014/main" id="{BC330797-9675-4794-8A36-6A48A46D6C1C}"/>
              </a:ext>
            </a:extLst>
          </p:cNvPr>
          <p:cNvSpPr>
            <a:spLocks noGrp="1"/>
          </p:cNvSpPr>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ea typeface="Cambria"/>
                <a:cs typeface="Cambria"/>
              </a:rPr>
              <a:t>Research Questions</a:t>
            </a:r>
          </a:p>
        </p:txBody>
      </p:sp>
      <p:sp>
        <p:nvSpPr>
          <p:cNvPr id="5" name="Rounded Rectangle 4">
            <a:extLst>
              <a:ext uri="{FF2B5EF4-FFF2-40B4-BE49-F238E27FC236}">
                <a16:creationId xmlns:a16="http://schemas.microsoft.com/office/drawing/2014/main" id="{AA7B5DC5-0C23-4C5A-BB2E-C7CAF416BEB0}"/>
              </a:ext>
            </a:extLst>
          </p:cNvPr>
          <p:cNvSpPr>
            <a:spLocks noGrp="1"/>
          </p:cNvSpPr>
          <p:nvPr/>
        </p:nvSpPr>
        <p:spPr>
          <a:xfrm>
            <a:off x="640080" y="1627632"/>
            <a:ext cx="11064240" cy="10515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6" name="Rounded Rectangle 5">
            <a:extLst>
              <a:ext uri="{FF2B5EF4-FFF2-40B4-BE49-F238E27FC236}">
                <a16:creationId xmlns:a16="http://schemas.microsoft.com/office/drawing/2014/main" id="{3D22BD11-183F-4C11-B5E1-5E9332EC2047}"/>
              </a:ext>
            </a:extLst>
          </p:cNvPr>
          <p:cNvSpPr>
            <a:spLocks noGrp="1"/>
          </p:cNvSpPr>
          <p:nvPr/>
        </p:nvSpPr>
        <p:spPr>
          <a:xfrm>
            <a:off x="896112" y="1929384"/>
            <a:ext cx="640080" cy="640080"/>
          </a:xfrm>
          <a:prstGeom prst="roundRect">
            <a:avLst>
              <a:gd name="adj" fmla="val 2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RQ1</a:t>
            </a:r>
          </a:p>
        </p:txBody>
      </p:sp>
      <p:sp>
        <p:nvSpPr>
          <p:cNvPr id="7" name="TextBox 6">
            <a:extLst>
              <a:ext uri="{FF2B5EF4-FFF2-40B4-BE49-F238E27FC236}">
                <a16:creationId xmlns:a16="http://schemas.microsoft.com/office/drawing/2014/main" id="{798E67B7-FE39-48B2-9DA1-110B8E7A94B5}"/>
              </a:ext>
            </a:extLst>
          </p:cNvPr>
          <p:cNvSpPr>
            <a:spLocks noGrp="1"/>
          </p:cNvSpPr>
          <p:nvPr/>
        </p:nvSpPr>
        <p:spPr>
          <a:xfrm>
            <a:off x="1737360" y="1682425"/>
            <a:ext cx="9784080" cy="960263"/>
          </a:xfrm>
          <a:prstGeom prst="rect">
            <a:avLst/>
          </a:prstGeom>
          <a:noFill/>
        </p:spPr>
        <p:txBody>
          <a:bodyPr wrap="square" lIns="36576" tIns="18288" rIns="36576" bIns="18288" anchor="ctr">
            <a:spAutoFit/>
          </a:bodyPr>
          <a:lstStyle/>
          <a:p>
            <a:r>
              <a:rPr sz="2000" b="0" i="0">
                <a:solidFill>
                  <a:srgbClr val="1E2A44"/>
                </a:solidFill>
                <a:latin typeface="Calibri"/>
                <a:ea typeface="Calibri"/>
                <a:cs typeface="Calibri"/>
              </a:rPr>
              <a:t>How often do real transpiler regressions fall into fault channels not detected by a reference regression screen comprising semantic-equivalence, compilation-validity, circuit-quality, and performance oracles?</a:t>
            </a:r>
          </a:p>
        </p:txBody>
      </p:sp>
      <p:sp>
        <p:nvSpPr>
          <p:cNvPr id="8" name="Rounded Rectangle 7">
            <a:extLst>
              <a:ext uri="{FF2B5EF4-FFF2-40B4-BE49-F238E27FC236}">
                <a16:creationId xmlns:a16="http://schemas.microsoft.com/office/drawing/2014/main" id="{1E56EA00-D561-4EF9-B885-F452B9276C8B}"/>
              </a:ext>
            </a:extLst>
          </p:cNvPr>
          <p:cNvSpPr>
            <a:spLocks noGrp="1"/>
          </p:cNvSpPr>
          <p:nvPr/>
        </p:nvSpPr>
        <p:spPr>
          <a:xfrm>
            <a:off x="640080" y="2807208"/>
            <a:ext cx="11064240" cy="10515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9" name="Rounded Rectangle 8">
            <a:extLst>
              <a:ext uri="{FF2B5EF4-FFF2-40B4-BE49-F238E27FC236}">
                <a16:creationId xmlns:a16="http://schemas.microsoft.com/office/drawing/2014/main" id="{87C7C5D3-3627-4495-B8BF-D3143BA9EBFE}"/>
              </a:ext>
            </a:extLst>
          </p:cNvPr>
          <p:cNvSpPr>
            <a:spLocks noGrp="1"/>
          </p:cNvSpPr>
          <p:nvPr/>
        </p:nvSpPr>
        <p:spPr>
          <a:xfrm>
            <a:off x="896112" y="3108960"/>
            <a:ext cx="640080" cy="640080"/>
          </a:xfrm>
          <a:prstGeom prst="roundRect">
            <a:avLst>
              <a:gd name="adj" fmla="val 2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RQ2</a:t>
            </a:r>
          </a:p>
        </p:txBody>
      </p:sp>
      <p:sp>
        <p:nvSpPr>
          <p:cNvPr id="10" name="TextBox 9">
            <a:extLst>
              <a:ext uri="{FF2B5EF4-FFF2-40B4-BE49-F238E27FC236}">
                <a16:creationId xmlns:a16="http://schemas.microsoft.com/office/drawing/2014/main" id="{2EF5FED5-53DF-4C9A-8F3D-249D70673EDC}"/>
              </a:ext>
            </a:extLst>
          </p:cNvPr>
          <p:cNvSpPr>
            <a:spLocks noGrp="1"/>
          </p:cNvSpPr>
          <p:nvPr/>
        </p:nvSpPr>
        <p:spPr>
          <a:xfrm>
            <a:off x="1737360" y="2862001"/>
            <a:ext cx="9784080" cy="960263"/>
          </a:xfrm>
          <a:prstGeom prst="rect">
            <a:avLst/>
          </a:prstGeom>
          <a:noFill/>
        </p:spPr>
        <p:txBody>
          <a:bodyPr wrap="square" lIns="36576" tIns="18288" rIns="36576" bIns="18288" anchor="ctr">
            <a:spAutoFit/>
          </a:bodyPr>
          <a:lstStyle/>
          <a:p>
            <a:r>
              <a:rPr sz="2000" b="0" i="0">
                <a:solidFill>
                  <a:srgbClr val="1E2A44"/>
                </a:solidFill>
                <a:latin typeface="Calibri"/>
                <a:ea typeface="Calibri"/>
                <a:cs typeface="Calibri"/>
              </a:rPr>
              <a:t>Can real transpiler regressions that evade this reference screen be shown, from source, to be detected by fault-class-matched contract, property, isolated-pass, or determinism oracles, demonstrating that the gap is real and closable?</a:t>
            </a:r>
          </a:p>
        </p:txBody>
      </p:sp>
      <p:sp>
        <p:nvSpPr>
          <p:cNvPr id="11" name="Rounded Rectangle 10">
            <a:extLst>
              <a:ext uri="{FF2B5EF4-FFF2-40B4-BE49-F238E27FC236}">
                <a16:creationId xmlns:a16="http://schemas.microsoft.com/office/drawing/2014/main" id="{8AD81B3F-124C-490E-8E3C-C9458F8D24F0}"/>
              </a:ext>
            </a:extLst>
          </p:cNvPr>
          <p:cNvSpPr>
            <a:spLocks noGrp="1"/>
          </p:cNvSpPr>
          <p:nvPr/>
        </p:nvSpPr>
        <p:spPr>
          <a:xfrm>
            <a:off x="640080" y="3986784"/>
            <a:ext cx="11064240" cy="10515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2" name="Rounded Rectangle 11">
            <a:extLst>
              <a:ext uri="{FF2B5EF4-FFF2-40B4-BE49-F238E27FC236}">
                <a16:creationId xmlns:a16="http://schemas.microsoft.com/office/drawing/2014/main" id="{7A790F9F-8F1A-4587-AED6-22327B744788}"/>
              </a:ext>
            </a:extLst>
          </p:cNvPr>
          <p:cNvSpPr>
            <a:spLocks noGrp="1"/>
          </p:cNvSpPr>
          <p:nvPr/>
        </p:nvSpPr>
        <p:spPr>
          <a:xfrm>
            <a:off x="896112" y="4288536"/>
            <a:ext cx="640080" cy="640080"/>
          </a:xfrm>
          <a:prstGeom prst="roundRect">
            <a:avLst>
              <a:gd name="adj" fmla="val 2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RQ3</a:t>
            </a:r>
          </a:p>
        </p:txBody>
      </p:sp>
      <p:sp>
        <p:nvSpPr>
          <p:cNvPr id="13" name="TextBox 12">
            <a:extLst>
              <a:ext uri="{FF2B5EF4-FFF2-40B4-BE49-F238E27FC236}">
                <a16:creationId xmlns:a16="http://schemas.microsoft.com/office/drawing/2014/main" id="{CD48B9C0-D2D1-46D7-81E5-72697D453BCA}"/>
              </a:ext>
            </a:extLst>
          </p:cNvPr>
          <p:cNvSpPr>
            <a:spLocks noGrp="1"/>
          </p:cNvSpPr>
          <p:nvPr/>
        </p:nvSpPr>
        <p:spPr>
          <a:xfrm>
            <a:off x="1737360" y="4195466"/>
            <a:ext cx="9784080" cy="652486"/>
          </a:xfrm>
          <a:prstGeom prst="rect">
            <a:avLst/>
          </a:prstGeom>
          <a:noFill/>
        </p:spPr>
        <p:txBody>
          <a:bodyPr wrap="square" lIns="36576" tIns="18288" rIns="36576" bIns="18288" anchor="ctr">
            <a:spAutoFit/>
          </a:bodyPr>
          <a:lstStyle/>
          <a:p>
            <a:r>
              <a:rPr sz="2000" b="0" i="0">
                <a:solidFill>
                  <a:srgbClr val="1E2A44"/>
                </a:solidFill>
                <a:latin typeface="Calibri"/>
                <a:ea typeface="Calibri"/>
                <a:cs typeface="Calibri"/>
              </a:rPr>
              <a:t>Can a leakage-safe, cost-aware regression-testing pipeline for the transpiler be built and shown to be operationally sound under an executable validity-gate audit?</a:t>
            </a:r>
          </a:p>
        </p:txBody>
      </p:sp>
      <p:sp>
        <p:nvSpPr>
          <p:cNvPr id="14" name="Rounded Rectangle 13">
            <a:extLst>
              <a:ext uri="{FF2B5EF4-FFF2-40B4-BE49-F238E27FC236}">
                <a16:creationId xmlns:a16="http://schemas.microsoft.com/office/drawing/2014/main" id="{47FD2AA5-0550-42F9-8662-A3047782D4CB}"/>
              </a:ext>
            </a:extLst>
          </p:cNvPr>
          <p:cNvSpPr>
            <a:spLocks noGrp="1"/>
          </p:cNvSpPr>
          <p:nvPr/>
        </p:nvSpPr>
        <p:spPr>
          <a:xfrm>
            <a:off x="640080" y="5166360"/>
            <a:ext cx="11064240" cy="1197864"/>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5" name="Rounded Rectangle 14">
            <a:extLst>
              <a:ext uri="{FF2B5EF4-FFF2-40B4-BE49-F238E27FC236}">
                <a16:creationId xmlns:a16="http://schemas.microsoft.com/office/drawing/2014/main" id="{7263B20F-C784-4301-B92F-81629E215458}"/>
              </a:ext>
            </a:extLst>
          </p:cNvPr>
          <p:cNvSpPr>
            <a:spLocks noGrp="1"/>
          </p:cNvSpPr>
          <p:nvPr/>
        </p:nvSpPr>
        <p:spPr>
          <a:xfrm>
            <a:off x="896112" y="5468112"/>
            <a:ext cx="640080" cy="640080"/>
          </a:xfrm>
          <a:prstGeom prst="roundRect">
            <a:avLst>
              <a:gd name="adj" fmla="val 2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RQ4</a:t>
            </a:r>
          </a:p>
        </p:txBody>
      </p:sp>
      <p:sp>
        <p:nvSpPr>
          <p:cNvPr id="16" name="TextBox 15">
            <a:extLst>
              <a:ext uri="{FF2B5EF4-FFF2-40B4-BE49-F238E27FC236}">
                <a16:creationId xmlns:a16="http://schemas.microsoft.com/office/drawing/2014/main" id="{F5E386C7-21A8-4DC0-A172-134250EE466C}"/>
              </a:ext>
            </a:extLst>
          </p:cNvPr>
          <p:cNvSpPr>
            <a:spLocks noGrp="1"/>
          </p:cNvSpPr>
          <p:nvPr/>
        </p:nvSpPr>
        <p:spPr>
          <a:xfrm>
            <a:off x="1737360" y="5067265"/>
            <a:ext cx="9784080" cy="1268039"/>
          </a:xfrm>
          <a:prstGeom prst="rect">
            <a:avLst/>
          </a:prstGeom>
          <a:noFill/>
        </p:spPr>
        <p:txBody>
          <a:bodyPr wrap="square" lIns="36576" tIns="18288" rIns="36576" bIns="18288" anchor="ctr">
            <a:spAutoFit/>
          </a:bodyPr>
          <a:lstStyle/>
          <a:p>
            <a:r>
              <a:rPr sz="2000" b="0" i="0">
                <a:solidFill>
                  <a:srgbClr val="1E2A44"/>
                </a:solidFill>
                <a:latin typeface="Calibri"/>
                <a:ea typeface="Calibri"/>
                <a:cs typeface="Calibri"/>
              </a:rPr>
              <a:t>(a) At feasibility scale, does the pipeline run the transparent selector and all five baselines correctly under identical budgets and anti-leakage rules? (b) In the full study, once a number of forward-regression events, fixed in advance by a prospective precision analysis, is verified, does the selector place fault-detecting tests earlier than those baselines?</a:t>
            </a:r>
          </a:p>
        </p:txBody>
      </p:sp>
      <p:sp>
        <p:nvSpPr>
          <p:cNvPr id="17" name="TextBox 16">
            <a:extLst>
              <a:ext uri="{FF2B5EF4-FFF2-40B4-BE49-F238E27FC236}">
                <a16:creationId xmlns:a16="http://schemas.microsoft.com/office/drawing/2014/main" id="{78429F16-EF1D-4470-AE2D-630AC5654F92}"/>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8" name="TextBox 17">
            <a:extLst>
              <a:ext uri="{FF2B5EF4-FFF2-40B4-BE49-F238E27FC236}">
                <a16:creationId xmlns:a16="http://schemas.microsoft.com/office/drawing/2014/main" id="{AFD22526-8B96-41A2-8FE1-0B131EAFC4F6}"/>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100" b="1" i="0">
                <a:solidFill>
                  <a:srgbClr val="64748C"/>
                </a:solidFill>
                <a:latin typeface="Calibri"/>
                <a:ea typeface="Calibri"/>
                <a:cs typeface="Calibri"/>
              </a:rPr>
              <a:t>6</a:t>
            </a:r>
          </a:p>
        </p:txBody>
      </p:sp>
      <p:pic>
        <p:nvPicPr>
          <p:cNvPr id="1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3904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A94AC7-22B3-493D-9DD5-D826CBD3160B}"/>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3" name="TextBox 2">
            <a:extLst>
              <a:ext uri="{FF2B5EF4-FFF2-40B4-BE49-F238E27FC236}">
                <a16:creationId xmlns:a16="http://schemas.microsoft.com/office/drawing/2014/main" id="{AEE59CA3-2DA1-41CA-8A55-47E15BD67234}"/>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RESEARCH QUESTIONS &amp; OBJECTIVES</a:t>
            </a:r>
          </a:p>
        </p:txBody>
      </p:sp>
      <p:sp>
        <p:nvSpPr>
          <p:cNvPr id="4" name="TextBox 3">
            <a:extLst>
              <a:ext uri="{FF2B5EF4-FFF2-40B4-BE49-F238E27FC236}">
                <a16:creationId xmlns:a16="http://schemas.microsoft.com/office/drawing/2014/main" id="{9CEF1178-E06A-4A50-9C7B-D3B73A0CF127}"/>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Objectives</a:t>
            </a:r>
          </a:p>
        </p:txBody>
      </p:sp>
      <p:sp>
        <p:nvSpPr>
          <p:cNvPr id="5" name="Rounded Rectangle 4">
            <a:extLst>
              <a:ext uri="{FF2B5EF4-FFF2-40B4-BE49-F238E27FC236}">
                <a16:creationId xmlns:a16="http://schemas.microsoft.com/office/drawing/2014/main" id="{4D25A09F-D341-446C-8C18-210808519EAB}"/>
              </a:ext>
            </a:extLst>
          </p:cNvPr>
          <p:cNvSpPr>
            <a:spLocks noGrp="1"/>
          </p:cNvSpPr>
          <p:nvPr/>
        </p:nvSpPr>
        <p:spPr>
          <a:xfrm>
            <a:off x="640080" y="1379142"/>
            <a:ext cx="5193792" cy="2553439"/>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6" name="TextBox 5">
            <a:extLst>
              <a:ext uri="{FF2B5EF4-FFF2-40B4-BE49-F238E27FC236}">
                <a16:creationId xmlns:a16="http://schemas.microsoft.com/office/drawing/2014/main" id="{D54BF971-175E-4314-BBED-2CBBB1C40955}"/>
              </a:ext>
            </a:extLst>
          </p:cNvPr>
          <p:cNvSpPr>
            <a:spLocks noGrp="1"/>
          </p:cNvSpPr>
          <p:nvPr/>
        </p:nvSpPr>
        <p:spPr>
          <a:xfrm>
            <a:off x="905256" y="1414105"/>
            <a:ext cx="466344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O1 → RQ1</a:t>
            </a:r>
          </a:p>
        </p:txBody>
      </p:sp>
      <p:sp>
        <p:nvSpPr>
          <p:cNvPr id="7" name="TextBox 6">
            <a:extLst>
              <a:ext uri="{FF2B5EF4-FFF2-40B4-BE49-F238E27FC236}">
                <a16:creationId xmlns:a16="http://schemas.microsoft.com/office/drawing/2014/main" id="{8892B3F1-AAB0-4EBF-B96A-A9B51646DA99}"/>
              </a:ext>
            </a:extLst>
          </p:cNvPr>
          <p:cNvSpPr>
            <a:spLocks noGrp="1"/>
          </p:cNvSpPr>
          <p:nvPr/>
        </p:nvSpPr>
        <p:spPr>
          <a:xfrm>
            <a:off x="905255" y="1713195"/>
            <a:ext cx="4807001" cy="2252924"/>
          </a:xfrm>
          <a:prstGeom prst="rect">
            <a:avLst/>
          </a:prstGeom>
          <a:noFill/>
        </p:spPr>
        <p:txBody>
          <a:bodyPr wrap="square" lIns="36576" tIns="18288" rIns="36576" bIns="18288">
            <a:spAutoFit/>
          </a:bodyPr>
          <a:lstStyle/>
          <a:p>
            <a:r>
              <a:rPr dirty="0">
                <a:solidFill>
                  <a:srgbClr val="1E2A44"/>
                </a:solidFill>
                <a:latin typeface="Calibri"/>
                <a:ea typeface="Calibri"/>
                <a:cs typeface="Calibri"/>
              </a:rPr>
              <a:t>To measure how often real </a:t>
            </a:r>
            <a:r>
              <a:rPr dirty="0" err="1">
                <a:solidFill>
                  <a:srgbClr val="1E2A44"/>
                </a:solidFill>
                <a:latin typeface="Calibri"/>
                <a:ea typeface="Calibri"/>
                <a:cs typeface="Calibri"/>
              </a:rPr>
              <a:t>transpiler</a:t>
            </a:r>
            <a:r>
              <a:rPr dirty="0">
                <a:solidFill>
                  <a:srgbClr val="1E2A44"/>
                </a:solidFill>
                <a:latin typeface="Calibri"/>
                <a:ea typeface="Calibri"/>
                <a:cs typeface="Calibri"/>
              </a:rPr>
              <a:t> regressions fall into channels the reference screen (semantic-equivalence, compilation-validity, circuit-quality, and performance oracles) does not detect, by mining merged bug-fixes and classifying each channel with inter-rater agreement (Cohen's κ for two raters, or Fleiss' κ if three or more raters participate).</a:t>
            </a:r>
          </a:p>
        </p:txBody>
      </p:sp>
      <p:sp>
        <p:nvSpPr>
          <p:cNvPr id="8" name="Rounded Rectangle 7">
            <a:extLst>
              <a:ext uri="{FF2B5EF4-FFF2-40B4-BE49-F238E27FC236}">
                <a16:creationId xmlns:a16="http://schemas.microsoft.com/office/drawing/2014/main" id="{22324375-331B-4F2B-948F-E04AD8AF71FC}"/>
              </a:ext>
            </a:extLst>
          </p:cNvPr>
          <p:cNvSpPr>
            <a:spLocks noGrp="1"/>
          </p:cNvSpPr>
          <p:nvPr/>
        </p:nvSpPr>
        <p:spPr>
          <a:xfrm>
            <a:off x="6355080" y="1368398"/>
            <a:ext cx="5193792" cy="2458847"/>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9" name="TextBox 8">
            <a:extLst>
              <a:ext uri="{FF2B5EF4-FFF2-40B4-BE49-F238E27FC236}">
                <a16:creationId xmlns:a16="http://schemas.microsoft.com/office/drawing/2014/main" id="{93961245-C927-4EC3-AF8C-6A1C1E80E450}"/>
              </a:ext>
            </a:extLst>
          </p:cNvPr>
          <p:cNvSpPr>
            <a:spLocks noGrp="1"/>
          </p:cNvSpPr>
          <p:nvPr/>
        </p:nvSpPr>
        <p:spPr>
          <a:xfrm>
            <a:off x="6629400" y="1446882"/>
            <a:ext cx="466344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O2 → RQ2</a:t>
            </a:r>
          </a:p>
        </p:txBody>
      </p:sp>
      <p:sp>
        <p:nvSpPr>
          <p:cNvPr id="10" name="TextBox 9">
            <a:extLst>
              <a:ext uri="{FF2B5EF4-FFF2-40B4-BE49-F238E27FC236}">
                <a16:creationId xmlns:a16="http://schemas.microsoft.com/office/drawing/2014/main" id="{CC5A36BA-71AC-44F4-BA39-C840A87846B7}"/>
              </a:ext>
            </a:extLst>
          </p:cNvPr>
          <p:cNvSpPr>
            <a:spLocks noGrp="1"/>
          </p:cNvSpPr>
          <p:nvPr/>
        </p:nvSpPr>
        <p:spPr>
          <a:xfrm>
            <a:off x="6629400" y="1728108"/>
            <a:ext cx="4919472" cy="1421928"/>
          </a:xfrm>
          <a:prstGeom prst="rect">
            <a:avLst/>
          </a:prstGeom>
          <a:noFill/>
        </p:spPr>
        <p:txBody>
          <a:bodyPr wrap="square" lIns="36576" tIns="18288" rIns="36576" bIns="18288">
            <a:spAutoFit/>
          </a:bodyPr>
          <a:lstStyle/>
          <a:p>
            <a:r>
              <a:rPr b="0" i="0" dirty="0">
                <a:solidFill>
                  <a:srgbClr val="1E2A44"/>
                </a:solidFill>
                <a:latin typeface="Calibri"/>
                <a:ea typeface="Calibri"/>
                <a:cs typeface="Calibri"/>
              </a:rPr>
              <a:t>To demonstrate, from source, at least one real regression that the reference screen misses but a fault-class-matched contract, property, isolated-pass, or determinism oracle detects, establishing that the gap is real and closable.</a:t>
            </a:r>
          </a:p>
        </p:txBody>
      </p:sp>
      <p:sp>
        <p:nvSpPr>
          <p:cNvPr id="11" name="Rounded Rectangle 10">
            <a:extLst>
              <a:ext uri="{FF2B5EF4-FFF2-40B4-BE49-F238E27FC236}">
                <a16:creationId xmlns:a16="http://schemas.microsoft.com/office/drawing/2014/main" id="{D608B536-51B1-4032-87C8-D701DB8346AC}"/>
              </a:ext>
            </a:extLst>
          </p:cNvPr>
          <p:cNvSpPr>
            <a:spLocks noGrp="1"/>
          </p:cNvSpPr>
          <p:nvPr/>
        </p:nvSpPr>
        <p:spPr>
          <a:xfrm>
            <a:off x="640080" y="4096510"/>
            <a:ext cx="5193792" cy="2377441"/>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12" name="TextBox 11">
            <a:extLst>
              <a:ext uri="{FF2B5EF4-FFF2-40B4-BE49-F238E27FC236}">
                <a16:creationId xmlns:a16="http://schemas.microsoft.com/office/drawing/2014/main" id="{AF2F87E6-A639-4464-8645-56D9F1E27733}"/>
              </a:ext>
            </a:extLst>
          </p:cNvPr>
          <p:cNvSpPr>
            <a:spLocks noGrp="1"/>
          </p:cNvSpPr>
          <p:nvPr/>
        </p:nvSpPr>
        <p:spPr>
          <a:xfrm>
            <a:off x="914400" y="4178027"/>
            <a:ext cx="466344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O3 → RQ3</a:t>
            </a:r>
          </a:p>
        </p:txBody>
      </p:sp>
      <p:sp>
        <p:nvSpPr>
          <p:cNvPr id="13" name="TextBox 12">
            <a:extLst>
              <a:ext uri="{FF2B5EF4-FFF2-40B4-BE49-F238E27FC236}">
                <a16:creationId xmlns:a16="http://schemas.microsoft.com/office/drawing/2014/main" id="{6F845EC4-4FEE-4CB3-93E9-487FC7DD940C}"/>
              </a:ext>
            </a:extLst>
          </p:cNvPr>
          <p:cNvSpPr>
            <a:spLocks noGrp="1"/>
          </p:cNvSpPr>
          <p:nvPr/>
        </p:nvSpPr>
        <p:spPr>
          <a:xfrm>
            <a:off x="905256" y="4523671"/>
            <a:ext cx="4928616" cy="1421928"/>
          </a:xfrm>
          <a:prstGeom prst="rect">
            <a:avLst/>
          </a:prstGeom>
          <a:noFill/>
        </p:spPr>
        <p:txBody>
          <a:bodyPr wrap="square" lIns="36576" tIns="18288" rIns="36576" bIns="18288">
            <a:spAutoFit/>
          </a:bodyPr>
          <a:lstStyle/>
          <a:p>
            <a:r>
              <a:rPr b="0" i="0" dirty="0">
                <a:solidFill>
                  <a:srgbClr val="1E2A44"/>
                </a:solidFill>
                <a:latin typeface="Calibri"/>
                <a:ea typeface="Calibri"/>
                <a:cs typeface="Calibri"/>
              </a:rPr>
              <a:t>To build the leakage-safe, cost-aware methodology as an open prototype (cart) and show it to be operationally sound under a six-gate validity audit, verifying at least one forward regression from source.</a:t>
            </a:r>
          </a:p>
        </p:txBody>
      </p:sp>
      <p:sp>
        <p:nvSpPr>
          <p:cNvPr id="14" name="Rounded Rectangle 13">
            <a:extLst>
              <a:ext uri="{FF2B5EF4-FFF2-40B4-BE49-F238E27FC236}">
                <a16:creationId xmlns:a16="http://schemas.microsoft.com/office/drawing/2014/main" id="{312A757B-F163-4FE0-AB0F-13633F9CE8F7}"/>
              </a:ext>
            </a:extLst>
          </p:cNvPr>
          <p:cNvSpPr>
            <a:spLocks noGrp="1"/>
          </p:cNvSpPr>
          <p:nvPr/>
        </p:nvSpPr>
        <p:spPr>
          <a:xfrm>
            <a:off x="6355080" y="4096510"/>
            <a:ext cx="5193792" cy="2377441"/>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15" name="TextBox 14">
            <a:extLst>
              <a:ext uri="{FF2B5EF4-FFF2-40B4-BE49-F238E27FC236}">
                <a16:creationId xmlns:a16="http://schemas.microsoft.com/office/drawing/2014/main" id="{24F3EA80-10D6-4F2B-AB18-0B474374611A}"/>
              </a:ext>
            </a:extLst>
          </p:cNvPr>
          <p:cNvSpPr>
            <a:spLocks noGrp="1"/>
          </p:cNvSpPr>
          <p:nvPr/>
        </p:nvSpPr>
        <p:spPr>
          <a:xfrm>
            <a:off x="6620256" y="4178027"/>
            <a:ext cx="466344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O4 → RQ4</a:t>
            </a:r>
          </a:p>
        </p:txBody>
      </p:sp>
      <p:sp>
        <p:nvSpPr>
          <p:cNvPr id="16" name="TextBox 15">
            <a:extLst>
              <a:ext uri="{FF2B5EF4-FFF2-40B4-BE49-F238E27FC236}">
                <a16:creationId xmlns:a16="http://schemas.microsoft.com/office/drawing/2014/main" id="{E0230F70-2E22-4939-B078-08F8AEDE3557}"/>
              </a:ext>
            </a:extLst>
          </p:cNvPr>
          <p:cNvSpPr>
            <a:spLocks noGrp="1"/>
          </p:cNvSpPr>
          <p:nvPr/>
        </p:nvSpPr>
        <p:spPr>
          <a:xfrm>
            <a:off x="6620256" y="4482301"/>
            <a:ext cx="4928616" cy="1975926"/>
          </a:xfrm>
          <a:prstGeom prst="rect">
            <a:avLst/>
          </a:prstGeom>
          <a:noFill/>
        </p:spPr>
        <p:txBody>
          <a:bodyPr wrap="square" lIns="36576" tIns="18288" rIns="36576" bIns="18288">
            <a:spAutoFit/>
          </a:bodyPr>
          <a:lstStyle/>
          <a:p>
            <a:r>
              <a:rPr b="0" i="0" dirty="0">
                <a:solidFill>
                  <a:srgbClr val="1E2A44"/>
                </a:solidFill>
                <a:latin typeface="Calibri"/>
                <a:ea typeface="Calibri"/>
                <a:cs typeface="Calibri"/>
              </a:rPr>
              <a:t>(a) Establish the pipeline runs the selector and all five baselines correctly under identical anti-leakage rules and budgets, and (b) commit to a powered comparison once a number of forward-regression events, fixed in advance by a prospective precision analysis, is verified, reporting the outcome either way.</a:t>
            </a:r>
          </a:p>
        </p:txBody>
      </p:sp>
      <p:sp>
        <p:nvSpPr>
          <p:cNvPr id="17" name="TextBox 16">
            <a:extLst>
              <a:ext uri="{FF2B5EF4-FFF2-40B4-BE49-F238E27FC236}">
                <a16:creationId xmlns:a16="http://schemas.microsoft.com/office/drawing/2014/main" id="{423645E5-CF1C-4218-8709-17B8C7B6A6C5}"/>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8" name="TextBox 17">
            <a:extLst>
              <a:ext uri="{FF2B5EF4-FFF2-40B4-BE49-F238E27FC236}">
                <a16:creationId xmlns:a16="http://schemas.microsoft.com/office/drawing/2014/main" id="{B2DAC90A-5E41-4112-A933-8C44EA7CEC27}"/>
              </a:ext>
            </a:extLst>
          </p:cNvPr>
          <p:cNvSpPr>
            <a:spLocks noGrp="1"/>
          </p:cNvSpPr>
          <p:nvPr/>
        </p:nvSpPr>
        <p:spPr>
          <a:xfrm>
            <a:off x="11155680" y="6473952"/>
            <a:ext cx="822960" cy="175433"/>
          </a:xfrm>
          <a:prstGeom prst="rect">
            <a:avLst/>
          </a:prstGeom>
          <a:noFill/>
        </p:spPr>
        <p:txBody>
          <a:bodyPr wrap="square" lIns="36576" tIns="18288" rIns="36576" bIns="18288">
            <a:spAutoFit/>
          </a:bodyPr>
          <a:lstStyle/>
          <a:p>
            <a:pPr algn="r">
              <a:buNone/>
            </a:pPr>
            <a:r>
              <a:rPr sz="900" b="1" i="0">
                <a:solidFill>
                  <a:srgbClr val="64748C"/>
                </a:solidFill>
                <a:latin typeface="Calibri"/>
                <a:ea typeface="Calibri"/>
                <a:cs typeface="Calibri"/>
              </a:rPr>
              <a:t>7</a:t>
            </a:r>
          </a:p>
        </p:txBody>
      </p:sp>
      <p:pic>
        <p:nvPicPr>
          <p:cNvPr id="1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444233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BAECAD-5282-42C5-913B-FF182EFB04C5}"/>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3234223-9D29-4855-AE42-B373A34316AD}"/>
              </a:ext>
            </a:extLst>
          </p:cNvPr>
          <p:cNvSpPr>
            <a:spLocks noGrp="1"/>
          </p:cNvSpPr>
          <p:nvPr/>
        </p:nvSpPr>
        <p:spPr>
          <a:xfrm>
            <a:off x="640080" y="384048"/>
            <a:ext cx="10972800" cy="339773"/>
          </a:xfrm>
          <a:prstGeom prst="rect">
            <a:avLst/>
          </a:prstGeom>
          <a:noFill/>
        </p:spPr>
        <p:txBody>
          <a:bodyPr wrap="square" lIns="36576" tIns="36576" rIns="36576" bIns="36576" anchor="t">
            <a:spAutoFit/>
          </a:bodyPr>
          <a:lstStyle/>
          <a:p>
            <a:pPr algn="l">
              <a:lnSpc>
                <a:spcPct val="108000"/>
              </a:lnSpc>
              <a:spcAft>
                <a:spcPts val="400"/>
              </a:spcAft>
              <a:buNone/>
            </a:pPr>
            <a:r>
              <a:rPr sz="1600" b="1" i="0">
                <a:solidFill>
                  <a:srgbClr val="14B8A6"/>
                </a:solidFill>
                <a:latin typeface="Calibri"/>
                <a:ea typeface="Calibri"/>
                <a:cs typeface="Calibri"/>
              </a:rPr>
              <a:t>INTRODUCTION</a:t>
            </a:r>
          </a:p>
        </p:txBody>
      </p:sp>
      <p:sp>
        <p:nvSpPr>
          <p:cNvPr id="4" name="TextBox 3">
            <a:extLst>
              <a:ext uri="{FF2B5EF4-FFF2-40B4-BE49-F238E27FC236}">
                <a16:creationId xmlns:a16="http://schemas.microsoft.com/office/drawing/2014/main" id="{326DB8A2-868E-408B-AB8E-CFB4DC8A21EF}"/>
              </a:ext>
            </a:extLst>
          </p:cNvPr>
          <p:cNvSpPr>
            <a:spLocks noGrp="1"/>
          </p:cNvSpPr>
          <p:nvPr/>
        </p:nvSpPr>
        <p:spPr>
          <a:xfrm>
            <a:off x="640080" y="694944"/>
            <a:ext cx="11155680" cy="672172"/>
          </a:xfrm>
          <a:prstGeom prst="rect">
            <a:avLst/>
          </a:prstGeom>
          <a:noFill/>
        </p:spPr>
        <p:txBody>
          <a:bodyPr wrap="square" lIns="36576" tIns="36576" rIns="36576" bIns="36576" anchor="t">
            <a:spAutoFit/>
          </a:bodyPr>
          <a:lstStyle/>
          <a:p>
            <a:pPr algn="l">
              <a:lnSpc>
                <a:spcPct val="108000"/>
              </a:lnSpc>
              <a:spcAft>
                <a:spcPts val="400"/>
              </a:spcAft>
              <a:buNone/>
            </a:pPr>
            <a:r>
              <a:rPr sz="3600" b="1" i="0">
                <a:solidFill>
                  <a:srgbClr val="1E2A44"/>
                </a:solidFill>
                <a:latin typeface="Cambria"/>
                <a:ea typeface="Cambria"/>
                <a:cs typeface="Cambria"/>
              </a:rPr>
              <a:t>Scope &amp; Contributions</a:t>
            </a:r>
          </a:p>
        </p:txBody>
      </p:sp>
      <p:sp>
        <p:nvSpPr>
          <p:cNvPr id="5" name="TextBox 4">
            <a:extLst>
              <a:ext uri="{FF2B5EF4-FFF2-40B4-BE49-F238E27FC236}">
                <a16:creationId xmlns:a16="http://schemas.microsoft.com/office/drawing/2014/main" id="{4E6554F5-4729-4E48-8260-E5190E67D816}"/>
              </a:ext>
            </a:extLst>
          </p:cNvPr>
          <p:cNvSpPr>
            <a:spLocks noGrp="1"/>
          </p:cNvSpPr>
          <p:nvPr/>
        </p:nvSpPr>
        <p:spPr>
          <a:xfrm>
            <a:off x="640080" y="6473952"/>
            <a:ext cx="9692640" cy="240066"/>
          </a:xfrm>
          <a:prstGeom prst="rect">
            <a:avLst/>
          </a:prstGeom>
          <a:noFill/>
        </p:spPr>
        <p:txBody>
          <a:bodyPr wrap="square" lIns="36576" tIns="36576" rIns="36576" bIns="36576" anchor="t">
            <a:spAutoFit/>
          </a:bodyPr>
          <a:lstStyle/>
          <a:p>
            <a:pPr algn="l">
              <a:lnSpc>
                <a:spcPct val="108000"/>
              </a:lnSpc>
              <a:spcAft>
                <a:spcPts val="400"/>
              </a:spcAft>
              <a:buNone/>
            </a:pPr>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6" name="TextBox 5">
            <a:extLst>
              <a:ext uri="{FF2B5EF4-FFF2-40B4-BE49-F238E27FC236}">
                <a16:creationId xmlns:a16="http://schemas.microsoft.com/office/drawing/2014/main" id="{A0EFCA6E-7271-473D-8792-187CC455D5A8}"/>
              </a:ext>
            </a:extLst>
          </p:cNvPr>
          <p:cNvSpPr>
            <a:spLocks noGrp="1"/>
          </p:cNvSpPr>
          <p:nvPr/>
        </p:nvSpPr>
        <p:spPr>
          <a:xfrm>
            <a:off x="11155680" y="6473952"/>
            <a:ext cx="822960" cy="240066"/>
          </a:xfrm>
          <a:prstGeom prst="rect">
            <a:avLst/>
          </a:prstGeom>
          <a:noFill/>
        </p:spPr>
        <p:txBody>
          <a:bodyPr wrap="square" lIns="36576" tIns="36576" rIns="36576" bIns="36576" anchor="t">
            <a:spAutoFit/>
          </a:bodyPr>
          <a:lstStyle/>
          <a:p>
            <a:pPr algn="r">
              <a:lnSpc>
                <a:spcPct val="108000"/>
              </a:lnSpc>
              <a:spcAft>
                <a:spcPts val="400"/>
              </a:spcAft>
              <a:buNone/>
            </a:pPr>
            <a:r>
              <a:rPr sz="1000" b="1" i="0">
                <a:solidFill>
                  <a:srgbClr val="64748C"/>
                </a:solidFill>
                <a:latin typeface="Calibri"/>
                <a:ea typeface="Calibri"/>
                <a:cs typeface="Calibri"/>
              </a:rPr>
              <a:t>8</a:t>
            </a:r>
          </a:p>
        </p:txBody>
      </p:sp>
      <p:sp>
        <p:nvSpPr>
          <p:cNvPr id="7" name="Rounded Rectangle 6">
            <a:extLst>
              <a:ext uri="{FF2B5EF4-FFF2-40B4-BE49-F238E27FC236}">
                <a16:creationId xmlns:a16="http://schemas.microsoft.com/office/drawing/2014/main" id="{53CEB8F9-960E-4B77-8B9F-27CBCC221CAE}"/>
              </a:ext>
            </a:extLst>
          </p:cNvPr>
          <p:cNvSpPr>
            <a:spLocks noGrp="1"/>
          </p:cNvSpPr>
          <p:nvPr/>
        </p:nvSpPr>
        <p:spPr>
          <a:xfrm>
            <a:off x="640080" y="1600200"/>
            <a:ext cx="5532120" cy="4160520"/>
          </a:xfrm>
          <a:prstGeom prst="roundRect">
            <a:avLst/>
          </a:prstGeom>
          <a:solidFill>
            <a:srgbClr val="F2F5FA"/>
          </a:solidFill>
          <a:ln w="15875">
            <a:solidFill>
              <a:srgbClr val="14B8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8" name="TextBox 7">
            <a:extLst>
              <a:ext uri="{FF2B5EF4-FFF2-40B4-BE49-F238E27FC236}">
                <a16:creationId xmlns:a16="http://schemas.microsoft.com/office/drawing/2014/main" id="{598077FD-9361-48ED-B4F6-F66C759575E2}"/>
              </a:ext>
            </a:extLst>
          </p:cNvPr>
          <p:cNvSpPr>
            <a:spLocks noGrp="1"/>
          </p:cNvSpPr>
          <p:nvPr/>
        </p:nvSpPr>
        <p:spPr>
          <a:xfrm>
            <a:off x="868680" y="1755648"/>
            <a:ext cx="5120640" cy="373051"/>
          </a:xfrm>
          <a:prstGeom prst="rect">
            <a:avLst/>
          </a:prstGeom>
          <a:noFill/>
        </p:spPr>
        <p:txBody>
          <a:bodyPr wrap="square" lIns="36576" tIns="36576" rIns="36576" bIns="36576" anchor="t">
            <a:spAutoFit/>
          </a:bodyPr>
          <a:lstStyle/>
          <a:p>
            <a:pPr algn="l">
              <a:lnSpc>
                <a:spcPct val="108000"/>
              </a:lnSpc>
              <a:spcAft>
                <a:spcPts val="400"/>
              </a:spcAft>
              <a:buNone/>
            </a:pPr>
            <a:r>
              <a:rPr b="1" i="0">
                <a:solidFill>
                  <a:srgbClr val="0E7C7B"/>
                </a:solidFill>
                <a:latin typeface="Calibri"/>
                <a:ea typeface="Calibri"/>
                <a:cs typeface="Calibri"/>
              </a:rPr>
              <a:t>SCOPE</a:t>
            </a:r>
          </a:p>
        </p:txBody>
      </p:sp>
      <p:sp>
        <p:nvSpPr>
          <p:cNvPr id="9" name="TextBox 8">
            <a:extLst>
              <a:ext uri="{FF2B5EF4-FFF2-40B4-BE49-F238E27FC236}">
                <a16:creationId xmlns:a16="http://schemas.microsoft.com/office/drawing/2014/main" id="{C73F97DA-4B22-42DA-8B4E-9407AFA351C3}"/>
              </a:ext>
            </a:extLst>
          </p:cNvPr>
          <p:cNvSpPr>
            <a:spLocks noGrp="1"/>
          </p:cNvSpPr>
          <p:nvPr/>
        </p:nvSpPr>
        <p:spPr>
          <a:xfrm>
            <a:off x="868680" y="2240280"/>
            <a:ext cx="5166360" cy="3055708"/>
          </a:xfrm>
          <a:prstGeom prst="rect">
            <a:avLst/>
          </a:prstGeom>
          <a:noFill/>
        </p:spPr>
        <p:txBody>
          <a:bodyPr wrap="square" lIns="36576" tIns="36576" rIns="36576" bIns="36576" anchor="t">
            <a:spAutoFit/>
          </a:bodyPr>
          <a:lstStyle/>
          <a:p>
            <a:pPr algn="l">
              <a:lnSpc>
                <a:spcPct val="112000"/>
              </a:lnSpc>
              <a:spcAft>
                <a:spcPts val="13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Subject:  </a:t>
            </a:r>
            <a:r>
              <a:rPr b="0" i="0">
                <a:solidFill>
                  <a:srgbClr val="1E2A44"/>
                </a:solidFill>
                <a:latin typeface="Calibri"/>
                <a:ea typeface="Calibri"/>
                <a:cs typeface="Calibri"/>
              </a:rPr>
              <a:t>the Qiskit 2.x transpiler — a reproducible feasibility study, not a powered evaluation.</a:t>
            </a:r>
          </a:p>
          <a:p>
            <a:pPr algn="l">
              <a:lnSpc>
                <a:spcPct val="112000"/>
              </a:lnSpc>
              <a:spcAft>
                <a:spcPts val="13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Commodity only:  </a:t>
            </a:r>
            <a:r>
              <a:rPr b="0" i="0">
                <a:solidFill>
                  <a:srgbClr val="1E2A44"/>
                </a:solidFill>
                <a:latin typeface="Calibri"/>
                <a:ea typeface="Calibri"/>
                <a:cs typeface="Calibri"/>
              </a:rPr>
              <a:t>one ordinary laptop, circuits up to 8 qubits (H4 timed at 16–27 qubits).</a:t>
            </a:r>
          </a:p>
          <a:p>
            <a:pPr algn="l">
              <a:lnSpc>
                <a:spcPct val="112000"/>
              </a:lnSpc>
              <a:spcAft>
                <a:spcPts val="13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No quantum hardware:  </a:t>
            </a:r>
            <a:r>
              <a:rPr b="0" i="0">
                <a:solidFill>
                  <a:srgbClr val="1E2A44"/>
                </a:solidFill>
                <a:latin typeface="Calibri"/>
                <a:ea typeface="Calibri"/>
                <a:cs typeface="Calibri"/>
              </a:rPr>
              <a:t>checking the compiler's transformation is a classical computation.</a:t>
            </a:r>
          </a:p>
          <a:p>
            <a:pPr algn="l">
              <a:lnSpc>
                <a:spcPct val="112000"/>
              </a:lnSpc>
              <a:spcAft>
                <a:spcPts val="13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Deliberately bounded:  </a:t>
            </a:r>
            <a:r>
              <a:rPr b="0" i="0">
                <a:solidFill>
                  <a:srgbClr val="1E2A44"/>
                </a:solidFill>
                <a:latin typeface="Calibri"/>
                <a:ea typeface="Calibri"/>
                <a:cs typeface="Calibri"/>
              </a:rPr>
              <a:t>a small, honest study whose claims stay within its evidence.</a:t>
            </a:r>
          </a:p>
        </p:txBody>
      </p:sp>
      <p:sp>
        <p:nvSpPr>
          <p:cNvPr id="10" name="Rounded Rectangle 9">
            <a:extLst>
              <a:ext uri="{FF2B5EF4-FFF2-40B4-BE49-F238E27FC236}">
                <a16:creationId xmlns:a16="http://schemas.microsoft.com/office/drawing/2014/main" id="{D5287CFE-A560-40FC-A205-8FCC1745F244}"/>
              </a:ext>
            </a:extLst>
          </p:cNvPr>
          <p:cNvSpPr>
            <a:spLocks noGrp="1"/>
          </p:cNvSpPr>
          <p:nvPr/>
        </p:nvSpPr>
        <p:spPr>
          <a:xfrm>
            <a:off x="6446520" y="1600200"/>
            <a:ext cx="5120640" cy="4160520"/>
          </a:xfrm>
          <a:prstGeom prst="roundRect">
            <a:avLst/>
          </a:prstGeom>
          <a:solidFill>
            <a:srgbClr val="F2F5FA"/>
          </a:solidFill>
          <a:ln w="15875">
            <a:solidFill>
              <a:srgbClr val="14264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1" name="TextBox 10">
            <a:extLst>
              <a:ext uri="{FF2B5EF4-FFF2-40B4-BE49-F238E27FC236}">
                <a16:creationId xmlns:a16="http://schemas.microsoft.com/office/drawing/2014/main" id="{B95945E0-E930-4229-A1B9-EF61E852CDC6}"/>
              </a:ext>
            </a:extLst>
          </p:cNvPr>
          <p:cNvSpPr>
            <a:spLocks noGrp="1"/>
          </p:cNvSpPr>
          <p:nvPr/>
        </p:nvSpPr>
        <p:spPr>
          <a:xfrm>
            <a:off x="6675120" y="1755648"/>
            <a:ext cx="4754880" cy="373051"/>
          </a:xfrm>
          <a:prstGeom prst="rect">
            <a:avLst/>
          </a:prstGeom>
          <a:noFill/>
        </p:spPr>
        <p:txBody>
          <a:bodyPr wrap="square" lIns="36576" tIns="36576" rIns="36576" bIns="36576" anchor="t">
            <a:spAutoFit/>
          </a:bodyPr>
          <a:lstStyle/>
          <a:p>
            <a:pPr algn="l">
              <a:lnSpc>
                <a:spcPct val="108000"/>
              </a:lnSpc>
              <a:spcAft>
                <a:spcPts val="400"/>
              </a:spcAft>
              <a:buNone/>
            </a:pPr>
            <a:r>
              <a:rPr b="1" i="0">
                <a:solidFill>
                  <a:srgbClr val="14264F"/>
                </a:solidFill>
                <a:latin typeface="Calibri"/>
                <a:ea typeface="Calibri"/>
                <a:cs typeface="Calibri"/>
              </a:rPr>
              <a:t>CONTRIBUTIONS</a:t>
            </a:r>
          </a:p>
        </p:txBody>
      </p:sp>
      <p:sp>
        <p:nvSpPr>
          <p:cNvPr id="12" name="TextBox 11">
            <a:extLst>
              <a:ext uri="{FF2B5EF4-FFF2-40B4-BE49-F238E27FC236}">
                <a16:creationId xmlns:a16="http://schemas.microsoft.com/office/drawing/2014/main" id="{43D81FCE-DC30-4DA6-8F3E-AA700BA97639}"/>
              </a:ext>
            </a:extLst>
          </p:cNvPr>
          <p:cNvSpPr>
            <a:spLocks noGrp="1"/>
          </p:cNvSpPr>
          <p:nvPr/>
        </p:nvSpPr>
        <p:spPr>
          <a:xfrm>
            <a:off x="6675120" y="2240280"/>
            <a:ext cx="4709160" cy="2888996"/>
          </a:xfrm>
          <a:prstGeom prst="rect">
            <a:avLst/>
          </a:prstGeom>
          <a:noFill/>
        </p:spPr>
        <p:txBody>
          <a:bodyPr wrap="square" lIns="36576" tIns="36576" rIns="36576" bIns="36576" anchor="t">
            <a:spAutoFit/>
          </a:bodyPr>
          <a:lstStyle/>
          <a:p>
            <a:pPr algn="l">
              <a:lnSpc>
                <a:spcPct val="112000"/>
              </a:lnSpc>
              <a:spcAft>
                <a:spcPts val="1300"/>
              </a:spcAft>
              <a:buNone/>
            </a:pPr>
            <a:r>
              <a:rPr b="1" i="0">
                <a:solidFill>
                  <a:srgbClr val="14B8A6"/>
                </a:solidFill>
                <a:latin typeface="Calibri"/>
                <a:ea typeface="Calibri"/>
                <a:cs typeface="Calibri"/>
              </a:rPr>
              <a:t>▪  </a:t>
            </a:r>
            <a:r>
              <a:rPr b="1" i="0">
                <a:solidFill>
                  <a:srgbClr val="14264F"/>
                </a:solidFill>
                <a:latin typeface="Calibri"/>
                <a:ea typeface="Calibri"/>
                <a:cs typeface="Calibri"/>
              </a:rPr>
              <a:t>Observability gap:  </a:t>
            </a:r>
            <a:r>
              <a:rPr b="0" i="0">
                <a:solidFill>
                  <a:srgbClr val="1E2A44"/>
                </a:solidFill>
                <a:latin typeface="Calibri"/>
                <a:ea typeface="Calibri"/>
                <a:cs typeface="Calibri"/>
              </a:rPr>
              <a:t>measured, and demonstrated from source (H1), as a real and common blind spot.</a:t>
            </a:r>
          </a:p>
          <a:p>
            <a:pPr algn="l">
              <a:lnSpc>
                <a:spcPct val="112000"/>
              </a:lnSpc>
              <a:spcAft>
                <a:spcPts val="1300"/>
              </a:spcAft>
              <a:buNone/>
            </a:pPr>
            <a:r>
              <a:rPr b="1" i="0">
                <a:solidFill>
                  <a:srgbClr val="14B8A6"/>
                </a:solidFill>
                <a:latin typeface="Calibri"/>
                <a:ea typeface="Calibri"/>
                <a:cs typeface="Calibri"/>
              </a:rPr>
              <a:t>▪  </a:t>
            </a:r>
            <a:r>
              <a:rPr b="1" i="0">
                <a:solidFill>
                  <a:srgbClr val="14264F"/>
                </a:solidFill>
                <a:latin typeface="Calibri"/>
                <a:ea typeface="Calibri"/>
                <a:cs typeface="Calibri"/>
              </a:rPr>
              <a:t>Method + prototype:  </a:t>
            </a:r>
            <a:r>
              <a:rPr b="0" i="0">
                <a:solidFill>
                  <a:srgbClr val="1E2A44"/>
                </a:solidFill>
                <a:latin typeface="Calibri"/>
                <a:ea typeface="Calibri"/>
                <a:cs typeface="Calibri"/>
              </a:rPr>
              <a:t>a leakage-safe, cost-aware evaluation methodology with an open harness (cart).</a:t>
            </a:r>
          </a:p>
          <a:p>
            <a:pPr algn="l">
              <a:lnSpc>
                <a:spcPct val="112000"/>
              </a:lnSpc>
              <a:spcAft>
                <a:spcPts val="1300"/>
              </a:spcAft>
              <a:buNone/>
            </a:pPr>
            <a:r>
              <a:rPr b="1" i="0">
                <a:solidFill>
                  <a:srgbClr val="14B8A6"/>
                </a:solidFill>
                <a:latin typeface="Calibri"/>
                <a:ea typeface="Calibri"/>
                <a:cs typeface="Calibri"/>
              </a:rPr>
              <a:t>▪  </a:t>
            </a:r>
            <a:r>
              <a:rPr b="1" i="0">
                <a:solidFill>
                  <a:srgbClr val="14264F"/>
                </a:solidFill>
                <a:latin typeface="Calibri"/>
                <a:ea typeface="Calibri"/>
                <a:cs typeface="Calibri"/>
              </a:rPr>
              <a:t>A first:  </a:t>
            </a:r>
            <a:r>
              <a:rPr b="0" i="0">
                <a:solidFill>
                  <a:srgbClr val="1E2A44"/>
                </a:solidFill>
                <a:latin typeface="Calibri"/>
                <a:ea typeface="Calibri"/>
                <a:cs typeface="Calibri"/>
              </a:rPr>
              <a:t>the first leakage-safe, cost-aware regression-test selection for a quantum transpiler.</a:t>
            </a:r>
          </a:p>
        </p:txBody>
      </p:sp>
      <p:sp>
        <p:nvSpPr>
          <p:cNvPr id="13" name="TextBox 12">
            <a:extLst>
              <a:ext uri="{FF2B5EF4-FFF2-40B4-BE49-F238E27FC236}">
                <a16:creationId xmlns:a16="http://schemas.microsoft.com/office/drawing/2014/main" id="{7A75AABD-198C-4A12-B110-DE7B4C961F0F}"/>
              </a:ext>
            </a:extLst>
          </p:cNvPr>
          <p:cNvSpPr>
            <a:spLocks noGrp="1"/>
          </p:cNvSpPr>
          <p:nvPr/>
        </p:nvSpPr>
        <p:spPr>
          <a:xfrm>
            <a:off x="640080" y="5989320"/>
            <a:ext cx="11064240" cy="339773"/>
          </a:xfrm>
          <a:prstGeom prst="rect">
            <a:avLst/>
          </a:prstGeom>
          <a:noFill/>
        </p:spPr>
        <p:txBody>
          <a:bodyPr wrap="square" lIns="36576" tIns="36576" rIns="36576" bIns="36576" anchor="t">
            <a:spAutoFit/>
          </a:bodyPr>
          <a:lstStyle/>
          <a:p>
            <a:pPr algn="l">
              <a:lnSpc>
                <a:spcPct val="108000"/>
              </a:lnSpc>
              <a:spcAft>
                <a:spcPts val="400"/>
              </a:spcAft>
              <a:buNone/>
            </a:pPr>
            <a:r>
              <a:rPr sz="1600" b="0" i="1">
                <a:solidFill>
                  <a:srgbClr val="64748C"/>
                </a:solidFill>
                <a:latin typeface="Calibri"/>
                <a:ea typeface="Calibri"/>
                <a:cs typeface="Calibri"/>
              </a:rPr>
              <a:t>The gap is reframed as: output equivalence is necessary but not sufficient for the transpiler.</a:t>
            </a:r>
          </a:p>
        </p:txBody>
      </p:sp>
      <p:pic>
        <p:nvPicPr>
          <p:cNvPr id="14"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35644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787BB9-DE6D-4BA3-B3C7-382727DED54B}"/>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142BCB95-49C8-4BD5-B307-9B6BF13832A9}"/>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LITERATURE REVIEW</a:t>
            </a:r>
          </a:p>
        </p:txBody>
      </p:sp>
      <p:sp>
        <p:nvSpPr>
          <p:cNvPr id="4" name="TextBox 3">
            <a:extLst>
              <a:ext uri="{FF2B5EF4-FFF2-40B4-BE49-F238E27FC236}">
                <a16:creationId xmlns:a16="http://schemas.microsoft.com/office/drawing/2014/main" id="{2B0B49CA-C187-4B75-8FB8-FE98D0E482BC}"/>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What Others Have Done</a:t>
            </a:r>
          </a:p>
        </p:txBody>
      </p:sp>
      <p:sp>
        <p:nvSpPr>
          <p:cNvPr id="5" name="TextBox 4">
            <a:extLst>
              <a:ext uri="{FF2B5EF4-FFF2-40B4-BE49-F238E27FC236}">
                <a16:creationId xmlns:a16="http://schemas.microsoft.com/office/drawing/2014/main" id="{3D3821F7-3F64-47BF-8406-F86ACB3B87B5}"/>
              </a:ext>
            </a:extLst>
          </p:cNvPr>
          <p:cNvSpPr>
            <a:spLocks noGrp="1"/>
          </p:cNvSpPr>
          <p:nvPr/>
        </p:nvSpPr>
        <p:spPr>
          <a:xfrm>
            <a:off x="640080" y="1402068"/>
            <a:ext cx="11064240" cy="3530197"/>
          </a:xfrm>
          <a:prstGeom prst="rect">
            <a:avLst/>
          </a:prstGeom>
          <a:noFill/>
        </p:spPr>
        <p:txBody>
          <a:bodyPr wrap="square" lIns="36576" tIns="18288" rIns="36576" bIns="18288">
            <a:spAutoFit/>
          </a:bodyPr>
          <a:lstStyle/>
          <a:p>
            <a:pPr>
              <a:spcAft>
                <a:spcPts val="1400"/>
              </a:spcAft>
              <a:buNone/>
            </a:pPr>
            <a:r>
              <a:rPr sz="2400" b="1" i="0">
                <a:solidFill>
                  <a:srgbClr val="14B8A6"/>
                </a:solidFill>
                <a:latin typeface="Calibri"/>
                <a:ea typeface="Calibri"/>
                <a:cs typeface="Calibri"/>
              </a:rPr>
              <a:t>▪  </a:t>
            </a:r>
            <a:r>
              <a:rPr sz="2400" b="1" i="0">
                <a:solidFill>
                  <a:srgbClr val="0E7C7B"/>
                </a:solidFill>
                <a:latin typeface="Calibri"/>
                <a:ea typeface="Calibri"/>
                <a:cs typeface="Calibri"/>
              </a:rPr>
              <a:t>Classical testing:  </a:t>
            </a:r>
            <a:r>
              <a:rPr sz="2400" b="0" i="0">
                <a:solidFill>
                  <a:srgbClr val="1E2A44"/>
                </a:solidFill>
                <a:latin typeface="Calibri"/>
                <a:ea typeface="Calibri"/>
                <a:cs typeface="Calibri"/>
              </a:rPr>
              <a:t>how to pick and order tests under a time budget — well studied. [3], [4]</a:t>
            </a:r>
          </a:p>
          <a:p>
            <a:pPr>
              <a:spcAft>
                <a:spcPts val="1400"/>
              </a:spcAft>
              <a:buNone/>
            </a:pPr>
            <a:r>
              <a:rPr sz="2400" b="1" i="0">
                <a:solidFill>
                  <a:srgbClr val="14B8A6"/>
                </a:solidFill>
                <a:latin typeface="Calibri"/>
                <a:ea typeface="Calibri"/>
                <a:cs typeface="Calibri"/>
              </a:rPr>
              <a:t>▪  </a:t>
            </a:r>
            <a:r>
              <a:rPr sz="2400" b="1" i="0">
                <a:solidFill>
                  <a:srgbClr val="0E7C7B"/>
                </a:solidFill>
                <a:latin typeface="Calibri"/>
                <a:ea typeface="Calibri"/>
                <a:cs typeface="Calibri"/>
              </a:rPr>
              <a:t>Quantum testing:  </a:t>
            </a:r>
            <a:r>
              <a:rPr sz="2400" b="0" i="0">
                <a:solidFill>
                  <a:srgbClr val="1E2A44"/>
                </a:solidFill>
                <a:latin typeface="Calibri"/>
                <a:ea typeface="Calibri"/>
                <a:cs typeface="Calibri"/>
              </a:rPr>
              <a:t>finding bugs and generating tests for quantum programs. [7], [23], [24]</a:t>
            </a:r>
          </a:p>
          <a:p>
            <a:pPr>
              <a:spcAft>
                <a:spcPts val="1400"/>
              </a:spcAft>
              <a:buNone/>
            </a:pPr>
            <a:r>
              <a:rPr sz="2400" b="1" i="0">
                <a:solidFill>
                  <a:srgbClr val="14B8A6"/>
                </a:solidFill>
                <a:latin typeface="Calibri"/>
                <a:ea typeface="Calibri"/>
                <a:cs typeface="Calibri"/>
              </a:rPr>
              <a:t>▪  </a:t>
            </a:r>
            <a:r>
              <a:rPr sz="2400" b="1" i="0">
                <a:solidFill>
                  <a:srgbClr val="0E7C7B"/>
                </a:solidFill>
                <a:latin typeface="Calibri"/>
                <a:ea typeface="Calibri"/>
                <a:cs typeface="Calibri"/>
              </a:rPr>
              <a:t>Equivalence checking:  </a:t>
            </a:r>
            <a:r>
              <a:rPr sz="2400" b="0" i="0">
                <a:solidFill>
                  <a:srgbClr val="1E2A44"/>
                </a:solidFill>
                <a:latin typeface="Calibri"/>
                <a:ea typeface="Calibri"/>
                <a:cs typeface="Calibri"/>
              </a:rPr>
              <a:t>the standard “is the answer the same?” check — efficient and trusted. [6]</a:t>
            </a:r>
          </a:p>
          <a:p>
            <a:pPr>
              <a:spcAft>
                <a:spcPts val="1400"/>
              </a:spcAft>
              <a:buNone/>
            </a:pPr>
            <a:r>
              <a:rPr sz="2400" b="1" i="0">
                <a:solidFill>
                  <a:srgbClr val="14B8A6"/>
                </a:solidFill>
                <a:latin typeface="Calibri"/>
                <a:ea typeface="Calibri"/>
                <a:cs typeface="Calibri"/>
              </a:rPr>
              <a:t>▪  </a:t>
            </a:r>
            <a:r>
              <a:rPr sz="2400" b="1" i="0">
                <a:solidFill>
                  <a:srgbClr val="0E7C7B"/>
                </a:solidFill>
                <a:latin typeface="Calibri"/>
                <a:ea typeface="Calibri"/>
                <a:cs typeface="Calibri"/>
              </a:rPr>
              <a:t>Internal checks:  </a:t>
            </a:r>
            <a:r>
              <a:rPr sz="2400" b="0" i="0">
                <a:solidFill>
                  <a:srgbClr val="1E2A44"/>
                </a:solidFill>
                <a:latin typeface="Calibri"/>
                <a:ea typeface="Calibri"/>
                <a:cs typeface="Calibri"/>
              </a:rPr>
              <a:t>CertiQ, Giallar, and concolic testing inspect compiler passes and internal state. [26], [27], [42]</a:t>
            </a:r>
          </a:p>
        </p:txBody>
      </p:sp>
      <p:sp>
        <p:nvSpPr>
          <p:cNvPr id="6" name="Rounded Rectangle 5">
            <a:extLst>
              <a:ext uri="{FF2B5EF4-FFF2-40B4-BE49-F238E27FC236}">
                <a16:creationId xmlns:a16="http://schemas.microsoft.com/office/drawing/2014/main" id="{4A8A3BB1-E042-4893-BDBC-FF4D38E094FF}"/>
              </a:ext>
            </a:extLst>
          </p:cNvPr>
          <p:cNvSpPr>
            <a:spLocks noGrp="1"/>
          </p:cNvSpPr>
          <p:nvPr/>
        </p:nvSpPr>
        <p:spPr>
          <a:xfrm>
            <a:off x="573024" y="5102352"/>
            <a:ext cx="11064240" cy="1371600"/>
          </a:xfrm>
          <a:prstGeom prst="roundRect">
            <a:avLst>
              <a:gd name="adj" fmla="val 6000"/>
            </a:avLst>
          </a:prstGeom>
          <a:solidFill>
            <a:srgbClr val="1B305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7" name="TextBox 6">
            <a:extLst>
              <a:ext uri="{FF2B5EF4-FFF2-40B4-BE49-F238E27FC236}">
                <a16:creationId xmlns:a16="http://schemas.microsoft.com/office/drawing/2014/main" id="{2E6D49B7-45C6-404B-B464-3F99B35085B3}"/>
              </a:ext>
            </a:extLst>
          </p:cNvPr>
          <p:cNvSpPr>
            <a:spLocks noGrp="1"/>
          </p:cNvSpPr>
          <p:nvPr/>
        </p:nvSpPr>
        <p:spPr>
          <a:xfrm>
            <a:off x="752703" y="5161049"/>
            <a:ext cx="10515600" cy="1180836"/>
          </a:xfrm>
          <a:prstGeom prst="rect">
            <a:avLst/>
          </a:prstGeom>
          <a:noFill/>
        </p:spPr>
        <p:txBody>
          <a:bodyPr wrap="square" lIns="36576" tIns="18288" rIns="36576" bIns="18288">
            <a:spAutoFit/>
          </a:bodyPr>
          <a:lstStyle/>
          <a:p>
            <a:r>
              <a:rPr b="1" i="0">
                <a:solidFill>
                  <a:srgbClr val="14B8A6"/>
                </a:solidFill>
                <a:latin typeface="Calibri"/>
                <a:ea typeface="Calibri"/>
                <a:cs typeface="Calibri"/>
              </a:rPr>
              <a:t>The gap we fill:</a:t>
            </a:r>
          </a:p>
          <a:p>
            <a:pPr>
              <a:spcBef>
                <a:spcPts val="600"/>
              </a:spcBef>
              <a:buNone/>
            </a:pPr>
            <a:r>
              <a:rPr sz="1600" b="1" i="0">
                <a:solidFill>
                  <a:srgbClr val="14B8A6"/>
                </a:solidFill>
                <a:latin typeface="Calibri"/>
                <a:ea typeface="Calibri"/>
                <a:cs typeface="Calibri"/>
              </a:rPr>
              <a:t>▪  </a:t>
            </a:r>
            <a:r>
              <a:rPr sz="1600" b="0" i="0">
                <a:solidFill>
                  <a:srgbClr val="FFFFFF"/>
                </a:solidFill>
                <a:latin typeface="Calibri"/>
                <a:ea typeface="Calibri"/>
                <a:cs typeface="Calibri"/>
              </a:rPr>
              <a:t>Others verify passes and inspect internal state (Giallar, CertiQ, concolic) — so internal observability is feasible. [27], [42], [26]</a:t>
            </a:r>
          </a:p>
          <a:p>
            <a:pPr>
              <a:spcBef>
                <a:spcPts val="400"/>
              </a:spcBef>
              <a:buNone/>
            </a:pPr>
            <a:r>
              <a:rPr sz="1600" b="1" i="0">
                <a:solidFill>
                  <a:srgbClr val="14B8A6"/>
                </a:solidFill>
                <a:latin typeface="Calibri"/>
                <a:ea typeface="Calibri"/>
                <a:cs typeface="Calibri"/>
              </a:rPr>
              <a:t>▪  </a:t>
            </a:r>
            <a:r>
              <a:rPr sz="1600" b="0" i="0">
                <a:solidFill>
                  <a:srgbClr val="FFFFFF"/>
                </a:solidFill>
                <a:latin typeface="Calibri"/>
                <a:ea typeface="Calibri"/>
                <a:cs typeface="Calibri"/>
              </a:rPr>
              <a:t>But, to our knowledge, no study turns that into matched regression oracles with budget-aware, leak-free test selection for the transpiler [3], [14].</a:t>
            </a:r>
          </a:p>
        </p:txBody>
      </p:sp>
      <p:sp>
        <p:nvSpPr>
          <p:cNvPr id="8" name="TextBox 7">
            <a:extLst>
              <a:ext uri="{FF2B5EF4-FFF2-40B4-BE49-F238E27FC236}">
                <a16:creationId xmlns:a16="http://schemas.microsoft.com/office/drawing/2014/main" id="{17BEBB54-D7B7-41AC-8C01-CC6A29194D00}"/>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5537A5C9-2FFF-4DA9-BFCE-6E152BF64745}"/>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9</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053328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B0C0EB-B8B8-4349-9353-E22CD32AFDCC}"/>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8BED7BE-2241-456A-A5CB-D508AFC7AF28}"/>
              </a:ext>
            </a:extLst>
          </p:cNvPr>
          <p:cNvSpPr>
            <a:spLocks noGrp="1"/>
          </p:cNvSpPr>
          <p:nvPr/>
        </p:nvSpPr>
        <p:spPr>
          <a:xfrm>
            <a:off x="640080" y="335280"/>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LITERATURE</a:t>
            </a:r>
            <a:r>
              <a:rPr sz="1250" b="1" i="0">
                <a:solidFill>
                  <a:srgbClr val="14B8A6"/>
                </a:solidFill>
                <a:latin typeface="Calibri"/>
                <a:ea typeface="Calibri"/>
                <a:cs typeface="Calibri"/>
              </a:rPr>
              <a:t> </a:t>
            </a:r>
            <a:r>
              <a:rPr sz="1600" b="1" i="0">
                <a:solidFill>
                  <a:srgbClr val="14B8A6"/>
                </a:solidFill>
                <a:latin typeface="Calibri"/>
                <a:ea typeface="Calibri"/>
                <a:cs typeface="Calibri"/>
              </a:rPr>
              <a:t>REVIEW</a:t>
            </a:r>
            <a:endParaRPr sz="1250" b="1" i="0">
              <a:solidFill>
                <a:srgbClr val="14B8A6"/>
              </a:solidFill>
              <a:latin typeface="Calibri"/>
              <a:ea typeface="Calibri"/>
              <a:cs typeface="Calibri"/>
            </a:endParaRPr>
          </a:p>
        </p:txBody>
      </p:sp>
      <p:sp>
        <p:nvSpPr>
          <p:cNvPr id="4" name="TextBox 3">
            <a:extLst>
              <a:ext uri="{FF2B5EF4-FFF2-40B4-BE49-F238E27FC236}">
                <a16:creationId xmlns:a16="http://schemas.microsoft.com/office/drawing/2014/main" id="{7281E0DE-5653-4D33-A0A2-D9C19FBAC86F}"/>
              </a:ext>
            </a:extLst>
          </p:cNvPr>
          <p:cNvSpPr>
            <a:spLocks noGrp="1"/>
          </p:cNvSpPr>
          <p:nvPr/>
        </p:nvSpPr>
        <p:spPr>
          <a:xfrm>
            <a:off x="640080" y="633387"/>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How</a:t>
            </a:r>
            <a:r>
              <a:rPr sz="3200" b="1" i="0">
                <a:solidFill>
                  <a:srgbClr val="1E2A44"/>
                </a:solidFill>
                <a:latin typeface="Cambria"/>
                <a:ea typeface="Cambria"/>
                <a:cs typeface="Cambria"/>
              </a:rPr>
              <a:t> This Work Compares</a:t>
            </a:r>
          </a:p>
        </p:txBody>
      </p:sp>
      <p:graphicFrame>
        <p:nvGraphicFramePr>
          <p:cNvPr id="12" name="Table 4"/>
          <p:cNvGraphicFramePr/>
          <p:nvPr/>
        </p:nvGraphicFramePr>
        <p:xfrm>
          <a:off x="603504" y="1162763"/>
          <a:ext cx="11375135" cy="5201460"/>
        </p:xfrm>
        <a:graphic>
          <a:graphicData uri="http://schemas.openxmlformats.org/drawingml/2006/table">
            <a:tbl>
              <a:tblPr>
                <a:tableStyleId>{5C22544A-7EE6-4342-B048-85BDC9FD1C3A}</a:tableStyleId>
              </a:tblPr>
              <a:tblGrid>
                <a:gridCol w="2321456">
                  <a:extLst>
                    <a:ext uri="{9D8B030D-6E8A-4147-A177-3AD203B41FA5}">
                      <a16:colId xmlns:a16="http://schemas.microsoft.com/office/drawing/2014/main" val="20000"/>
                    </a:ext>
                  </a:extLst>
                </a:gridCol>
                <a:gridCol w="2507173">
                  <a:extLst>
                    <a:ext uri="{9D8B030D-6E8A-4147-A177-3AD203B41FA5}">
                      <a16:colId xmlns:a16="http://schemas.microsoft.com/office/drawing/2014/main" val="20001"/>
                    </a:ext>
                  </a:extLst>
                </a:gridCol>
                <a:gridCol w="1253586">
                  <a:extLst>
                    <a:ext uri="{9D8B030D-6E8A-4147-A177-3AD203B41FA5}">
                      <a16:colId xmlns:a16="http://schemas.microsoft.com/office/drawing/2014/main" val="20002"/>
                    </a:ext>
                  </a:extLst>
                </a:gridCol>
                <a:gridCol w="1160728">
                  <a:extLst>
                    <a:ext uri="{9D8B030D-6E8A-4147-A177-3AD203B41FA5}">
                      <a16:colId xmlns:a16="http://schemas.microsoft.com/office/drawing/2014/main" val="20003"/>
                    </a:ext>
                  </a:extLst>
                </a:gridCol>
                <a:gridCol w="1625019">
                  <a:extLst>
                    <a:ext uri="{9D8B030D-6E8A-4147-A177-3AD203B41FA5}">
                      <a16:colId xmlns:a16="http://schemas.microsoft.com/office/drawing/2014/main" val="20004"/>
                    </a:ext>
                  </a:extLst>
                </a:gridCol>
                <a:gridCol w="1439303">
                  <a:extLst>
                    <a:ext uri="{9D8B030D-6E8A-4147-A177-3AD203B41FA5}">
                      <a16:colId xmlns:a16="http://schemas.microsoft.com/office/drawing/2014/main" val="20005"/>
                    </a:ext>
                  </a:extLst>
                </a:gridCol>
                <a:gridCol w="1067870">
                  <a:extLst>
                    <a:ext uri="{9D8B030D-6E8A-4147-A177-3AD203B41FA5}">
                      <a16:colId xmlns:a16="http://schemas.microsoft.com/office/drawing/2014/main" val="20006"/>
                    </a:ext>
                  </a:extLst>
                </a:gridCol>
              </a:tblGrid>
              <a:tr h="472860">
                <a:tc>
                  <a:txBody>
                    <a:bodyPr/>
                    <a:lstStyle/>
                    <a:p>
                      <a:r>
                        <a:rPr sz="1400" b="1">
                          <a:solidFill>
                            <a:srgbClr val="FFFFFF"/>
                          </a:solidFill>
                          <a:latin typeface="Calibri"/>
                          <a:ea typeface="Calibri"/>
                          <a:cs typeface="Calibri"/>
                        </a:rPr>
                        <a:t>Approach</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Primary goal</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QA oracle</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Cost-aware</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Selects / orders existing</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Leakage-safe temporal</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Cohort sep.</a:t>
                      </a:r>
                    </a:p>
                  </a:txBody>
                  <a:tcPr marL="54864" marR="54864" marT="18288" marB="18288" anchor="ctr">
                    <a:solidFill>
                      <a:srgbClr val="14264F"/>
                    </a:solidFill>
                  </a:tcPr>
                </a:tc>
                <a:extLst>
                  <a:ext uri="{0D108BD9-81ED-4DB2-BD59-A6C34878D82A}">
                    <a16:rowId xmlns:a16="http://schemas.microsoft.com/office/drawing/2014/main" val="10000"/>
                  </a:ext>
                </a:extLst>
              </a:tr>
              <a:tr h="472860">
                <a:tc>
                  <a:txBody>
                    <a:bodyPr/>
                    <a:lstStyle/>
                    <a:p>
                      <a:r>
                        <a:rPr sz="1400">
                          <a:solidFill>
                            <a:srgbClr val="1E2A44"/>
                          </a:solidFill>
                          <a:latin typeface="Calibri"/>
                          <a:ea typeface="Calibri"/>
                          <a:cs typeface="Calibri"/>
                        </a:rPr>
                        <a:t>Classical RTP/TCP</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prioritise tests of a program</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1"/>
                  </a:ext>
                </a:extLst>
              </a:tr>
              <a:tr h="472860">
                <a:tc>
                  <a:txBody>
                    <a:bodyPr/>
                    <a:lstStyle/>
                    <a:p>
                      <a:r>
                        <a:rPr sz="1400">
                          <a:solidFill>
                            <a:srgbClr val="1E2A44"/>
                          </a:solidFill>
                          <a:latin typeface="Calibri"/>
                          <a:ea typeface="Calibri"/>
                          <a:cs typeface="Calibri"/>
                        </a:rPr>
                        <a:t>Predictive selection</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learned selection at scale</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2"/>
                  </a:ext>
                </a:extLst>
              </a:tr>
              <a:tr h="472860">
                <a:tc>
                  <a:txBody>
                    <a:bodyPr/>
                    <a:lstStyle/>
                    <a:p>
                      <a:r>
                        <a:rPr sz="1400">
                          <a:solidFill>
                            <a:srgbClr val="1E2A44"/>
                          </a:solidFill>
                          <a:latin typeface="Calibri"/>
                          <a:ea typeface="Calibri"/>
                          <a:cs typeface="Calibri"/>
                        </a:rPr>
                        <a:t>MorphQ / MorphQ++</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metamorphic bug finding</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3"/>
                  </a:ext>
                </a:extLst>
              </a:tr>
              <a:tr h="472860">
                <a:tc>
                  <a:txBody>
                    <a:bodyPr/>
                    <a:lstStyle/>
                    <a:p>
                      <a:r>
                        <a:rPr sz="1400">
                          <a:solidFill>
                            <a:srgbClr val="1E2A44"/>
                          </a:solidFill>
                          <a:latin typeface="Calibri"/>
                          <a:ea typeface="Calibri"/>
                          <a:cs typeface="Calibri"/>
                        </a:rPr>
                        <a:t>QuCheck</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property-based testing</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4"/>
                  </a:ext>
                </a:extLst>
              </a:tr>
              <a:tr h="472860">
                <a:tc>
                  <a:txBody>
                    <a:bodyPr/>
                    <a:lstStyle/>
                    <a:p>
                      <a:r>
                        <a:rPr sz="1400">
                          <a:solidFill>
                            <a:srgbClr val="1E2A44"/>
                          </a:solidFill>
                          <a:latin typeface="Calibri"/>
                          <a:ea typeface="Calibri"/>
                          <a:cs typeface="Calibri"/>
                        </a:rPr>
                        <a:t>QEMI</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EMI stack bug finding</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5"/>
                  </a:ext>
                </a:extLst>
              </a:tr>
              <a:tr h="472860">
                <a:tc>
                  <a:txBody>
                    <a:bodyPr/>
                    <a:lstStyle/>
                    <a:p>
                      <a:r>
                        <a:rPr sz="1400">
                          <a:solidFill>
                            <a:srgbClr val="1E2A44"/>
                          </a:solidFill>
                          <a:latin typeface="Calibri"/>
                          <a:ea typeface="Calibri"/>
                          <a:cs typeface="Calibri"/>
                        </a:rPr>
                        <a:t>QDiff</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differential stack bug finding</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6"/>
                  </a:ext>
                </a:extLst>
              </a:tr>
              <a:tr h="472860">
                <a:tc>
                  <a:txBody>
                    <a:bodyPr/>
                    <a:lstStyle/>
                    <a:p>
                      <a:r>
                        <a:rPr sz="1400">
                          <a:solidFill>
                            <a:srgbClr val="1E2A44"/>
                          </a:solidFill>
                          <a:latin typeface="Calibri"/>
                          <a:ea typeface="Calibri"/>
                          <a:cs typeface="Calibri"/>
                        </a:rPr>
                        <a:t>QSPE</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skeletal-program differential testing</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7"/>
                  </a:ext>
                </a:extLst>
              </a:tr>
              <a:tr h="472860">
                <a:tc>
                  <a:txBody>
                    <a:bodyPr/>
                    <a:lstStyle/>
                    <a:p>
                      <a:r>
                        <a:rPr sz="1400">
                          <a:solidFill>
                            <a:srgbClr val="1E2A44"/>
                          </a:solidFill>
                          <a:latin typeface="Calibri"/>
                          <a:ea typeface="Calibri"/>
                          <a:cs typeface="Calibri"/>
                        </a:rPr>
                        <a:t>Giallar</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formal Qiskit-pass verification</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8"/>
                  </a:ext>
                </a:extLst>
              </a:tr>
              <a:tr h="472860">
                <a:tc>
                  <a:txBody>
                    <a:bodyPr/>
                    <a:lstStyle/>
                    <a:p>
                      <a:r>
                        <a:rPr sz="1400">
                          <a:solidFill>
                            <a:srgbClr val="1E2A44"/>
                          </a:solidFill>
                          <a:latin typeface="Calibri"/>
                          <a:ea typeface="Calibri"/>
                          <a:cs typeface="Calibri"/>
                        </a:rPr>
                        <a:t>Benchpress</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SDK compilation benchmarking</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9"/>
                  </a:ext>
                </a:extLst>
              </a:tr>
              <a:tr h="472860">
                <a:tc>
                  <a:txBody>
                    <a:bodyPr/>
                    <a:lstStyle/>
                    <a:p>
                      <a:r>
                        <a:rPr sz="1400">
                          <a:solidFill>
                            <a:srgbClr val="1E2A44"/>
                          </a:solidFill>
                          <a:latin typeface="Calibri"/>
                          <a:ea typeface="Calibri"/>
                          <a:cs typeface="Calibri"/>
                        </a:rPr>
                        <a:t>This work</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cost-aware test selection for the transpiler</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10"/>
                  </a:ext>
                </a:extLst>
              </a:tr>
            </a:tbl>
          </a:graphicData>
        </a:graphic>
      </p:graphicFrame>
      <p:sp>
        <p:nvSpPr>
          <p:cNvPr id="6" name="TextBox 5">
            <a:extLst>
              <a:ext uri="{FF2B5EF4-FFF2-40B4-BE49-F238E27FC236}">
                <a16:creationId xmlns:a16="http://schemas.microsoft.com/office/drawing/2014/main" id="{C6ACC585-9E0C-4BA3-9864-8DCFB4273F32}"/>
              </a:ext>
            </a:extLst>
          </p:cNvPr>
          <p:cNvSpPr>
            <a:spLocks noGrp="1"/>
          </p:cNvSpPr>
          <p:nvPr/>
        </p:nvSpPr>
        <p:spPr>
          <a:xfrm>
            <a:off x="640080" y="6501385"/>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9FA11DE-C3D5-4BE5-BEE2-5BCBC38DC781}"/>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10</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943371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03E713-6650-4C9E-99EF-82A49D20B29E}"/>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A5203904-B698-44B5-8F8F-7BAC03A1686C}"/>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PROPOSED METHODOLOGY</a:t>
            </a:r>
          </a:p>
        </p:txBody>
      </p:sp>
      <p:sp>
        <p:nvSpPr>
          <p:cNvPr id="4" name="TextBox 3">
            <a:extLst>
              <a:ext uri="{FF2B5EF4-FFF2-40B4-BE49-F238E27FC236}">
                <a16:creationId xmlns:a16="http://schemas.microsoft.com/office/drawing/2014/main" id="{7132573F-45DD-4E8F-8388-D921D5780F5C}"/>
              </a:ext>
            </a:extLst>
          </p:cNvPr>
          <p:cNvSpPr>
            <a:spLocks noGrp="1"/>
          </p:cNvSpPr>
          <p:nvPr/>
        </p:nvSpPr>
        <p:spPr>
          <a:xfrm>
            <a:off x="640080" y="694944"/>
            <a:ext cx="11155680" cy="467820"/>
          </a:xfrm>
          <a:prstGeom prst="rect">
            <a:avLst/>
          </a:prstGeom>
          <a:noFill/>
        </p:spPr>
        <p:txBody>
          <a:bodyPr wrap="square" lIns="36576" tIns="18288" rIns="36576" bIns="18288">
            <a:spAutoFit/>
          </a:bodyPr>
          <a:lstStyle/>
          <a:p>
            <a:r>
              <a:rPr sz="2800" b="1" i="0">
                <a:solidFill>
                  <a:srgbClr val="1E2A44"/>
                </a:solidFill>
                <a:latin typeface="Cambria"/>
                <a:ea typeface="Cambria"/>
                <a:cs typeface="Cambria"/>
              </a:rPr>
              <a:t>The cart Pipelin</a:t>
            </a:r>
            <a:r>
              <a:rPr sz="2800" b="1">
                <a:solidFill>
                  <a:srgbClr val="1E2A44"/>
                </a:solidFill>
                <a:latin typeface="Cambria"/>
                <a:ea typeface="Cambria"/>
                <a:cs typeface="Cambria"/>
              </a:rPr>
              <a:t>e</a:t>
            </a:r>
            <a:endParaRPr sz="2800" b="1" i="0">
              <a:solidFill>
                <a:srgbClr val="1E2A44"/>
              </a:solidFill>
              <a:latin typeface="Cambria"/>
              <a:ea typeface="Cambria"/>
              <a:cs typeface="Cambria"/>
            </a:endParaRPr>
          </a:p>
        </p:txBody>
      </p:sp>
      <p:sp>
        <p:nvSpPr>
          <p:cNvPr id="6" name="TextBox 5">
            <a:extLst>
              <a:ext uri="{FF2B5EF4-FFF2-40B4-BE49-F238E27FC236}">
                <a16:creationId xmlns:a16="http://schemas.microsoft.com/office/drawing/2014/main" id="{C12C0556-82B2-4396-9AB1-E45A1C092B40}"/>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40CEA6FD-2393-4603-B226-F6E2AF04DE04}"/>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11</a:t>
            </a:r>
          </a:p>
        </p:txBody>
      </p:sp>
      <p:pic>
        <p:nvPicPr>
          <p:cNvPr id="14" name="Picture 7"/>
          <p:cNvPicPr>
            <a:picLocks noChangeAspect="1"/>
          </p:cNvPicPr>
          <p:nvPr/>
        </p:nvPicPr>
        <p:blipFill>
          <a:blip r:embed="rId3"/>
          <a:stretch>
            <a:fillRect/>
          </a:stretch>
        </p:blipFill>
        <p:spPr>
          <a:xfrm>
            <a:off x="509587" y="694944"/>
            <a:ext cx="11172825" cy="5796343"/>
          </a:xfrm>
          <a:prstGeom prst="rect">
            <a:avLst/>
          </a:prstGeom>
        </p:spPr>
      </p:pic>
      <p:pic>
        <p:nvPicPr>
          <p:cNvPr id="8"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052826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A94160-0F84-484F-848E-108A27625A86}"/>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80923F9-709F-4BBF-9A22-9AD20211EF3E}"/>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ea typeface="Calibri"/>
                <a:cs typeface="Calibri"/>
              </a:rPr>
              <a:t>PROPOSED METHODOLOGY</a:t>
            </a:r>
          </a:p>
        </p:txBody>
      </p:sp>
      <p:sp>
        <p:nvSpPr>
          <p:cNvPr id="4" name="TextBox 3">
            <a:extLst>
              <a:ext uri="{FF2B5EF4-FFF2-40B4-BE49-F238E27FC236}">
                <a16:creationId xmlns:a16="http://schemas.microsoft.com/office/drawing/2014/main" id="{A4B67305-D667-44B1-8350-2414188D8187}"/>
              </a:ext>
            </a:extLst>
          </p:cNvPr>
          <p:cNvSpPr>
            <a:spLocks noGrp="1"/>
          </p:cNvSpPr>
          <p:nvPr/>
        </p:nvSpPr>
        <p:spPr>
          <a:xfrm>
            <a:off x="640080" y="694944"/>
            <a:ext cx="11155680" cy="822960"/>
          </a:xfrm>
          <a:prstGeom prst="rect">
            <a:avLst/>
          </a:prstGeom>
          <a:noFill/>
        </p:spPr>
        <p:txBody>
          <a:bodyPr wrap="square" lIns="27432" tIns="27432" rIns="27432" bIns="27432">
            <a:spAutoFit/>
          </a:bodyPr>
          <a:lstStyle/>
          <a:p>
            <a:r>
              <a:rPr sz="2600" b="1" i="0">
                <a:solidFill>
                  <a:srgbClr val="1E2A44"/>
                </a:solidFill>
                <a:latin typeface="Cambria"/>
                <a:ea typeface="Cambria"/>
                <a:cs typeface="Cambria"/>
              </a:rPr>
              <a:t>Which Oracle Detects Which Fault?</a:t>
            </a:r>
          </a:p>
        </p:txBody>
      </p:sp>
      <p:sp>
        <p:nvSpPr>
          <p:cNvPr id="5" name="TextBox 4">
            <a:extLst>
              <a:ext uri="{FF2B5EF4-FFF2-40B4-BE49-F238E27FC236}">
                <a16:creationId xmlns:a16="http://schemas.microsoft.com/office/drawing/2014/main" id="{8C212C32-3FF6-4071-B0D9-0BDC2044A37A}"/>
              </a:ext>
            </a:extLst>
          </p:cNvPr>
          <p:cNvSpPr>
            <a:spLocks noGrp="1"/>
          </p:cNvSpPr>
          <p:nvPr/>
        </p:nvSpPr>
        <p:spPr>
          <a:xfrm>
            <a:off x="640080" y="1444752"/>
            <a:ext cx="11064240" cy="301621"/>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No single oracle covers all channels — each fault channel needs its matched oracle. “Output oracle” is not one thing.</a:t>
            </a:r>
          </a:p>
        </p:txBody>
      </p:sp>
      <p:graphicFrame>
        <p:nvGraphicFramePr>
          <p:cNvPr id="15" name="Table 5"/>
          <p:cNvGraphicFramePr/>
          <p:nvPr/>
        </p:nvGraphicFramePr>
        <p:xfrm>
          <a:off x="603504" y="2011680"/>
          <a:ext cx="10424160" cy="359664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502920">
                <a:tc>
                  <a:txBody>
                    <a:bodyPr/>
                    <a:lstStyle/>
                    <a:p>
                      <a:r>
                        <a:rPr sz="1400" b="1">
                          <a:solidFill>
                            <a:srgbClr val="FFFFFF"/>
                          </a:solidFill>
                          <a:latin typeface="Calibri"/>
                          <a:ea typeface="Calibri"/>
                          <a:cs typeface="Calibri"/>
                        </a:rPr>
                        <a:t>Manifestation</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Unitary equiv.</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Compilation</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Quality</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Performance</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Contract</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Determinism</a:t>
                      </a:r>
                    </a:p>
                  </a:txBody>
                  <a:tcPr marL="45720" marR="36576" anchor="ctr">
                    <a:solidFill>
                      <a:srgbClr val="14264F"/>
                    </a:solidFill>
                  </a:tcPr>
                </a:tc>
                <a:extLst>
                  <a:ext uri="{0D108BD9-81ED-4DB2-BD59-A6C34878D82A}">
                    <a16:rowId xmlns:a16="http://schemas.microsoft.com/office/drawing/2014/main" val="10000"/>
                  </a:ext>
                </a:extLst>
              </a:tr>
              <a:tr h="502920">
                <a:tc>
                  <a:txBody>
                    <a:bodyPr/>
                    <a:lstStyle/>
                    <a:p>
                      <a:r>
                        <a:rPr sz="1600" b="1">
                          <a:solidFill>
                            <a:srgbClr val="1E2A44"/>
                          </a:solidFill>
                          <a:latin typeface="Calibri"/>
                          <a:ea typeface="Calibri"/>
                          <a:cs typeface="Calibri"/>
                        </a:rPr>
                        <a:t>Semantic difference</a:t>
                      </a:r>
                    </a:p>
                  </a:txBody>
                  <a:tcPr marL="45720" marR="36576" anchor="ctr">
                    <a:solidFill>
                      <a:srgbClr val="FFFFFF"/>
                    </a:solidFill>
                  </a:tcPr>
                </a:tc>
                <a:tc>
                  <a:txBody>
                    <a:bodyPr/>
                    <a:lstStyle/>
                    <a:p>
                      <a:pPr algn="ctr">
                        <a:buNone/>
                      </a:pPr>
                      <a:r>
                        <a:rPr sz="1600" b="1">
                          <a:solidFill>
                            <a:srgbClr val="0E7C7B"/>
                          </a:solidFill>
                          <a:latin typeface="Calibri"/>
                          <a:ea typeface="Calibri"/>
                          <a:cs typeface="Calibri"/>
                        </a:rPr>
                        <a:t>Yes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extLst>
                  <a:ext uri="{0D108BD9-81ED-4DB2-BD59-A6C34878D82A}">
                    <a16:rowId xmlns:a16="http://schemas.microsoft.com/office/drawing/2014/main" val="10001"/>
                  </a:ext>
                </a:extLst>
              </a:tr>
              <a:tr h="502920">
                <a:tc>
                  <a:txBody>
                    <a:bodyPr/>
                    <a:lstStyle/>
                    <a:p>
                      <a:r>
                        <a:rPr sz="1600" b="1">
                          <a:solidFill>
                            <a:srgbClr val="1E2A44"/>
                          </a:solidFill>
                          <a:latin typeface="Calibri"/>
                          <a:ea typeface="Calibri"/>
                          <a:cs typeface="Calibri"/>
                        </a:rPr>
                        <a:t>Compilation failure</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N/A</a:t>
                      </a:r>
                    </a:p>
                  </a:txBody>
                  <a:tcPr marL="45720" marR="36576" anchor="ctr">
                    <a:solidFill>
                      <a:srgbClr val="F2F5FA"/>
                    </a:solidFill>
                  </a:tcPr>
                </a:tc>
                <a:tc>
                  <a:txBody>
                    <a:bodyPr/>
                    <a:lstStyle/>
                    <a:p>
                      <a:pPr algn="ctr">
                        <a:buNone/>
                      </a:pPr>
                      <a:r>
                        <a:rPr sz="1600" b="1">
                          <a:solidFill>
                            <a:srgbClr val="0E7C7B"/>
                          </a:solidFill>
                          <a:latin typeface="Calibri"/>
                          <a:ea typeface="Calibri"/>
                          <a:cs typeface="Calibri"/>
                        </a:rPr>
                        <a:t>Yes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extLst>
                  <a:ext uri="{0D108BD9-81ED-4DB2-BD59-A6C34878D82A}">
                    <a16:rowId xmlns:a16="http://schemas.microsoft.com/office/drawing/2014/main" val="10002"/>
                  </a:ext>
                </a:extLst>
              </a:tr>
              <a:tr h="502920">
                <a:tc>
                  <a:txBody>
                    <a:bodyPr/>
                    <a:lstStyle/>
                    <a:p>
                      <a:r>
                        <a:rPr sz="1600" b="1">
                          <a:solidFill>
                            <a:srgbClr val="1E2A44"/>
                          </a:solidFill>
                          <a:latin typeface="Calibri"/>
                          <a:ea typeface="Calibri"/>
                          <a:cs typeface="Calibri"/>
                        </a:rPr>
                        <a:t>Circuit-quality regression</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b="1">
                          <a:solidFill>
                            <a:srgbClr val="0E7C7B"/>
                          </a:solidFill>
                          <a:latin typeface="Calibri"/>
                          <a:ea typeface="Calibri"/>
                          <a:cs typeface="Calibri"/>
                        </a:rPr>
                        <a:t>Yes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extLst>
                  <a:ext uri="{0D108BD9-81ED-4DB2-BD59-A6C34878D82A}">
                    <a16:rowId xmlns:a16="http://schemas.microsoft.com/office/drawing/2014/main" val="10003"/>
                  </a:ext>
                </a:extLst>
              </a:tr>
              <a:tr h="502920">
                <a:tc>
                  <a:txBody>
                    <a:bodyPr/>
                    <a:lstStyle/>
                    <a:p>
                      <a:r>
                        <a:rPr sz="1600" b="1">
                          <a:solidFill>
                            <a:srgbClr val="1E2A44"/>
                          </a:solidFill>
                          <a:latin typeface="Calibri"/>
                          <a:ea typeface="Calibri"/>
                          <a:cs typeface="Calibri"/>
                        </a:rPr>
                        <a:t>Performance regression</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b="1">
                          <a:solidFill>
                            <a:srgbClr val="0E7C7B"/>
                          </a:solidFill>
                          <a:latin typeface="Calibri"/>
                          <a:ea typeface="Calibri"/>
                          <a:cs typeface="Calibri"/>
                        </a:rPr>
                        <a:t>Yes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extLst>
                  <a:ext uri="{0D108BD9-81ED-4DB2-BD59-A6C34878D82A}">
                    <a16:rowId xmlns:a16="http://schemas.microsoft.com/office/drawing/2014/main" val="10004"/>
                  </a:ext>
                </a:extLst>
              </a:tr>
              <a:tr h="502920">
                <a:tc>
                  <a:txBody>
                    <a:bodyPr/>
                    <a:lstStyle/>
                    <a:p>
                      <a:r>
                        <a:rPr sz="1600" b="1">
                          <a:solidFill>
                            <a:srgbClr val="1E2A44"/>
                          </a:solidFill>
                          <a:latin typeface="Calibri"/>
                          <a:ea typeface="Calibri"/>
                          <a:cs typeface="Calibri"/>
                        </a:rPr>
                        <a:t>Contract/metadata corruption</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b="1">
                          <a:solidFill>
                            <a:srgbClr val="0E7C7B"/>
                          </a:solidFill>
                          <a:latin typeface="Calibri"/>
                          <a:ea typeface="Calibri"/>
                          <a:cs typeface="Calibri"/>
                        </a:rPr>
                        <a:t>Yes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FFFFF"/>
                    </a:solidFill>
                  </a:tcPr>
                </a:tc>
                <a:extLst>
                  <a:ext uri="{0D108BD9-81ED-4DB2-BD59-A6C34878D82A}">
                    <a16:rowId xmlns:a16="http://schemas.microsoft.com/office/drawing/2014/main" val="10005"/>
                  </a:ext>
                </a:extLst>
              </a:tr>
              <a:tr h="502920">
                <a:tc>
                  <a:txBody>
                    <a:bodyPr/>
                    <a:lstStyle/>
                    <a:p>
                      <a:r>
                        <a:rPr sz="1600" b="1">
                          <a:solidFill>
                            <a:srgbClr val="1E2A44"/>
                          </a:solidFill>
                          <a:latin typeface="Calibri"/>
                          <a:ea typeface="Calibri"/>
                          <a:cs typeface="Calibri"/>
                        </a:rPr>
                        <a:t>Non-determinism</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Not in 1 run</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2F5FA"/>
                    </a:solidFill>
                  </a:tcPr>
                </a:tc>
                <a:tc>
                  <a:txBody>
                    <a:bodyPr/>
                    <a:lstStyle/>
                    <a:p>
                      <a:pPr algn="ctr">
                        <a:buNone/>
                      </a:pPr>
                      <a:r>
                        <a:rPr sz="1600" b="1">
                          <a:solidFill>
                            <a:srgbClr val="0E7C7B"/>
                          </a:solidFill>
                          <a:latin typeface="Calibri"/>
                          <a:ea typeface="Calibri"/>
                          <a:cs typeface="Calibri"/>
                        </a:rPr>
                        <a:t>Yes</a:t>
                      </a:r>
                    </a:p>
                  </a:txBody>
                  <a:tcPr marL="45720" marR="36576" anchor="ctr">
                    <a:solidFill>
                      <a:srgbClr val="F2F5FA"/>
                    </a:solidFill>
                  </a:tcPr>
                </a:tc>
                <a:extLst>
                  <a:ext uri="{0D108BD9-81ED-4DB2-BD59-A6C34878D82A}">
                    <a16:rowId xmlns:a16="http://schemas.microsoft.com/office/drawing/2014/main" val="10006"/>
                  </a:ext>
                </a:extLst>
              </a:tr>
            </a:tbl>
          </a:graphicData>
        </a:graphic>
      </p:graphicFrame>
      <p:sp>
        <p:nvSpPr>
          <p:cNvPr id="7" name="TextBox 6">
            <a:extLst>
              <a:ext uri="{FF2B5EF4-FFF2-40B4-BE49-F238E27FC236}">
                <a16:creationId xmlns:a16="http://schemas.microsoft.com/office/drawing/2014/main" id="{CF832E91-A189-49C5-B3EC-5A6DAF72DE01}"/>
              </a:ext>
            </a:extLst>
          </p:cNvPr>
          <p:cNvSpPr>
            <a:spLocks noGrp="1"/>
          </p:cNvSpPr>
          <p:nvPr/>
        </p:nvSpPr>
        <p:spPr>
          <a:xfrm>
            <a:off x="603504" y="5644896"/>
            <a:ext cx="10424160" cy="547842"/>
          </a:xfrm>
          <a:prstGeom prst="rect">
            <a:avLst/>
          </a:prstGeom>
          <a:noFill/>
        </p:spPr>
        <p:txBody>
          <a:bodyPr wrap="square" lIns="27432" tIns="27432" rIns="27432" bIns="27432">
            <a:spAutoFit/>
          </a:bodyPr>
          <a:lstStyle/>
          <a:p>
            <a:r>
              <a:rPr sz="1600" i="1">
                <a:solidFill>
                  <a:srgbClr val="64748C"/>
                </a:solidFill>
                <a:latin typeface="Calibri"/>
                <a:ea typeface="Calibri"/>
                <a:cs typeface="Calibri"/>
              </a:rPr>
              <a:t>Contract and determinism channels are not covered by the reference black-box regression screen. The framework operationalises matched checks for them — and we demonstrate that a matched contract oracle can close the gap for H1.</a:t>
            </a:r>
          </a:p>
        </p:txBody>
      </p:sp>
      <p:sp>
        <p:nvSpPr>
          <p:cNvPr id="8" name="TextBox 7">
            <a:extLst>
              <a:ext uri="{FF2B5EF4-FFF2-40B4-BE49-F238E27FC236}">
                <a16:creationId xmlns:a16="http://schemas.microsoft.com/office/drawing/2014/main" id="{99530AA0-2DBC-43C9-99A1-4BCA46C2CC9F}"/>
              </a:ext>
            </a:extLst>
          </p:cNvPr>
          <p:cNvSpPr>
            <a:spLocks noGrp="1"/>
          </p:cNvSpPr>
          <p:nvPr/>
        </p:nvSpPr>
        <p:spPr>
          <a:xfrm>
            <a:off x="11155680" y="6473952"/>
            <a:ext cx="822960" cy="274320"/>
          </a:xfrm>
          <a:prstGeom prst="rect">
            <a:avLst/>
          </a:prstGeom>
          <a:noFill/>
        </p:spPr>
        <p:txBody>
          <a:bodyPr wrap="square" lIns="27432" tIns="27432" rIns="27432" bIns="27432">
            <a:spAutoFit/>
          </a:bodyPr>
          <a:lstStyle/>
          <a:p>
            <a:pPr algn="r">
              <a:buNone/>
            </a:pPr>
            <a:r>
              <a:rPr sz="850" b="1" i="0">
                <a:solidFill>
                  <a:srgbClr val="64748C"/>
                </a:solidFill>
                <a:latin typeface="Calibri"/>
                <a:ea typeface="Calibri"/>
                <a:cs typeface="Calibri"/>
              </a:rPr>
              <a:t>12</a:t>
            </a:r>
          </a:p>
        </p:txBody>
      </p:sp>
      <p:sp>
        <p:nvSpPr>
          <p:cNvPr id="9" name="TextBox 8">
            <a:extLst>
              <a:ext uri="{FF2B5EF4-FFF2-40B4-BE49-F238E27FC236}">
                <a16:creationId xmlns:a16="http://schemas.microsoft.com/office/drawing/2014/main" id="{770B5568-7A6A-4E9A-828A-8CF5B57465C3}"/>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341353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BADCB9-3EA7-467F-A395-563B6FA53822}"/>
              </a:ext>
            </a:extLst>
          </p:cNvPr>
          <p:cNvSpPr>
            <a:spLocks noGrp="1"/>
          </p:cNvSpPr>
          <p:nvPr/>
        </p:nvSpPr>
        <p:spPr>
          <a:xfrm>
            <a:off x="0" y="-61962"/>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F4CA65B7-2154-463E-A5E4-9298FFCB6677}"/>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PROPOSED METHODOLOGY</a:t>
            </a:r>
          </a:p>
        </p:txBody>
      </p:sp>
      <p:sp>
        <p:nvSpPr>
          <p:cNvPr id="4" name="TextBox 3">
            <a:extLst>
              <a:ext uri="{FF2B5EF4-FFF2-40B4-BE49-F238E27FC236}">
                <a16:creationId xmlns:a16="http://schemas.microsoft.com/office/drawing/2014/main" id="{5EC87510-0A42-4C6F-A3CE-976E328549C7}"/>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The Test Selector (risk_score)</a:t>
            </a:r>
          </a:p>
        </p:txBody>
      </p:sp>
      <p:sp>
        <p:nvSpPr>
          <p:cNvPr id="8" name="TextBox 7">
            <a:extLst>
              <a:ext uri="{FF2B5EF4-FFF2-40B4-BE49-F238E27FC236}">
                <a16:creationId xmlns:a16="http://schemas.microsoft.com/office/drawing/2014/main" id="{3CDBCA1E-6679-4D90-B959-344923D490F9}"/>
              </a:ext>
            </a:extLst>
          </p:cNvPr>
          <p:cNvSpPr>
            <a:spLocks noGrp="1"/>
          </p:cNvSpPr>
          <p:nvPr/>
        </p:nvSpPr>
        <p:spPr>
          <a:xfrm>
            <a:off x="640080" y="6605217"/>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E6715AB0-6461-420E-AE5E-508737EBB165}"/>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13</a:t>
            </a:r>
          </a:p>
        </p:txBody>
      </p:sp>
      <p:sp>
        <p:nvSpPr>
          <p:cNvPr id="10" name="TextBox 9">
            <a:extLst>
              <a:ext uri="{FF2B5EF4-FFF2-40B4-BE49-F238E27FC236}">
                <a16:creationId xmlns:a16="http://schemas.microsoft.com/office/drawing/2014/main" id="{8FDFEC89-09AE-4224-BC85-440A0781AB99}"/>
              </a:ext>
            </a:extLst>
          </p:cNvPr>
          <p:cNvSpPr>
            <a:spLocks noGrp="1"/>
          </p:cNvSpPr>
          <p:nvPr/>
        </p:nvSpPr>
        <p:spPr>
          <a:xfrm>
            <a:off x="640080" y="1481328"/>
            <a:ext cx="11064240" cy="364715"/>
          </a:xfrm>
          <a:prstGeom prst="rect">
            <a:avLst/>
          </a:prstGeom>
          <a:noFill/>
        </p:spPr>
        <p:txBody>
          <a:bodyPr wrap="square" lIns="36576" tIns="36576" rIns="36576" bIns="36576" anchor="t">
            <a:spAutoFit/>
          </a:bodyPr>
          <a:lstStyle/>
          <a:p>
            <a:pPr algn="l">
              <a:lnSpc>
                <a:spcPct val="105000"/>
              </a:lnSpc>
              <a:spcAft>
                <a:spcPts val="300"/>
              </a:spcAft>
              <a:buNone/>
            </a:pPr>
            <a:r>
              <a:rPr b="0" i="1">
                <a:solidFill>
                  <a:srgbClr val="1E2A44"/>
                </a:solidFill>
                <a:latin typeface="Calibri"/>
                <a:ea typeface="Calibri"/>
                <a:cs typeface="Calibri"/>
              </a:rPr>
              <a:t>Rank every candidate test by its expected value per unit cost, then run the highest-scoring first.</a:t>
            </a:r>
          </a:p>
        </p:txBody>
      </p:sp>
      <p:sp>
        <p:nvSpPr>
          <p:cNvPr id="11" name="Rounded Rectangle 10">
            <a:extLst>
              <a:ext uri="{FF2B5EF4-FFF2-40B4-BE49-F238E27FC236}">
                <a16:creationId xmlns:a16="http://schemas.microsoft.com/office/drawing/2014/main" id="{E2CBB0CD-BB50-479C-BADC-CE2BE420DD4F}"/>
              </a:ext>
            </a:extLst>
          </p:cNvPr>
          <p:cNvSpPr>
            <a:spLocks noGrp="1"/>
          </p:cNvSpPr>
          <p:nvPr/>
        </p:nvSpPr>
        <p:spPr>
          <a:xfrm>
            <a:off x="640080" y="2011680"/>
            <a:ext cx="6903720" cy="1965960"/>
          </a:xfrm>
          <a:prstGeom prst="roundRect">
            <a:avLst/>
          </a:prstGeom>
          <a:solidFill>
            <a:srgbClr val="EAF4F3"/>
          </a:solidFill>
          <a:ln w="15875">
            <a:solidFill>
              <a:srgbClr val="14B8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2" name="TextBox 11">
            <a:extLst>
              <a:ext uri="{FF2B5EF4-FFF2-40B4-BE49-F238E27FC236}">
                <a16:creationId xmlns:a16="http://schemas.microsoft.com/office/drawing/2014/main" id="{60BC6316-C864-443C-B805-F04481B6CA9B}"/>
              </a:ext>
            </a:extLst>
          </p:cNvPr>
          <p:cNvSpPr>
            <a:spLocks noGrp="1"/>
          </p:cNvSpPr>
          <p:nvPr/>
        </p:nvSpPr>
        <p:spPr>
          <a:xfrm>
            <a:off x="841248" y="2130552"/>
            <a:ext cx="6537960" cy="1804597"/>
          </a:xfrm>
          <a:prstGeom prst="rect">
            <a:avLst/>
          </a:prstGeom>
          <a:noFill/>
        </p:spPr>
        <p:txBody>
          <a:bodyPr wrap="square" lIns="36576" tIns="36576" rIns="36576" bIns="36576" anchor="t">
            <a:spAutoFit/>
          </a:bodyPr>
          <a:lstStyle/>
          <a:p>
            <a:pPr algn="l">
              <a:lnSpc>
                <a:spcPct val="105000"/>
              </a:lnSpc>
              <a:spcAft>
                <a:spcPts val="700"/>
              </a:spcAft>
              <a:buNone/>
            </a:pPr>
            <a:r>
              <a:rPr sz="2400" b="1" i="0">
                <a:solidFill>
                  <a:srgbClr val="0E7C7B"/>
                </a:solidFill>
                <a:latin typeface="Calibri"/>
                <a:ea typeface="Calibri"/>
                <a:cs typeface="Calibri"/>
              </a:rPr>
              <a:t>VALUE</a:t>
            </a:r>
            <a:r>
              <a:rPr sz="2000" b="0" i="0">
                <a:solidFill>
                  <a:srgbClr val="64748C"/>
                </a:solidFill>
                <a:latin typeface="Calibri"/>
                <a:ea typeface="Calibri"/>
                <a:cs typeface="Calibri"/>
              </a:rPr>
              <a:t>   how much a test is worth running</a:t>
            </a:r>
          </a:p>
          <a:p>
            <a:pPr algn="l">
              <a:lnSpc>
                <a:spcPct val="105000"/>
              </a:lnSpc>
              <a:spcAft>
                <a:spcPts val="700"/>
              </a:spcAft>
              <a:buNone/>
            </a:pPr>
            <a:r>
              <a:rPr sz="2000" b="1" i="0">
                <a:solidFill>
                  <a:srgbClr val="1E2A44"/>
                </a:solidFill>
                <a:latin typeface="Calibri"/>
                <a:ea typeface="Calibri"/>
                <a:cs typeface="Calibri"/>
              </a:rPr>
              <a:t>chance it catches the fault  ×  how much the fault matters  ×  how trustworthy the check is  ×  novelty</a:t>
            </a:r>
          </a:p>
          <a:p>
            <a:pPr algn="l">
              <a:lnSpc>
                <a:spcPct val="105000"/>
              </a:lnSpc>
              <a:spcAft>
                <a:spcPts val="700"/>
              </a:spcAft>
              <a:buNone/>
            </a:pPr>
            <a:r>
              <a:rPr sz="1600" b="0" i="1">
                <a:solidFill>
                  <a:srgbClr val="64748C"/>
                </a:solidFill>
                <a:latin typeface="Calibri"/>
                <a:ea typeface="Calibri"/>
                <a:cs typeface="Calibri"/>
              </a:rPr>
              <a:t>factors: change-stage match · circuit/backend sensitivity · criticality · historical risk · oracle confidence · novelty</a:t>
            </a:r>
          </a:p>
        </p:txBody>
      </p:sp>
      <p:sp>
        <p:nvSpPr>
          <p:cNvPr id="13" name="TextBox 12">
            <a:extLst>
              <a:ext uri="{FF2B5EF4-FFF2-40B4-BE49-F238E27FC236}">
                <a16:creationId xmlns:a16="http://schemas.microsoft.com/office/drawing/2014/main" id="{4714B395-3A16-4936-82F4-BAA179477BC4}"/>
              </a:ext>
            </a:extLst>
          </p:cNvPr>
          <p:cNvSpPr>
            <a:spLocks noGrp="1"/>
          </p:cNvSpPr>
          <p:nvPr/>
        </p:nvSpPr>
        <p:spPr>
          <a:xfrm>
            <a:off x="7589520" y="2547069"/>
            <a:ext cx="548640" cy="849463"/>
          </a:xfrm>
          <a:prstGeom prst="rect">
            <a:avLst/>
          </a:prstGeom>
          <a:noFill/>
        </p:spPr>
        <p:txBody>
          <a:bodyPr wrap="square" lIns="36576" tIns="36576" rIns="36576" bIns="36576" anchor="ctr">
            <a:spAutoFit/>
          </a:bodyPr>
          <a:lstStyle/>
          <a:p>
            <a:pPr algn="ctr">
              <a:lnSpc>
                <a:spcPct val="105000"/>
              </a:lnSpc>
              <a:spcAft>
                <a:spcPts val="300"/>
              </a:spcAft>
              <a:buNone/>
            </a:pPr>
            <a:r>
              <a:rPr sz="4800" b="1" i="0">
                <a:solidFill>
                  <a:srgbClr val="14B8A6"/>
                </a:solidFill>
                <a:latin typeface="Calibri"/>
                <a:ea typeface="Calibri"/>
                <a:cs typeface="Calibri"/>
              </a:rPr>
              <a:t>÷</a:t>
            </a:r>
          </a:p>
        </p:txBody>
      </p:sp>
      <p:sp>
        <p:nvSpPr>
          <p:cNvPr id="14" name="Rounded Rectangle 13">
            <a:extLst>
              <a:ext uri="{FF2B5EF4-FFF2-40B4-BE49-F238E27FC236}">
                <a16:creationId xmlns:a16="http://schemas.microsoft.com/office/drawing/2014/main" id="{6A2E2069-1C5E-4D18-84B6-C1A4A8BA0C65}"/>
              </a:ext>
            </a:extLst>
          </p:cNvPr>
          <p:cNvSpPr>
            <a:spLocks noGrp="1"/>
          </p:cNvSpPr>
          <p:nvPr/>
        </p:nvSpPr>
        <p:spPr>
          <a:xfrm>
            <a:off x="8183879" y="2011680"/>
            <a:ext cx="3520440" cy="1965960"/>
          </a:xfrm>
          <a:prstGeom prst="roundRect">
            <a:avLst/>
          </a:prstGeom>
          <a:solidFill>
            <a:srgbClr val="F2F5FA"/>
          </a:solidFill>
          <a:ln w="15875">
            <a:solidFill>
              <a:srgbClr val="14264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5" name="TextBox 14">
            <a:extLst>
              <a:ext uri="{FF2B5EF4-FFF2-40B4-BE49-F238E27FC236}">
                <a16:creationId xmlns:a16="http://schemas.microsoft.com/office/drawing/2014/main" id="{40608A05-B97A-4E9E-8BDC-40741F40C3C4}"/>
              </a:ext>
            </a:extLst>
          </p:cNvPr>
          <p:cNvSpPr>
            <a:spLocks noGrp="1"/>
          </p:cNvSpPr>
          <p:nvPr/>
        </p:nvSpPr>
        <p:spPr>
          <a:xfrm>
            <a:off x="8385048" y="2240280"/>
            <a:ext cx="3154680" cy="1507079"/>
          </a:xfrm>
          <a:prstGeom prst="rect">
            <a:avLst/>
          </a:prstGeom>
          <a:noFill/>
        </p:spPr>
        <p:txBody>
          <a:bodyPr wrap="square" lIns="36576" tIns="36576" rIns="36576" bIns="36576" anchor="t">
            <a:spAutoFit/>
          </a:bodyPr>
          <a:lstStyle/>
          <a:p>
            <a:pPr algn="l">
              <a:lnSpc>
                <a:spcPct val="105000"/>
              </a:lnSpc>
              <a:spcAft>
                <a:spcPts val="800"/>
              </a:spcAft>
              <a:buNone/>
            </a:pPr>
            <a:r>
              <a:rPr sz="2400" b="1" i="0">
                <a:solidFill>
                  <a:srgbClr val="14264F"/>
                </a:solidFill>
                <a:latin typeface="Calibri"/>
                <a:ea typeface="Calibri"/>
                <a:cs typeface="Calibri"/>
              </a:rPr>
              <a:t>COST</a:t>
            </a:r>
          </a:p>
          <a:p>
            <a:pPr algn="l">
              <a:lnSpc>
                <a:spcPct val="105000"/>
              </a:lnSpc>
              <a:spcAft>
                <a:spcPts val="800"/>
              </a:spcAft>
              <a:buNone/>
            </a:pPr>
            <a:r>
              <a:rPr sz="2000" b="1" i="0">
                <a:solidFill>
                  <a:srgbClr val="1E2A44"/>
                </a:solidFill>
                <a:latin typeface="Calibri"/>
                <a:ea typeface="Calibri"/>
                <a:cs typeface="Calibri"/>
              </a:rPr>
              <a:t>expected time to run</a:t>
            </a:r>
          </a:p>
          <a:p>
            <a:pPr algn="l">
              <a:lnSpc>
                <a:spcPct val="105000"/>
              </a:lnSpc>
              <a:spcAft>
                <a:spcPts val="800"/>
              </a:spcAft>
              <a:buNone/>
            </a:pPr>
            <a:r>
              <a:rPr sz="1600" b="0" i="1">
                <a:solidFill>
                  <a:srgbClr val="64748C"/>
                </a:solidFill>
                <a:latin typeface="Calibri"/>
                <a:ea typeface="Calibri"/>
                <a:cs typeface="Calibri"/>
              </a:rPr>
              <a:t>transpilation + oracle time, measured on the baseline</a:t>
            </a:r>
          </a:p>
        </p:txBody>
      </p:sp>
      <p:sp>
        <p:nvSpPr>
          <p:cNvPr id="16" name="TextBox 15">
            <a:extLst>
              <a:ext uri="{FF2B5EF4-FFF2-40B4-BE49-F238E27FC236}">
                <a16:creationId xmlns:a16="http://schemas.microsoft.com/office/drawing/2014/main" id="{241A4E9F-0766-4D2F-A585-28544928CA70}"/>
              </a:ext>
            </a:extLst>
          </p:cNvPr>
          <p:cNvSpPr>
            <a:spLocks noGrp="1"/>
          </p:cNvSpPr>
          <p:nvPr/>
        </p:nvSpPr>
        <p:spPr>
          <a:xfrm>
            <a:off x="640080" y="3998975"/>
            <a:ext cx="11064240" cy="332399"/>
          </a:xfrm>
          <a:prstGeom prst="rect">
            <a:avLst/>
          </a:prstGeom>
          <a:noFill/>
        </p:spPr>
        <p:txBody>
          <a:bodyPr wrap="square" lIns="36576" tIns="36576" rIns="36576" bIns="36576" anchor="t">
            <a:spAutoFit/>
          </a:bodyPr>
          <a:lstStyle/>
          <a:p>
            <a:pPr algn="l">
              <a:lnSpc>
                <a:spcPct val="105000"/>
              </a:lnSpc>
              <a:spcAft>
                <a:spcPts val="300"/>
              </a:spcAft>
              <a:buNone/>
            </a:pPr>
            <a:r>
              <a:rPr sz="1600" b="0" i="1">
                <a:solidFill>
                  <a:srgbClr val="64748C"/>
                </a:solidFill>
                <a:latin typeface="Calibri"/>
                <a:ea typeface="Calibri"/>
                <a:cs typeface="Calibri"/>
              </a:rPr>
              <a:t>The higher a test's value per unit cost, the earlier it runs — under a fixed test budget.</a:t>
            </a:r>
          </a:p>
        </p:txBody>
      </p:sp>
      <p:sp>
        <p:nvSpPr>
          <p:cNvPr id="17" name="TextBox 16">
            <a:extLst>
              <a:ext uri="{FF2B5EF4-FFF2-40B4-BE49-F238E27FC236}">
                <a16:creationId xmlns:a16="http://schemas.microsoft.com/office/drawing/2014/main" id="{5A01BCE4-F087-4BAA-84D9-3AE85FAFB49E}"/>
              </a:ext>
            </a:extLst>
          </p:cNvPr>
          <p:cNvSpPr>
            <a:spLocks noGrp="1"/>
          </p:cNvSpPr>
          <p:nvPr/>
        </p:nvSpPr>
        <p:spPr>
          <a:xfrm>
            <a:off x="475488" y="4234888"/>
            <a:ext cx="11064240" cy="2286780"/>
          </a:xfrm>
          <a:prstGeom prst="rect">
            <a:avLst/>
          </a:prstGeom>
          <a:noFill/>
        </p:spPr>
        <p:txBody>
          <a:bodyPr wrap="square" lIns="36576" tIns="36576" rIns="36576" bIns="36576" anchor="t">
            <a:spAutoFit/>
          </a:bodyPr>
          <a:lstStyle/>
          <a:p>
            <a:pPr algn="l">
              <a:lnSpc>
                <a:spcPct val="110000"/>
              </a:lnSpc>
              <a:spcAft>
                <a:spcPts val="10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Transparent:  </a:t>
            </a:r>
            <a:r>
              <a:rPr b="0" i="0">
                <a:solidFill>
                  <a:srgbClr val="1E2A44"/>
                </a:solidFill>
                <a:latin typeface="Calibri"/>
                <a:ea typeface="Calibri"/>
                <a:cs typeface="Calibri"/>
              </a:rPr>
              <a:t>hand-set weights, no black-box AI — every choice is explainable.</a:t>
            </a:r>
          </a:p>
          <a:p>
            <a:pPr algn="l">
              <a:lnSpc>
                <a:spcPct val="110000"/>
              </a:lnSpc>
              <a:spcAft>
                <a:spcPts val="10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Leakage-safe:  </a:t>
            </a:r>
            <a:r>
              <a:rPr b="0" i="0">
                <a:solidFill>
                  <a:srgbClr val="1E2A44"/>
                </a:solidFill>
                <a:latin typeface="Calibri"/>
                <a:ea typeface="Calibri"/>
                <a:cs typeface="Calibri"/>
              </a:rPr>
              <a:t>uses only pre-execution information, and never peeks at the outcome.</a:t>
            </a:r>
          </a:p>
          <a:p>
            <a:pPr algn="l">
              <a:lnSpc>
                <a:spcPct val="110000"/>
              </a:lnSpc>
              <a:spcAft>
                <a:spcPts val="10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Frozen &amp; compared:  </a:t>
            </a:r>
            <a:r>
              <a:rPr b="0" i="0">
                <a:solidFill>
                  <a:srgbClr val="1E2A44"/>
                </a:solidFill>
                <a:latin typeface="Calibri"/>
                <a:ea typeface="Calibri"/>
                <a:cs typeface="Calibri"/>
              </a:rPr>
              <a:t>weights fixed before evaluation, tested against five baselines including random, and checked by ablation.</a:t>
            </a:r>
          </a:p>
          <a:p>
            <a:pPr algn="l">
              <a:lnSpc>
                <a:spcPct val="110000"/>
              </a:lnSpc>
              <a:spcAft>
                <a:spcPts val="1000"/>
              </a:spcAft>
              <a:buNone/>
            </a:pPr>
            <a:r>
              <a:rPr b="1">
                <a:solidFill>
                  <a:srgbClr val="14B8A6"/>
                </a:solidFill>
                <a:latin typeface="Calibri"/>
                <a:ea typeface="Calibri"/>
                <a:cs typeface="Calibri"/>
              </a:rPr>
              <a:t>▪  </a:t>
            </a:r>
            <a:r>
              <a:rPr b="1">
                <a:solidFill>
                  <a:srgbClr val="0E7C7B"/>
                </a:solidFill>
                <a:latin typeface="Calibri"/>
                <a:ea typeface="Calibri"/>
                <a:cs typeface="Calibri"/>
              </a:rPr>
              <a:t>Stress-tested:  </a:t>
            </a:r>
            <a:r>
              <a:rPr b="0">
                <a:solidFill>
                  <a:srgbClr val="1E2A44"/>
                </a:solidFill>
                <a:latin typeface="Calibri"/>
                <a:ea typeface="Calibri"/>
                <a:cs typeface="Calibri"/>
              </a:rPr>
              <a:t>conclusions hold under ±50% weight perturbation and a 10–20% reserve sweep, so no single hand-set number drives the result.</a:t>
            </a:r>
          </a:p>
        </p:txBody>
      </p:sp>
      <p:pic>
        <p:nvPicPr>
          <p:cNvPr id="1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012068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FAE0C1-A63E-4588-A8C2-FE8CBB9BAF21}"/>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FCE4C77B-1BC0-4B9B-B78F-B73E592C4635}"/>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INITIAL RESULTS</a:t>
            </a:r>
          </a:p>
        </p:txBody>
      </p:sp>
      <p:sp>
        <p:nvSpPr>
          <p:cNvPr id="4" name="TextBox 3">
            <a:extLst>
              <a:ext uri="{FF2B5EF4-FFF2-40B4-BE49-F238E27FC236}">
                <a16:creationId xmlns:a16="http://schemas.microsoft.com/office/drawing/2014/main" id="{C666CC7F-A140-4BEB-B733-37EF41342359}"/>
              </a:ext>
            </a:extLst>
          </p:cNvPr>
          <p:cNvSpPr>
            <a:spLocks noGrp="1"/>
          </p:cNvSpPr>
          <p:nvPr/>
        </p:nvSpPr>
        <p:spPr>
          <a:xfrm>
            <a:off x="640080" y="694944"/>
            <a:ext cx="11155680" cy="652486"/>
          </a:xfrm>
          <a:prstGeom prst="rect">
            <a:avLst/>
          </a:prstGeom>
          <a:noFill/>
        </p:spPr>
        <p:txBody>
          <a:bodyPr wrap="square" lIns="36576" tIns="18288" rIns="36576" bIns="18288">
            <a:spAutoFit/>
          </a:bodyPr>
          <a:lstStyle/>
          <a:p>
            <a:r>
              <a:rPr sz="4000" b="1">
                <a:solidFill>
                  <a:srgbClr val="1E2A44"/>
                </a:solidFill>
                <a:latin typeface="Cambria"/>
                <a:ea typeface="Cambria"/>
                <a:cs typeface="Cambria"/>
              </a:rPr>
              <a:t>What We Tested</a:t>
            </a:r>
          </a:p>
        </p:txBody>
      </p:sp>
      <p:sp>
        <p:nvSpPr>
          <p:cNvPr id="5" name="TextBox 4">
            <a:extLst>
              <a:ext uri="{FF2B5EF4-FFF2-40B4-BE49-F238E27FC236}">
                <a16:creationId xmlns:a16="http://schemas.microsoft.com/office/drawing/2014/main" id="{FAED2238-B1C4-4BDC-9279-FB4D54244008}"/>
              </a:ext>
            </a:extLst>
          </p:cNvPr>
          <p:cNvSpPr>
            <a:spLocks noGrp="1"/>
          </p:cNvSpPr>
          <p:nvPr/>
        </p:nvSpPr>
        <p:spPr>
          <a:xfrm>
            <a:off x="640080" y="1783080"/>
            <a:ext cx="11064240" cy="2170851"/>
          </a:xfrm>
          <a:prstGeom prst="rect">
            <a:avLst/>
          </a:prstGeom>
          <a:noFill/>
        </p:spPr>
        <p:txBody>
          <a:bodyPr wrap="square" lIns="36576" tIns="18288" rIns="36576" bIns="18288">
            <a:spAutoFit/>
          </a:bodyPr>
          <a:lstStyle/>
          <a:p>
            <a:pPr>
              <a:spcAft>
                <a:spcPts val="1600"/>
              </a:spcAft>
              <a:buNone/>
            </a:pPr>
            <a:r>
              <a:rPr sz="2800" b="1" i="0">
                <a:solidFill>
                  <a:srgbClr val="14B8A6"/>
                </a:solidFill>
                <a:latin typeface="Calibri"/>
                <a:ea typeface="Calibri"/>
                <a:cs typeface="Calibri"/>
              </a:rPr>
              <a:t>▪  </a:t>
            </a:r>
            <a:r>
              <a:rPr sz="2800" b="0" i="0">
                <a:solidFill>
                  <a:srgbClr val="1E2A44"/>
                </a:solidFill>
                <a:latin typeface="Calibri"/>
                <a:ea typeface="Calibri"/>
                <a:cs typeface="Calibri"/>
              </a:rPr>
              <a:t>Run on a single ordinary laptop, using circuits of up to eight qubits.</a:t>
            </a:r>
          </a:p>
          <a:p>
            <a:pPr>
              <a:spcAft>
                <a:spcPts val="1600"/>
              </a:spcAft>
              <a:buNone/>
            </a:pPr>
            <a:r>
              <a:rPr sz="2800" b="1" i="0">
                <a:solidFill>
                  <a:srgbClr val="14B8A6"/>
                </a:solidFill>
                <a:latin typeface="Calibri"/>
                <a:ea typeface="Calibri"/>
                <a:cs typeface="Calibri"/>
              </a:rPr>
              <a:t>▪  </a:t>
            </a:r>
            <a:r>
              <a:rPr sz="2800" b="0" i="0">
                <a:solidFill>
                  <a:srgbClr val="1E2A44"/>
                </a:solidFill>
                <a:latin typeface="Calibri"/>
                <a:ea typeface="Calibri"/>
                <a:cs typeface="Calibri"/>
              </a:rPr>
              <a:t>We ran the whole regression-testing pipeline end to end.</a:t>
            </a:r>
          </a:p>
          <a:p>
            <a:pPr>
              <a:spcAft>
                <a:spcPts val="1600"/>
              </a:spcAft>
              <a:buNone/>
            </a:pPr>
            <a:r>
              <a:rPr sz="2800" b="1" i="0">
                <a:solidFill>
                  <a:srgbClr val="14B8A6"/>
                </a:solidFill>
                <a:latin typeface="Calibri"/>
                <a:ea typeface="Calibri"/>
                <a:cs typeface="Calibri"/>
              </a:rPr>
              <a:t>▪  </a:t>
            </a:r>
            <a:r>
              <a:rPr sz="2800" b="0" i="0">
                <a:solidFill>
                  <a:srgbClr val="1E2A44"/>
                </a:solidFill>
                <a:latin typeface="Calibri"/>
                <a:ea typeface="Calibri"/>
                <a:cs typeface="Calibri"/>
              </a:rPr>
              <a:t>We also reproduced real historical transpiler regressions from Qiskit’s own history.</a:t>
            </a:r>
          </a:p>
        </p:txBody>
      </p:sp>
      <p:sp>
        <p:nvSpPr>
          <p:cNvPr id="6" name="TextBox 5">
            <a:extLst>
              <a:ext uri="{FF2B5EF4-FFF2-40B4-BE49-F238E27FC236}">
                <a16:creationId xmlns:a16="http://schemas.microsoft.com/office/drawing/2014/main" id="{28FA8AA1-33C3-45F6-8476-821F52619704}"/>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E2DF4528-12C4-41AB-8BF6-E8CF2A5D1BFA}"/>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050" b="1" i="0">
                <a:solidFill>
                  <a:srgbClr val="64748C"/>
                </a:solidFill>
                <a:latin typeface="Calibri"/>
                <a:ea typeface="Calibri"/>
                <a:cs typeface="Calibri"/>
              </a:rPr>
              <a:t>14</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873666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15DBB3-49B0-403D-A743-5AA52AFD110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4D56FEA8-3D8D-440D-880D-5263469506F9}"/>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INITIAL RESULTS</a:t>
            </a:r>
          </a:p>
        </p:txBody>
      </p:sp>
      <p:sp>
        <p:nvSpPr>
          <p:cNvPr id="4" name="TextBox 3">
            <a:extLst>
              <a:ext uri="{FF2B5EF4-FFF2-40B4-BE49-F238E27FC236}">
                <a16:creationId xmlns:a16="http://schemas.microsoft.com/office/drawing/2014/main" id="{64CCDBFA-1223-4C9B-8C5D-B0CEEE4CE26E}"/>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a:solidFill>
                  <a:srgbClr val="1E2A44"/>
                </a:solidFill>
                <a:latin typeface="Cambria"/>
                <a:ea typeface="Cambria"/>
                <a:cs typeface="Cambria"/>
              </a:rPr>
              <a:t>Historical Transpiler Regressions Attempted</a:t>
            </a:r>
            <a:endParaRPr sz="3600" b="1" i="0">
              <a:solidFill>
                <a:srgbClr val="1E2A44"/>
              </a:solidFill>
              <a:latin typeface="Cambria"/>
              <a:ea typeface="Cambria"/>
              <a:cs typeface="Cambria"/>
            </a:endParaRPr>
          </a:p>
        </p:txBody>
      </p:sp>
      <p:graphicFrame>
        <p:nvGraphicFramePr>
          <p:cNvPr id="12" name="Table 4"/>
          <p:cNvGraphicFramePr/>
          <p:nvPr/>
        </p:nvGraphicFramePr>
        <p:xfrm>
          <a:off x="603504" y="1554476"/>
          <a:ext cx="10972800" cy="2859736"/>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54904">
                <a:tc>
                  <a:txBody>
                    <a:bodyPr/>
                    <a:lstStyle/>
                    <a:p>
                      <a:r>
                        <a:rPr sz="1800" b="1">
                          <a:solidFill>
                            <a:srgbClr val="FFFFFF"/>
                          </a:solidFill>
                          <a:latin typeface="Calibri"/>
                          <a:ea typeface="Calibri"/>
                          <a:cs typeface="Calibri"/>
                        </a:rPr>
                        <a:t>Event (PR)</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Cohort</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Fault type -&gt;channel</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Status</a:t>
                      </a:r>
                    </a:p>
                  </a:txBody>
                  <a:tcPr marL="54864" marR="54864" marT="18288" marB="18288" anchor="ctr">
                    <a:solidFill>
                      <a:srgbClr val="14264F"/>
                    </a:solidFill>
                  </a:tcPr>
                </a:tc>
                <a:extLst>
                  <a:ext uri="{0D108BD9-81ED-4DB2-BD59-A6C34878D82A}">
                    <a16:rowId xmlns:a16="http://schemas.microsoft.com/office/drawing/2014/main" val="10000"/>
                  </a:ext>
                </a:extLst>
              </a:tr>
              <a:tr h="454904">
                <a:tc>
                  <a:txBody>
                    <a:bodyPr/>
                    <a:lstStyle/>
                    <a:p>
                      <a:r>
                        <a:rPr sz="1800">
                          <a:solidFill>
                            <a:srgbClr val="1E2A44"/>
                          </a:solidFill>
                          <a:latin typeface="Calibri"/>
                          <a:ea typeface="Calibri"/>
                          <a:cs typeface="Calibri"/>
                        </a:rPr>
                        <a:t>H4 (#14120)</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forward_regression</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Performance</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verified (multi-run protocol)</a:t>
                      </a:r>
                    </a:p>
                  </a:txBody>
                  <a:tcPr marL="54864" marR="54864" marT="18288" marB="18288" anchor="ctr">
                    <a:solidFill>
                      <a:srgbClr val="FFFFFF"/>
                    </a:solidFill>
                  </a:tcPr>
                </a:tc>
                <a:extLst>
                  <a:ext uri="{0D108BD9-81ED-4DB2-BD59-A6C34878D82A}">
                    <a16:rowId xmlns:a16="http://schemas.microsoft.com/office/drawing/2014/main" val="10001"/>
                  </a:ext>
                </a:extLst>
              </a:tr>
              <a:tr h="454904">
                <a:tc>
                  <a:txBody>
                    <a:bodyPr/>
                    <a:lstStyle/>
                    <a:p>
                      <a:r>
                        <a:rPr sz="1800">
                          <a:solidFill>
                            <a:srgbClr val="1E2A44"/>
                          </a:solidFill>
                          <a:latin typeface="Calibri"/>
                          <a:ea typeface="Calibri"/>
                          <a:cs typeface="Calibri"/>
                        </a:rPr>
                        <a:t>H1 (#14603)</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semantic -&gt;contract/metadata</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demonstrated gap (output-unobservable)</a:t>
                      </a:r>
                    </a:p>
                  </a:txBody>
                  <a:tcPr marL="54864" marR="54864" marT="18288" marB="18288" anchor="ctr">
                    <a:solidFill>
                      <a:srgbClr val="EFF4FA"/>
                    </a:solidFill>
                  </a:tcPr>
                </a:tc>
                <a:extLst>
                  <a:ext uri="{0D108BD9-81ED-4DB2-BD59-A6C34878D82A}">
                    <a16:rowId xmlns:a16="http://schemas.microsoft.com/office/drawing/2014/main" val="10002"/>
                  </a:ext>
                </a:extLst>
              </a:tr>
              <a:tr h="454904">
                <a:tc>
                  <a:txBody>
                    <a:bodyPr/>
                    <a:lstStyle/>
                    <a:p>
                      <a:r>
                        <a:rPr sz="1800">
                          <a:solidFill>
                            <a:srgbClr val="1E2A44"/>
                          </a:solidFill>
                          <a:latin typeface="Calibri"/>
                          <a:ea typeface="Calibri"/>
                          <a:cs typeface="Calibri"/>
                        </a:rPr>
                        <a:t>H2 (#14919)</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semantic </a:t>
                      </a:r>
                      <a:r>
                        <a:rPr sz="1800">
                          <a:solidFill>
                            <a:srgbClr val="1E2A44"/>
                          </a:solidFill>
                          <a:latin typeface="+mn-lt"/>
                          <a:ea typeface="+mn-lt"/>
                          <a:cs typeface="+mn-lt"/>
                        </a:rPr>
                        <a:t>-&gt;</a:t>
                      </a:r>
                      <a:r>
                        <a:rPr sz="1800">
                          <a:solidFill>
                            <a:srgbClr val="1E2A44"/>
                          </a:solidFill>
                          <a:latin typeface="Calibri"/>
                          <a:ea typeface="Calibri"/>
                          <a:cs typeface="Calibri"/>
                        </a:rPr>
                        <a:t> contract/metadata</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not run</a:t>
                      </a:r>
                    </a:p>
                  </a:txBody>
                  <a:tcPr marL="54864" marR="54864" marT="18288" marB="18288" anchor="ctr">
                    <a:solidFill>
                      <a:srgbClr val="FFFFFF"/>
                    </a:solidFill>
                  </a:tcPr>
                </a:tc>
                <a:extLst>
                  <a:ext uri="{0D108BD9-81ED-4DB2-BD59-A6C34878D82A}">
                    <a16:rowId xmlns:a16="http://schemas.microsoft.com/office/drawing/2014/main" val="10003"/>
                  </a:ext>
                </a:extLst>
              </a:tr>
              <a:tr h="454904">
                <a:tc>
                  <a:txBody>
                    <a:bodyPr/>
                    <a:lstStyle/>
                    <a:p>
                      <a:r>
                        <a:rPr sz="1800">
                          <a:solidFill>
                            <a:srgbClr val="1E2A44"/>
                          </a:solidFill>
                          <a:latin typeface="Calibri"/>
                          <a:ea typeface="Calibri"/>
                          <a:cs typeface="Calibri"/>
                        </a:rPr>
                        <a:t>H3 (#14730)</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quality </a:t>
                      </a:r>
                      <a:r>
                        <a:rPr sz="1800">
                          <a:solidFill>
                            <a:srgbClr val="1E2A44"/>
                          </a:solidFill>
                          <a:latin typeface="+mn-lt"/>
                          <a:ea typeface="+mn-lt"/>
                          <a:cs typeface="+mn-lt"/>
                        </a:rPr>
                        <a:t>-&gt;</a:t>
                      </a:r>
                      <a:r>
                        <a:rPr sz="1800">
                          <a:solidFill>
                            <a:srgbClr val="1E2A44"/>
                          </a:solidFill>
                          <a:latin typeface="Calibri"/>
                          <a:ea typeface="Calibri"/>
                          <a:cs typeface="Calibri"/>
                        </a:rPr>
                        <a:t> determinism</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blocked (needs noisy target)</a:t>
                      </a:r>
                    </a:p>
                  </a:txBody>
                  <a:tcPr marL="54864" marR="54864" marT="18288" marB="18288" anchor="ctr">
                    <a:solidFill>
                      <a:srgbClr val="EFF4FA"/>
                    </a:solidFill>
                  </a:tcPr>
                </a:tc>
                <a:extLst>
                  <a:ext uri="{0D108BD9-81ED-4DB2-BD59-A6C34878D82A}">
                    <a16:rowId xmlns:a16="http://schemas.microsoft.com/office/drawing/2014/main" val="10004"/>
                  </a:ext>
                </a:extLst>
              </a:tr>
              <a:tr h="454904">
                <a:tc>
                  <a:txBody>
                    <a:bodyPr/>
                    <a:lstStyle/>
                    <a:p>
                      <a:r>
                        <a:rPr sz="1800">
                          <a:solidFill>
                            <a:srgbClr val="1E2A44"/>
                          </a:solidFill>
                          <a:latin typeface="Calibri"/>
                          <a:ea typeface="Calibri"/>
                          <a:cs typeface="Calibri"/>
                        </a:rPr>
                        <a:t>H5 (#16285)</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functional </a:t>
                      </a:r>
                      <a:r>
                        <a:rPr sz="1800">
                          <a:solidFill>
                            <a:srgbClr val="1E2A44"/>
                          </a:solidFill>
                          <a:latin typeface="+mn-lt"/>
                          <a:ea typeface="+mn-lt"/>
                          <a:cs typeface="+mn-lt"/>
                        </a:rPr>
                        <a:t>-&gt;</a:t>
                      </a:r>
                      <a:r>
                        <a:rPr sz="1800">
                          <a:solidFill>
                            <a:srgbClr val="1E2A44"/>
                          </a:solidFill>
                          <a:latin typeface="Calibri"/>
                          <a:ea typeface="Calibri"/>
                          <a:cs typeface="Calibri"/>
                        </a:rPr>
                        <a:t> compilation_failure</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not run (input-specific crash)</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11370355-E865-4643-A0C9-F3C34EDE3BFE}"/>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ACBACD1A-931F-403F-A3D7-9B543453FB53}"/>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15</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904437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6CFFB9-D26D-4B02-89CC-737632D87015}"/>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EFBD1293-FA41-46B2-9610-34CFCE1AD6B7}"/>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INITIAL RESULTS</a:t>
            </a:r>
          </a:p>
        </p:txBody>
      </p:sp>
      <p:sp>
        <p:nvSpPr>
          <p:cNvPr id="4" name="TextBox 3">
            <a:extLst>
              <a:ext uri="{FF2B5EF4-FFF2-40B4-BE49-F238E27FC236}">
                <a16:creationId xmlns:a16="http://schemas.microsoft.com/office/drawing/2014/main" id="{C1C72591-A240-4FE9-BC67-E9A087D66729}"/>
              </a:ext>
            </a:extLst>
          </p:cNvPr>
          <p:cNvSpPr>
            <a:spLocks noGrp="1"/>
          </p:cNvSpPr>
          <p:nvPr/>
        </p:nvSpPr>
        <p:spPr>
          <a:xfrm>
            <a:off x="640080" y="694944"/>
            <a:ext cx="11155680" cy="467820"/>
          </a:xfrm>
          <a:prstGeom prst="rect">
            <a:avLst/>
          </a:prstGeom>
          <a:noFill/>
        </p:spPr>
        <p:txBody>
          <a:bodyPr wrap="square" lIns="36576" tIns="18288" rIns="36576" bIns="18288">
            <a:spAutoFit/>
          </a:bodyPr>
          <a:lstStyle/>
          <a:p>
            <a:r>
              <a:rPr sz="2800" b="1">
                <a:solidFill>
                  <a:srgbClr val="1E2A44"/>
                </a:solidFill>
                <a:latin typeface="Cambria"/>
                <a:ea typeface="Cambria"/>
                <a:cs typeface="Cambria"/>
              </a:rPr>
              <a:t>H4 — A Verified Performance Regression</a:t>
            </a:r>
            <a:endParaRPr sz="2800" b="1" i="0">
              <a:solidFill>
                <a:srgbClr val="1E2A44"/>
              </a:solidFill>
              <a:latin typeface="Cambria"/>
              <a:ea typeface="Cambria"/>
              <a:cs typeface="Cambria"/>
            </a:endParaRPr>
          </a:p>
        </p:txBody>
      </p:sp>
      <p:pic>
        <p:nvPicPr>
          <p:cNvPr id="13" name="Picture 4"/>
          <p:cNvPicPr>
            <a:picLocks noChangeAspect="1"/>
          </p:cNvPicPr>
          <p:nvPr/>
        </p:nvPicPr>
        <p:blipFill>
          <a:blip r:embed="rId3"/>
          <a:stretch>
            <a:fillRect/>
          </a:stretch>
        </p:blipFill>
        <p:spPr>
          <a:xfrm>
            <a:off x="2317573" y="1536192"/>
            <a:ext cx="7556547" cy="4114800"/>
          </a:xfrm>
          <a:prstGeom prst="rect">
            <a:avLst/>
          </a:prstGeom>
        </p:spPr>
      </p:pic>
      <p:sp>
        <p:nvSpPr>
          <p:cNvPr id="6" name="TextBox 5">
            <a:extLst>
              <a:ext uri="{FF2B5EF4-FFF2-40B4-BE49-F238E27FC236}">
                <a16:creationId xmlns:a16="http://schemas.microsoft.com/office/drawing/2014/main" id="{CC3BCC33-3350-4040-84ED-BA074021AAC4}"/>
              </a:ext>
            </a:extLst>
          </p:cNvPr>
          <p:cNvSpPr>
            <a:spLocks noGrp="1"/>
          </p:cNvSpPr>
          <p:nvPr/>
        </p:nvSpPr>
        <p:spPr>
          <a:xfrm>
            <a:off x="822960" y="5989320"/>
            <a:ext cx="10515600" cy="313932"/>
          </a:xfrm>
          <a:prstGeom prst="rect">
            <a:avLst/>
          </a:prstGeom>
          <a:noFill/>
        </p:spPr>
        <p:txBody>
          <a:bodyPr wrap="square" lIns="36576" tIns="18288" rIns="36576" bIns="18288">
            <a:spAutoFit/>
          </a:bodyPr>
          <a:lstStyle/>
          <a:p>
            <a:pPr algn="ctr">
              <a:buNone/>
            </a:pPr>
            <a:r>
              <a:rPr b="0" i="1">
                <a:solidFill>
                  <a:srgbClr val="64748C"/>
                </a:solidFill>
                <a:latin typeface="Calibri"/>
                <a:ea typeface="Calibri"/>
                <a:cs typeface="Calibri"/>
              </a:rPr>
              <a:t>H4’s width-extended run (16–27 qubits) is a separate regime from the primary corpus (≤ 8 qubits).</a:t>
            </a:r>
          </a:p>
        </p:txBody>
      </p:sp>
      <p:sp>
        <p:nvSpPr>
          <p:cNvPr id="7" name="TextBox 6">
            <a:extLst>
              <a:ext uri="{FF2B5EF4-FFF2-40B4-BE49-F238E27FC236}">
                <a16:creationId xmlns:a16="http://schemas.microsoft.com/office/drawing/2014/main" id="{1F237505-BBEA-46BC-BF8F-8DE6CCDE4874}"/>
              </a:ext>
            </a:extLst>
          </p:cNvPr>
          <p:cNvSpPr>
            <a:spLocks noGrp="1"/>
          </p:cNvSpPr>
          <p:nvPr/>
        </p:nvSpPr>
        <p:spPr>
          <a:xfrm>
            <a:off x="640080" y="6522720"/>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8" name="TextBox 7">
            <a:extLst>
              <a:ext uri="{FF2B5EF4-FFF2-40B4-BE49-F238E27FC236}">
                <a16:creationId xmlns:a16="http://schemas.microsoft.com/office/drawing/2014/main" id="{AF2DF4FF-E661-430F-BA7B-034565A8AB14}"/>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16</a:t>
            </a:r>
          </a:p>
        </p:txBody>
      </p:sp>
      <p:pic>
        <p:nvPicPr>
          <p:cNvPr id="9"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725505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6FCC9C-B16B-46D3-BB91-4CF37729953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F0917B84-7C34-4C75-920A-102F04D90C0A}"/>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INITIAL RESULTS</a:t>
            </a:r>
          </a:p>
        </p:txBody>
      </p:sp>
      <p:sp>
        <p:nvSpPr>
          <p:cNvPr id="4" name="TextBox 3">
            <a:extLst>
              <a:ext uri="{FF2B5EF4-FFF2-40B4-BE49-F238E27FC236}">
                <a16:creationId xmlns:a16="http://schemas.microsoft.com/office/drawing/2014/main" id="{B64DE266-81D2-406C-9C5A-73D5D8CE1E67}"/>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a:solidFill>
                  <a:srgbClr val="1E2A44"/>
                </a:solidFill>
                <a:latin typeface="Cambria"/>
                <a:ea typeface="Cambria"/>
                <a:cs typeface="Cambria"/>
              </a:rPr>
              <a:t>H1 — The Observability Gap on a Real Regression</a:t>
            </a:r>
            <a:endParaRPr sz="3600" b="1" i="0">
              <a:solidFill>
                <a:srgbClr val="1E2A44"/>
              </a:solidFill>
              <a:latin typeface="Cambria"/>
              <a:ea typeface="Cambria"/>
              <a:cs typeface="Cambria"/>
            </a:endParaRPr>
          </a:p>
        </p:txBody>
      </p:sp>
      <p:graphicFrame>
        <p:nvGraphicFramePr>
          <p:cNvPr id="12" name="Table 4"/>
          <p:cNvGraphicFramePr/>
          <p:nvPr/>
        </p:nvGraphicFramePr>
        <p:xfrm>
          <a:off x="603504" y="1554480"/>
          <a:ext cx="10972800" cy="1874520"/>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624840">
                <a:tc>
                  <a:txBody>
                    <a:bodyPr/>
                    <a:lstStyle/>
                    <a:p>
                      <a:r>
                        <a:rPr sz="1800" b="1">
                          <a:solidFill>
                            <a:srgbClr val="FFFFFF"/>
                          </a:solidFill>
                          <a:latin typeface="Calibri"/>
                          <a:ea typeface="Calibri"/>
                          <a:cs typeface="Calibri"/>
                        </a:rPr>
                        <a:t>Oracle</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Result on the buggy build</a:t>
                      </a:r>
                    </a:p>
                  </a:txBody>
                  <a:tcPr marL="54864" marR="54864" marT="18288" marB="18288" anchor="ctr">
                    <a:solidFill>
                      <a:srgbClr val="14264F"/>
                    </a:solidFill>
                  </a:tcPr>
                </a:tc>
                <a:extLst>
                  <a:ext uri="{0D108BD9-81ED-4DB2-BD59-A6C34878D82A}">
                    <a16:rowId xmlns:a16="http://schemas.microsoft.com/office/drawing/2014/main" val="10000"/>
                  </a:ext>
                </a:extLst>
              </a:tr>
              <a:tr h="624840">
                <a:tc>
                  <a:txBody>
                    <a:bodyPr/>
                    <a:lstStyle/>
                    <a:p>
                      <a:r>
                        <a:rPr sz="1800">
                          <a:solidFill>
                            <a:srgbClr val="1E2A44"/>
                          </a:solidFill>
                          <a:latin typeface="Calibri"/>
                          <a:ea typeface="Calibri"/>
                          <a:cs typeface="Calibri"/>
                        </a:rPr>
                        <a:t>Black-box output-equivalence</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EQUIVALENT  (fault missed)</a:t>
                      </a:r>
                    </a:p>
                  </a:txBody>
                  <a:tcPr marL="54864" marR="54864" marT="18288" marB="18288" anchor="ctr">
                    <a:solidFill>
                      <a:srgbClr val="FFFFFF"/>
                    </a:solidFill>
                  </a:tcPr>
                </a:tc>
                <a:extLst>
                  <a:ext uri="{0D108BD9-81ED-4DB2-BD59-A6C34878D82A}">
                    <a16:rowId xmlns:a16="http://schemas.microsoft.com/office/drawing/2014/main" val="10001"/>
                  </a:ext>
                </a:extLst>
              </a:tr>
              <a:tr h="624840">
                <a:tc>
                  <a:txBody>
                    <a:bodyPr/>
                    <a:lstStyle/>
                    <a:p>
                      <a:r>
                        <a:rPr sz="1800">
                          <a:solidFill>
                            <a:srgbClr val="1E2A44"/>
                          </a:solidFill>
                          <a:latin typeface="Calibri"/>
                          <a:ea typeface="Calibri"/>
                          <a:cs typeface="Calibri"/>
                        </a:rPr>
                        <a:t>Property / isolated-pass (matched)</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contract_metadata_fail  (fault detected)</a:t>
                      </a:r>
                    </a:p>
                  </a:txBody>
                  <a:tcPr marL="54864" marR="54864" marT="18288" marB="18288" anchor="ctr">
                    <a:solidFill>
                      <a:srgbClr val="EFF4FA"/>
                    </a:solidFill>
                  </a:tcPr>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2BAD5FF6-DEA3-4AEE-9726-B87CAAA867E7}"/>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6786CB5A-54B9-403E-BA8D-8A0122987F18}"/>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17</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970983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651101-8D89-46E6-BCCA-88496CF4B731}"/>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56CA1D1-AA32-4B72-9AEF-F63E180417A4}"/>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INITIAL RESULTS</a:t>
            </a:r>
          </a:p>
        </p:txBody>
      </p:sp>
      <p:sp>
        <p:nvSpPr>
          <p:cNvPr id="4" name="TextBox 3">
            <a:extLst>
              <a:ext uri="{FF2B5EF4-FFF2-40B4-BE49-F238E27FC236}">
                <a16:creationId xmlns:a16="http://schemas.microsoft.com/office/drawing/2014/main" id="{47E4EA02-D998-4066-847C-BA90C2DCE839}"/>
              </a:ext>
            </a:extLst>
          </p:cNvPr>
          <p:cNvSpPr>
            <a:spLocks noGrp="1"/>
          </p:cNvSpPr>
          <p:nvPr/>
        </p:nvSpPr>
        <p:spPr>
          <a:xfrm>
            <a:off x="640080" y="694944"/>
            <a:ext cx="11155680" cy="467820"/>
          </a:xfrm>
          <a:prstGeom prst="rect">
            <a:avLst/>
          </a:prstGeom>
          <a:noFill/>
        </p:spPr>
        <p:txBody>
          <a:bodyPr wrap="square" lIns="36576" tIns="18288" rIns="36576" bIns="18288">
            <a:spAutoFit/>
          </a:bodyPr>
          <a:lstStyle/>
          <a:p>
            <a:r>
              <a:rPr sz="2200" b="1">
                <a:solidFill>
                  <a:srgbClr val="1E2A44"/>
                </a:solidFill>
                <a:latin typeface="Cambria"/>
                <a:ea typeface="Cambria"/>
                <a:cs typeface="Cambria"/>
              </a:rPr>
              <a:t>Preliminary Oracle-Observability Gap in the 26-Fix Seed</a:t>
            </a:r>
          </a:p>
        </p:txBody>
      </p:sp>
      <p:pic>
        <p:nvPicPr>
          <p:cNvPr id="12" name="Picture 4"/>
          <p:cNvPicPr>
            <a:picLocks noChangeAspect="1"/>
          </p:cNvPicPr>
          <p:nvPr/>
        </p:nvPicPr>
        <p:blipFill>
          <a:blip r:embed="rId3"/>
          <a:stretch>
            <a:fillRect/>
          </a:stretch>
        </p:blipFill>
        <p:spPr>
          <a:xfrm>
            <a:off x="1443018" y="1536192"/>
            <a:ext cx="8483918" cy="4657344"/>
          </a:xfrm>
          <a:prstGeom prst="rect">
            <a:avLst/>
          </a:prstGeom>
        </p:spPr>
      </p:pic>
      <p:sp>
        <p:nvSpPr>
          <p:cNvPr id="6" name="TextBox 5">
            <a:extLst>
              <a:ext uri="{FF2B5EF4-FFF2-40B4-BE49-F238E27FC236}">
                <a16:creationId xmlns:a16="http://schemas.microsoft.com/office/drawing/2014/main" id="{D85E149A-588B-4E75-B543-BDECD3D68802}"/>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3C5F69E2-CC9F-4115-83B2-8F39AE19DC49}"/>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18</a:t>
            </a:r>
          </a:p>
        </p:txBody>
      </p:sp>
      <p:pic>
        <p:nvPicPr>
          <p:cNvPr id="8"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364669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16878-D067-45AD-9C0C-1D35036F2C5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 name="TextBox 2">
            <a:extLst>
              <a:ext uri="{FF2B5EF4-FFF2-40B4-BE49-F238E27FC236}">
                <a16:creationId xmlns:a16="http://schemas.microsoft.com/office/drawing/2014/main" id="{65B6B1E0-06C0-4917-982D-1EB7741EF0C0}"/>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ONE YEAR TO COMPLETION</a:t>
            </a:r>
          </a:p>
        </p:txBody>
      </p:sp>
      <p:sp>
        <p:nvSpPr>
          <p:cNvPr id="4" name="TextBox 3">
            <a:extLst>
              <a:ext uri="{FF2B5EF4-FFF2-40B4-BE49-F238E27FC236}">
                <a16:creationId xmlns:a16="http://schemas.microsoft.com/office/drawing/2014/main" id="{6979C8CD-0AEC-4FF3-B4A6-C202B288E203}"/>
              </a:ext>
            </a:extLst>
          </p:cNvPr>
          <p:cNvSpPr>
            <a:spLocks noGrp="1"/>
          </p:cNvSpPr>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ea typeface="Cambria"/>
                <a:cs typeface="Cambria"/>
              </a:rPr>
              <a:t>Work Plan</a:t>
            </a:r>
          </a:p>
        </p:txBody>
      </p:sp>
      <p:sp>
        <p:nvSpPr>
          <p:cNvPr id="5" name="Rounded Rectangle 4">
            <a:extLst>
              <a:ext uri="{FF2B5EF4-FFF2-40B4-BE49-F238E27FC236}">
                <a16:creationId xmlns:a16="http://schemas.microsoft.com/office/drawing/2014/main" id="{E9E859B2-8564-43A5-9B7E-B7A1899C933A}"/>
              </a:ext>
            </a:extLst>
          </p:cNvPr>
          <p:cNvSpPr>
            <a:spLocks noGrp="1"/>
          </p:cNvSpPr>
          <p:nvPr/>
        </p:nvSpPr>
        <p:spPr>
          <a:xfrm>
            <a:off x="640080" y="1691640"/>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6" name="TextBox 5">
            <a:extLst>
              <a:ext uri="{FF2B5EF4-FFF2-40B4-BE49-F238E27FC236}">
                <a16:creationId xmlns:a16="http://schemas.microsoft.com/office/drawing/2014/main" id="{452A6679-4DA9-4390-9284-EC3FAFE92153}"/>
              </a:ext>
            </a:extLst>
          </p:cNvPr>
          <p:cNvSpPr>
            <a:spLocks noGrp="1"/>
          </p:cNvSpPr>
          <p:nvPr/>
        </p:nvSpPr>
        <p:spPr>
          <a:xfrm>
            <a:off x="868680" y="1930765"/>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1</a:t>
            </a:r>
          </a:p>
        </p:txBody>
      </p:sp>
      <p:sp>
        <p:nvSpPr>
          <p:cNvPr id="7" name="TextBox 6">
            <a:extLst>
              <a:ext uri="{FF2B5EF4-FFF2-40B4-BE49-F238E27FC236}">
                <a16:creationId xmlns:a16="http://schemas.microsoft.com/office/drawing/2014/main" id="{4E7953E0-8BFE-4D90-AF7D-DFDE9AFF46CF}"/>
              </a:ext>
            </a:extLst>
          </p:cNvPr>
          <p:cNvSpPr>
            <a:spLocks noGrp="1"/>
          </p:cNvSpPr>
          <p:nvPr/>
        </p:nvSpPr>
        <p:spPr>
          <a:xfrm>
            <a:off x="2194560" y="1715322"/>
            <a:ext cx="6583680" cy="775597"/>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Feasibility study (methodology, prototype, initial results)</a:t>
            </a:r>
          </a:p>
        </p:txBody>
      </p:sp>
      <p:sp>
        <p:nvSpPr>
          <p:cNvPr id="8" name="Rounded Rectangle 7">
            <a:extLst>
              <a:ext uri="{FF2B5EF4-FFF2-40B4-BE49-F238E27FC236}">
                <a16:creationId xmlns:a16="http://schemas.microsoft.com/office/drawing/2014/main" id="{4B18FC87-E5DC-458B-881C-496DDB763E44}"/>
              </a:ext>
            </a:extLst>
          </p:cNvPr>
          <p:cNvSpPr>
            <a:spLocks noGrp="1"/>
          </p:cNvSpPr>
          <p:nvPr/>
        </p:nvSpPr>
        <p:spPr>
          <a:xfrm>
            <a:off x="9646920" y="1892808"/>
            <a:ext cx="1737360" cy="420624"/>
          </a:xfrm>
          <a:prstGeom prst="roundRect">
            <a:avLst>
              <a:gd name="adj" fmla="val 50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Completed</a:t>
            </a:r>
          </a:p>
        </p:txBody>
      </p:sp>
      <p:sp>
        <p:nvSpPr>
          <p:cNvPr id="9" name="Rounded Rectangle 8">
            <a:extLst>
              <a:ext uri="{FF2B5EF4-FFF2-40B4-BE49-F238E27FC236}">
                <a16:creationId xmlns:a16="http://schemas.microsoft.com/office/drawing/2014/main" id="{4020C9AE-9FFA-4262-AF72-6FFA9C75EA3D}"/>
              </a:ext>
            </a:extLst>
          </p:cNvPr>
          <p:cNvSpPr>
            <a:spLocks noGrp="1"/>
          </p:cNvSpPr>
          <p:nvPr/>
        </p:nvSpPr>
        <p:spPr>
          <a:xfrm>
            <a:off x="640080" y="2633472"/>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0" name="TextBox 9">
            <a:extLst>
              <a:ext uri="{FF2B5EF4-FFF2-40B4-BE49-F238E27FC236}">
                <a16:creationId xmlns:a16="http://schemas.microsoft.com/office/drawing/2014/main" id="{CBEF09BB-8895-4175-BC97-4561D7E4D987}"/>
              </a:ext>
            </a:extLst>
          </p:cNvPr>
          <p:cNvSpPr>
            <a:spLocks noGrp="1"/>
          </p:cNvSpPr>
          <p:nvPr/>
        </p:nvSpPr>
        <p:spPr>
          <a:xfrm>
            <a:off x="868680" y="2872597"/>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2</a:t>
            </a:r>
          </a:p>
        </p:txBody>
      </p:sp>
      <p:sp>
        <p:nvSpPr>
          <p:cNvPr id="11" name="TextBox 10">
            <a:extLst>
              <a:ext uri="{FF2B5EF4-FFF2-40B4-BE49-F238E27FC236}">
                <a16:creationId xmlns:a16="http://schemas.microsoft.com/office/drawing/2014/main" id="{AC0B8176-103F-4058-B15B-FAA128915C68}"/>
              </a:ext>
            </a:extLst>
          </p:cNvPr>
          <p:cNvSpPr>
            <a:spLocks noGrp="1"/>
          </p:cNvSpPr>
          <p:nvPr/>
        </p:nvSpPr>
        <p:spPr>
          <a:xfrm>
            <a:off x="2194560" y="2657154"/>
            <a:ext cx="6583680" cy="775597"/>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Scale-up: verify ≥ 3 forward regressions, expand mining</a:t>
            </a:r>
          </a:p>
        </p:txBody>
      </p:sp>
      <p:sp>
        <p:nvSpPr>
          <p:cNvPr id="12" name="Rounded Rectangle 11">
            <a:extLst>
              <a:ext uri="{FF2B5EF4-FFF2-40B4-BE49-F238E27FC236}">
                <a16:creationId xmlns:a16="http://schemas.microsoft.com/office/drawing/2014/main" id="{64DDF4AC-3BB7-4868-B575-46A2FDF4200E}"/>
              </a:ext>
            </a:extLst>
          </p:cNvPr>
          <p:cNvSpPr>
            <a:spLocks noGrp="1"/>
          </p:cNvSpPr>
          <p:nvPr/>
        </p:nvSpPr>
        <p:spPr>
          <a:xfrm>
            <a:off x="9646920" y="2834640"/>
            <a:ext cx="1737360" cy="420624"/>
          </a:xfrm>
          <a:prstGeom prst="roundRect">
            <a:avLst>
              <a:gd name="adj" fmla="val 50000"/>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2026 Q3</a:t>
            </a:r>
          </a:p>
        </p:txBody>
      </p:sp>
      <p:sp>
        <p:nvSpPr>
          <p:cNvPr id="13" name="Rounded Rectangle 12">
            <a:extLst>
              <a:ext uri="{FF2B5EF4-FFF2-40B4-BE49-F238E27FC236}">
                <a16:creationId xmlns:a16="http://schemas.microsoft.com/office/drawing/2014/main" id="{50CBC46D-AD09-4FA8-A293-BE4C7969F464}"/>
              </a:ext>
            </a:extLst>
          </p:cNvPr>
          <p:cNvSpPr>
            <a:spLocks noGrp="1"/>
          </p:cNvSpPr>
          <p:nvPr/>
        </p:nvSpPr>
        <p:spPr>
          <a:xfrm>
            <a:off x="640080" y="3575304"/>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4" name="TextBox 13">
            <a:extLst>
              <a:ext uri="{FF2B5EF4-FFF2-40B4-BE49-F238E27FC236}">
                <a16:creationId xmlns:a16="http://schemas.microsoft.com/office/drawing/2014/main" id="{2AD24F88-EDCB-44A1-8855-A802536F463B}"/>
              </a:ext>
            </a:extLst>
          </p:cNvPr>
          <p:cNvSpPr>
            <a:spLocks noGrp="1"/>
          </p:cNvSpPr>
          <p:nvPr/>
        </p:nvSpPr>
        <p:spPr>
          <a:xfrm>
            <a:off x="868680" y="3814429"/>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3</a:t>
            </a:r>
          </a:p>
        </p:txBody>
      </p:sp>
      <p:sp>
        <p:nvSpPr>
          <p:cNvPr id="15" name="TextBox 14">
            <a:extLst>
              <a:ext uri="{FF2B5EF4-FFF2-40B4-BE49-F238E27FC236}">
                <a16:creationId xmlns:a16="http://schemas.microsoft.com/office/drawing/2014/main" id="{18D33876-628D-4A36-956D-6CC5F8C78C8C}"/>
              </a:ext>
            </a:extLst>
          </p:cNvPr>
          <p:cNvSpPr>
            <a:spLocks noGrp="1"/>
          </p:cNvSpPr>
          <p:nvPr/>
        </p:nvSpPr>
        <p:spPr>
          <a:xfrm>
            <a:off x="2194560" y="3783652"/>
            <a:ext cx="6583680" cy="406265"/>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Comparison: selector vs baselines</a:t>
            </a:r>
          </a:p>
        </p:txBody>
      </p:sp>
      <p:sp>
        <p:nvSpPr>
          <p:cNvPr id="16" name="Rounded Rectangle 15">
            <a:extLst>
              <a:ext uri="{FF2B5EF4-FFF2-40B4-BE49-F238E27FC236}">
                <a16:creationId xmlns:a16="http://schemas.microsoft.com/office/drawing/2014/main" id="{9EABDD43-6015-4A86-B664-3D44E1D358C6}"/>
              </a:ext>
            </a:extLst>
          </p:cNvPr>
          <p:cNvSpPr>
            <a:spLocks noGrp="1"/>
          </p:cNvSpPr>
          <p:nvPr/>
        </p:nvSpPr>
        <p:spPr>
          <a:xfrm>
            <a:off x="9646920" y="3776472"/>
            <a:ext cx="1737360" cy="420624"/>
          </a:xfrm>
          <a:prstGeom prst="roundRect">
            <a:avLst>
              <a:gd name="adj" fmla="val 50000"/>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2026 Q4</a:t>
            </a:r>
          </a:p>
        </p:txBody>
      </p:sp>
      <p:sp>
        <p:nvSpPr>
          <p:cNvPr id="17" name="Rounded Rectangle 16">
            <a:extLst>
              <a:ext uri="{FF2B5EF4-FFF2-40B4-BE49-F238E27FC236}">
                <a16:creationId xmlns:a16="http://schemas.microsoft.com/office/drawing/2014/main" id="{509FA3EC-233F-42DD-AD97-41EE71AAA85D}"/>
              </a:ext>
            </a:extLst>
          </p:cNvPr>
          <p:cNvSpPr>
            <a:spLocks noGrp="1"/>
          </p:cNvSpPr>
          <p:nvPr/>
        </p:nvSpPr>
        <p:spPr>
          <a:xfrm>
            <a:off x="640080" y="4517136"/>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8" name="TextBox 17">
            <a:extLst>
              <a:ext uri="{FF2B5EF4-FFF2-40B4-BE49-F238E27FC236}">
                <a16:creationId xmlns:a16="http://schemas.microsoft.com/office/drawing/2014/main" id="{87F25AA7-34B9-4780-97ED-7B5F857AEC3C}"/>
              </a:ext>
            </a:extLst>
          </p:cNvPr>
          <p:cNvSpPr>
            <a:spLocks noGrp="1"/>
          </p:cNvSpPr>
          <p:nvPr/>
        </p:nvSpPr>
        <p:spPr>
          <a:xfrm>
            <a:off x="868680" y="4756261"/>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4</a:t>
            </a:r>
          </a:p>
        </p:txBody>
      </p:sp>
      <p:sp>
        <p:nvSpPr>
          <p:cNvPr id="19" name="TextBox 18">
            <a:extLst>
              <a:ext uri="{FF2B5EF4-FFF2-40B4-BE49-F238E27FC236}">
                <a16:creationId xmlns:a16="http://schemas.microsoft.com/office/drawing/2014/main" id="{0FAF50A4-8E23-467E-8C2A-D11D49FF3F8B}"/>
              </a:ext>
            </a:extLst>
          </p:cNvPr>
          <p:cNvSpPr>
            <a:spLocks noGrp="1"/>
          </p:cNvSpPr>
          <p:nvPr/>
        </p:nvSpPr>
        <p:spPr>
          <a:xfrm>
            <a:off x="2194560" y="4725484"/>
            <a:ext cx="6583680" cy="406265"/>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Validation and cross-SDK generalisation</a:t>
            </a:r>
          </a:p>
        </p:txBody>
      </p:sp>
      <p:sp>
        <p:nvSpPr>
          <p:cNvPr id="20" name="Rounded Rectangle 19">
            <a:extLst>
              <a:ext uri="{FF2B5EF4-FFF2-40B4-BE49-F238E27FC236}">
                <a16:creationId xmlns:a16="http://schemas.microsoft.com/office/drawing/2014/main" id="{BA4F3751-B3A0-40D8-B61C-7B5061BDD9B8}"/>
              </a:ext>
            </a:extLst>
          </p:cNvPr>
          <p:cNvSpPr>
            <a:spLocks noGrp="1"/>
          </p:cNvSpPr>
          <p:nvPr/>
        </p:nvSpPr>
        <p:spPr>
          <a:xfrm>
            <a:off x="9646920" y="4718304"/>
            <a:ext cx="1737360" cy="420624"/>
          </a:xfrm>
          <a:prstGeom prst="roundRect">
            <a:avLst>
              <a:gd name="adj" fmla="val 50000"/>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2027 Q1</a:t>
            </a:r>
          </a:p>
        </p:txBody>
      </p:sp>
      <p:sp>
        <p:nvSpPr>
          <p:cNvPr id="21" name="Rounded Rectangle 20">
            <a:extLst>
              <a:ext uri="{FF2B5EF4-FFF2-40B4-BE49-F238E27FC236}">
                <a16:creationId xmlns:a16="http://schemas.microsoft.com/office/drawing/2014/main" id="{4706F9CE-B7F7-4A2B-B50E-8F22E697FC37}"/>
              </a:ext>
            </a:extLst>
          </p:cNvPr>
          <p:cNvSpPr>
            <a:spLocks noGrp="1"/>
          </p:cNvSpPr>
          <p:nvPr/>
        </p:nvSpPr>
        <p:spPr>
          <a:xfrm>
            <a:off x="640080" y="5458968"/>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22" name="TextBox 21">
            <a:extLst>
              <a:ext uri="{FF2B5EF4-FFF2-40B4-BE49-F238E27FC236}">
                <a16:creationId xmlns:a16="http://schemas.microsoft.com/office/drawing/2014/main" id="{F59ACECC-52B5-4F16-AF89-5F2B958553F8}"/>
              </a:ext>
            </a:extLst>
          </p:cNvPr>
          <p:cNvSpPr>
            <a:spLocks noGrp="1"/>
          </p:cNvSpPr>
          <p:nvPr/>
        </p:nvSpPr>
        <p:spPr>
          <a:xfrm>
            <a:off x="868680" y="5698093"/>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5</a:t>
            </a:r>
          </a:p>
        </p:txBody>
      </p:sp>
      <p:sp>
        <p:nvSpPr>
          <p:cNvPr id="23" name="TextBox 22">
            <a:extLst>
              <a:ext uri="{FF2B5EF4-FFF2-40B4-BE49-F238E27FC236}">
                <a16:creationId xmlns:a16="http://schemas.microsoft.com/office/drawing/2014/main" id="{92B94D08-3D48-429F-B7D7-2BE9CF96F494}"/>
              </a:ext>
            </a:extLst>
          </p:cNvPr>
          <p:cNvSpPr>
            <a:spLocks noGrp="1"/>
          </p:cNvSpPr>
          <p:nvPr/>
        </p:nvSpPr>
        <p:spPr>
          <a:xfrm>
            <a:off x="2194560" y="5667316"/>
            <a:ext cx="6583680" cy="406265"/>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Thesis write-up and defence</a:t>
            </a:r>
          </a:p>
        </p:txBody>
      </p:sp>
      <p:sp>
        <p:nvSpPr>
          <p:cNvPr id="24" name="Rounded Rectangle 23">
            <a:extLst>
              <a:ext uri="{FF2B5EF4-FFF2-40B4-BE49-F238E27FC236}">
                <a16:creationId xmlns:a16="http://schemas.microsoft.com/office/drawing/2014/main" id="{D1AAF488-C579-4685-B7A2-F2BB3979A072}"/>
              </a:ext>
            </a:extLst>
          </p:cNvPr>
          <p:cNvSpPr>
            <a:spLocks noGrp="1"/>
          </p:cNvSpPr>
          <p:nvPr/>
        </p:nvSpPr>
        <p:spPr>
          <a:xfrm>
            <a:off x="9646920" y="5660136"/>
            <a:ext cx="1737360" cy="420624"/>
          </a:xfrm>
          <a:prstGeom prst="roundRect">
            <a:avLst>
              <a:gd name="adj" fmla="val 50000"/>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2027 Q2</a:t>
            </a:r>
          </a:p>
        </p:txBody>
      </p:sp>
      <p:sp>
        <p:nvSpPr>
          <p:cNvPr id="25" name="TextBox 24">
            <a:extLst>
              <a:ext uri="{FF2B5EF4-FFF2-40B4-BE49-F238E27FC236}">
                <a16:creationId xmlns:a16="http://schemas.microsoft.com/office/drawing/2014/main" id="{3657C8E0-1C3E-4EA9-913F-5697E57BCFF2}"/>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26" name="TextBox 25">
            <a:extLst>
              <a:ext uri="{FF2B5EF4-FFF2-40B4-BE49-F238E27FC236}">
                <a16:creationId xmlns:a16="http://schemas.microsoft.com/office/drawing/2014/main" id="{EA8A3C2D-68DD-4B00-BA95-B4F35861ED31}"/>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100" b="1" i="0">
                <a:solidFill>
                  <a:srgbClr val="64748C"/>
                </a:solidFill>
                <a:latin typeface="Calibri"/>
                <a:ea typeface="Calibri"/>
                <a:cs typeface="Calibri"/>
              </a:rPr>
              <a:t>19</a:t>
            </a:r>
          </a:p>
        </p:txBody>
      </p:sp>
      <p:pic>
        <p:nvPicPr>
          <p:cNvPr id="27"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746125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D7CDC-C79D-4DE3-A309-C8F56E2465D9}"/>
              </a:ext>
            </a:extLst>
          </p:cNvPr>
          <p:cNvSpPr>
            <a:spLocks noGrp="1"/>
          </p:cNvSpPr>
          <p:nvPr/>
        </p:nvSpPr>
        <p:spPr>
          <a:xfrm>
            <a:off x="0" y="0"/>
            <a:ext cx="12191695" cy="6858000"/>
          </a:xfrm>
          <a:prstGeom prst="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4" name="TextBox 3">
            <a:extLst>
              <a:ext uri="{FF2B5EF4-FFF2-40B4-BE49-F238E27FC236}">
                <a16:creationId xmlns:a16="http://schemas.microsoft.com/office/drawing/2014/main" id="{181F7429-6D03-4ECA-B880-8C6802A6778D}"/>
              </a:ext>
            </a:extLst>
          </p:cNvPr>
          <p:cNvSpPr>
            <a:spLocks noGrp="1"/>
          </p:cNvSpPr>
          <p:nvPr/>
        </p:nvSpPr>
        <p:spPr>
          <a:xfrm>
            <a:off x="822960" y="822960"/>
            <a:ext cx="100584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SUMMARY</a:t>
            </a:r>
          </a:p>
        </p:txBody>
      </p:sp>
      <p:sp>
        <p:nvSpPr>
          <p:cNvPr id="5" name="TextBox 4">
            <a:extLst>
              <a:ext uri="{FF2B5EF4-FFF2-40B4-BE49-F238E27FC236}">
                <a16:creationId xmlns:a16="http://schemas.microsoft.com/office/drawing/2014/main" id="{D91E49F6-7C11-47FE-9999-08CDE5CD66EC}"/>
              </a:ext>
            </a:extLst>
          </p:cNvPr>
          <p:cNvSpPr>
            <a:spLocks noGrp="1"/>
          </p:cNvSpPr>
          <p:nvPr/>
        </p:nvSpPr>
        <p:spPr>
          <a:xfrm>
            <a:off x="822960" y="1234440"/>
            <a:ext cx="10424160" cy="652486"/>
          </a:xfrm>
          <a:prstGeom prst="rect">
            <a:avLst/>
          </a:prstGeom>
          <a:noFill/>
        </p:spPr>
        <p:txBody>
          <a:bodyPr wrap="square" lIns="36576" tIns="18288" rIns="36576" bIns="18288">
            <a:spAutoFit/>
          </a:bodyPr>
          <a:lstStyle/>
          <a:p>
            <a:r>
              <a:rPr sz="4000" b="1" i="0">
                <a:solidFill>
                  <a:srgbClr val="FFFFFF"/>
                </a:solidFill>
                <a:latin typeface="Cambria"/>
                <a:ea typeface="Cambria"/>
                <a:cs typeface="Cambria"/>
              </a:rPr>
              <a:t>Where We Stand</a:t>
            </a:r>
          </a:p>
        </p:txBody>
      </p:sp>
      <p:sp>
        <p:nvSpPr>
          <p:cNvPr id="6" name="TextBox 5">
            <a:extLst>
              <a:ext uri="{FF2B5EF4-FFF2-40B4-BE49-F238E27FC236}">
                <a16:creationId xmlns:a16="http://schemas.microsoft.com/office/drawing/2014/main" id="{110AA47C-FE17-4F88-8B7E-2BB6299DF0EC}"/>
              </a:ext>
            </a:extLst>
          </p:cNvPr>
          <p:cNvSpPr>
            <a:spLocks noGrp="1"/>
          </p:cNvSpPr>
          <p:nvPr/>
        </p:nvSpPr>
        <p:spPr>
          <a:xfrm>
            <a:off x="868680" y="2286000"/>
            <a:ext cx="10607040" cy="3032625"/>
          </a:xfrm>
          <a:prstGeom prst="rect">
            <a:avLst/>
          </a:prstGeom>
          <a:noFill/>
        </p:spPr>
        <p:txBody>
          <a:bodyPr wrap="square" lIns="36576" tIns="18288" rIns="36576" bIns="18288">
            <a:spAutoFit/>
          </a:bodyPr>
          <a:lstStyle/>
          <a:p>
            <a:pPr>
              <a:spcAft>
                <a:spcPts val="1600"/>
              </a:spcAft>
              <a:buNone/>
            </a:pPr>
            <a:r>
              <a:rPr sz="2800" b="1" i="0">
                <a:solidFill>
                  <a:srgbClr val="14B8A6"/>
                </a:solidFill>
                <a:latin typeface="Calibri"/>
                <a:ea typeface="Calibri"/>
                <a:cs typeface="Calibri"/>
              </a:rPr>
              <a:t>▪  </a:t>
            </a:r>
            <a:r>
              <a:rPr sz="2800" b="0" i="0">
                <a:solidFill>
                  <a:srgbClr val="D5E3F7"/>
                </a:solidFill>
                <a:latin typeface="Calibri"/>
                <a:ea typeface="Calibri"/>
                <a:cs typeface="Calibri"/>
              </a:rPr>
              <a:t>The prototype is feasible and has produced usable evidence on two real historical regression events.</a:t>
            </a:r>
          </a:p>
          <a:p>
            <a:pPr>
              <a:spcAft>
                <a:spcPts val="1600"/>
              </a:spcAft>
              <a:buNone/>
            </a:pPr>
            <a:r>
              <a:rPr sz="2800" b="1" i="0">
                <a:solidFill>
                  <a:srgbClr val="14B8A6"/>
                </a:solidFill>
                <a:latin typeface="Calibri"/>
                <a:ea typeface="Calibri"/>
                <a:cs typeface="Calibri"/>
              </a:rPr>
              <a:t>▪  </a:t>
            </a:r>
            <a:r>
              <a:rPr sz="2800" b="0" i="0">
                <a:solidFill>
                  <a:srgbClr val="D5E3F7"/>
                </a:solidFill>
                <a:latin typeface="Calibri"/>
                <a:ea typeface="Calibri"/>
                <a:cs typeface="Calibri"/>
              </a:rPr>
              <a:t>One real contract regression (H1) shows the reference screen can miss a fault a matched oracle detects.</a:t>
            </a:r>
          </a:p>
          <a:p>
            <a:pPr>
              <a:spcAft>
                <a:spcPts val="1600"/>
              </a:spcAft>
              <a:buNone/>
            </a:pPr>
            <a:r>
              <a:rPr sz="2800" b="1" i="0">
                <a:solidFill>
                  <a:srgbClr val="14B8A6"/>
                </a:solidFill>
                <a:latin typeface="Calibri"/>
                <a:ea typeface="Calibri"/>
                <a:cs typeface="Calibri"/>
              </a:rPr>
              <a:t>▪  </a:t>
            </a:r>
            <a:r>
              <a:rPr sz="2800" b="0" i="0">
                <a:solidFill>
                  <a:srgbClr val="D5E3F7"/>
                </a:solidFill>
                <a:latin typeface="Calibri"/>
                <a:ea typeface="Calibri"/>
                <a:cs typeface="Calibri"/>
              </a:rPr>
              <a:t>The 26-fix seed indicates a potentially material gap. Full mining and the comparative selector evaluation remain future work.</a:t>
            </a:r>
          </a:p>
        </p:txBody>
      </p:sp>
      <p:sp>
        <p:nvSpPr>
          <p:cNvPr id="7" name="TextBox 6">
            <a:extLst>
              <a:ext uri="{FF2B5EF4-FFF2-40B4-BE49-F238E27FC236}">
                <a16:creationId xmlns:a16="http://schemas.microsoft.com/office/drawing/2014/main" id="{0B5643E2-6709-4035-87B8-17CB762E6205}"/>
              </a:ext>
            </a:extLst>
          </p:cNvPr>
          <p:cNvSpPr>
            <a:spLocks noGrp="1"/>
          </p:cNvSpPr>
          <p:nvPr/>
        </p:nvSpPr>
        <p:spPr>
          <a:xfrm>
            <a:off x="822960" y="5529644"/>
            <a:ext cx="10515600" cy="344710"/>
          </a:xfrm>
          <a:prstGeom prst="rect">
            <a:avLst/>
          </a:prstGeom>
          <a:noFill/>
        </p:spPr>
        <p:txBody>
          <a:bodyPr wrap="square" lIns="36576" tIns="18288" rIns="36576" bIns="18288">
            <a:spAutoFit/>
          </a:bodyPr>
          <a:lstStyle/>
          <a:p>
            <a:r>
              <a:rPr sz="2000" b="1" i="0">
                <a:solidFill>
                  <a:srgbClr val="14B8A6"/>
                </a:solidFill>
                <a:latin typeface="Calibri"/>
                <a:ea typeface="Calibri"/>
                <a:cs typeface="Calibri"/>
              </a:rPr>
              <a:t>Thank you  —  Questions &amp; discussion</a:t>
            </a:r>
          </a:p>
        </p:txBody>
      </p:sp>
      <p:sp>
        <p:nvSpPr>
          <p:cNvPr id="8" name="TextBox 7">
            <a:extLst>
              <a:ext uri="{FF2B5EF4-FFF2-40B4-BE49-F238E27FC236}">
                <a16:creationId xmlns:a16="http://schemas.microsoft.com/office/drawing/2014/main" id="{4207FEAB-4593-4383-8DD5-9730033A9DF8}"/>
              </a:ext>
            </a:extLst>
          </p:cNvPr>
          <p:cNvSpPr>
            <a:spLocks noGrp="1"/>
          </p:cNvSpPr>
          <p:nvPr/>
        </p:nvSpPr>
        <p:spPr>
          <a:xfrm>
            <a:off x="11656115" y="6473952"/>
            <a:ext cx="322525" cy="253916"/>
          </a:xfrm>
          <a:prstGeom prst="rect">
            <a:avLst/>
          </a:prstGeom>
          <a:noFill/>
        </p:spPr>
        <p:txBody>
          <a:bodyPr wrap="none">
            <a:spAutoFit/>
          </a:bodyPr>
          <a:lstStyle/>
          <a:p>
            <a:pPr algn="r">
              <a:buNone/>
            </a:pPr>
            <a:r>
              <a:rPr sz="1050" b="1">
                <a:solidFill>
                  <a:srgbClr val="64748C"/>
                </a:solidFill>
                <a:latin typeface="Calibri"/>
                <a:ea typeface="Calibri"/>
                <a:cs typeface="Calibri"/>
              </a:rPr>
              <a:t>20</a:t>
            </a:r>
          </a:p>
        </p:txBody>
      </p:sp>
    </p:spTree>
    <p:extLst>
      <p:ext uri="{BB962C8B-B14F-4D97-AF65-F5344CB8AC3E}">
        <p14:creationId xmlns:p14="http://schemas.microsoft.com/office/powerpoint/2010/main" val="987700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8A340D-958B-4C2A-86D1-5831CE388BE6}"/>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BF0DF92B-FD78-4ABB-9706-1290489166E5}"/>
              </a:ext>
            </a:extLst>
          </p:cNvPr>
          <p:cNvSpPr>
            <a:spLocks noGrp="1"/>
          </p:cNvSpPr>
          <p:nvPr/>
        </p:nvSpPr>
        <p:spPr>
          <a:xfrm>
            <a:off x="640080" y="457200"/>
            <a:ext cx="1247073" cy="338554"/>
          </a:xfrm>
          <a:prstGeom prst="rect">
            <a:avLst/>
          </a:prstGeom>
          <a:noFill/>
        </p:spPr>
        <p:txBody>
          <a:bodyPr wrap="none">
            <a:spAutoFit/>
          </a:bodyPr>
          <a:lstStyle/>
          <a:p>
            <a:r>
              <a:rPr sz="1600" b="1">
                <a:solidFill>
                  <a:srgbClr val="14B8A6"/>
                </a:solidFill>
                <a:latin typeface="Calibri"/>
                <a:ea typeface="Calibri"/>
                <a:cs typeface="Calibri"/>
              </a:rPr>
              <a:t>REFERENCES</a:t>
            </a:r>
          </a:p>
        </p:txBody>
      </p:sp>
      <p:sp>
        <p:nvSpPr>
          <p:cNvPr id="4" name="TextBox 3">
            <a:extLst>
              <a:ext uri="{FF2B5EF4-FFF2-40B4-BE49-F238E27FC236}">
                <a16:creationId xmlns:a16="http://schemas.microsoft.com/office/drawing/2014/main" id="{8856CC07-39AA-458A-8855-DAD204E36BA2}"/>
              </a:ext>
            </a:extLst>
          </p:cNvPr>
          <p:cNvSpPr>
            <a:spLocks noGrp="1"/>
          </p:cNvSpPr>
          <p:nvPr/>
        </p:nvSpPr>
        <p:spPr>
          <a:xfrm>
            <a:off x="640080" y="777240"/>
            <a:ext cx="4398897" cy="646331"/>
          </a:xfrm>
          <a:prstGeom prst="rect">
            <a:avLst/>
          </a:prstGeom>
          <a:noFill/>
        </p:spPr>
        <p:txBody>
          <a:bodyPr wrap="none">
            <a:spAutoFit/>
          </a:bodyPr>
          <a:lstStyle/>
          <a:p>
            <a:r>
              <a:rPr sz="3600" b="1">
                <a:solidFill>
                  <a:srgbClr val="1E2A44"/>
                </a:solidFill>
                <a:latin typeface="Cambria"/>
                <a:ea typeface="Cambria"/>
                <a:cs typeface="Cambria"/>
              </a:rPr>
              <a:t>Selected References</a:t>
            </a:r>
          </a:p>
        </p:txBody>
      </p:sp>
      <p:sp>
        <p:nvSpPr>
          <p:cNvPr id="5" name="TextBox 4">
            <a:extLst>
              <a:ext uri="{FF2B5EF4-FFF2-40B4-BE49-F238E27FC236}">
                <a16:creationId xmlns:a16="http://schemas.microsoft.com/office/drawing/2014/main" id="{C63FCBF9-8089-4BE9-9F72-CDE5C551908B}"/>
              </a:ext>
            </a:extLst>
          </p:cNvPr>
          <p:cNvSpPr>
            <a:spLocks noGrp="1"/>
          </p:cNvSpPr>
          <p:nvPr/>
        </p:nvSpPr>
        <p:spPr>
          <a:xfrm>
            <a:off x="640080" y="1600200"/>
            <a:ext cx="5486400" cy="4724370"/>
          </a:xfrm>
          <a:prstGeom prst="rect">
            <a:avLst/>
          </a:prstGeom>
          <a:noFill/>
        </p:spPr>
        <p:txBody>
          <a:bodyPr wrap="square">
            <a:spAutoFit/>
          </a:bodyPr>
          <a:lstStyle/>
          <a:p>
            <a:pPr>
              <a:spcAft>
                <a:spcPts val="700"/>
              </a:spcAft>
              <a:buNone/>
            </a:pPr>
            <a:r>
              <a:rPr sz="1100">
                <a:solidFill>
                  <a:srgbClr val="1E2A44"/>
                </a:solidFill>
                <a:latin typeface="Calibri"/>
                <a:ea typeface="Calibri"/>
                <a:cs typeface="Calibri"/>
              </a:rPr>
              <a:t>[1] Paltenghi &amp; Pradel. Bugs in quantum computing platforms: an empirical study. OOPSLA, 2022. arXiv:2110.14560</a:t>
            </a:r>
          </a:p>
          <a:p>
            <a:pPr>
              <a:spcAft>
                <a:spcPts val="700"/>
              </a:spcAft>
              <a:buNone/>
            </a:pPr>
            <a:r>
              <a:rPr sz="1100">
                <a:solidFill>
                  <a:srgbClr val="1E2A44"/>
                </a:solidFill>
                <a:latin typeface="Calibri"/>
                <a:ea typeface="Calibri"/>
                <a:cs typeface="Calibri"/>
              </a:rPr>
              <a:t>[3] Yoo &amp; Harman. Regression testing minimization, selection and prioritisation: a survey. STVR, 2012. doi:10.1002/stvr.430</a:t>
            </a:r>
          </a:p>
          <a:p>
            <a:pPr>
              <a:spcAft>
                <a:spcPts val="700"/>
              </a:spcAft>
              <a:buNone/>
            </a:pPr>
            <a:r>
              <a:rPr sz="1100">
                <a:solidFill>
                  <a:srgbClr val="1E2A44"/>
                </a:solidFill>
                <a:latin typeface="Calibri"/>
                <a:ea typeface="Calibri"/>
                <a:cs typeface="Calibri"/>
              </a:rPr>
              <a:t>[4] Machalica et al. Predictive test selection. ICSE-SEIP, 2019. arXiv:1810.05286</a:t>
            </a:r>
          </a:p>
          <a:p>
            <a:pPr>
              <a:spcAft>
                <a:spcPts val="700"/>
              </a:spcAft>
              <a:buNone/>
            </a:pPr>
            <a:r>
              <a:rPr sz="1100">
                <a:solidFill>
                  <a:srgbClr val="1E2A44"/>
                </a:solidFill>
                <a:latin typeface="Calibri"/>
                <a:ea typeface="Calibri"/>
                <a:cs typeface="Calibri"/>
              </a:rPr>
              <a:t>[5] Paltenghi &amp; Pradel. A survey on testing and analysis of quantum software. arXiv:2410.00650, 2024.</a:t>
            </a:r>
          </a:p>
          <a:p>
            <a:pPr>
              <a:spcAft>
                <a:spcPts val="700"/>
              </a:spcAft>
              <a:buNone/>
            </a:pPr>
            <a:r>
              <a:rPr sz="1100">
                <a:solidFill>
                  <a:srgbClr val="1E2A44"/>
                </a:solidFill>
                <a:latin typeface="Calibri"/>
                <a:ea typeface="Calibri"/>
                <a:cs typeface="Calibri"/>
              </a:rPr>
              <a:t>[6] Burgholzer &amp; Wille. Advanced equivalence checking for quantum circuits. IEEE TCAD, 2021. doi:10.1109/TCAD.2020.3032630</a:t>
            </a:r>
          </a:p>
          <a:p>
            <a:pPr>
              <a:spcAft>
                <a:spcPts val="700"/>
              </a:spcAft>
              <a:buNone/>
            </a:pPr>
            <a:r>
              <a:rPr sz="1100">
                <a:solidFill>
                  <a:srgbClr val="1E2A44"/>
                </a:solidFill>
                <a:latin typeface="Calibri"/>
                <a:ea typeface="Calibri"/>
                <a:cs typeface="Calibri"/>
              </a:rPr>
              <a:t>[7] Paltenghi &amp; Pradel. MorphQ: metamorphic testing of the Qiskit platform. ICSE, 2023. doi:10.1109/ICSE48619.2023.00202</a:t>
            </a:r>
          </a:p>
          <a:p>
            <a:pPr>
              <a:spcAft>
                <a:spcPts val="700"/>
              </a:spcAft>
              <a:buNone/>
            </a:pPr>
            <a:r>
              <a:rPr sz="1100">
                <a:solidFill>
                  <a:srgbClr val="1E2A44"/>
                </a:solidFill>
                <a:latin typeface="Calibri"/>
                <a:ea typeface="Calibri"/>
                <a:cs typeface="Calibri"/>
              </a:rPr>
              <a:t>[8] Javadi-Abhari et al. Quantum computing with Qiskit. arXiv:2405.08810, 2024.</a:t>
            </a:r>
          </a:p>
          <a:p>
            <a:pPr>
              <a:spcAft>
                <a:spcPts val="700"/>
              </a:spcAft>
              <a:buNone/>
            </a:pPr>
            <a:r>
              <a:rPr sz="1100">
                <a:solidFill>
                  <a:srgbClr val="1E2A44"/>
                </a:solidFill>
                <a:latin typeface="Calibri"/>
                <a:ea typeface="Calibri"/>
                <a:cs typeface="Calibri"/>
              </a:rPr>
              <a:t>[14] Elsner et al. Readily available information for regression test optimization in CI. ISSTA, 2021. doi:10.1145/3460319.3464834</a:t>
            </a:r>
          </a:p>
          <a:p>
            <a:pPr>
              <a:spcAft>
                <a:spcPts val="700"/>
              </a:spcAft>
              <a:buNone/>
            </a:pPr>
            <a:r>
              <a:rPr sz="1100">
                <a:solidFill>
                  <a:srgbClr val="1E2A44"/>
                </a:solidFill>
              </a:rPr>
              <a:t>[22] Pontolillo et al. QuCheck: property-based testing for Qiskit. arXiv:2503.22641, 2025.</a:t>
            </a:r>
          </a:p>
          <a:p>
            <a:pPr>
              <a:spcAft>
                <a:spcPts val="700"/>
              </a:spcAft>
              <a:buNone/>
            </a:pPr>
            <a:r>
              <a:rPr sz="1100">
                <a:solidFill>
                  <a:srgbClr val="1E2A44"/>
                </a:solidFill>
              </a:rPr>
              <a:t>[23] Luo et al. QEMI: testing quantum stacks via equivalence modulo inputs. FASE, 2026. arXiv:2602.09942</a:t>
            </a:r>
          </a:p>
          <a:p>
            <a:pPr>
              <a:spcAft>
                <a:spcPts val="700"/>
              </a:spcAft>
              <a:buNone/>
            </a:pPr>
            <a:r>
              <a:rPr sz="1100">
                <a:solidFill>
                  <a:srgbClr val="1E2A44"/>
                </a:solidFill>
              </a:rPr>
              <a:t>[24] Wang et al. QDiff: differential testing of quantum software stacks. ASE, 2021. doi:10.1109/ASE51524.2021.9678792</a:t>
            </a:r>
          </a:p>
          <a:p>
            <a:pPr>
              <a:spcAft>
                <a:spcPts val="700"/>
              </a:spcAft>
              <a:buNone/>
            </a:pPr>
            <a:r>
              <a:rPr sz="1100">
                <a:solidFill>
                  <a:srgbClr val="1E2A44"/>
                </a:solidFill>
              </a:rPr>
              <a:t>[25] Ye et al. QSPE: enumerating skeletal quantum programs. arXiv:2602.00024, 2026.</a:t>
            </a:r>
          </a:p>
          <a:p>
            <a:pPr>
              <a:spcAft>
                <a:spcPts val="700"/>
              </a:spcAft>
              <a:buNone/>
            </a:pPr>
            <a:r>
              <a:rPr sz="1100">
                <a:solidFill>
                  <a:srgbClr val="1E2A44"/>
                </a:solidFill>
              </a:rPr>
              <a:t>[26] Choudhury et al. Concolic testing for quantum compilers. IEEE ICCD, 2025.</a:t>
            </a:r>
            <a:endParaRPr sz="1100">
              <a:solidFill>
                <a:srgbClr val="1E2A44"/>
              </a:solidFill>
              <a:latin typeface="Calibri"/>
              <a:ea typeface="Calibri"/>
              <a:cs typeface="Calibri"/>
            </a:endParaRPr>
          </a:p>
        </p:txBody>
      </p:sp>
      <p:sp>
        <p:nvSpPr>
          <p:cNvPr id="6" name="TextBox 5">
            <a:extLst>
              <a:ext uri="{FF2B5EF4-FFF2-40B4-BE49-F238E27FC236}">
                <a16:creationId xmlns:a16="http://schemas.microsoft.com/office/drawing/2014/main" id="{C550E48F-8D1C-438E-B5D1-F0BCA934522F}"/>
              </a:ext>
            </a:extLst>
          </p:cNvPr>
          <p:cNvSpPr>
            <a:spLocks noGrp="1"/>
          </p:cNvSpPr>
          <p:nvPr/>
        </p:nvSpPr>
        <p:spPr>
          <a:xfrm>
            <a:off x="6263640" y="1600200"/>
            <a:ext cx="5486400" cy="4909036"/>
          </a:xfrm>
          <a:prstGeom prst="rect">
            <a:avLst/>
          </a:prstGeom>
          <a:noFill/>
        </p:spPr>
        <p:txBody>
          <a:bodyPr wrap="square">
            <a:spAutoFit/>
          </a:bodyPr>
          <a:lstStyle/>
          <a:p>
            <a:pPr>
              <a:spcAft>
                <a:spcPts val="700"/>
              </a:spcAft>
              <a:buNone/>
            </a:pPr>
            <a:r>
              <a:rPr sz="1100">
                <a:solidFill>
                  <a:srgbClr val="1E2A44"/>
                </a:solidFill>
                <a:latin typeface="Calibri"/>
                <a:ea typeface="Calibri"/>
                <a:cs typeface="Calibri"/>
              </a:rPr>
              <a:t>doi:10.1109/ICCD65941.2025.00057</a:t>
            </a:r>
          </a:p>
          <a:p>
            <a:pPr>
              <a:spcAft>
                <a:spcPts val="700"/>
              </a:spcAft>
              <a:buNone/>
            </a:pPr>
            <a:r>
              <a:rPr sz="1100">
                <a:solidFill>
                  <a:srgbClr val="1E2A44"/>
                </a:solidFill>
                <a:latin typeface="Calibri"/>
                <a:ea typeface="Calibri"/>
                <a:cs typeface="Calibri"/>
              </a:rPr>
              <a:t>[27] Tao et al. Giallar: push-button verification for the Qiskit compiler. PLDI, 2022. doi:10.1145/3519939.3523431</a:t>
            </a:r>
          </a:p>
          <a:p>
            <a:pPr>
              <a:spcAft>
                <a:spcPts val="700"/>
              </a:spcAft>
              <a:buNone/>
            </a:pPr>
            <a:r>
              <a:rPr sz="1100">
                <a:solidFill>
                  <a:srgbClr val="1E2A44"/>
                </a:solidFill>
                <a:latin typeface="Calibri"/>
                <a:ea typeface="Calibri"/>
                <a:cs typeface="Calibri"/>
              </a:rPr>
              <a:t>[42] Shi et al. Contract-based verification of a realistic quantum compiler (CertiQ). arXiv:1908.08963, 2019.</a:t>
            </a:r>
          </a:p>
          <a:p>
            <a:pPr>
              <a:spcAft>
                <a:spcPts val="700"/>
              </a:spcAft>
              <a:buNone/>
            </a:pPr>
            <a:r>
              <a:rPr sz="1100">
                <a:solidFill>
                  <a:srgbClr val="1E2A44"/>
                </a:solidFill>
                <a:latin typeface="Calibri"/>
                <a:ea typeface="Calibri"/>
                <a:cs typeface="Calibri"/>
              </a:rPr>
              <a:t>[46] Oldfield et al. Faster &amp; better quantum software testing. ACM TOSEM, 2025. doi:10.1145/3714468</a:t>
            </a:r>
          </a:p>
          <a:p>
            <a:pPr>
              <a:spcAft>
                <a:spcPts val="700"/>
              </a:spcAft>
              <a:buNone/>
            </a:pPr>
            <a:r>
              <a:rPr sz="1100">
                <a:solidFill>
                  <a:srgbClr val="1E2A44"/>
                </a:solidFill>
                <a:latin typeface="Calibri"/>
                <a:ea typeface="Calibri"/>
                <a:cs typeface="Calibri"/>
              </a:rPr>
              <a:t>[47] Kang, Lee &amp; Oh. Statistical testing of quantum programs. OOPSLA, 2024. doi:10.1145/3689716</a:t>
            </a:r>
          </a:p>
          <a:p>
            <a:pPr>
              <a:spcAft>
                <a:spcPts val="700"/>
              </a:spcAft>
              <a:buNone/>
            </a:pPr>
            <a:r>
              <a:rPr sz="1100">
                <a:solidFill>
                  <a:srgbClr val="1E2A44"/>
                </a:solidFill>
                <a:latin typeface="Calibri"/>
                <a:ea typeface="Calibri"/>
                <a:cs typeface="Calibri"/>
              </a:rPr>
              <a:t>[48] Lee, Hong &amp; Ryu. Exact inference for quantum circuits. ASE, 2025. doi:10.1109/ASE63991.2025.00203</a:t>
            </a:r>
          </a:p>
          <a:p>
            <a:pPr>
              <a:spcAft>
                <a:spcPts val="600"/>
              </a:spcAft>
              <a:buNone/>
            </a:pPr>
            <a:r>
              <a:rPr sz="1100">
                <a:solidFill>
                  <a:srgbClr val="1E2A44"/>
                </a:solidFill>
                <a:latin typeface="Calibri"/>
                <a:ea typeface="Calibri"/>
                <a:cs typeface="Calibri"/>
              </a:rPr>
              <a:t>[50] Burgholzer, Raymond &amp; Wille. Verifying results of the IBM Qiskit compilation flow. QCE, 2020. doi:10.1109/QCE49297.2020.00051</a:t>
            </a:r>
          </a:p>
          <a:p>
            <a:pPr>
              <a:spcAft>
                <a:spcPts val="600"/>
              </a:spcAft>
              <a:buNone/>
            </a:pPr>
            <a:r>
              <a:rPr sz="1100">
                <a:solidFill>
                  <a:srgbClr val="1E2A44"/>
                </a:solidFill>
                <a:latin typeface="Calibri"/>
                <a:ea typeface="Calibri"/>
                <a:cs typeface="Calibri"/>
              </a:rPr>
              <a:t>[51] Ali et al. Input/output coverage criteria for testing quantum programs. ICST, 2021. doi:10.1109/ICST49551.2021.00014</a:t>
            </a:r>
          </a:p>
          <a:p>
            <a:pPr>
              <a:spcAft>
                <a:spcPts val="600"/>
              </a:spcAft>
              <a:buNone/>
            </a:pPr>
            <a:r>
              <a:rPr sz="1100">
                <a:solidFill>
                  <a:srgbClr val="1E2A44"/>
                </a:solidFill>
                <a:latin typeface="Calibri"/>
                <a:ea typeface="Calibri"/>
                <a:cs typeface="Calibri"/>
              </a:rPr>
              <a:t>[52] Wang et al. QuSBT: search-based testing of quantum programs. ICSE-C, 2022. doi:10.1145/3510454.3516839</a:t>
            </a:r>
          </a:p>
          <a:p>
            <a:pPr>
              <a:spcAft>
                <a:spcPts val="600"/>
              </a:spcAft>
              <a:buNone/>
            </a:pPr>
            <a:r>
              <a:rPr sz="1100">
                <a:solidFill>
                  <a:srgbClr val="1E2A44"/>
                </a:solidFill>
                <a:latin typeface="Calibri"/>
                <a:ea typeface="Calibri"/>
                <a:cs typeface="Calibri"/>
              </a:rPr>
              <a:t>[53] Klimis et al. Shaking up quantum simulators with fuzzing and rigour. OOPSLA, 2025. doi:10.1145/3763100</a:t>
            </a:r>
          </a:p>
          <a:p>
            <a:pPr>
              <a:spcAft>
                <a:spcPts val="600"/>
              </a:spcAft>
              <a:buNone/>
            </a:pPr>
            <a:r>
              <a:rPr sz="1100">
                <a:solidFill>
                  <a:srgbClr val="1E2A44"/>
                </a:solidFill>
                <a:latin typeface="Calibri"/>
                <a:ea typeface="Calibri"/>
                <a:cs typeface="Calibri"/>
              </a:rPr>
              <a:t>[54] Mei et al. Equivalence checking via path-sum &amp; weighted model counting. TACAS, 2026. doi:10.1007/978-3-032-22749-2_21</a:t>
            </a:r>
          </a:p>
          <a:p>
            <a:pPr>
              <a:spcAft>
                <a:spcPts val="600"/>
              </a:spcAft>
              <a:buNone/>
            </a:pPr>
            <a:r>
              <a:rPr sz="1100">
                <a:solidFill>
                  <a:srgbClr val="1E2A44"/>
                </a:solidFill>
                <a:latin typeface="Calibri"/>
                <a:ea typeface="Calibri"/>
                <a:cs typeface="Calibri"/>
              </a:rPr>
              <a:t>[55] Ye et al. Is measurement enough? Rethinking output validation in quantum program testing. ASE (NIER), 2025. arXiv:2509.16595</a:t>
            </a:r>
          </a:p>
        </p:txBody>
      </p:sp>
      <p:sp>
        <p:nvSpPr>
          <p:cNvPr id="7" name="TextBox 6">
            <a:extLst>
              <a:ext uri="{FF2B5EF4-FFF2-40B4-BE49-F238E27FC236}">
                <a16:creationId xmlns:a16="http://schemas.microsoft.com/office/drawing/2014/main" id="{FE3FD7CD-F053-49F3-AA7E-7755429615E0}"/>
              </a:ext>
            </a:extLst>
          </p:cNvPr>
          <p:cNvSpPr>
            <a:spLocks noGrp="1"/>
          </p:cNvSpPr>
          <p:nvPr/>
        </p:nvSpPr>
        <p:spPr>
          <a:xfrm>
            <a:off x="640080" y="6446520"/>
            <a:ext cx="2898550" cy="261610"/>
          </a:xfrm>
          <a:prstGeom prst="rect">
            <a:avLst/>
          </a:prstGeom>
          <a:noFill/>
        </p:spPr>
        <p:txBody>
          <a:bodyPr wrap="none">
            <a:spAutoFit/>
          </a:bodyPr>
          <a:lstStyle/>
          <a:p>
            <a:r>
              <a:rPr sz="1100" i="1">
                <a:solidFill>
                  <a:srgbClr val="64748C"/>
                </a:solidFill>
                <a:latin typeface="Calibri"/>
                <a:ea typeface="Calibri"/>
                <a:cs typeface="Calibri"/>
              </a:rPr>
              <a:t>Numbering follows the proposal's reference list.</a:t>
            </a:r>
          </a:p>
        </p:txBody>
      </p:sp>
      <p:sp>
        <p:nvSpPr>
          <p:cNvPr id="8" name="TextBox 7">
            <a:extLst>
              <a:ext uri="{FF2B5EF4-FFF2-40B4-BE49-F238E27FC236}">
                <a16:creationId xmlns:a16="http://schemas.microsoft.com/office/drawing/2014/main" id="{630E5DCD-8080-4795-B8AC-A015AF865E38}"/>
              </a:ext>
            </a:extLst>
          </p:cNvPr>
          <p:cNvSpPr>
            <a:spLocks noGrp="1"/>
          </p:cNvSpPr>
          <p:nvPr/>
        </p:nvSpPr>
        <p:spPr>
          <a:xfrm>
            <a:off x="11656115" y="6473952"/>
            <a:ext cx="322525" cy="253916"/>
          </a:xfrm>
          <a:prstGeom prst="rect">
            <a:avLst/>
          </a:prstGeom>
          <a:noFill/>
        </p:spPr>
        <p:txBody>
          <a:bodyPr wrap="none">
            <a:spAutoFit/>
          </a:bodyPr>
          <a:lstStyle/>
          <a:p>
            <a:pPr algn="r">
              <a:buNone/>
            </a:pPr>
            <a:r>
              <a:rPr sz="1050" b="1">
                <a:solidFill>
                  <a:srgbClr val="64748C"/>
                </a:solidFill>
                <a:latin typeface="Calibri"/>
                <a:ea typeface="Calibri"/>
                <a:cs typeface="Calibri"/>
              </a:rPr>
              <a:t>21</a:t>
            </a:r>
          </a:p>
        </p:txBody>
      </p:sp>
      <p:pic>
        <p:nvPicPr>
          <p:cNvPr id="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815305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3448BD-4E2B-4CA3-8F96-7D1D2408419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41EC998-A83C-4384-B158-CDC3DB04AB86}"/>
              </a:ext>
            </a:extLst>
          </p:cNvPr>
          <p:cNvSpPr>
            <a:spLocks noGrp="1"/>
          </p:cNvSpPr>
          <p:nvPr/>
        </p:nvSpPr>
        <p:spPr>
          <a:xfrm>
            <a:off x="320040" y="170688"/>
            <a:ext cx="305306" cy="6684907"/>
          </a:xfrm>
          <a:prstGeom prst="rect">
            <a:avLst/>
          </a:prstGeom>
          <a:noFill/>
        </p:spPr>
        <p:txBody>
          <a:bodyPr wrap="square" lIns="36576" tIns="18288" rIns="36576" bIns="18288">
            <a:spAutoFit/>
          </a:bodyPr>
          <a:lstStyle/>
          <a:p>
            <a:r>
              <a:rPr sz="2400" b="1" i="0">
                <a:solidFill>
                  <a:srgbClr val="1E2A44"/>
                </a:solidFill>
                <a:latin typeface="Cambria"/>
                <a:ea typeface="Cambria"/>
                <a:cs typeface="Cambria"/>
              </a:rPr>
              <a:t>Research</a:t>
            </a:r>
          </a:p>
          <a:p>
            <a:r>
              <a:rPr sz="2400" b="1" i="0">
                <a:solidFill>
                  <a:srgbClr val="1E2A44"/>
                </a:solidFill>
                <a:latin typeface="Cambria"/>
                <a:ea typeface="Cambria"/>
                <a:cs typeface="Cambria"/>
              </a:rPr>
              <a:t> Framework</a:t>
            </a:r>
          </a:p>
        </p:txBody>
      </p:sp>
      <p:sp>
        <p:nvSpPr>
          <p:cNvPr id="7" name="TextBox 6">
            <a:extLst>
              <a:ext uri="{FF2B5EF4-FFF2-40B4-BE49-F238E27FC236}">
                <a16:creationId xmlns:a16="http://schemas.microsoft.com/office/drawing/2014/main" id="{A14966CB-4347-404C-8799-50BAEBEDCEA6}"/>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22</a:t>
            </a:r>
          </a:p>
        </p:txBody>
      </p:sp>
      <p:pic>
        <p:nvPicPr>
          <p:cNvPr id="12" name="Picture 7"/>
          <p:cNvPicPr>
            <a:picLocks noChangeAspect="1"/>
          </p:cNvPicPr>
          <p:nvPr/>
        </p:nvPicPr>
        <p:blipFill>
          <a:blip r:embed="rId3"/>
          <a:stretch>
            <a:fillRect/>
          </a:stretch>
        </p:blipFill>
        <p:spPr>
          <a:xfrm>
            <a:off x="945386" y="0"/>
            <a:ext cx="10301228" cy="6858000"/>
          </a:xfrm>
          <a:prstGeom prst="rect">
            <a:avLst/>
          </a:prstGeom>
        </p:spPr>
      </p:pic>
      <p:pic>
        <p:nvPicPr>
          <p:cNvPr id="6"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738777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4D552-4ECD-439C-A1E7-F63F633458DD}"/>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AE308B3F-974A-475A-B62A-CCA30E054592}"/>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14B8A6"/>
                </a:solidFill>
                <a:latin typeface="Calibri"/>
                <a:ea typeface="Calibri"/>
                <a:cs typeface="Calibri"/>
              </a:rPr>
              <a:t>BACKUP — FOR QUESTIONS</a:t>
            </a:r>
          </a:p>
        </p:txBody>
      </p:sp>
      <p:sp>
        <p:nvSpPr>
          <p:cNvPr id="4" name="TextBox 3">
            <a:extLst>
              <a:ext uri="{FF2B5EF4-FFF2-40B4-BE49-F238E27FC236}">
                <a16:creationId xmlns:a16="http://schemas.microsoft.com/office/drawing/2014/main" id="{44F0876A-99B0-4E9E-8F34-520A6198543F}"/>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Pipeline Feasibility: Validity Gates</a:t>
            </a:r>
          </a:p>
        </p:txBody>
      </p:sp>
      <p:graphicFrame>
        <p:nvGraphicFramePr>
          <p:cNvPr id="12" name="Table 4"/>
          <p:cNvGraphicFramePr/>
          <p:nvPr/>
        </p:nvGraphicFramePr>
        <p:xfrm>
          <a:off x="603504" y="1554480"/>
          <a:ext cx="10972800" cy="3030048"/>
        </p:xfrm>
        <a:graphic>
          <a:graphicData uri="http://schemas.openxmlformats.org/drawingml/2006/table">
            <a:tbl>
              <a:tblPr>
                <a:tableStyleId>{5C22544A-7EE6-4342-B048-85BDC9FD1C3A}</a:tableStyleId>
              </a:tblPr>
              <a:tblGrid>
                <a:gridCol w="7315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32864">
                <a:tc>
                  <a:txBody>
                    <a:bodyPr/>
                    <a:lstStyle/>
                    <a:p>
                      <a:r>
                        <a:rPr sz="1800" b="1">
                          <a:solidFill>
                            <a:srgbClr val="FFFFFF"/>
                          </a:solidFill>
                          <a:latin typeface="Calibri"/>
                          <a:ea typeface="Calibri"/>
                          <a:cs typeface="Calibri"/>
                        </a:rPr>
                        <a:t>Implementation-validity gate</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Result</a:t>
                      </a:r>
                    </a:p>
                  </a:txBody>
                  <a:tcPr marL="54864" marR="54864" marT="18288" marB="18288" anchor="ctr">
                    <a:solidFill>
                      <a:srgbClr val="14264F"/>
                    </a:solidFill>
                  </a:tcPr>
                </a:tc>
                <a:extLst>
                  <a:ext uri="{0D108BD9-81ED-4DB2-BD59-A6C34878D82A}">
                    <a16:rowId xmlns:a16="http://schemas.microsoft.com/office/drawing/2014/main" val="10000"/>
                  </a:ext>
                </a:extLst>
              </a:tr>
              <a:tr h="432864">
                <a:tc>
                  <a:txBody>
                    <a:bodyPr/>
                    <a:lstStyle/>
                    <a:p>
                      <a:r>
                        <a:rPr sz="1800">
                          <a:solidFill>
                            <a:srgbClr val="1E2A44"/>
                          </a:solidFill>
                          <a:latin typeface="Calibri"/>
                          <a:ea typeface="Calibri"/>
                          <a:cs typeface="Calibri"/>
                        </a:rPr>
                        <a:t>Budget compliance</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FFFFFF"/>
                    </a:solidFill>
                  </a:tcPr>
                </a:tc>
                <a:extLst>
                  <a:ext uri="{0D108BD9-81ED-4DB2-BD59-A6C34878D82A}">
                    <a16:rowId xmlns:a16="http://schemas.microsoft.com/office/drawing/2014/main" val="10001"/>
                  </a:ext>
                </a:extLst>
              </a:tr>
              <a:tr h="432864">
                <a:tc>
                  <a:txBody>
                    <a:bodyPr/>
                    <a:lstStyle/>
                    <a:p>
                      <a:r>
                        <a:rPr sz="1800">
                          <a:solidFill>
                            <a:srgbClr val="1E2A44"/>
                          </a:solidFill>
                          <a:latin typeface="Calibri"/>
                          <a:ea typeface="Calibri"/>
                          <a:cs typeface="Calibri"/>
                        </a:rPr>
                        <a:t>Reproducibility (same seed ⇒ same ranking)</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EFF4FA"/>
                    </a:solidFill>
                  </a:tcPr>
                </a:tc>
                <a:extLst>
                  <a:ext uri="{0D108BD9-81ED-4DB2-BD59-A6C34878D82A}">
                    <a16:rowId xmlns:a16="http://schemas.microsoft.com/office/drawing/2014/main" val="10002"/>
                  </a:ext>
                </a:extLst>
              </a:tr>
              <a:tr h="432864">
                <a:tc>
                  <a:txBody>
                    <a:bodyPr/>
                    <a:lstStyle/>
                    <a:p>
                      <a:r>
                        <a:rPr sz="1800">
                          <a:solidFill>
                            <a:srgbClr val="1E2A44"/>
                          </a:solidFill>
                          <a:latin typeface="Calibri"/>
                          <a:ea typeface="Calibri"/>
                          <a:cs typeface="Calibri"/>
                        </a:rPr>
                        <a:t>Leakage absence (current-event outcome cannot change ranking)</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FFFFFF"/>
                    </a:solidFill>
                  </a:tcPr>
                </a:tc>
                <a:extLst>
                  <a:ext uri="{0D108BD9-81ED-4DB2-BD59-A6C34878D82A}">
                    <a16:rowId xmlns:a16="http://schemas.microsoft.com/office/drawing/2014/main" val="10003"/>
                  </a:ext>
                </a:extLst>
              </a:tr>
              <a:tr h="432864">
                <a:tc>
                  <a:txBody>
                    <a:bodyPr/>
                    <a:lstStyle/>
                    <a:p>
                      <a:r>
                        <a:rPr sz="1800">
                          <a:solidFill>
                            <a:srgbClr val="1E2A44"/>
                          </a:solidFill>
                          <a:latin typeface="Calibri"/>
                          <a:ea typeface="Calibri"/>
                          <a:cs typeface="Calibri"/>
                        </a:rPr>
                        <a:t>Label reproducibility from write-once artifacts</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EFF4FA"/>
                    </a:solidFill>
                  </a:tcPr>
                </a:tc>
                <a:extLst>
                  <a:ext uri="{0D108BD9-81ED-4DB2-BD59-A6C34878D82A}">
                    <a16:rowId xmlns:a16="http://schemas.microsoft.com/office/drawing/2014/main" val="10004"/>
                  </a:ext>
                </a:extLst>
              </a:tr>
              <a:tr h="432864">
                <a:tc>
                  <a:txBody>
                    <a:bodyPr/>
                    <a:lstStyle/>
                    <a:p>
                      <a:r>
                        <a:rPr sz="1800">
                          <a:solidFill>
                            <a:srgbClr val="1E2A44"/>
                          </a:solidFill>
                          <a:latin typeface="Calibri"/>
                          <a:ea typeface="Calibri"/>
                          <a:cs typeface="Calibri"/>
                        </a:rPr>
                        <a:t>Metric correctness vs hand-computed cases</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FFFFFF"/>
                    </a:solidFill>
                  </a:tcPr>
                </a:tc>
                <a:extLst>
                  <a:ext uri="{0D108BD9-81ED-4DB2-BD59-A6C34878D82A}">
                    <a16:rowId xmlns:a16="http://schemas.microsoft.com/office/drawing/2014/main" val="10005"/>
                  </a:ext>
                </a:extLst>
              </a:tr>
              <a:tr h="432864">
                <a:tc>
                  <a:txBody>
                    <a:bodyPr/>
                    <a:lstStyle/>
                    <a:p>
                      <a:r>
                        <a:rPr sz="1800">
                          <a:solidFill>
                            <a:srgbClr val="1E2A44"/>
                          </a:solidFill>
                          <a:latin typeface="Calibri"/>
                          <a:ea typeface="Calibri"/>
                          <a:cs typeface="Calibri"/>
                        </a:rPr>
                        <a:t>Oracle coverage</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EFF4FA"/>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16FFCF62-18F7-4826-9A69-C66E857CCF9E}"/>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9C8655A3-5A76-4687-BD4B-C45B363922D2}"/>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23</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611836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92F3FD-8566-4B4B-8911-FA6CAEF529EB}"/>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9CA6A43-F28C-467E-9370-07359AF8F797}"/>
              </a:ext>
            </a:extLst>
          </p:cNvPr>
          <p:cNvSpPr>
            <a:spLocks noGrp="1"/>
          </p:cNvSpPr>
          <p:nvPr/>
        </p:nvSpPr>
        <p:spPr>
          <a:xfrm>
            <a:off x="640080" y="384048"/>
            <a:ext cx="10972800" cy="339773"/>
          </a:xfrm>
          <a:prstGeom prst="rect">
            <a:avLst/>
          </a:prstGeom>
          <a:noFill/>
        </p:spPr>
        <p:txBody>
          <a:bodyPr wrap="square" lIns="36576" tIns="36576" rIns="36576" bIns="36576" anchor="t">
            <a:spAutoFit/>
          </a:bodyPr>
          <a:lstStyle/>
          <a:p>
            <a:pPr algn="l">
              <a:lnSpc>
                <a:spcPct val="108000"/>
              </a:lnSpc>
              <a:spcAft>
                <a:spcPts val="400"/>
              </a:spcAft>
              <a:buNone/>
            </a:pPr>
            <a:r>
              <a:rPr sz="1600" b="1" i="0">
                <a:solidFill>
                  <a:srgbClr val="14B8A6"/>
                </a:solidFill>
                <a:latin typeface="Calibri"/>
                <a:ea typeface="Calibri"/>
                <a:cs typeface="Calibri"/>
              </a:rPr>
              <a:t>BACKUP — FOR QUESTIONS</a:t>
            </a:r>
          </a:p>
        </p:txBody>
      </p:sp>
      <p:sp>
        <p:nvSpPr>
          <p:cNvPr id="4" name="TextBox 3">
            <a:extLst>
              <a:ext uri="{FF2B5EF4-FFF2-40B4-BE49-F238E27FC236}">
                <a16:creationId xmlns:a16="http://schemas.microsoft.com/office/drawing/2014/main" id="{F26C74FF-A6AA-40B8-968C-BAE126F8C1D5}"/>
              </a:ext>
            </a:extLst>
          </p:cNvPr>
          <p:cNvSpPr>
            <a:spLocks noGrp="1"/>
          </p:cNvSpPr>
          <p:nvPr/>
        </p:nvSpPr>
        <p:spPr>
          <a:xfrm>
            <a:off x="640080" y="694944"/>
            <a:ext cx="11155680" cy="605679"/>
          </a:xfrm>
          <a:prstGeom prst="rect">
            <a:avLst/>
          </a:prstGeom>
          <a:noFill/>
        </p:spPr>
        <p:txBody>
          <a:bodyPr wrap="square" lIns="36576" tIns="36576" rIns="36576" bIns="36576" anchor="t">
            <a:spAutoFit/>
          </a:bodyPr>
          <a:lstStyle/>
          <a:p>
            <a:pPr algn="l">
              <a:lnSpc>
                <a:spcPct val="108000"/>
              </a:lnSpc>
              <a:spcAft>
                <a:spcPts val="400"/>
              </a:spcAft>
              <a:buNone/>
            </a:pPr>
            <a:r>
              <a:rPr sz="3200" b="1" i="0">
                <a:solidFill>
                  <a:srgbClr val="1E2A44"/>
                </a:solidFill>
                <a:latin typeface="Cambria"/>
                <a:ea typeface="Cambria"/>
                <a:cs typeface="Cambria"/>
              </a:rPr>
              <a:t>risk_score — the Formal Definition</a:t>
            </a:r>
          </a:p>
        </p:txBody>
      </p:sp>
      <p:sp>
        <p:nvSpPr>
          <p:cNvPr id="5" name="TextBox 4">
            <a:extLst>
              <a:ext uri="{FF2B5EF4-FFF2-40B4-BE49-F238E27FC236}">
                <a16:creationId xmlns:a16="http://schemas.microsoft.com/office/drawing/2014/main" id="{B6B7196E-DC02-49B7-8710-62DDE7DF442E}"/>
              </a:ext>
            </a:extLst>
          </p:cNvPr>
          <p:cNvSpPr>
            <a:spLocks noGrp="1"/>
          </p:cNvSpPr>
          <p:nvPr/>
        </p:nvSpPr>
        <p:spPr>
          <a:xfrm>
            <a:off x="640080" y="6473952"/>
            <a:ext cx="9692640" cy="248401"/>
          </a:xfrm>
          <a:prstGeom prst="rect">
            <a:avLst/>
          </a:prstGeom>
          <a:noFill/>
        </p:spPr>
        <p:txBody>
          <a:bodyPr wrap="square" lIns="36576" tIns="36576" rIns="36576" bIns="36576" anchor="t">
            <a:spAutoFit/>
          </a:bodyPr>
          <a:lstStyle/>
          <a:p>
            <a:pPr algn="l">
              <a:lnSpc>
                <a:spcPct val="108000"/>
              </a:lnSpc>
              <a:spcAft>
                <a:spcPts val="400"/>
              </a:spcAft>
              <a:buNone/>
            </a:pPr>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6" name="TextBox 5">
            <a:extLst>
              <a:ext uri="{FF2B5EF4-FFF2-40B4-BE49-F238E27FC236}">
                <a16:creationId xmlns:a16="http://schemas.microsoft.com/office/drawing/2014/main" id="{7117232A-88AF-4EA3-964F-EFE224ACE5C3}"/>
              </a:ext>
            </a:extLst>
          </p:cNvPr>
          <p:cNvSpPr>
            <a:spLocks noGrp="1"/>
          </p:cNvSpPr>
          <p:nvPr/>
        </p:nvSpPr>
        <p:spPr>
          <a:xfrm>
            <a:off x="11155680" y="6473952"/>
            <a:ext cx="822960" cy="248401"/>
          </a:xfrm>
          <a:prstGeom prst="rect">
            <a:avLst/>
          </a:prstGeom>
          <a:noFill/>
        </p:spPr>
        <p:txBody>
          <a:bodyPr wrap="square" lIns="36576" tIns="36576" rIns="36576" bIns="36576" anchor="t">
            <a:spAutoFit/>
          </a:bodyPr>
          <a:lstStyle/>
          <a:p>
            <a:pPr algn="r">
              <a:lnSpc>
                <a:spcPct val="108000"/>
              </a:lnSpc>
              <a:spcAft>
                <a:spcPts val="400"/>
              </a:spcAft>
              <a:buNone/>
            </a:pPr>
            <a:r>
              <a:rPr sz="1000" b="1" i="0">
                <a:solidFill>
                  <a:srgbClr val="64748C"/>
                </a:solidFill>
                <a:latin typeface="Calibri"/>
                <a:ea typeface="Calibri"/>
                <a:cs typeface="Calibri"/>
              </a:rPr>
              <a:t>24</a:t>
            </a:r>
          </a:p>
        </p:txBody>
      </p:sp>
      <p:sp>
        <p:nvSpPr>
          <p:cNvPr id="7" name="Rounded Rectangle 6">
            <a:extLst>
              <a:ext uri="{FF2B5EF4-FFF2-40B4-BE49-F238E27FC236}">
                <a16:creationId xmlns:a16="http://schemas.microsoft.com/office/drawing/2014/main" id="{FFAC0B12-9EFB-47DB-8A59-AD45AEC7203D}"/>
              </a:ext>
            </a:extLst>
          </p:cNvPr>
          <p:cNvSpPr>
            <a:spLocks noGrp="1"/>
          </p:cNvSpPr>
          <p:nvPr/>
        </p:nvSpPr>
        <p:spPr>
          <a:xfrm>
            <a:off x="640080" y="1600200"/>
            <a:ext cx="10927080" cy="1234440"/>
          </a:xfrm>
          <a:prstGeom prst="round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8" name="TextBox 7">
            <a:extLst>
              <a:ext uri="{FF2B5EF4-FFF2-40B4-BE49-F238E27FC236}">
                <a16:creationId xmlns:a16="http://schemas.microsoft.com/office/drawing/2014/main" id="{CA060FA5-43F9-421E-BBBA-21380D082D42}"/>
              </a:ext>
            </a:extLst>
          </p:cNvPr>
          <p:cNvSpPr>
            <a:spLocks noGrp="1"/>
          </p:cNvSpPr>
          <p:nvPr/>
        </p:nvSpPr>
        <p:spPr>
          <a:xfrm>
            <a:off x="868680" y="1981041"/>
            <a:ext cx="10515600" cy="472758"/>
          </a:xfrm>
          <a:prstGeom prst="rect">
            <a:avLst/>
          </a:prstGeom>
          <a:noFill/>
        </p:spPr>
        <p:txBody>
          <a:bodyPr wrap="square" lIns="36576" tIns="36576" rIns="36576" bIns="36576" anchor="ctr">
            <a:spAutoFit/>
          </a:bodyPr>
          <a:lstStyle/>
          <a:p>
            <a:pPr algn="l">
              <a:lnSpc>
                <a:spcPct val="108000"/>
              </a:lnSpc>
              <a:spcAft>
                <a:spcPts val="400"/>
              </a:spcAft>
              <a:buNone/>
            </a:pPr>
            <a:r>
              <a:rPr sz="2400" b="1" i="0">
                <a:solidFill>
                  <a:srgbClr val="D5E3F7"/>
                </a:solidFill>
                <a:latin typeface="Consolas"/>
                <a:ea typeface="Consolas"/>
                <a:cs typeface="Consolas"/>
              </a:rPr>
              <a:t>risk_score  =  ( ε + CSM ) × CBS × IP × HR × OC × NM  ÷  EC</a:t>
            </a:r>
          </a:p>
        </p:txBody>
      </p:sp>
      <p:sp>
        <p:nvSpPr>
          <p:cNvPr id="9" name="TextBox 8">
            <a:extLst>
              <a:ext uri="{FF2B5EF4-FFF2-40B4-BE49-F238E27FC236}">
                <a16:creationId xmlns:a16="http://schemas.microsoft.com/office/drawing/2014/main" id="{4446D1F9-0458-4986-B2FF-D588254BFB33}"/>
              </a:ext>
            </a:extLst>
          </p:cNvPr>
          <p:cNvSpPr>
            <a:spLocks noGrp="1"/>
          </p:cNvSpPr>
          <p:nvPr/>
        </p:nvSpPr>
        <p:spPr>
          <a:xfrm>
            <a:off x="640080" y="3063240"/>
            <a:ext cx="11064240" cy="339773"/>
          </a:xfrm>
          <a:prstGeom prst="rect">
            <a:avLst/>
          </a:prstGeom>
          <a:noFill/>
        </p:spPr>
        <p:txBody>
          <a:bodyPr wrap="square" lIns="36576" tIns="36576" rIns="36576" bIns="36576" anchor="t">
            <a:spAutoFit/>
          </a:bodyPr>
          <a:lstStyle/>
          <a:p>
            <a:pPr algn="l">
              <a:lnSpc>
                <a:spcPct val="108000"/>
              </a:lnSpc>
              <a:spcAft>
                <a:spcPts val="400"/>
              </a:spcAft>
              <a:buNone/>
            </a:pPr>
            <a:r>
              <a:rPr sz="1600" b="0" i="1">
                <a:solidFill>
                  <a:srgbClr val="1E2A44"/>
                </a:solidFill>
                <a:latin typeface="Calibri"/>
                <a:ea typeface="Calibri"/>
                <a:cs typeface="Calibri"/>
              </a:rPr>
              <a:t>A transparent, hand-set heuristic — an interpretable score, not a calibrated probability.</a:t>
            </a:r>
          </a:p>
        </p:txBody>
      </p:sp>
      <p:sp>
        <p:nvSpPr>
          <p:cNvPr id="10" name="TextBox 9">
            <a:extLst>
              <a:ext uri="{FF2B5EF4-FFF2-40B4-BE49-F238E27FC236}">
                <a16:creationId xmlns:a16="http://schemas.microsoft.com/office/drawing/2014/main" id="{84FC139A-FF90-4C29-AC88-08A64FFEB4F9}"/>
              </a:ext>
            </a:extLst>
          </p:cNvPr>
          <p:cNvSpPr>
            <a:spLocks noGrp="1"/>
          </p:cNvSpPr>
          <p:nvPr/>
        </p:nvSpPr>
        <p:spPr>
          <a:xfrm>
            <a:off x="868680" y="3611880"/>
            <a:ext cx="10607040" cy="2818720"/>
          </a:xfrm>
          <a:prstGeom prst="rect">
            <a:avLst/>
          </a:prstGeom>
          <a:noFill/>
        </p:spPr>
        <p:txBody>
          <a:bodyPr wrap="square" lIns="36576" tIns="36576" rIns="36576" bIns="36576" anchor="t">
            <a:spAutoFit/>
          </a:bodyPr>
          <a:lstStyle/>
          <a:p>
            <a:pPr algn="l">
              <a:lnSpc>
                <a:spcPct val="112000"/>
              </a:lnSpc>
              <a:spcAft>
                <a:spcPts val="600"/>
              </a:spcAft>
              <a:buNone/>
            </a:pPr>
            <a:r>
              <a:rPr sz="1600" b="1" i="0">
                <a:solidFill>
                  <a:srgbClr val="0E7C7B"/>
                </a:solidFill>
                <a:latin typeface="Consolas"/>
                <a:ea typeface="Consolas"/>
                <a:cs typeface="Consolas"/>
              </a:rPr>
              <a:t>ε  </a:t>
            </a:r>
            <a:r>
              <a:rPr sz="1600" b="0" i="0">
                <a:solidFill>
                  <a:srgbClr val="1E2A44"/>
                </a:solidFill>
                <a:latin typeface="Calibri"/>
                <a:ea typeface="Calibri"/>
                <a:cs typeface="Calibri"/>
              </a:rPr>
              <a:t>= small additive smoothing constant</a:t>
            </a:r>
          </a:p>
          <a:p>
            <a:pPr algn="l">
              <a:lnSpc>
                <a:spcPct val="112000"/>
              </a:lnSpc>
              <a:spcAft>
                <a:spcPts val="600"/>
              </a:spcAft>
              <a:buNone/>
            </a:pPr>
            <a:r>
              <a:rPr sz="1600" b="1" i="0">
                <a:solidFill>
                  <a:srgbClr val="0E7C7B"/>
                </a:solidFill>
                <a:latin typeface="Consolas"/>
                <a:ea typeface="Consolas"/>
                <a:cs typeface="Consolas"/>
              </a:rPr>
              <a:t>CSM  </a:t>
            </a:r>
            <a:r>
              <a:rPr sz="1600" b="0" i="0">
                <a:solidFill>
                  <a:srgbClr val="1E2A44"/>
                </a:solidFill>
                <a:latin typeface="Calibri"/>
                <a:ea typeface="Calibri"/>
                <a:cs typeface="Calibri"/>
              </a:rPr>
              <a:t>= change-stage match (1 if the modified stage is exercised, else 0)</a:t>
            </a:r>
          </a:p>
          <a:p>
            <a:pPr algn="l">
              <a:lnSpc>
                <a:spcPct val="112000"/>
              </a:lnSpc>
              <a:spcAft>
                <a:spcPts val="600"/>
              </a:spcAft>
              <a:buNone/>
            </a:pPr>
            <a:r>
              <a:rPr sz="1600" b="1" i="0">
                <a:solidFill>
                  <a:srgbClr val="0E7C7B"/>
                </a:solidFill>
                <a:latin typeface="Consolas"/>
                <a:ea typeface="Consolas"/>
                <a:cs typeface="Consolas"/>
              </a:rPr>
              <a:t>CBS  </a:t>
            </a:r>
            <a:r>
              <a:rPr sz="1600" b="0" i="0">
                <a:solidFill>
                  <a:srgbClr val="1E2A44"/>
                </a:solidFill>
                <a:latin typeface="Calibri"/>
                <a:ea typeface="Calibri"/>
                <a:cs typeface="Calibri"/>
              </a:rPr>
              <a:t>= circuit-backend sensitivity</a:t>
            </a:r>
          </a:p>
          <a:p>
            <a:pPr algn="l">
              <a:lnSpc>
                <a:spcPct val="112000"/>
              </a:lnSpc>
              <a:spcAft>
                <a:spcPts val="600"/>
              </a:spcAft>
              <a:buNone/>
            </a:pPr>
            <a:r>
              <a:rPr sz="1600" b="1" i="0">
                <a:solidFill>
                  <a:srgbClr val="0E7C7B"/>
                </a:solidFill>
                <a:latin typeface="Consolas"/>
                <a:ea typeface="Consolas"/>
                <a:cs typeface="Consolas"/>
              </a:rPr>
              <a:t>IP  </a:t>
            </a:r>
            <a:r>
              <a:rPr sz="1600" b="0" i="0">
                <a:solidFill>
                  <a:srgbClr val="1E2A44"/>
                </a:solidFill>
                <a:latin typeface="Calibri"/>
                <a:ea typeface="Calibri"/>
                <a:cs typeface="Calibri"/>
              </a:rPr>
              <a:t>= impact prior (circuit criticality)</a:t>
            </a:r>
          </a:p>
          <a:p>
            <a:pPr algn="l">
              <a:lnSpc>
                <a:spcPct val="112000"/>
              </a:lnSpc>
              <a:spcAft>
                <a:spcPts val="600"/>
              </a:spcAft>
              <a:buNone/>
            </a:pPr>
            <a:r>
              <a:rPr sz="1600" b="1" i="0">
                <a:solidFill>
                  <a:srgbClr val="0E7C7B"/>
                </a:solidFill>
                <a:latin typeface="Consolas"/>
                <a:ea typeface="Consolas"/>
                <a:cs typeface="Consolas"/>
              </a:rPr>
              <a:t>HR  </a:t>
            </a:r>
            <a:r>
              <a:rPr sz="1600" b="0" i="0">
                <a:solidFill>
                  <a:srgbClr val="1E2A44"/>
                </a:solidFill>
                <a:latin typeface="Calibri"/>
                <a:ea typeface="Calibri"/>
                <a:cs typeface="Calibri"/>
              </a:rPr>
              <a:t>= historical risk (1 + prior-failure-rate)</a:t>
            </a:r>
          </a:p>
          <a:p>
            <a:pPr algn="l">
              <a:lnSpc>
                <a:spcPct val="112000"/>
              </a:lnSpc>
              <a:spcAft>
                <a:spcPts val="600"/>
              </a:spcAft>
              <a:buNone/>
            </a:pPr>
            <a:r>
              <a:rPr sz="1600" b="1" i="0">
                <a:solidFill>
                  <a:srgbClr val="0E7C7B"/>
                </a:solidFill>
                <a:latin typeface="Consolas"/>
                <a:ea typeface="Consolas"/>
                <a:cs typeface="Consolas"/>
              </a:rPr>
              <a:t>OC  </a:t>
            </a:r>
            <a:r>
              <a:rPr sz="1600" b="0" i="0">
                <a:solidFill>
                  <a:srgbClr val="1E2A44"/>
                </a:solidFill>
                <a:latin typeface="Calibri"/>
                <a:ea typeface="Calibri"/>
                <a:cs typeface="Calibri"/>
              </a:rPr>
              <a:t>= oracle confidence</a:t>
            </a:r>
          </a:p>
          <a:p>
            <a:pPr algn="l">
              <a:lnSpc>
                <a:spcPct val="112000"/>
              </a:lnSpc>
              <a:spcAft>
                <a:spcPts val="600"/>
              </a:spcAft>
              <a:buNone/>
            </a:pPr>
            <a:r>
              <a:rPr sz="1600" b="1" i="0">
                <a:solidFill>
                  <a:srgbClr val="0E7C7B"/>
                </a:solidFill>
                <a:latin typeface="Consolas"/>
                <a:ea typeface="Consolas"/>
                <a:cs typeface="Consolas"/>
              </a:rPr>
              <a:t>NM  </a:t>
            </a:r>
            <a:r>
              <a:rPr sz="1600" b="0" i="0">
                <a:solidFill>
                  <a:srgbClr val="1E2A44"/>
                </a:solidFill>
                <a:latin typeface="Calibri"/>
                <a:ea typeface="Calibri"/>
                <a:cs typeface="Calibri"/>
              </a:rPr>
              <a:t>= novelty multiplier (down-weights repeats)</a:t>
            </a:r>
          </a:p>
          <a:p>
            <a:pPr algn="l">
              <a:lnSpc>
                <a:spcPct val="112000"/>
              </a:lnSpc>
              <a:spcAft>
                <a:spcPts val="600"/>
              </a:spcAft>
              <a:buNone/>
            </a:pPr>
            <a:r>
              <a:rPr sz="1600" b="1" i="0">
                <a:solidFill>
                  <a:srgbClr val="0E7C7B"/>
                </a:solidFill>
                <a:latin typeface="Consolas"/>
                <a:ea typeface="Consolas"/>
                <a:cs typeface="Consolas"/>
              </a:rPr>
              <a:t>EC  </a:t>
            </a:r>
            <a:r>
              <a:rPr sz="1600" b="0" i="0">
                <a:solidFill>
                  <a:srgbClr val="1E2A44"/>
                </a:solidFill>
                <a:latin typeface="Calibri"/>
                <a:ea typeface="Calibri"/>
                <a:cs typeface="Calibri"/>
              </a:rPr>
              <a:t>= expected cost (transpilation + oracle time)</a:t>
            </a:r>
          </a:p>
        </p:txBody>
      </p:sp>
      <p:pic>
        <p:nvPicPr>
          <p:cNvPr id="11"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561960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6EB547-C2FD-4611-AA19-F6E37E5BE33A}"/>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6B06DC67-124A-4CB1-9407-BA595FB419EA}"/>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ea typeface="Calibri"/>
                <a:cs typeface="Calibri"/>
              </a:rPr>
              <a:t>BACKUP — FOR QUESTIONS</a:t>
            </a:r>
          </a:p>
        </p:txBody>
      </p:sp>
      <p:sp>
        <p:nvSpPr>
          <p:cNvPr id="4" name="TextBox 3">
            <a:extLst>
              <a:ext uri="{FF2B5EF4-FFF2-40B4-BE49-F238E27FC236}">
                <a16:creationId xmlns:a16="http://schemas.microsoft.com/office/drawing/2014/main" id="{E04365CF-C1FC-4036-9CEE-8922D6B56779}"/>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Classical Foundation vs. Quantum-Specific Need</a:t>
            </a:r>
          </a:p>
        </p:txBody>
      </p:sp>
      <p:graphicFrame>
        <p:nvGraphicFramePr>
          <p:cNvPr id="13" name="Table 4"/>
          <p:cNvGraphicFramePr/>
          <p:nvPr/>
        </p:nvGraphicFramePr>
        <p:xfrm>
          <a:off x="731520" y="1499618"/>
          <a:ext cx="10789920" cy="3450770"/>
        </p:xfrm>
        <a:graphic>
          <a:graphicData uri="http://schemas.openxmlformats.org/drawingml/2006/table">
            <a:tbl>
              <a:tblPr firstRow="1" bandRow="1">
                <a:tableStyleId>{5C22544A-7EE6-4342-B048-85BDC9FD1C3A}</a:tableStyleId>
              </a:tblPr>
              <a:tblGrid>
                <a:gridCol w="1994775">
                  <a:extLst>
                    <a:ext uri="{9D8B030D-6E8A-4147-A177-3AD203B41FA5}">
                      <a16:colId xmlns:a16="http://schemas.microsoft.com/office/drawing/2014/main" val="20000"/>
                    </a:ext>
                  </a:extLst>
                </a:gridCol>
                <a:gridCol w="3898879">
                  <a:extLst>
                    <a:ext uri="{9D8B030D-6E8A-4147-A177-3AD203B41FA5}">
                      <a16:colId xmlns:a16="http://schemas.microsoft.com/office/drawing/2014/main" val="20001"/>
                    </a:ext>
                  </a:extLst>
                </a:gridCol>
                <a:gridCol w="4896266">
                  <a:extLst>
                    <a:ext uri="{9D8B030D-6E8A-4147-A177-3AD203B41FA5}">
                      <a16:colId xmlns:a16="http://schemas.microsoft.com/office/drawing/2014/main" val="20002"/>
                    </a:ext>
                  </a:extLst>
                </a:gridCol>
              </a:tblGrid>
              <a:tr h="458506">
                <a:tc>
                  <a:txBody>
                    <a:bodyPr/>
                    <a:lstStyle/>
                    <a:p>
                      <a:r>
                        <a:rPr sz="1600" b="1">
                          <a:solidFill>
                            <a:srgbClr val="FFFFFF"/>
                          </a:solidFill>
                          <a:latin typeface="Calibri"/>
                          <a:ea typeface="Calibri"/>
                          <a:cs typeface="Calibri"/>
                        </a:rPr>
                        <a:t>Dimension</a:t>
                      </a:r>
                    </a:p>
                  </a:txBody>
                  <a:tcPr marL="54864" marR="54864" anchor="ctr">
                    <a:solidFill>
                      <a:srgbClr val="14264F"/>
                    </a:solidFill>
                  </a:tcPr>
                </a:tc>
                <a:tc>
                  <a:txBody>
                    <a:bodyPr/>
                    <a:lstStyle/>
                    <a:p>
                      <a:r>
                        <a:rPr sz="1600" b="1">
                          <a:solidFill>
                            <a:srgbClr val="FFFFFF"/>
                          </a:solidFill>
                          <a:latin typeface="Calibri"/>
                          <a:ea typeface="Calibri"/>
                          <a:cs typeface="Calibri"/>
                        </a:rPr>
                        <a:t>Classical testing</a:t>
                      </a:r>
                    </a:p>
                  </a:txBody>
                  <a:tcPr marL="54864" marR="54864" anchor="ctr">
                    <a:solidFill>
                      <a:srgbClr val="14264F"/>
                    </a:solidFill>
                  </a:tcPr>
                </a:tc>
                <a:tc>
                  <a:txBody>
                    <a:bodyPr/>
                    <a:lstStyle/>
                    <a:p>
                      <a:r>
                        <a:rPr sz="1600" b="1">
                          <a:solidFill>
                            <a:srgbClr val="FFFFFF"/>
                          </a:solidFill>
                          <a:latin typeface="Calibri"/>
                          <a:ea typeface="Calibri"/>
                          <a:cs typeface="Calibri"/>
                        </a:rPr>
                        <a:t>Quantum transpiler</a:t>
                      </a:r>
                    </a:p>
                  </a:txBody>
                  <a:tcPr marL="54864" marR="54864" anchor="ctr">
                    <a:solidFill>
                      <a:srgbClr val="14264F"/>
                    </a:solidFill>
                  </a:tcPr>
                </a:tc>
                <a:extLst>
                  <a:ext uri="{0D108BD9-81ED-4DB2-BD59-A6C34878D82A}">
                    <a16:rowId xmlns:a16="http://schemas.microsoft.com/office/drawing/2014/main" val="10000"/>
                  </a:ext>
                </a:extLst>
              </a:tr>
              <a:tr h="458506">
                <a:tc>
                  <a:txBody>
                    <a:bodyPr/>
                    <a:lstStyle/>
                    <a:p>
                      <a:r>
                        <a:rPr sz="1600" b="1">
                          <a:solidFill>
                            <a:srgbClr val="1E2A44"/>
                          </a:solidFill>
                          <a:latin typeface="Calibri"/>
                          <a:ea typeface="Calibri"/>
                          <a:cs typeface="Calibri"/>
                        </a:rPr>
                        <a:t>Observed result</a:t>
                      </a:r>
                    </a:p>
                  </a:txBody>
                  <a:tcPr marL="54864" marR="54864" anchor="ctr">
                    <a:solidFill>
                      <a:srgbClr val="EFF4FA"/>
                    </a:solidFill>
                  </a:tcPr>
                </a:tc>
                <a:tc>
                  <a:txBody>
                    <a:bodyPr/>
                    <a:lstStyle/>
                    <a:p>
                      <a:r>
                        <a:rPr sz="1600">
                          <a:solidFill>
                            <a:srgbClr val="1E2A44"/>
                          </a:solidFill>
                          <a:latin typeface="Calibri"/>
                          <a:ea typeface="Calibri"/>
                          <a:cs typeface="Calibri"/>
                        </a:rPr>
                        <a:t>Deterministic, directly inspectable</a:t>
                      </a:r>
                    </a:p>
                  </a:txBody>
                  <a:tcPr marL="54864" marR="54864" anchor="ctr">
                    <a:solidFill>
                      <a:srgbClr val="FFFFFF"/>
                    </a:solidFill>
                  </a:tcPr>
                </a:tc>
                <a:tc>
                  <a:txBody>
                    <a:bodyPr/>
                    <a:lstStyle/>
                    <a:p>
                      <a:r>
                        <a:rPr sz="1600">
                          <a:solidFill>
                            <a:srgbClr val="1E2A44"/>
                          </a:solidFill>
                          <a:latin typeface="Calibri"/>
                          <a:ea typeface="Calibri"/>
                          <a:cs typeface="Calibri"/>
                        </a:rPr>
                        <a:t>Probabilistic samples, internal state not directly observable</a:t>
                      </a:r>
                    </a:p>
                  </a:txBody>
                  <a:tcPr marL="54864" marR="54864" anchor="ctr">
                    <a:solidFill>
                      <a:srgbClr val="FFFFFF"/>
                    </a:solidFill>
                  </a:tcPr>
                </a:tc>
                <a:extLst>
                  <a:ext uri="{0D108BD9-81ED-4DB2-BD59-A6C34878D82A}">
                    <a16:rowId xmlns:a16="http://schemas.microsoft.com/office/drawing/2014/main" val="10001"/>
                  </a:ext>
                </a:extLst>
              </a:tr>
              <a:tr h="458506">
                <a:tc>
                  <a:txBody>
                    <a:bodyPr/>
                    <a:lstStyle/>
                    <a:p>
                      <a:r>
                        <a:rPr sz="1600" b="1">
                          <a:solidFill>
                            <a:srgbClr val="1E2A44"/>
                          </a:solidFill>
                          <a:latin typeface="Calibri"/>
                          <a:ea typeface="Calibri"/>
                          <a:cs typeface="Calibri"/>
                        </a:rPr>
                        <a:t>Correctness</a:t>
                      </a:r>
                    </a:p>
                  </a:txBody>
                  <a:tcPr marL="54864" marR="54864" anchor="ctr">
                    <a:solidFill>
                      <a:srgbClr val="EFF4FA"/>
                    </a:solidFill>
                  </a:tcPr>
                </a:tc>
                <a:tc>
                  <a:txBody>
                    <a:bodyPr/>
                    <a:lstStyle/>
                    <a:p>
                      <a:r>
                        <a:rPr sz="1600">
                          <a:solidFill>
                            <a:srgbClr val="1E2A44"/>
                          </a:solidFill>
                          <a:latin typeface="Calibri"/>
                          <a:ea typeface="Calibri"/>
                          <a:cs typeface="Calibri"/>
                        </a:rPr>
                        <a:t>Equality / observational equivalence</a:t>
                      </a:r>
                    </a:p>
                  </a:txBody>
                  <a:tcPr marL="54864" marR="54864" anchor="ctr">
                    <a:solidFill>
                      <a:srgbClr val="F2F5FA"/>
                    </a:solidFill>
                  </a:tcPr>
                </a:tc>
                <a:tc>
                  <a:txBody>
                    <a:bodyPr/>
                    <a:lstStyle/>
                    <a:p>
                      <a:r>
                        <a:rPr sz="1600">
                          <a:solidFill>
                            <a:srgbClr val="1E2A44"/>
                          </a:solidFill>
                          <a:latin typeface="Calibri"/>
                          <a:ea typeface="Calibri"/>
                          <a:cs typeface="Calibri"/>
                        </a:rPr>
                        <a:t>Up to global phase &amp; qubit/layout permutation</a:t>
                      </a:r>
                    </a:p>
                  </a:txBody>
                  <a:tcPr marL="54864" marR="54864" anchor="ctr">
                    <a:solidFill>
                      <a:srgbClr val="F2F5FA"/>
                    </a:solidFill>
                  </a:tcPr>
                </a:tc>
                <a:extLst>
                  <a:ext uri="{0D108BD9-81ED-4DB2-BD59-A6C34878D82A}">
                    <a16:rowId xmlns:a16="http://schemas.microsoft.com/office/drawing/2014/main" val="10002"/>
                  </a:ext>
                </a:extLst>
              </a:tr>
              <a:tr h="458506">
                <a:tc>
                  <a:txBody>
                    <a:bodyPr/>
                    <a:lstStyle/>
                    <a:p>
                      <a:r>
                        <a:rPr sz="1600" b="1">
                          <a:solidFill>
                            <a:srgbClr val="1E2A44"/>
                          </a:solidFill>
                          <a:latin typeface="Calibri"/>
                          <a:ea typeface="Calibri"/>
                          <a:cs typeface="Calibri"/>
                        </a:rPr>
                        <a:t>Fault model</a:t>
                      </a:r>
                    </a:p>
                  </a:txBody>
                  <a:tcPr marL="54864" marR="54864" anchor="ctr">
                    <a:solidFill>
                      <a:srgbClr val="EFF4FA"/>
                    </a:solidFill>
                  </a:tcPr>
                </a:tc>
                <a:tc>
                  <a:txBody>
                    <a:bodyPr/>
                    <a:lstStyle/>
                    <a:p>
                      <a:r>
                        <a:rPr sz="1600">
                          <a:solidFill>
                            <a:srgbClr val="1E2A44"/>
                          </a:solidFill>
                          <a:latin typeface="Calibri"/>
                          <a:ea typeface="Calibri"/>
                          <a:cs typeface="Calibri"/>
                        </a:rPr>
                        <a:t>Crashes, wrong values, performance</a:t>
                      </a:r>
                    </a:p>
                  </a:txBody>
                  <a:tcPr marL="54864" marR="54864" anchor="ctr">
                    <a:solidFill>
                      <a:srgbClr val="FFFFFF"/>
                    </a:solidFill>
                  </a:tcPr>
                </a:tc>
                <a:tc>
                  <a:txBody>
                    <a:bodyPr/>
                    <a:lstStyle/>
                    <a:p>
                      <a:r>
                        <a:rPr sz="1600">
                          <a:solidFill>
                            <a:srgbClr val="1E2A44"/>
                          </a:solidFill>
                          <a:latin typeface="Calibri"/>
                          <a:ea typeface="Calibri"/>
                          <a:cs typeface="Calibri"/>
                        </a:rPr>
                        <a:t>+ phase, entanglement, mapping/routing, backend/noise</a:t>
                      </a:r>
                    </a:p>
                  </a:txBody>
                  <a:tcPr marL="54864" marR="54864" anchor="ctr">
                    <a:solidFill>
                      <a:srgbClr val="FFFFFF"/>
                    </a:solidFill>
                  </a:tcPr>
                </a:tc>
                <a:extLst>
                  <a:ext uri="{0D108BD9-81ED-4DB2-BD59-A6C34878D82A}">
                    <a16:rowId xmlns:a16="http://schemas.microsoft.com/office/drawing/2014/main" val="10003"/>
                  </a:ext>
                </a:extLst>
              </a:tr>
              <a:tr h="458506">
                <a:tc>
                  <a:txBody>
                    <a:bodyPr/>
                    <a:lstStyle/>
                    <a:p>
                      <a:r>
                        <a:rPr sz="1600" b="1">
                          <a:solidFill>
                            <a:srgbClr val="1E2A44"/>
                          </a:solidFill>
                          <a:latin typeface="Calibri"/>
                          <a:ea typeface="Calibri"/>
                          <a:cs typeface="Calibri"/>
                        </a:rPr>
                        <a:t>Execution cost</a:t>
                      </a:r>
                    </a:p>
                  </a:txBody>
                  <a:tcPr marL="54864" marR="54864" anchor="ctr">
                    <a:solidFill>
                      <a:srgbClr val="EFF4FA"/>
                    </a:solidFill>
                  </a:tcPr>
                </a:tc>
                <a:tc>
                  <a:txBody>
                    <a:bodyPr/>
                    <a:lstStyle/>
                    <a:p>
                      <a:r>
                        <a:rPr sz="1600">
                          <a:solidFill>
                            <a:srgbClr val="1E2A44"/>
                          </a:solidFill>
                          <a:latin typeface="Calibri"/>
                          <a:ea typeface="Calibri"/>
                          <a:cs typeface="Calibri"/>
                        </a:rPr>
                        <a:t>Repeatable CPU time, one run</a:t>
                      </a:r>
                    </a:p>
                  </a:txBody>
                  <a:tcPr marL="54864" marR="54864" anchor="ctr">
                    <a:solidFill>
                      <a:srgbClr val="F2F5FA"/>
                    </a:solidFill>
                  </a:tcPr>
                </a:tc>
                <a:tc>
                  <a:txBody>
                    <a:bodyPr/>
                    <a:lstStyle/>
                    <a:p>
                      <a:r>
                        <a:rPr sz="1600">
                          <a:solidFill>
                            <a:srgbClr val="1E2A44"/>
                          </a:solidFill>
                          <a:latin typeface="Calibri"/>
                          <a:ea typeface="Calibri"/>
                          <a:cs typeface="Calibri"/>
                        </a:rPr>
                        <a:t>Repeated shots, simulation growth, oracle cost</a:t>
                      </a:r>
                    </a:p>
                  </a:txBody>
                  <a:tcPr marL="54864" marR="54864" anchor="ctr">
                    <a:solidFill>
                      <a:srgbClr val="F2F5FA"/>
                    </a:solidFill>
                  </a:tcPr>
                </a:tc>
                <a:extLst>
                  <a:ext uri="{0D108BD9-81ED-4DB2-BD59-A6C34878D82A}">
                    <a16:rowId xmlns:a16="http://schemas.microsoft.com/office/drawing/2014/main" val="10004"/>
                  </a:ext>
                </a:extLst>
              </a:tr>
              <a:tr h="458506">
                <a:tc>
                  <a:txBody>
                    <a:bodyPr/>
                    <a:lstStyle/>
                    <a:p>
                      <a:r>
                        <a:rPr sz="1600" b="1">
                          <a:solidFill>
                            <a:srgbClr val="1E2A44"/>
                          </a:solidFill>
                          <a:latin typeface="Calibri"/>
                          <a:ea typeface="Calibri"/>
                          <a:cs typeface="Calibri"/>
                        </a:rPr>
                        <a:t>Regression oracle</a:t>
                      </a:r>
                    </a:p>
                  </a:txBody>
                  <a:tcPr marL="54864" marR="54864" anchor="ctr">
                    <a:solidFill>
                      <a:srgbClr val="EFF4FA"/>
                    </a:solidFill>
                  </a:tcPr>
                </a:tc>
                <a:tc>
                  <a:txBody>
                    <a:bodyPr/>
                    <a:lstStyle/>
                    <a:p>
                      <a:r>
                        <a:rPr sz="1600">
                          <a:solidFill>
                            <a:srgbClr val="1E2A44"/>
                          </a:solidFill>
                          <a:latin typeface="Calibri"/>
                          <a:ea typeface="Calibri"/>
                          <a:cs typeface="Calibri"/>
                        </a:rPr>
                        <a:t>Expected output, assertions, logs</a:t>
                      </a:r>
                    </a:p>
                  </a:txBody>
                  <a:tcPr marL="54864" marR="54864" anchor="ctr">
                    <a:solidFill>
                      <a:srgbClr val="FFFFFF"/>
                    </a:solidFill>
                  </a:tcPr>
                </a:tc>
                <a:tc>
                  <a:txBody>
                    <a:bodyPr/>
                    <a:lstStyle/>
                    <a:p>
                      <a:r>
                        <a:rPr sz="1600">
                          <a:solidFill>
                            <a:srgbClr val="1E2A44"/>
                          </a:solidFill>
                          <a:latin typeface="Calibri"/>
                          <a:ea typeface="Calibri"/>
                          <a:cs typeface="Calibri"/>
                        </a:rPr>
                        <a:t>Output equivalence alone misses metadata/layout/quality</a:t>
                      </a:r>
                    </a:p>
                  </a:txBody>
                  <a:tcPr marL="54864" marR="54864" anchor="ctr">
                    <a:solidFill>
                      <a:srgbClr val="FFFFFF"/>
                    </a:solidFill>
                  </a:tcPr>
                </a:tc>
                <a:extLst>
                  <a:ext uri="{0D108BD9-81ED-4DB2-BD59-A6C34878D82A}">
                    <a16:rowId xmlns:a16="http://schemas.microsoft.com/office/drawing/2014/main" val="10005"/>
                  </a:ext>
                </a:extLst>
              </a:tr>
              <a:tr h="458506">
                <a:tc>
                  <a:txBody>
                    <a:bodyPr/>
                    <a:lstStyle/>
                    <a:p>
                      <a:r>
                        <a:rPr sz="1600" b="1">
                          <a:solidFill>
                            <a:srgbClr val="1E2A44"/>
                          </a:solidFill>
                          <a:latin typeface="Calibri"/>
                          <a:ea typeface="Calibri"/>
                          <a:cs typeface="Calibri"/>
                        </a:rPr>
                        <a:t>Foundation</a:t>
                      </a:r>
                    </a:p>
                  </a:txBody>
                  <a:tcPr marL="54864" marR="54864" anchor="ctr">
                    <a:solidFill>
                      <a:srgbClr val="EFF4FA"/>
                    </a:solidFill>
                  </a:tcPr>
                </a:tc>
                <a:tc>
                  <a:txBody>
                    <a:bodyPr/>
                    <a:lstStyle/>
                    <a:p>
                      <a:r>
                        <a:rPr sz="1600">
                          <a:solidFill>
                            <a:srgbClr val="1E2A44"/>
                          </a:solidFill>
                          <a:latin typeface="Calibri"/>
                          <a:ea typeface="Calibri"/>
                          <a:cs typeface="Calibri"/>
                        </a:rPr>
                        <a:t>Selection, prioritisation, cost, APFD/APFDc</a:t>
                      </a:r>
                    </a:p>
                  </a:txBody>
                  <a:tcPr marL="54864" marR="54864" anchor="ctr">
                    <a:solidFill>
                      <a:srgbClr val="F2F5FA"/>
                    </a:solidFill>
                  </a:tcPr>
                </a:tc>
                <a:tc>
                  <a:txBody>
                    <a:bodyPr/>
                    <a:lstStyle/>
                    <a:p>
                      <a:r>
                        <a:rPr sz="1600">
                          <a:solidFill>
                            <a:srgbClr val="1E2A44"/>
                          </a:solidFill>
                          <a:latin typeface="Calibri"/>
                          <a:ea typeface="Calibri"/>
                          <a:cs typeface="Calibri"/>
                        </a:rPr>
                        <a:t>Retained — but features, costs, oracles redefined</a:t>
                      </a:r>
                    </a:p>
                  </a:txBody>
                  <a:tcPr marL="54864" marR="54864" anchor="ctr">
                    <a:solidFill>
                      <a:srgbClr val="F2F5FA"/>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20A0D912-8214-488F-98DD-7686F63B0286}"/>
              </a:ext>
            </a:extLst>
          </p:cNvPr>
          <p:cNvSpPr>
            <a:spLocks noGrp="1"/>
          </p:cNvSpPr>
          <p:nvPr/>
        </p:nvSpPr>
        <p:spPr>
          <a:xfrm>
            <a:off x="640080" y="5943600"/>
            <a:ext cx="10881360" cy="486287"/>
          </a:xfrm>
          <a:prstGeom prst="rect">
            <a:avLst/>
          </a:prstGeom>
          <a:noFill/>
        </p:spPr>
        <p:txBody>
          <a:bodyPr wrap="square" lIns="27432" tIns="27432" rIns="27432" bIns="27432">
            <a:spAutoFit/>
          </a:bodyPr>
          <a:lstStyle/>
          <a:p>
            <a:r>
              <a:rPr sz="1400" b="1" i="1">
                <a:solidFill>
                  <a:srgbClr val="0E7C7B"/>
                </a:solidFill>
                <a:latin typeface="Calibri"/>
                <a:ea typeface="Calibri"/>
                <a:cs typeface="Calibri"/>
              </a:rPr>
              <a:t>Classical principles are the foundation, but they do not transfer unchanged — this work is a quantum-specific adaptation and empirical validation, not the invention of regression testing.</a:t>
            </a:r>
          </a:p>
        </p:txBody>
      </p:sp>
      <p:sp>
        <p:nvSpPr>
          <p:cNvPr id="7" name="TextBox 6">
            <a:extLst>
              <a:ext uri="{FF2B5EF4-FFF2-40B4-BE49-F238E27FC236}">
                <a16:creationId xmlns:a16="http://schemas.microsoft.com/office/drawing/2014/main" id="{F1239CC1-E355-47E1-9072-BACE9A7F0757}"/>
              </a:ext>
            </a:extLst>
          </p:cNvPr>
          <p:cNvSpPr>
            <a:spLocks noGrp="1"/>
          </p:cNvSpPr>
          <p:nvPr/>
        </p:nvSpPr>
        <p:spPr>
          <a:xfrm>
            <a:off x="640080" y="6473952"/>
            <a:ext cx="9692640" cy="216982"/>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8" name="TextBox 7">
            <a:extLst>
              <a:ext uri="{FF2B5EF4-FFF2-40B4-BE49-F238E27FC236}">
                <a16:creationId xmlns:a16="http://schemas.microsoft.com/office/drawing/2014/main" id="{9029760A-3F57-4568-8EE5-789227F9CBFB}"/>
              </a:ext>
            </a:extLst>
          </p:cNvPr>
          <p:cNvSpPr>
            <a:spLocks noGrp="1"/>
          </p:cNvSpPr>
          <p:nvPr/>
        </p:nvSpPr>
        <p:spPr>
          <a:xfrm>
            <a:off x="11155680" y="6473952"/>
            <a:ext cx="822960" cy="216982"/>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25</a:t>
            </a:r>
          </a:p>
        </p:txBody>
      </p:sp>
      <p:pic>
        <p:nvPicPr>
          <p:cNvPr id="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924689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DF4516-A32C-4D59-8436-F51503DE49EC}"/>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A50B7C39-E511-49A1-99D9-584EAA2DEBA0}"/>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ea typeface="Calibri"/>
                <a:cs typeface="Calibri"/>
              </a:rPr>
              <a:t>BACKUP — FOR QUESTIONS</a:t>
            </a:r>
          </a:p>
        </p:txBody>
      </p:sp>
      <p:sp>
        <p:nvSpPr>
          <p:cNvPr id="4" name="TextBox 3">
            <a:extLst>
              <a:ext uri="{FF2B5EF4-FFF2-40B4-BE49-F238E27FC236}">
                <a16:creationId xmlns:a16="http://schemas.microsoft.com/office/drawing/2014/main" id="{A51422AB-91D8-4404-8490-4849DEB15DB6}"/>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Evidence: Why Quantum Differs</a:t>
            </a:r>
          </a:p>
        </p:txBody>
      </p:sp>
      <p:sp>
        <p:nvSpPr>
          <p:cNvPr id="5" name="TextBox 4">
            <a:extLst>
              <a:ext uri="{FF2B5EF4-FFF2-40B4-BE49-F238E27FC236}">
                <a16:creationId xmlns:a16="http://schemas.microsoft.com/office/drawing/2014/main" id="{22FE65E3-949A-49A1-AC26-0D38ABBF0A85}"/>
              </a:ext>
            </a:extLst>
          </p:cNvPr>
          <p:cNvSpPr>
            <a:spLocks noGrp="1"/>
          </p:cNvSpPr>
          <p:nvPr/>
        </p:nvSpPr>
        <p:spPr>
          <a:xfrm>
            <a:off x="640080" y="1600200"/>
            <a:ext cx="10972800" cy="3851311"/>
          </a:xfrm>
          <a:prstGeom prst="rect">
            <a:avLst/>
          </a:prstGeom>
          <a:noFill/>
        </p:spPr>
        <p:txBody>
          <a:bodyPr wrap="square" lIns="27432" tIns="27432" rIns="27432" bIns="27432">
            <a:spAutoFit/>
          </a:bodyPr>
          <a:lstStyle/>
          <a:p>
            <a:pPr>
              <a:spcAft>
                <a:spcPts val="1400"/>
              </a:spcAft>
              <a:buNone/>
            </a:pPr>
            <a:r>
              <a:rPr sz="2000" b="1" i="0">
                <a:solidFill>
                  <a:srgbClr val="14B8A6"/>
                </a:solidFill>
                <a:latin typeface="Calibri"/>
                <a:ea typeface="Calibri"/>
                <a:cs typeface="Calibri"/>
              </a:rPr>
              <a:t>▪  </a:t>
            </a:r>
            <a:r>
              <a:rPr sz="2000" b="1" i="0">
                <a:solidFill>
                  <a:srgbClr val="1E2A44"/>
                </a:solidFill>
                <a:latin typeface="Calibri"/>
                <a:ea typeface="Calibri"/>
                <a:cs typeface="Calibri"/>
              </a:rPr>
              <a:t>39.9% of real quantum-platform bugs are quantum-specific  </a:t>
            </a:r>
            <a:r>
              <a:rPr sz="2000" b="0" i="0">
                <a:solidFill>
                  <a:srgbClr val="1E2A44"/>
                </a:solidFill>
                <a:latin typeface="Calibri"/>
                <a:ea typeface="Calibri"/>
                <a:cs typeface="Calibri"/>
              </a:rPr>
              <a:t>— concentrated in compile/optimise components — a classical fault model is incomplete [1].</a:t>
            </a:r>
          </a:p>
          <a:p>
            <a:pPr>
              <a:spcAft>
                <a:spcPts val="1400"/>
              </a:spcAft>
              <a:buNone/>
            </a:pPr>
            <a:r>
              <a:rPr sz="2000" b="1" i="0">
                <a:solidFill>
                  <a:srgbClr val="14B8A6"/>
                </a:solidFill>
                <a:latin typeface="Calibri"/>
                <a:ea typeface="Calibri"/>
                <a:cs typeface="Calibri"/>
              </a:rPr>
              <a:t>▪  </a:t>
            </a:r>
            <a:r>
              <a:rPr sz="2000" b="1" i="0">
                <a:solidFill>
                  <a:srgbClr val="1E2A44"/>
                </a:solidFill>
                <a:latin typeface="Calibri"/>
                <a:ea typeface="Calibri"/>
                <a:cs typeface="Calibri"/>
              </a:rPr>
              <a:t>Quantum outputs are exponentially large distributions  </a:t>
            </a:r>
            <a:r>
              <a:rPr sz="2000" b="0" i="0">
                <a:solidFill>
                  <a:srgbClr val="1E2A44"/>
                </a:solidFill>
                <a:latin typeface="Calibri"/>
                <a:ea typeface="Calibri"/>
                <a:cs typeface="Calibri"/>
              </a:rPr>
              <a:t>— conventional distribution testing can miss phase-flip faults [46].</a:t>
            </a:r>
          </a:p>
          <a:p>
            <a:pPr>
              <a:spcAft>
                <a:spcPts val="1400"/>
              </a:spcAft>
              <a:buNone/>
            </a:pPr>
            <a:r>
              <a:rPr sz="2000" b="1" i="0">
                <a:solidFill>
                  <a:srgbClr val="14B8A6"/>
                </a:solidFill>
                <a:latin typeface="Calibri"/>
                <a:ea typeface="Calibri"/>
                <a:cs typeface="Calibri"/>
              </a:rPr>
              <a:t>▪  </a:t>
            </a:r>
            <a:r>
              <a:rPr sz="2000" b="1" i="0">
                <a:solidFill>
                  <a:srgbClr val="1E2A44"/>
                </a:solidFill>
                <a:latin typeface="Calibri"/>
                <a:ea typeface="Calibri"/>
                <a:cs typeface="Calibri"/>
              </a:rPr>
              <a:t>State equivalence can’t be read from one observation  </a:t>
            </a:r>
            <a:r>
              <a:rPr sz="2000" b="0" i="0">
                <a:solidFill>
                  <a:srgbClr val="1E2A44"/>
                </a:solidFill>
                <a:latin typeface="Calibri"/>
                <a:ea typeface="Calibri"/>
                <a:cs typeface="Calibri"/>
              </a:rPr>
              <a:t>— assurance needs repeated measurement, and specialised oracles expose non-crash bugs [47], [48].</a:t>
            </a:r>
          </a:p>
          <a:p>
            <a:pPr>
              <a:spcAft>
                <a:spcPts val="1400"/>
              </a:spcAft>
              <a:buNone/>
            </a:pPr>
            <a:r>
              <a:rPr sz="2000" b="1" i="0">
                <a:solidFill>
                  <a:srgbClr val="14B8A6"/>
                </a:solidFill>
                <a:latin typeface="Calibri"/>
                <a:ea typeface="Calibri"/>
                <a:cs typeface="Calibri"/>
              </a:rPr>
              <a:t>▪  </a:t>
            </a:r>
            <a:r>
              <a:rPr sz="2000" b="1" i="0">
                <a:solidFill>
                  <a:srgbClr val="1E2A44"/>
                </a:solidFill>
                <a:latin typeface="Calibri"/>
                <a:ea typeface="Calibri"/>
                <a:cs typeface="Calibri"/>
              </a:rPr>
              <a:t>Equivalence checking had to be redesigned  </a:t>
            </a:r>
            <a:r>
              <a:rPr sz="2000" b="0" i="0">
                <a:solidFill>
                  <a:srgbClr val="1E2A44"/>
                </a:solidFill>
                <a:latin typeface="Calibri"/>
                <a:ea typeface="Calibri"/>
                <a:cs typeface="Calibri"/>
              </a:rPr>
              <a:t>— for reversibility, superposition, entanglement — not reused from classical [6].</a:t>
            </a:r>
          </a:p>
          <a:p>
            <a:pPr>
              <a:spcAft>
                <a:spcPts val="1400"/>
              </a:spcAft>
              <a:buNone/>
            </a:pPr>
            <a:r>
              <a:rPr sz="2000" b="1" i="0">
                <a:solidFill>
                  <a:srgbClr val="14B8A6"/>
                </a:solidFill>
                <a:latin typeface="Calibri"/>
                <a:ea typeface="Calibri"/>
                <a:cs typeface="Calibri"/>
              </a:rPr>
              <a:t>▪  </a:t>
            </a:r>
            <a:r>
              <a:rPr sz="2000" b="1" i="0">
                <a:solidFill>
                  <a:srgbClr val="1E2A44"/>
                </a:solidFill>
                <a:latin typeface="Calibri"/>
                <a:ea typeface="Calibri"/>
                <a:cs typeface="Calibri"/>
              </a:rPr>
              <a:t>Compiler-pass reasoning must encode quantum semantics  </a:t>
            </a:r>
            <a:r>
              <a:rPr sz="2000" b="0" i="0">
                <a:solidFill>
                  <a:srgbClr val="1E2A44"/>
                </a:solidFill>
                <a:latin typeface="Calibri"/>
                <a:ea typeface="Calibri"/>
                <a:cs typeface="Calibri"/>
              </a:rPr>
              <a:t>— formal verification confirms this is necessary and feasible [27].</a:t>
            </a:r>
          </a:p>
        </p:txBody>
      </p:sp>
      <p:sp>
        <p:nvSpPr>
          <p:cNvPr id="6" name="TextBox 5">
            <a:extLst>
              <a:ext uri="{FF2B5EF4-FFF2-40B4-BE49-F238E27FC236}">
                <a16:creationId xmlns:a16="http://schemas.microsoft.com/office/drawing/2014/main" id="{9949AB4F-EAF9-4A3A-86D2-55ED44A51220}"/>
              </a:ext>
            </a:extLst>
          </p:cNvPr>
          <p:cNvSpPr>
            <a:spLocks noGrp="1"/>
          </p:cNvSpPr>
          <p:nvPr/>
        </p:nvSpPr>
        <p:spPr>
          <a:xfrm>
            <a:off x="640080" y="5806440"/>
            <a:ext cx="10972800" cy="547842"/>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Central claim: classical machinery does not directly solve quantum-transpiler regression testing — its observability, oracle, equivalence and cost models do not hold unchanged.</a:t>
            </a:r>
          </a:p>
        </p:txBody>
      </p:sp>
      <p:sp>
        <p:nvSpPr>
          <p:cNvPr id="7" name="TextBox 6">
            <a:extLst>
              <a:ext uri="{FF2B5EF4-FFF2-40B4-BE49-F238E27FC236}">
                <a16:creationId xmlns:a16="http://schemas.microsoft.com/office/drawing/2014/main" id="{9BBDC4BE-CEE5-4507-BBBF-7A74C35100FC}"/>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8" name="TextBox 7">
            <a:extLst>
              <a:ext uri="{FF2B5EF4-FFF2-40B4-BE49-F238E27FC236}">
                <a16:creationId xmlns:a16="http://schemas.microsoft.com/office/drawing/2014/main" id="{2F49E2BE-F242-4689-B8DF-088605275223}"/>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26</a:t>
            </a:r>
          </a:p>
        </p:txBody>
      </p:sp>
      <p:pic>
        <p:nvPicPr>
          <p:cNvPr id="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83071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553E2E-8A78-4FC7-AEB3-51CF367960C0}"/>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069A4685-1F66-4E4B-8123-47D49E9EA793}"/>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ea typeface="Calibri"/>
                <a:cs typeface="Calibri"/>
              </a:rPr>
              <a:t>BACKUP — FOR QUESTIONS</a:t>
            </a:r>
          </a:p>
        </p:txBody>
      </p:sp>
      <p:sp>
        <p:nvSpPr>
          <p:cNvPr id="4" name="TextBox 3">
            <a:extLst>
              <a:ext uri="{FF2B5EF4-FFF2-40B4-BE49-F238E27FC236}">
                <a16:creationId xmlns:a16="http://schemas.microsoft.com/office/drawing/2014/main" id="{271A847D-47DC-4446-B973-4E7660D2C2C3}"/>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How Do We Evaluate Something Novel?</a:t>
            </a:r>
          </a:p>
        </p:txBody>
      </p:sp>
      <p:sp>
        <p:nvSpPr>
          <p:cNvPr id="5" name="TextBox 4">
            <a:extLst>
              <a:ext uri="{FF2B5EF4-FFF2-40B4-BE49-F238E27FC236}">
                <a16:creationId xmlns:a16="http://schemas.microsoft.com/office/drawing/2014/main" id="{90DC8E63-9C33-4CB4-A5CE-06C97BA78E4F}"/>
              </a:ext>
            </a:extLst>
          </p:cNvPr>
          <p:cNvSpPr>
            <a:spLocks noGrp="1"/>
          </p:cNvSpPr>
          <p:nvPr/>
        </p:nvSpPr>
        <p:spPr>
          <a:xfrm>
            <a:off x="640080" y="1463040"/>
            <a:ext cx="1097280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The method is new — the evaluation apparatus is entirely standard. We do not compare against a non-existent rival, so we do what every regression-testing study does:</a:t>
            </a:r>
          </a:p>
        </p:txBody>
      </p:sp>
      <p:sp>
        <p:nvSpPr>
          <p:cNvPr id="6" name="TextBox 5">
            <a:extLst>
              <a:ext uri="{FF2B5EF4-FFF2-40B4-BE49-F238E27FC236}">
                <a16:creationId xmlns:a16="http://schemas.microsoft.com/office/drawing/2014/main" id="{A689F4D6-58E8-4B04-BFD9-A7679EEDC660}"/>
              </a:ext>
            </a:extLst>
          </p:cNvPr>
          <p:cNvSpPr>
            <a:spLocks noGrp="1"/>
          </p:cNvSpPr>
          <p:nvPr/>
        </p:nvSpPr>
        <p:spPr>
          <a:xfrm>
            <a:off x="640080" y="2057400"/>
            <a:ext cx="11064240" cy="4454040"/>
          </a:xfrm>
          <a:prstGeom prst="rect">
            <a:avLst/>
          </a:prstGeom>
          <a:noFill/>
        </p:spPr>
        <p:txBody>
          <a:bodyPr wrap="square" lIns="27432" tIns="27432" rIns="27432" bIns="27432">
            <a:spAutoFit/>
          </a:bodyPr>
          <a:lstStyle/>
          <a:p>
            <a:pPr>
              <a:spcAft>
                <a:spcPts val="1100"/>
              </a:spcAft>
              <a:buNone/>
            </a:pPr>
            <a:r>
              <a:rPr sz="2000" b="1" i="0">
                <a:solidFill>
                  <a:srgbClr val="14B8A6"/>
                </a:solidFill>
                <a:latin typeface="Calibri"/>
                <a:ea typeface="Calibri"/>
                <a:cs typeface="Calibri"/>
              </a:rPr>
              <a:t>▪  </a:t>
            </a:r>
            <a:r>
              <a:rPr sz="2000" b="1" i="0">
                <a:solidFill>
                  <a:srgbClr val="0E7C7B"/>
                </a:solidFill>
                <a:latin typeface="Calibri"/>
                <a:ea typeface="Calibri"/>
                <a:cs typeface="Calibri"/>
              </a:rPr>
              <a:t>Established baselines:  </a:t>
            </a:r>
            <a:r>
              <a:rPr sz="2000" b="0" i="0">
                <a:solidFill>
                  <a:srgbClr val="1E2A44"/>
                </a:solidFill>
                <a:latin typeface="Calibri"/>
                <a:ea typeface="Calibri"/>
                <a:cs typeface="Calibri"/>
              </a:rPr>
              <a:t>the selector is compared against random ordering plus cost-, history-, coverage/diversity- and change-based heuristics — the field-standard set [3], [10], [14].</a:t>
            </a:r>
          </a:p>
          <a:p>
            <a:pPr>
              <a:spcAft>
                <a:spcPts val="1100"/>
              </a:spcAft>
              <a:buNone/>
            </a:pPr>
            <a:r>
              <a:rPr sz="2000" b="1" i="0">
                <a:solidFill>
                  <a:srgbClr val="14B8A6"/>
                </a:solidFill>
                <a:latin typeface="Calibri"/>
                <a:ea typeface="Calibri"/>
                <a:cs typeface="Calibri"/>
              </a:rPr>
              <a:t>▪  </a:t>
            </a:r>
            <a:r>
              <a:rPr sz="2000" b="1" i="0">
                <a:solidFill>
                  <a:srgbClr val="0E7C7B"/>
                </a:solidFill>
                <a:latin typeface="Calibri"/>
                <a:ea typeface="Calibri"/>
                <a:cs typeface="Calibri"/>
              </a:rPr>
              <a:t>Standard metrics:  </a:t>
            </a:r>
            <a:r>
              <a:rPr sz="2000" b="0" i="0">
                <a:solidFill>
                  <a:srgbClr val="1E2A44"/>
                </a:solidFill>
                <a:latin typeface="Calibri"/>
                <a:ea typeface="Calibri"/>
                <a:cs typeface="Calibri"/>
              </a:rPr>
              <a:t>APFD and cost-cognizant APFDc, recall@budget, detection-vs-budget AUC, oracle false-positive rate, inter-rater κ — all from the literature [10], [12], [40], [41].</a:t>
            </a:r>
          </a:p>
          <a:p>
            <a:pPr>
              <a:spcAft>
                <a:spcPts val="1100"/>
              </a:spcAft>
              <a:buNone/>
            </a:pPr>
            <a:r>
              <a:rPr sz="2000" b="1" i="0">
                <a:solidFill>
                  <a:srgbClr val="14B8A6"/>
                </a:solidFill>
                <a:latin typeface="Calibri"/>
                <a:ea typeface="Calibri"/>
                <a:cs typeface="Calibri"/>
              </a:rPr>
              <a:t>▪  </a:t>
            </a:r>
            <a:r>
              <a:rPr sz="2000" b="1" i="0">
                <a:solidFill>
                  <a:srgbClr val="0E7C7B"/>
                </a:solidFill>
                <a:latin typeface="Calibri"/>
                <a:ea typeface="Calibri"/>
                <a:cs typeface="Calibri"/>
              </a:rPr>
              <a:t>Real ground truth:  </a:t>
            </a:r>
            <a:r>
              <a:rPr sz="2000" b="0" i="0">
                <a:solidFill>
                  <a:srgbClr val="1E2A44"/>
                </a:solidFill>
                <a:latin typeface="Calibri"/>
                <a:ea typeface="Calibri"/>
                <a:cs typeface="Calibri"/>
              </a:rPr>
              <a:t>evaluation on real, historical Qiskit regressions where the correct answer is known — e.g., a bug the output oracle passed but the matched oracle caught.</a:t>
            </a:r>
          </a:p>
          <a:p>
            <a:pPr>
              <a:spcAft>
                <a:spcPts val="1100"/>
              </a:spcAft>
              <a:buNone/>
            </a:pPr>
            <a:r>
              <a:rPr sz="2000" b="1" i="0">
                <a:solidFill>
                  <a:srgbClr val="14B8A6"/>
                </a:solidFill>
                <a:latin typeface="Calibri"/>
                <a:ea typeface="Calibri"/>
                <a:cs typeface="Calibri"/>
              </a:rPr>
              <a:t>▪  </a:t>
            </a:r>
            <a:r>
              <a:rPr sz="2000" b="1" i="0">
                <a:solidFill>
                  <a:srgbClr val="0E7C7B"/>
                </a:solidFill>
                <a:latin typeface="Calibri"/>
                <a:ea typeface="Calibri"/>
                <a:cs typeface="Calibri"/>
              </a:rPr>
              <a:t>Ablation:  </a:t>
            </a:r>
            <a:r>
              <a:rPr sz="2000" b="0" i="0">
                <a:solidFill>
                  <a:srgbClr val="1E2A44"/>
                </a:solidFill>
                <a:latin typeface="Calibri"/>
                <a:ea typeface="Calibri"/>
                <a:cs typeface="Calibri"/>
              </a:rPr>
              <a:t>quantum-specific components are switched off one at a time to show which actually carry the effect — the method is compared against reduced versions of itself.</a:t>
            </a:r>
          </a:p>
          <a:p>
            <a:pPr>
              <a:spcAft>
                <a:spcPts val="1100"/>
              </a:spcAft>
              <a:buNone/>
            </a:pPr>
            <a:r>
              <a:rPr sz="2000" b="1" i="0">
                <a:solidFill>
                  <a:srgbClr val="14B8A6"/>
                </a:solidFill>
                <a:latin typeface="Calibri"/>
                <a:ea typeface="Calibri"/>
                <a:cs typeface="Calibri"/>
              </a:rPr>
              <a:t>▪  </a:t>
            </a:r>
            <a:r>
              <a:rPr sz="2000" b="1" i="0">
                <a:solidFill>
                  <a:srgbClr val="0E7C7B"/>
                </a:solidFill>
                <a:latin typeface="Calibri"/>
                <a:ea typeface="Calibri"/>
                <a:cs typeface="Calibri"/>
              </a:rPr>
              <a:t>Self-audit:  </a:t>
            </a:r>
            <a:r>
              <a:rPr sz="2000" b="0" i="0">
                <a:solidFill>
                  <a:srgbClr val="1E2A44"/>
                </a:solidFill>
                <a:latin typeface="Calibri"/>
                <a:ea typeface="Calibri"/>
                <a:cs typeface="Calibri"/>
              </a:rPr>
              <a:t>six leakage-safe validity gates make every result reproducible and trustworthy, independent of any competitor.</a:t>
            </a:r>
          </a:p>
          <a:p>
            <a:pPr>
              <a:spcAft>
                <a:spcPts val="1100"/>
              </a:spcAft>
              <a:buNone/>
            </a:pPr>
            <a:r>
              <a:rPr sz="2000" b="1">
                <a:solidFill>
                  <a:srgbClr val="14B8A6"/>
                </a:solidFill>
                <a:latin typeface="Calibri"/>
                <a:ea typeface="Calibri"/>
                <a:cs typeface="Calibri"/>
              </a:rPr>
              <a:t>▪  </a:t>
            </a:r>
            <a:r>
              <a:rPr sz="2000" b="1">
                <a:solidFill>
                  <a:srgbClr val="0E7C7B"/>
                </a:solidFill>
                <a:latin typeface="Calibri"/>
                <a:ea typeface="Calibri"/>
                <a:cs typeface="Calibri"/>
              </a:rPr>
              <a:t>Unit of analysis:  </a:t>
            </a:r>
            <a:r>
              <a:rPr sz="2000">
                <a:solidFill>
                  <a:srgbClr val="1E2A44"/>
                </a:solidFill>
                <a:latin typeface="Calibri"/>
                <a:ea typeface="Calibri"/>
                <a:cs typeface="Calibri"/>
              </a:rPr>
              <a:t>the regression event is the independent unit, and test–oracle pairs are nested observations, not independent replications.</a:t>
            </a:r>
          </a:p>
        </p:txBody>
      </p:sp>
      <p:sp>
        <p:nvSpPr>
          <p:cNvPr id="8" name="TextBox 7">
            <a:extLst>
              <a:ext uri="{FF2B5EF4-FFF2-40B4-BE49-F238E27FC236}">
                <a16:creationId xmlns:a16="http://schemas.microsoft.com/office/drawing/2014/main" id="{C501485F-A052-4BE4-B62E-EF7025368102}"/>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6EC589BA-6808-49BF-9639-868C1E5D6C83}"/>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27</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805983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B66F64-5157-41D4-92FD-AFEAE19AF4B3}"/>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A941BDFD-AFD7-4B99-BA84-E6BB84A0CF32}"/>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ea typeface="Calibri"/>
                <a:cs typeface="Calibri"/>
              </a:rPr>
              <a:t>BACKUP — FOR QUESTIONS</a:t>
            </a:r>
          </a:p>
        </p:txBody>
      </p:sp>
      <p:sp>
        <p:nvSpPr>
          <p:cNvPr id="4" name="TextBox 3">
            <a:extLst>
              <a:ext uri="{FF2B5EF4-FFF2-40B4-BE49-F238E27FC236}">
                <a16:creationId xmlns:a16="http://schemas.microsoft.com/office/drawing/2014/main" id="{6DF81AF7-AE63-4642-A18F-5DA2BDAEEB55}"/>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Where the Tested Regressions Come From</a:t>
            </a:r>
          </a:p>
        </p:txBody>
      </p:sp>
      <p:sp>
        <p:nvSpPr>
          <p:cNvPr id="5" name="TextBox 4">
            <a:extLst>
              <a:ext uri="{FF2B5EF4-FFF2-40B4-BE49-F238E27FC236}">
                <a16:creationId xmlns:a16="http://schemas.microsoft.com/office/drawing/2014/main" id="{BAFC8D98-B2D7-4AD7-9E43-EF39A61E3A79}"/>
              </a:ext>
            </a:extLst>
          </p:cNvPr>
          <p:cNvSpPr>
            <a:spLocks noGrp="1"/>
          </p:cNvSpPr>
          <p:nvPr/>
        </p:nvSpPr>
        <p:spPr>
          <a:xfrm>
            <a:off x="640080" y="1463040"/>
            <a:ext cx="1106424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The events (e.g., H1 = PR #14603, H4 = PR #14120) are not “just GitHub” — for an open-source SDK the repository IS the authoritative primary record.</a:t>
            </a:r>
          </a:p>
        </p:txBody>
      </p:sp>
      <p:sp>
        <p:nvSpPr>
          <p:cNvPr id="6" name="TextBox 5">
            <a:extLst>
              <a:ext uri="{FF2B5EF4-FFF2-40B4-BE49-F238E27FC236}">
                <a16:creationId xmlns:a16="http://schemas.microsoft.com/office/drawing/2014/main" id="{A609D9C5-E3B2-4A99-95E1-661CEA417B21}"/>
              </a:ext>
            </a:extLst>
          </p:cNvPr>
          <p:cNvSpPr>
            <a:spLocks noGrp="1"/>
          </p:cNvSpPr>
          <p:nvPr/>
        </p:nvSpPr>
        <p:spPr>
          <a:xfrm>
            <a:off x="640080" y="2057400"/>
            <a:ext cx="11064240" cy="3697422"/>
          </a:xfrm>
          <a:prstGeom prst="rect">
            <a:avLst/>
          </a:prstGeom>
          <a:noFill/>
        </p:spPr>
        <p:txBody>
          <a:bodyPr wrap="square" lIns="27432" tIns="27432" rIns="27432" bIns="27432">
            <a:spAutoFit/>
          </a:bodyPr>
          <a:lstStyle/>
          <a:p>
            <a:pPr>
              <a:spcAft>
                <a:spcPts val="1100"/>
              </a:spcAft>
              <a:buNone/>
            </a:pPr>
            <a:r>
              <a:rPr sz="2000" b="1" i="0">
                <a:solidFill>
                  <a:srgbClr val="14B8A6"/>
                </a:solidFill>
                <a:latin typeface="Calibri"/>
                <a:ea typeface="Calibri"/>
                <a:cs typeface="Calibri"/>
              </a:rPr>
              <a:t>▪  </a:t>
            </a:r>
            <a:r>
              <a:rPr sz="2000" b="1" i="0">
                <a:solidFill>
                  <a:srgbClr val="0E7C7B"/>
                </a:solidFill>
                <a:latin typeface="Calibri"/>
                <a:ea typeface="Calibri"/>
                <a:cs typeface="Calibri"/>
              </a:rPr>
              <a:t>Canonical primary source:  </a:t>
            </a:r>
            <a:r>
              <a:rPr sz="2000" b="0" i="0">
                <a:solidFill>
                  <a:srgbClr val="1E2A44"/>
                </a:solidFill>
                <a:latin typeface="Calibri"/>
                <a:ea typeface="Calibri"/>
                <a:cs typeface="Calibri"/>
              </a:rPr>
              <a:t>merged pull requests, their linked issues, and release notes are the official record of what changed and why — permanent and citable.</a:t>
            </a:r>
          </a:p>
          <a:p>
            <a:pPr>
              <a:spcAft>
                <a:spcPts val="1100"/>
              </a:spcAft>
              <a:buNone/>
            </a:pPr>
            <a:r>
              <a:rPr sz="2000" b="1" i="0">
                <a:solidFill>
                  <a:srgbClr val="14B8A6"/>
                </a:solidFill>
                <a:latin typeface="Calibri"/>
                <a:ea typeface="Calibri"/>
                <a:cs typeface="Calibri"/>
              </a:rPr>
              <a:t>▪  </a:t>
            </a:r>
            <a:r>
              <a:rPr sz="2000" b="1" i="0">
                <a:solidFill>
                  <a:srgbClr val="0E7C7B"/>
                </a:solidFill>
                <a:latin typeface="Calibri"/>
                <a:ea typeface="Calibri"/>
                <a:cs typeface="Calibri"/>
              </a:rPr>
              <a:t>Standard methodology:  </a:t>
            </a:r>
            <a:r>
              <a:rPr sz="2000" b="0" i="0">
                <a:solidFill>
                  <a:srgbClr val="1E2A44"/>
                </a:solidFill>
                <a:latin typeface="Calibri"/>
                <a:ea typeface="Calibri"/>
                <a:cs typeface="Calibri"/>
              </a:rPr>
              <a:t>mining merged bug-fix commits is established empirical-software-engineering practice [49] (the SZZ / Mining-Software-Repositories line).</a:t>
            </a:r>
          </a:p>
          <a:p>
            <a:pPr>
              <a:spcAft>
                <a:spcPts val="1100"/>
              </a:spcAft>
              <a:buNone/>
            </a:pPr>
            <a:r>
              <a:rPr sz="2000" b="1" i="0">
                <a:solidFill>
                  <a:srgbClr val="14B8A6"/>
                </a:solidFill>
                <a:latin typeface="Calibri"/>
                <a:ea typeface="Calibri"/>
                <a:cs typeface="Calibri"/>
              </a:rPr>
              <a:t>▪  </a:t>
            </a:r>
            <a:r>
              <a:rPr sz="2000" b="1" i="0">
                <a:solidFill>
                  <a:srgbClr val="0E7C7B"/>
                </a:solidFill>
                <a:latin typeface="Calibri"/>
                <a:ea typeface="Calibri"/>
                <a:cs typeface="Calibri"/>
              </a:rPr>
              <a:t>Same source as accepted benchmarks:  </a:t>
            </a:r>
            <a:r>
              <a:rPr sz="2000" b="0" i="0">
                <a:solidFill>
                  <a:srgbClr val="1E2A44"/>
                </a:solidFill>
                <a:latin typeface="Calibri"/>
                <a:ea typeface="Calibri"/>
                <a:cs typeface="Calibri"/>
              </a:rPr>
              <a:t>Bugs4Q curates real Qiskit bugs from this history [29], and Paltenghi &amp; Pradel mined 223 real platform bugs the same way [1].</a:t>
            </a:r>
          </a:p>
          <a:p>
            <a:pPr>
              <a:spcAft>
                <a:spcPts val="1100"/>
              </a:spcAft>
              <a:buNone/>
            </a:pPr>
            <a:r>
              <a:rPr sz="2000" b="1" i="0">
                <a:solidFill>
                  <a:srgbClr val="14B8A6"/>
                </a:solidFill>
                <a:latin typeface="Calibri"/>
                <a:ea typeface="Calibri"/>
                <a:cs typeface="Calibri"/>
              </a:rPr>
              <a:t>▪  </a:t>
            </a:r>
            <a:r>
              <a:rPr sz="2000" b="1" i="0">
                <a:solidFill>
                  <a:srgbClr val="0E7C7B"/>
                </a:solidFill>
                <a:latin typeface="Calibri"/>
                <a:ea typeface="Calibri"/>
                <a:cs typeface="Calibri"/>
              </a:rPr>
              <a:t>Full traceability:  </a:t>
            </a:r>
            <a:r>
              <a:rPr sz="2000" b="0" i="0">
                <a:solidFill>
                  <a:srgbClr val="1E2A44"/>
                </a:solidFill>
                <a:latin typeface="Calibri"/>
                <a:ea typeface="Calibri"/>
                <a:cs typeface="Calibri"/>
              </a:rPr>
              <a:t>each event → inducing/fixing PR + issue thread + release note. All IDs, revisions and build scripts released for reproduction.</a:t>
            </a:r>
          </a:p>
          <a:p>
            <a:pPr>
              <a:spcAft>
                <a:spcPts val="1100"/>
              </a:spcAft>
              <a:buNone/>
            </a:pPr>
            <a:r>
              <a:rPr sz="2000" b="1" i="0">
                <a:solidFill>
                  <a:srgbClr val="14B8A6"/>
                </a:solidFill>
                <a:latin typeface="Calibri"/>
                <a:ea typeface="Calibri"/>
                <a:cs typeface="Calibri"/>
              </a:rPr>
              <a:t>▪  </a:t>
            </a:r>
            <a:r>
              <a:rPr sz="2000" b="1" i="0">
                <a:solidFill>
                  <a:srgbClr val="0E7C7B"/>
                </a:solidFill>
                <a:latin typeface="Calibri"/>
                <a:ea typeface="Calibri"/>
                <a:cs typeface="Calibri"/>
              </a:rPr>
              <a:t>Why not RFCs:  </a:t>
            </a:r>
            <a:r>
              <a:rPr sz="2000" b="0" i="0">
                <a:solidFill>
                  <a:srgbClr val="1E2A44"/>
                </a:solidFill>
                <a:latin typeface="Calibri"/>
                <a:ea typeface="Calibri"/>
                <a:cs typeface="Calibri"/>
              </a:rPr>
              <a:t>Qiskit RFCs cover major design changes, not routine bug fixes — those live in the PR + release-note record, which is the correct provenance.</a:t>
            </a:r>
          </a:p>
        </p:txBody>
      </p:sp>
      <p:sp>
        <p:nvSpPr>
          <p:cNvPr id="7" name="TextBox 6">
            <a:extLst>
              <a:ext uri="{FF2B5EF4-FFF2-40B4-BE49-F238E27FC236}">
                <a16:creationId xmlns:a16="http://schemas.microsoft.com/office/drawing/2014/main" id="{13B47BE7-4A48-49A9-8995-2CF445FAB840}"/>
              </a:ext>
            </a:extLst>
          </p:cNvPr>
          <p:cNvSpPr>
            <a:spLocks noGrp="1"/>
          </p:cNvSpPr>
          <p:nvPr/>
        </p:nvSpPr>
        <p:spPr>
          <a:xfrm>
            <a:off x="640080" y="5989320"/>
            <a:ext cx="11064240" cy="301621"/>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Every tested regression is traceable to a permanent, verifiable record — more so than most secondary sources.</a:t>
            </a:r>
          </a:p>
        </p:txBody>
      </p:sp>
      <p:sp>
        <p:nvSpPr>
          <p:cNvPr id="8" name="TextBox 7">
            <a:extLst>
              <a:ext uri="{FF2B5EF4-FFF2-40B4-BE49-F238E27FC236}">
                <a16:creationId xmlns:a16="http://schemas.microsoft.com/office/drawing/2014/main" id="{4A4A6840-C733-4E3B-8379-152A618B657C}"/>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734F58CB-B2D0-4048-8B3E-4ECB2C2C7E0C}"/>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28</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095634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6A410A-18A0-4D30-B422-800EDCF7549F}"/>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4CBC3B5E-8F2E-4209-90E5-F5304AAE3B92}"/>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ea typeface="Calibri"/>
                <a:cs typeface="Calibri"/>
              </a:rPr>
              <a:t>BACKUP — FOR QUESTIONS</a:t>
            </a:r>
          </a:p>
        </p:txBody>
      </p:sp>
      <p:sp>
        <p:nvSpPr>
          <p:cNvPr id="4" name="TextBox 3">
            <a:extLst>
              <a:ext uri="{FF2B5EF4-FFF2-40B4-BE49-F238E27FC236}">
                <a16:creationId xmlns:a16="http://schemas.microsoft.com/office/drawing/2014/main" id="{B5C1EA48-9FC3-454B-8780-099C50682C7C}"/>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Do We Run Quantum Simulations? (No Hardware)</a:t>
            </a:r>
          </a:p>
        </p:txBody>
      </p:sp>
      <p:sp>
        <p:nvSpPr>
          <p:cNvPr id="5" name="TextBox 4">
            <a:extLst>
              <a:ext uri="{FF2B5EF4-FFF2-40B4-BE49-F238E27FC236}">
                <a16:creationId xmlns:a16="http://schemas.microsoft.com/office/drawing/2014/main" id="{C11692C7-9B0B-487E-990B-4AB308B2688D}"/>
              </a:ext>
            </a:extLst>
          </p:cNvPr>
          <p:cNvSpPr>
            <a:spLocks noGrp="1"/>
          </p:cNvSpPr>
          <p:nvPr/>
        </p:nvSpPr>
        <p:spPr>
          <a:xfrm>
            <a:off x="640080" y="1463040"/>
            <a:ext cx="1106424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Yes — classical simulation only, on the CPU. A simulator is classical software that computes what a quantum device would do, and it never needs a quantum device.</a:t>
            </a:r>
          </a:p>
        </p:txBody>
      </p:sp>
      <p:sp>
        <p:nvSpPr>
          <p:cNvPr id="6" name="TextBox 5">
            <a:extLst>
              <a:ext uri="{FF2B5EF4-FFF2-40B4-BE49-F238E27FC236}">
                <a16:creationId xmlns:a16="http://schemas.microsoft.com/office/drawing/2014/main" id="{6FE38BEC-BAFE-4AFA-93D1-1E36822DAA32}"/>
              </a:ext>
            </a:extLst>
          </p:cNvPr>
          <p:cNvSpPr>
            <a:spLocks noGrp="1"/>
          </p:cNvSpPr>
          <p:nvPr/>
        </p:nvSpPr>
        <p:spPr>
          <a:xfrm>
            <a:off x="640080" y="2057400"/>
            <a:ext cx="11064240" cy="3338350"/>
          </a:xfrm>
          <a:prstGeom prst="rect">
            <a:avLst/>
          </a:prstGeom>
          <a:noFill/>
        </p:spPr>
        <p:txBody>
          <a:bodyPr wrap="square" lIns="27432" tIns="27432" rIns="27432" bIns="27432">
            <a:spAutoFit/>
          </a:bodyPr>
          <a:lstStyle/>
          <a:p>
            <a:pPr>
              <a:spcAft>
                <a:spcPts val="10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What we test is classical:  </a:t>
            </a:r>
            <a:r>
              <a:rPr b="0" i="0">
                <a:solidFill>
                  <a:srgbClr val="1E2A44"/>
                </a:solidFill>
                <a:latin typeface="Calibri"/>
                <a:ea typeface="Calibri"/>
                <a:cs typeface="Calibri"/>
              </a:rPr>
              <a:t>the transpiler is compiler software, so checking its output is a classical computation, not a physics experiment.</a:t>
            </a:r>
          </a:p>
          <a:p>
            <a:pPr>
              <a:spcAft>
                <a:spcPts val="10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How the check runs:  </a:t>
            </a:r>
            <a:r>
              <a:rPr b="0" i="0">
                <a:solidFill>
                  <a:srgbClr val="1E2A44"/>
                </a:solidFill>
                <a:latin typeface="Calibri"/>
                <a:ea typeface="Calibri"/>
                <a:cs typeface="Calibri"/>
              </a:rPr>
              <a:t>for small circuits (≤ 12 qubits) we compute the exact unitary with linear algebra (Qiskit’s classical simulator) and compare up to global phase [6].</a:t>
            </a:r>
          </a:p>
          <a:p>
            <a:pPr>
              <a:spcAft>
                <a:spcPts val="10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It runs on a laptop:  </a:t>
            </a:r>
            <a:r>
              <a:rPr b="0" i="0">
                <a:solidFill>
                  <a:srgbClr val="1E2A44"/>
                </a:solidFill>
                <a:latin typeface="Calibri"/>
                <a:ea typeface="Calibri"/>
                <a:cs typeface="Calibri"/>
              </a:rPr>
              <a:t>the corpus uses up to 8 qubits, so every semantic check simulates in milliseconds on a 32 GB CPU — no device, no queue, no noise.</a:t>
            </a:r>
          </a:p>
          <a:p>
            <a:pPr>
              <a:spcAft>
                <a:spcPts val="10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Where simulation would blow up:  </a:t>
            </a:r>
            <a:r>
              <a:rPr b="0" i="0">
                <a:solidFill>
                  <a:srgbClr val="1E2A44"/>
                </a:solidFill>
                <a:latin typeface="Calibri"/>
                <a:ea typeface="Calibri"/>
                <a:cs typeface="Calibri"/>
              </a:rPr>
              <a:t>above the cap we do NOT simulate — structural checks (basis + coupling-map) take over, and even the 27-qubit performance test only times the compiler, not the circuit's output.</a:t>
            </a:r>
          </a:p>
          <a:p>
            <a:pPr>
              <a:spcAft>
                <a:spcPts val="1000"/>
              </a:spcAft>
              <a:buNone/>
            </a:pPr>
            <a:r>
              <a:rPr b="1" i="0">
                <a:solidFill>
                  <a:srgbClr val="14B8A6"/>
                </a:solidFill>
                <a:latin typeface="Calibri"/>
                <a:ea typeface="Calibri"/>
                <a:cs typeface="Calibri"/>
              </a:rPr>
              <a:t>▪  </a:t>
            </a:r>
            <a:r>
              <a:rPr b="1" i="0">
                <a:solidFill>
                  <a:srgbClr val="0E7C7B"/>
                </a:solidFill>
                <a:latin typeface="Calibri"/>
                <a:ea typeface="Calibri"/>
                <a:cs typeface="Calibri"/>
              </a:rPr>
              <a:t>No hardware on the critical path:  </a:t>
            </a:r>
            <a:r>
              <a:rPr b="0" i="0">
                <a:solidFill>
                  <a:srgbClr val="1E2A44"/>
                </a:solidFill>
                <a:latin typeface="Calibri"/>
                <a:ea typeface="Calibri"/>
                <a:cs typeface="Calibri"/>
              </a:rPr>
              <a:t>our research validates the compiler transformation, not physical execution — it stops one step before hardware is needed. Physical-noise fidelity is a separate, downstream question, out of scope.</a:t>
            </a:r>
          </a:p>
        </p:txBody>
      </p:sp>
      <p:sp>
        <p:nvSpPr>
          <p:cNvPr id="7" name="TextBox 6">
            <a:extLst>
              <a:ext uri="{FF2B5EF4-FFF2-40B4-BE49-F238E27FC236}">
                <a16:creationId xmlns:a16="http://schemas.microsoft.com/office/drawing/2014/main" id="{55465CE5-1AD5-4416-9840-0CC8F9A978EA}"/>
              </a:ext>
            </a:extLst>
          </p:cNvPr>
          <p:cNvSpPr>
            <a:spLocks noGrp="1"/>
          </p:cNvSpPr>
          <p:nvPr/>
        </p:nvSpPr>
        <p:spPr>
          <a:xfrm>
            <a:off x="640080" y="5989320"/>
            <a:ext cx="11064240" cy="547842"/>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Simulator ≠ hardware: it runs on an ordinary CPU. Exact simulation is exponential, so the design caps it and falls back — that is why no quantum device is needed.</a:t>
            </a:r>
          </a:p>
        </p:txBody>
      </p:sp>
      <p:sp>
        <p:nvSpPr>
          <p:cNvPr id="8" name="TextBox 7">
            <a:extLst>
              <a:ext uri="{FF2B5EF4-FFF2-40B4-BE49-F238E27FC236}">
                <a16:creationId xmlns:a16="http://schemas.microsoft.com/office/drawing/2014/main" id="{8A1C9B6E-20D9-4B0D-994B-E94BA0B3DF9E}"/>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1DEA3CD3-7DB5-42A4-B08C-DF6F8CF0D76D}"/>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29</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577586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79B37-06D9-42FE-8BB7-93465E353F33}"/>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1E387A94-A2E5-45C1-BBAD-DB7CBF311E87}"/>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ea typeface="Calibri"/>
                <a:cs typeface="Calibri"/>
              </a:rPr>
              <a:t>BACKUP — FOR QUESTIONS</a:t>
            </a:r>
          </a:p>
        </p:txBody>
      </p:sp>
      <p:sp>
        <p:nvSpPr>
          <p:cNvPr id="4" name="TextBox 3">
            <a:extLst>
              <a:ext uri="{FF2B5EF4-FFF2-40B4-BE49-F238E27FC236}">
                <a16:creationId xmlns:a16="http://schemas.microsoft.com/office/drawing/2014/main" id="{ED01F0E9-BFBF-40EC-A233-1E0BCB754AA3}"/>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Precedent: Testing Quantum Compilers Without Hardware</a:t>
            </a:r>
          </a:p>
        </p:txBody>
      </p:sp>
      <p:sp>
        <p:nvSpPr>
          <p:cNvPr id="5" name="TextBox 4">
            <a:extLst>
              <a:ext uri="{FF2B5EF4-FFF2-40B4-BE49-F238E27FC236}">
                <a16:creationId xmlns:a16="http://schemas.microsoft.com/office/drawing/2014/main" id="{E7F3F270-B533-45EF-9BCD-EBECBB761DDD}"/>
              </a:ext>
            </a:extLst>
          </p:cNvPr>
          <p:cNvSpPr>
            <a:spLocks noGrp="1"/>
          </p:cNvSpPr>
          <p:nvPr/>
        </p:nvSpPr>
        <p:spPr>
          <a:xfrm>
            <a:off x="640080" y="1225296"/>
            <a:ext cx="1106424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Top-venue studies evaluate quantum compilers and quantum-software testing in classical software or simulation — none required a QPU.</a:t>
            </a:r>
          </a:p>
        </p:txBody>
      </p:sp>
      <p:sp>
        <p:nvSpPr>
          <p:cNvPr id="7" name="TextBox 6">
            <a:extLst>
              <a:ext uri="{FF2B5EF4-FFF2-40B4-BE49-F238E27FC236}">
                <a16:creationId xmlns:a16="http://schemas.microsoft.com/office/drawing/2014/main" id="{6A2B5D5E-33B4-43BE-AABA-97EA70D7616B}"/>
              </a:ext>
            </a:extLst>
          </p:cNvPr>
          <p:cNvSpPr>
            <a:spLocks noGrp="1"/>
          </p:cNvSpPr>
          <p:nvPr/>
        </p:nvSpPr>
        <p:spPr>
          <a:xfrm>
            <a:off x="640080" y="6144768"/>
            <a:ext cx="11064240" cy="301621"/>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Our study is in exactly this established, hardware-free mode — evaluating the compiler transformation, not physical execution.</a:t>
            </a:r>
          </a:p>
        </p:txBody>
      </p:sp>
      <p:sp>
        <p:nvSpPr>
          <p:cNvPr id="8" name="TextBox 7">
            <a:extLst>
              <a:ext uri="{FF2B5EF4-FFF2-40B4-BE49-F238E27FC236}">
                <a16:creationId xmlns:a16="http://schemas.microsoft.com/office/drawing/2014/main" id="{ADA6119B-A72B-4841-ADE4-3A8B202A8FE2}"/>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54E230EA-39C2-42F2-AB9F-E9432D07206C}"/>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30</a:t>
            </a:r>
          </a:p>
        </p:txBody>
      </p:sp>
      <p:graphicFrame>
        <p:nvGraphicFramePr>
          <p:cNvPr id="20" name="Table 9"/>
          <p:cNvGraphicFramePr/>
          <p:nvPr/>
        </p:nvGraphicFramePr>
        <p:xfrm>
          <a:off x="603504" y="1847088"/>
          <a:ext cx="10378440" cy="3675888"/>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48920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306324">
                <a:tc>
                  <a:txBody>
                    <a:bodyPr/>
                    <a:lstStyle/>
                    <a:p>
                      <a:r>
                        <a:rPr sz="1400" b="1">
                          <a:solidFill>
                            <a:srgbClr val="FFFFFF"/>
                          </a:solidFill>
                          <a:latin typeface="Calibri"/>
                          <a:ea typeface="Calibri"/>
                          <a:cs typeface="Calibri"/>
                        </a:rPr>
                        <a:t>Study</a:t>
                      </a:r>
                    </a:p>
                  </a:txBody>
                  <a:tcPr marL="54864" marR="45720" marT="9144" marB="9144" anchor="ctr">
                    <a:solidFill>
                      <a:srgbClr val="14264F"/>
                    </a:solidFill>
                  </a:tcPr>
                </a:tc>
                <a:tc>
                  <a:txBody>
                    <a:bodyPr/>
                    <a:lstStyle/>
                    <a:p>
                      <a:r>
                        <a:rPr sz="1400" b="1">
                          <a:solidFill>
                            <a:srgbClr val="FFFFFF"/>
                          </a:solidFill>
                          <a:latin typeface="Calibri"/>
                          <a:ea typeface="Calibri"/>
                          <a:cs typeface="Calibri"/>
                        </a:rPr>
                        <a:t>Venue (year)</a:t>
                      </a:r>
                    </a:p>
                  </a:txBody>
                  <a:tcPr marL="54864" marR="45720" marT="9144" marB="9144" anchor="ctr">
                    <a:solidFill>
                      <a:srgbClr val="14264F"/>
                    </a:solidFill>
                  </a:tcPr>
                </a:tc>
                <a:tc>
                  <a:txBody>
                    <a:bodyPr/>
                    <a:lstStyle/>
                    <a:p>
                      <a:pPr algn="ctr">
                        <a:buNone/>
                      </a:pPr>
                      <a:r>
                        <a:rPr sz="1400" b="1">
                          <a:solidFill>
                            <a:srgbClr val="FFFFFF"/>
                          </a:solidFill>
                          <a:latin typeface="Calibri"/>
                          <a:ea typeface="Calibri"/>
                          <a:cs typeface="Calibri"/>
                        </a:rPr>
                        <a:t>Tier</a:t>
                      </a:r>
                    </a:p>
                  </a:txBody>
                  <a:tcPr marL="54864" marR="45720" marT="9144" marB="9144" anchor="ctr">
                    <a:solidFill>
                      <a:srgbClr val="14264F"/>
                    </a:solidFill>
                  </a:tcPr>
                </a:tc>
                <a:tc>
                  <a:txBody>
                    <a:bodyPr/>
                    <a:lstStyle/>
                    <a:p>
                      <a:r>
                        <a:rPr sz="1400" b="1">
                          <a:solidFill>
                            <a:srgbClr val="FFFFFF"/>
                          </a:solidFill>
                          <a:latin typeface="Calibri"/>
                          <a:ea typeface="Calibri"/>
                          <a:cs typeface="Calibri"/>
                        </a:rPr>
                        <a:t>Ran on</a:t>
                      </a:r>
                    </a:p>
                  </a:txBody>
                  <a:tcPr marL="54864" marR="45720" marT="9144" marB="9144" anchor="ctr">
                    <a:solidFill>
                      <a:srgbClr val="14264F"/>
                    </a:solidFill>
                  </a:tcPr>
                </a:tc>
                <a:tc>
                  <a:txBody>
                    <a:bodyPr/>
                    <a:lstStyle/>
                    <a:p>
                      <a:pPr algn="ctr">
                        <a:buNone/>
                      </a:pPr>
                      <a:r>
                        <a:rPr sz="1400" b="1">
                          <a:solidFill>
                            <a:srgbClr val="FFFFFF"/>
                          </a:solidFill>
                          <a:latin typeface="Calibri"/>
                          <a:ea typeface="Calibri"/>
                          <a:cs typeface="Calibri"/>
                        </a:rPr>
                        <a:t>QPU?</a:t>
                      </a:r>
                    </a:p>
                  </a:txBody>
                  <a:tcPr marL="54864" marR="45720" marT="9144" marB="9144" anchor="ctr">
                    <a:solidFill>
                      <a:srgbClr val="14264F"/>
                    </a:solidFill>
                  </a:tcPr>
                </a:tc>
                <a:extLst>
                  <a:ext uri="{0D108BD9-81ED-4DB2-BD59-A6C34878D82A}">
                    <a16:rowId xmlns:a16="http://schemas.microsoft.com/office/drawing/2014/main" val="10000"/>
                  </a:ext>
                </a:extLst>
              </a:tr>
              <a:tr h="306324">
                <a:tc>
                  <a:txBody>
                    <a:bodyPr/>
                    <a:lstStyle/>
                    <a:p>
                      <a:r>
                        <a:rPr sz="1600">
                          <a:solidFill>
                            <a:srgbClr val="1E2A44"/>
                          </a:solidFill>
                          <a:latin typeface="Calibri"/>
                          <a:ea typeface="Calibri"/>
                          <a:cs typeface="Calibri"/>
                        </a:rPr>
                        <a:t>Giallar [27]</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PLDI 2022</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symbolic pass verification (classical)</a:t>
                      </a:r>
                    </a:p>
                  </a:txBody>
                  <a:tcPr marL="54864" marR="45720" marT="9144" marB="9144" anchor="ctr">
                    <a:solidFill>
                      <a:srgbClr val="FFFFFF"/>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1"/>
                  </a:ext>
                </a:extLst>
              </a:tr>
              <a:tr h="306324">
                <a:tc>
                  <a:txBody>
                    <a:bodyPr/>
                    <a:lstStyle/>
                    <a:p>
                      <a:r>
                        <a:rPr sz="1600">
                          <a:solidFill>
                            <a:srgbClr val="1E2A44"/>
                          </a:solidFill>
                          <a:latin typeface="Calibri"/>
                          <a:ea typeface="Calibri"/>
                          <a:cs typeface="Calibri"/>
                        </a:rPr>
                        <a:t>VOQC [44]</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POPL 2021</a:t>
                      </a:r>
                    </a:p>
                  </a:txBody>
                  <a:tcPr marL="54864" marR="45720" marT="9144" marB="9144" anchor="ctr">
                    <a:solidFill>
                      <a:srgbClr val="F2F5FA"/>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Coq proofs over circuit semantics</a:t>
                      </a:r>
                    </a:p>
                  </a:txBody>
                  <a:tcPr marL="54864" marR="45720" marT="9144" marB="9144" anchor="ctr">
                    <a:solidFill>
                      <a:srgbClr val="F2F5FA"/>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2"/>
                  </a:ext>
                </a:extLst>
              </a:tr>
              <a:tr h="306324">
                <a:tc>
                  <a:txBody>
                    <a:bodyPr/>
                    <a:lstStyle/>
                    <a:p>
                      <a:r>
                        <a:rPr sz="1600">
                          <a:solidFill>
                            <a:srgbClr val="1E2A44"/>
                          </a:solidFill>
                          <a:latin typeface="Calibri"/>
                          <a:ea typeface="Calibri"/>
                          <a:cs typeface="Calibri"/>
                        </a:rPr>
                        <a:t>Burgholzer et al. [50]</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IEEE QCE 2020</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Nat.</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equivalence checking of Qiskit compilation</a:t>
                      </a:r>
                    </a:p>
                  </a:txBody>
                  <a:tcPr marL="54864" marR="45720" marT="9144" marB="9144" anchor="ctr">
                    <a:solidFill>
                      <a:srgbClr val="FFFFFF"/>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3"/>
                  </a:ext>
                </a:extLst>
              </a:tr>
              <a:tr h="306324">
                <a:tc>
                  <a:txBody>
                    <a:bodyPr/>
                    <a:lstStyle/>
                    <a:p>
                      <a:r>
                        <a:rPr sz="1600">
                          <a:solidFill>
                            <a:srgbClr val="1E2A44"/>
                          </a:solidFill>
                          <a:latin typeface="Calibri"/>
                          <a:ea typeface="Calibri"/>
                          <a:cs typeface="Calibri"/>
                        </a:rPr>
                        <a:t>MorphQ [7]</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ICSE 2023</a:t>
                      </a:r>
                    </a:p>
                  </a:txBody>
                  <a:tcPr marL="54864" marR="45720" marT="9144" marB="9144" anchor="ctr">
                    <a:solidFill>
                      <a:srgbClr val="F2F5FA"/>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Qiskit simulator (8,000+ program pairs)</a:t>
                      </a:r>
                    </a:p>
                  </a:txBody>
                  <a:tcPr marL="54864" marR="45720" marT="9144" marB="9144" anchor="ctr">
                    <a:solidFill>
                      <a:srgbClr val="F2F5FA"/>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4"/>
                  </a:ext>
                </a:extLst>
              </a:tr>
              <a:tr h="306324">
                <a:tc>
                  <a:txBody>
                    <a:bodyPr/>
                    <a:lstStyle/>
                    <a:p>
                      <a:r>
                        <a:rPr sz="1600">
                          <a:solidFill>
                            <a:srgbClr val="1E2A44"/>
                          </a:solidFill>
                          <a:latin typeface="Calibri"/>
                          <a:ea typeface="Calibri"/>
                          <a:cs typeface="Calibri"/>
                        </a:rPr>
                        <a:t>Muskit [30]</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ASE 2021</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Qiskit software (mutation analysis)</a:t>
                      </a:r>
                    </a:p>
                  </a:txBody>
                  <a:tcPr marL="54864" marR="45720" marT="9144" marB="9144" anchor="ctr">
                    <a:solidFill>
                      <a:srgbClr val="FFFFFF"/>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5"/>
                  </a:ext>
                </a:extLst>
              </a:tr>
              <a:tr h="306324">
                <a:tc>
                  <a:txBody>
                    <a:bodyPr/>
                    <a:lstStyle/>
                    <a:p>
                      <a:r>
                        <a:rPr sz="1600">
                          <a:solidFill>
                            <a:srgbClr val="1E2A44"/>
                          </a:solidFill>
                          <a:latin typeface="Calibri"/>
                          <a:ea typeface="Calibri"/>
                          <a:cs typeface="Calibri"/>
                        </a:rPr>
                        <a:t>Bugs4Q [29]</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ASE 2021</a:t>
                      </a:r>
                    </a:p>
                  </a:txBody>
                  <a:tcPr marL="54864" marR="45720" marT="9144" marB="9144" anchor="ctr">
                    <a:solidFill>
                      <a:srgbClr val="F2F5FA"/>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Qiskit buggy/fixed revisions</a:t>
                      </a:r>
                    </a:p>
                  </a:txBody>
                  <a:tcPr marL="54864" marR="45720" marT="9144" marB="9144" anchor="ctr">
                    <a:solidFill>
                      <a:srgbClr val="F2F5FA"/>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6"/>
                  </a:ext>
                </a:extLst>
              </a:tr>
              <a:tr h="306324">
                <a:tc>
                  <a:txBody>
                    <a:bodyPr/>
                    <a:lstStyle/>
                    <a:p>
                      <a:r>
                        <a:rPr sz="1600">
                          <a:solidFill>
                            <a:srgbClr val="1E2A44"/>
                          </a:solidFill>
                          <a:latin typeface="Calibri"/>
                          <a:ea typeface="Calibri"/>
                          <a:cs typeface="Calibri"/>
                        </a:rPr>
                        <a:t>QMutPy [31]</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IEEE TQE 2022</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Q1</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Qiskit software (24 programs)</a:t>
                      </a:r>
                    </a:p>
                  </a:txBody>
                  <a:tcPr marL="54864" marR="45720" marT="9144" marB="9144" anchor="ctr">
                    <a:solidFill>
                      <a:srgbClr val="FFFFFF"/>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7"/>
                  </a:ext>
                </a:extLst>
              </a:tr>
              <a:tr h="306324">
                <a:tc>
                  <a:txBody>
                    <a:bodyPr/>
                    <a:lstStyle/>
                    <a:p>
                      <a:r>
                        <a:rPr sz="1600">
                          <a:solidFill>
                            <a:srgbClr val="1E2A44"/>
                          </a:solidFill>
                          <a:latin typeface="Calibri"/>
                          <a:ea typeface="Calibri"/>
                          <a:cs typeface="Calibri"/>
                        </a:rPr>
                        <a:t>Coverage criteria [51]</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ICST 2021</a:t>
                      </a:r>
                    </a:p>
                  </a:txBody>
                  <a:tcPr marL="54864" marR="45720" marT="9144" marB="9144" anchor="ctr">
                    <a:solidFill>
                      <a:srgbClr val="F2F5FA"/>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simulator + statistical oracles</a:t>
                      </a:r>
                    </a:p>
                  </a:txBody>
                  <a:tcPr marL="54864" marR="45720" marT="9144" marB="9144" anchor="ctr">
                    <a:solidFill>
                      <a:srgbClr val="F2F5FA"/>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8"/>
                  </a:ext>
                </a:extLst>
              </a:tr>
              <a:tr h="306324">
                <a:tc>
                  <a:txBody>
                    <a:bodyPr/>
                    <a:lstStyle/>
                    <a:p>
                      <a:r>
                        <a:rPr sz="1600">
                          <a:solidFill>
                            <a:srgbClr val="1E2A44"/>
                          </a:solidFill>
                          <a:latin typeface="Calibri"/>
                          <a:ea typeface="Calibri"/>
                          <a:cs typeface="Calibri"/>
                        </a:rPr>
                        <a:t>QuSBT [52]</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ICSE-C 2022</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Qiskit as the simulation framework</a:t>
                      </a:r>
                    </a:p>
                  </a:txBody>
                  <a:tcPr marL="54864" marR="45720" marT="9144" marB="9144" anchor="ctr">
                    <a:solidFill>
                      <a:srgbClr val="FFFFFF"/>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9"/>
                  </a:ext>
                </a:extLst>
              </a:tr>
              <a:tr h="306324">
                <a:tc>
                  <a:txBody>
                    <a:bodyPr/>
                    <a:lstStyle/>
                    <a:p>
                      <a:r>
                        <a:rPr sz="1600">
                          <a:solidFill>
                            <a:srgbClr val="1E2A44"/>
                          </a:solidFill>
                          <a:latin typeface="Calibri"/>
                          <a:ea typeface="Calibri"/>
                          <a:cs typeface="Calibri"/>
                        </a:rPr>
                        <a:t>Simulator fuzzing [53]</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OOPSLA 2025</a:t>
                      </a:r>
                    </a:p>
                  </a:txBody>
                  <a:tcPr marL="54864" marR="45720" marT="9144" marB="9144" anchor="ctr">
                    <a:solidFill>
                      <a:srgbClr val="F2F5FA"/>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Qiskit/Cirq simulators (800,000+ circuits)</a:t>
                      </a:r>
                    </a:p>
                  </a:txBody>
                  <a:tcPr marL="54864" marR="45720" marT="9144" marB="9144" anchor="ctr">
                    <a:solidFill>
                      <a:srgbClr val="F2F5FA"/>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10"/>
                  </a:ext>
                </a:extLst>
              </a:tr>
              <a:tr h="306324">
                <a:tc>
                  <a:txBody>
                    <a:bodyPr/>
                    <a:lstStyle/>
                    <a:p>
                      <a:r>
                        <a:rPr sz="1600">
                          <a:solidFill>
                            <a:srgbClr val="1E2A44"/>
                          </a:solidFill>
                          <a:latin typeface="Calibri"/>
                          <a:ea typeface="Calibri"/>
                          <a:cs typeface="Calibri"/>
                        </a:rPr>
                        <a:t>Exact inference [48]</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ASE 2025</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classical exact inference oracle</a:t>
                      </a:r>
                    </a:p>
                  </a:txBody>
                  <a:tcPr marL="54864" marR="45720" marT="9144" marB="9144" anchor="ctr">
                    <a:solidFill>
                      <a:srgbClr val="FFFFFF"/>
                    </a:solidFill>
                  </a:tcPr>
                </a:tc>
                <a:tc>
                  <a:txBody>
                    <a:bodyPr/>
                    <a:lstStyle/>
                    <a:p>
                      <a:pPr algn="ctr">
                        <a:buNone/>
                      </a:pPr>
                      <a:r>
                        <a:rPr sz="1600" b="1">
                          <a:solidFill>
                            <a:srgbClr val="0E7C7B"/>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11"/>
                  </a:ext>
                </a:extLst>
              </a:tr>
            </a:tbl>
          </a:graphicData>
        </a:graphic>
      </p:graphicFrame>
      <p:sp>
        <p:nvSpPr>
          <p:cNvPr id="11" name="TextBox 10">
            <a:extLst>
              <a:ext uri="{FF2B5EF4-FFF2-40B4-BE49-F238E27FC236}">
                <a16:creationId xmlns:a16="http://schemas.microsoft.com/office/drawing/2014/main" id="{8C3EA295-C07A-40E3-89F5-7EEAAC5BD553}"/>
              </a:ext>
            </a:extLst>
          </p:cNvPr>
          <p:cNvSpPr>
            <a:spLocks noGrp="1"/>
          </p:cNvSpPr>
          <p:nvPr/>
        </p:nvSpPr>
        <p:spPr>
          <a:xfrm>
            <a:off x="640080" y="5742432"/>
            <a:ext cx="11064240" cy="253916"/>
          </a:xfrm>
          <a:prstGeom prst="rect">
            <a:avLst/>
          </a:prstGeom>
          <a:noFill/>
        </p:spPr>
        <p:txBody>
          <a:bodyPr wrap="square">
            <a:spAutoFit/>
          </a:bodyPr>
          <a:lstStyle/>
          <a:p>
            <a:r>
              <a:rPr sz="1050" i="1">
                <a:solidFill>
                  <a:srgbClr val="64748C"/>
                </a:solidFill>
                <a:latin typeface="Calibri"/>
                <a:ea typeface="Calibri"/>
                <a:cs typeface="Calibri"/>
              </a:rPr>
              <a:t>Tier — conferences: CORE 2023 (A* = top tier, A = strong). Journals: Scimago quartile (Q1 = top 25%). IEEE QCE is a specialised quantum venue (CORE national tier).</a:t>
            </a:r>
          </a:p>
        </p:txBody>
      </p:sp>
      <p:pic>
        <p:nvPicPr>
          <p:cNvPr id="12"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357112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824DA0-841E-4BB1-8E0A-2DB93CDC46C7}"/>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F0F68FDA-6140-4348-B8D2-0D7F3A0E4344}"/>
              </a:ext>
            </a:extLst>
          </p:cNvPr>
          <p:cNvSpPr>
            <a:spLocks noGrp="1"/>
          </p:cNvSpPr>
          <p:nvPr/>
        </p:nvSpPr>
        <p:spPr>
          <a:xfrm>
            <a:off x="640080" y="384048"/>
            <a:ext cx="10972800" cy="358240"/>
          </a:xfrm>
          <a:prstGeom prst="rect">
            <a:avLst/>
          </a:prstGeom>
          <a:noFill/>
        </p:spPr>
        <p:txBody>
          <a:bodyPr wrap="square" lIns="45720" rIns="45720" anchor="t">
            <a:spAutoFit/>
          </a:bodyPr>
          <a:lstStyle/>
          <a:p>
            <a:pPr algn="l">
              <a:lnSpc>
                <a:spcPct val="108000"/>
              </a:lnSpc>
              <a:spcAft>
                <a:spcPts val="400"/>
              </a:spcAft>
              <a:buNone/>
            </a:pPr>
            <a:r>
              <a:rPr sz="1600" b="1" i="0">
                <a:solidFill>
                  <a:srgbClr val="14B8A6"/>
                </a:solidFill>
                <a:latin typeface="Calibri"/>
                <a:ea typeface="Calibri"/>
                <a:cs typeface="Calibri"/>
              </a:rPr>
              <a:t>BACKUP — FOR QUESTIONS</a:t>
            </a:r>
          </a:p>
        </p:txBody>
      </p:sp>
      <p:sp>
        <p:nvSpPr>
          <p:cNvPr id="4" name="TextBox 3">
            <a:extLst>
              <a:ext uri="{FF2B5EF4-FFF2-40B4-BE49-F238E27FC236}">
                <a16:creationId xmlns:a16="http://schemas.microsoft.com/office/drawing/2014/main" id="{F19D8F4B-250E-464C-876E-2BA5A631DC30}"/>
              </a:ext>
            </a:extLst>
          </p:cNvPr>
          <p:cNvSpPr>
            <a:spLocks noGrp="1"/>
          </p:cNvSpPr>
          <p:nvPr/>
        </p:nvSpPr>
        <p:spPr>
          <a:xfrm>
            <a:off x="640080" y="694944"/>
            <a:ext cx="11155680" cy="624145"/>
          </a:xfrm>
          <a:prstGeom prst="rect">
            <a:avLst/>
          </a:prstGeom>
          <a:noFill/>
        </p:spPr>
        <p:txBody>
          <a:bodyPr wrap="square" lIns="45720" rIns="45720" anchor="t">
            <a:spAutoFit/>
          </a:bodyPr>
          <a:lstStyle/>
          <a:p>
            <a:pPr algn="l">
              <a:lnSpc>
                <a:spcPct val="108000"/>
              </a:lnSpc>
              <a:spcAft>
                <a:spcPts val="400"/>
              </a:spcAft>
              <a:buNone/>
            </a:pPr>
            <a:r>
              <a:rPr sz="3200" b="1" i="0">
                <a:solidFill>
                  <a:srgbClr val="1E2A44"/>
                </a:solidFill>
                <a:latin typeface="Cambria"/>
                <a:ea typeface="Cambria"/>
                <a:cs typeface="Cambria"/>
              </a:rPr>
              <a:t>Why Qiskit? A Fast-Moving Transpiler</a:t>
            </a:r>
          </a:p>
        </p:txBody>
      </p:sp>
      <p:sp>
        <p:nvSpPr>
          <p:cNvPr id="5" name="Rounded Rectangle 4">
            <a:extLst>
              <a:ext uri="{FF2B5EF4-FFF2-40B4-BE49-F238E27FC236}">
                <a16:creationId xmlns:a16="http://schemas.microsoft.com/office/drawing/2014/main" id="{D30CB448-4916-4C36-AE49-C58CA7543931}"/>
              </a:ext>
            </a:extLst>
          </p:cNvPr>
          <p:cNvSpPr>
            <a:spLocks noGrp="1"/>
          </p:cNvSpPr>
          <p:nvPr/>
        </p:nvSpPr>
        <p:spPr>
          <a:xfrm>
            <a:off x="640080" y="1481328"/>
            <a:ext cx="10927080" cy="749808"/>
          </a:xfrm>
          <a:prstGeom prst="roundRect">
            <a:avLst/>
          </a:prstGeom>
          <a:solidFill>
            <a:srgbClr val="EAF4F3"/>
          </a:solidFill>
          <a:ln w="15875">
            <a:solidFill>
              <a:srgbClr val="14B8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6" name="TextBox 5">
            <a:extLst>
              <a:ext uri="{FF2B5EF4-FFF2-40B4-BE49-F238E27FC236}">
                <a16:creationId xmlns:a16="http://schemas.microsoft.com/office/drawing/2014/main" id="{A043F8BB-8234-4DBB-822F-804B0899C29C}"/>
              </a:ext>
            </a:extLst>
          </p:cNvPr>
          <p:cNvSpPr>
            <a:spLocks noGrp="1"/>
          </p:cNvSpPr>
          <p:nvPr/>
        </p:nvSpPr>
        <p:spPr>
          <a:xfrm>
            <a:off x="822960" y="1660474"/>
            <a:ext cx="10561320" cy="391517"/>
          </a:xfrm>
          <a:prstGeom prst="rect">
            <a:avLst/>
          </a:prstGeom>
          <a:noFill/>
        </p:spPr>
        <p:txBody>
          <a:bodyPr wrap="square" lIns="45720" rIns="45720" anchor="ctr">
            <a:spAutoFit/>
          </a:bodyPr>
          <a:lstStyle/>
          <a:p>
            <a:pPr algn="l">
              <a:lnSpc>
                <a:spcPct val="108000"/>
              </a:lnSpc>
              <a:spcAft>
                <a:spcPts val="400"/>
              </a:spcAft>
              <a:buNone/>
            </a:pPr>
            <a:r>
              <a:rPr b="1" i="0">
                <a:solidFill>
                  <a:srgbClr val="0E7C7B"/>
                </a:solidFill>
                <a:latin typeface="Calibri"/>
                <a:ea typeface="Calibri"/>
                <a:cs typeface="Calibri"/>
              </a:rPr>
              <a:t>Qiskit ships a new minor version about every three months — and almost every release changes the transpiler.</a:t>
            </a:r>
          </a:p>
        </p:txBody>
      </p:sp>
      <p:sp>
        <p:nvSpPr>
          <p:cNvPr id="7" name="Rounded Rectangle 6">
            <a:extLst>
              <a:ext uri="{FF2B5EF4-FFF2-40B4-BE49-F238E27FC236}">
                <a16:creationId xmlns:a16="http://schemas.microsoft.com/office/drawing/2014/main" id="{225F818A-4582-44E4-9322-9F0445B2F4AE}"/>
              </a:ext>
            </a:extLst>
          </p:cNvPr>
          <p:cNvSpPr>
            <a:spLocks noGrp="1"/>
          </p:cNvSpPr>
          <p:nvPr/>
        </p:nvSpPr>
        <p:spPr>
          <a:xfrm>
            <a:off x="640080" y="2450592"/>
            <a:ext cx="5440680" cy="2697480"/>
          </a:xfrm>
          <a:prstGeom prst="roundRect">
            <a:avLst/>
          </a:prstGeom>
          <a:solidFill>
            <a:srgbClr val="F2F5FA"/>
          </a:solidFill>
          <a:ln w="15875">
            <a:solidFill>
              <a:srgbClr val="14B8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8" name="TextBox 7">
            <a:extLst>
              <a:ext uri="{FF2B5EF4-FFF2-40B4-BE49-F238E27FC236}">
                <a16:creationId xmlns:a16="http://schemas.microsoft.com/office/drawing/2014/main" id="{ABFCDEE7-2136-440D-B17C-6E65034E817D}"/>
              </a:ext>
            </a:extLst>
          </p:cNvPr>
          <p:cNvSpPr>
            <a:spLocks noGrp="1"/>
          </p:cNvSpPr>
          <p:nvPr/>
        </p:nvSpPr>
        <p:spPr>
          <a:xfrm>
            <a:off x="868680" y="2578608"/>
            <a:ext cx="5029200" cy="358240"/>
          </a:xfrm>
          <a:prstGeom prst="rect">
            <a:avLst/>
          </a:prstGeom>
          <a:noFill/>
        </p:spPr>
        <p:txBody>
          <a:bodyPr wrap="square" lIns="45720" rIns="45720" anchor="t">
            <a:spAutoFit/>
          </a:bodyPr>
          <a:lstStyle/>
          <a:p>
            <a:pPr algn="l">
              <a:lnSpc>
                <a:spcPct val="108000"/>
              </a:lnSpc>
              <a:spcAft>
                <a:spcPts val="400"/>
              </a:spcAft>
              <a:buNone/>
            </a:pPr>
            <a:r>
              <a:rPr sz="1600" b="1" i="0">
                <a:solidFill>
                  <a:srgbClr val="0E7C7B"/>
                </a:solidFill>
                <a:latin typeface="Calibri"/>
                <a:ea typeface="Calibri"/>
                <a:cs typeface="Calibri"/>
              </a:rPr>
              <a:t>RELEASE VELOCITY (2.x series)</a:t>
            </a:r>
          </a:p>
        </p:txBody>
      </p:sp>
      <p:sp>
        <p:nvSpPr>
          <p:cNvPr id="9" name="TextBox 8">
            <a:extLst>
              <a:ext uri="{FF2B5EF4-FFF2-40B4-BE49-F238E27FC236}">
                <a16:creationId xmlns:a16="http://schemas.microsoft.com/office/drawing/2014/main" id="{6DC4F138-0C24-4EB1-B841-584BE1659540}"/>
              </a:ext>
            </a:extLst>
          </p:cNvPr>
          <p:cNvSpPr>
            <a:spLocks noGrp="1"/>
          </p:cNvSpPr>
          <p:nvPr/>
        </p:nvSpPr>
        <p:spPr>
          <a:xfrm>
            <a:off x="868680" y="3017520"/>
            <a:ext cx="5074920" cy="1580882"/>
          </a:xfrm>
          <a:prstGeom prst="rect">
            <a:avLst/>
          </a:prstGeom>
          <a:noFill/>
        </p:spPr>
        <p:txBody>
          <a:bodyPr wrap="square" lIns="45720" rIns="45720" anchor="t">
            <a:spAutoFit/>
          </a:bodyPr>
          <a:lstStyle/>
          <a:p>
            <a:pPr algn="l">
              <a:lnSpc>
                <a:spcPct val="112000"/>
              </a:lnSpc>
              <a:spcAft>
                <a:spcPts val="1100"/>
              </a:spcAft>
              <a:buNone/>
            </a:pPr>
            <a:r>
              <a:rPr b="1" i="0">
                <a:solidFill>
                  <a:srgbClr val="14B8A6"/>
                </a:solidFill>
                <a:latin typeface="Calibri"/>
                <a:ea typeface="Calibri"/>
                <a:cs typeface="Calibri"/>
              </a:rPr>
              <a:t>▪  </a:t>
            </a:r>
            <a:r>
              <a:rPr sz="1600" b="1" i="0">
                <a:solidFill>
                  <a:srgbClr val="0E7C7B"/>
                </a:solidFill>
                <a:latin typeface="Calibri"/>
                <a:ea typeface="Calibri"/>
                <a:cs typeface="Calibri"/>
              </a:rPr>
              <a:t>~3-month cadence:  </a:t>
            </a:r>
            <a:r>
              <a:rPr sz="1600" b="0" i="0">
                <a:solidFill>
                  <a:srgbClr val="1E2A44"/>
                </a:solidFill>
                <a:latin typeface="Calibri"/>
                <a:ea typeface="Calibri"/>
                <a:cs typeface="Calibri"/>
              </a:rPr>
              <a:t>a new minor version on a roughly quarterly schedule (official policy).</a:t>
            </a:r>
          </a:p>
          <a:p>
            <a:pPr algn="l">
              <a:lnSpc>
                <a:spcPct val="112000"/>
              </a:lnSpc>
              <a:spcAft>
                <a:spcPts val="1100"/>
              </a:spcAft>
              <a:buNone/>
            </a:pPr>
            <a:r>
              <a:rPr b="1" i="0">
                <a:solidFill>
                  <a:srgbClr val="14B8A6"/>
                </a:solidFill>
                <a:latin typeface="Calibri"/>
                <a:ea typeface="Calibri"/>
                <a:cs typeface="Calibri"/>
              </a:rPr>
              <a:t>▪  </a:t>
            </a:r>
            <a:r>
              <a:rPr sz="1600" b="1" i="0">
                <a:solidFill>
                  <a:srgbClr val="0E7C7B"/>
                </a:solidFill>
                <a:latin typeface="Calibri"/>
                <a:ea typeface="Calibri"/>
                <a:cs typeface="Calibri"/>
              </a:rPr>
              <a:t>2.0 → 2.4:  </a:t>
            </a:r>
            <a:r>
              <a:rPr sz="1600" b="0" i="0">
                <a:solidFill>
                  <a:srgbClr val="1E2A44"/>
                </a:solidFill>
                <a:latin typeface="Calibri"/>
                <a:ea typeface="Calibri"/>
                <a:cs typeface="Calibri"/>
              </a:rPr>
              <a:t>five minor versions across ~2025 to mid-2026.</a:t>
            </a:r>
          </a:p>
          <a:p>
            <a:pPr algn="l">
              <a:lnSpc>
                <a:spcPct val="112000"/>
              </a:lnSpc>
              <a:spcAft>
                <a:spcPts val="1100"/>
              </a:spcAft>
              <a:buNone/>
            </a:pPr>
            <a:r>
              <a:rPr b="1" i="0">
                <a:solidFill>
                  <a:srgbClr val="14B8A6"/>
                </a:solidFill>
                <a:latin typeface="Calibri"/>
                <a:ea typeface="Calibri"/>
                <a:cs typeface="Calibri"/>
              </a:rPr>
              <a:t>▪  </a:t>
            </a:r>
            <a:r>
              <a:rPr sz="1600" b="1" i="0">
                <a:solidFill>
                  <a:srgbClr val="0E7C7B"/>
                </a:solidFill>
                <a:latin typeface="Calibri"/>
                <a:ea typeface="Calibri"/>
                <a:cs typeface="Calibri"/>
              </a:rPr>
              <a:t>Plus patches:  </a:t>
            </a:r>
            <a:r>
              <a:rPr sz="1600" b="0" i="0">
                <a:solidFill>
                  <a:srgbClr val="1E2A44"/>
                </a:solidFill>
                <a:latin typeface="Calibri"/>
                <a:ea typeface="Calibri"/>
                <a:cs typeface="Calibri"/>
              </a:rPr>
              <a:t>2.4.0 → 2.4.1 → 2.4.2 in quick succession.</a:t>
            </a:r>
          </a:p>
        </p:txBody>
      </p:sp>
      <p:sp>
        <p:nvSpPr>
          <p:cNvPr id="10" name="Rounded Rectangle 9">
            <a:extLst>
              <a:ext uri="{FF2B5EF4-FFF2-40B4-BE49-F238E27FC236}">
                <a16:creationId xmlns:a16="http://schemas.microsoft.com/office/drawing/2014/main" id="{3A0F6F56-BE7C-42E2-A880-EF67C12192F9}"/>
              </a:ext>
            </a:extLst>
          </p:cNvPr>
          <p:cNvSpPr>
            <a:spLocks noGrp="1"/>
          </p:cNvSpPr>
          <p:nvPr/>
        </p:nvSpPr>
        <p:spPr>
          <a:xfrm>
            <a:off x="6309360" y="2450592"/>
            <a:ext cx="5257800" cy="2697480"/>
          </a:xfrm>
          <a:prstGeom prst="roundRect">
            <a:avLst/>
          </a:prstGeom>
          <a:solidFill>
            <a:srgbClr val="F2F5FA"/>
          </a:solidFill>
          <a:ln w="15875">
            <a:solidFill>
              <a:srgbClr val="14264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1" name="TextBox 10">
            <a:extLst>
              <a:ext uri="{FF2B5EF4-FFF2-40B4-BE49-F238E27FC236}">
                <a16:creationId xmlns:a16="http://schemas.microsoft.com/office/drawing/2014/main" id="{E1D6B200-BF76-468F-9667-BE1B36E9B948}"/>
              </a:ext>
            </a:extLst>
          </p:cNvPr>
          <p:cNvSpPr>
            <a:spLocks noGrp="1"/>
          </p:cNvSpPr>
          <p:nvPr/>
        </p:nvSpPr>
        <p:spPr>
          <a:xfrm>
            <a:off x="6537960" y="2578608"/>
            <a:ext cx="4846320" cy="358240"/>
          </a:xfrm>
          <a:prstGeom prst="rect">
            <a:avLst/>
          </a:prstGeom>
          <a:noFill/>
        </p:spPr>
        <p:txBody>
          <a:bodyPr wrap="square" lIns="45720" rIns="45720" anchor="t">
            <a:spAutoFit/>
          </a:bodyPr>
          <a:lstStyle/>
          <a:p>
            <a:pPr algn="l">
              <a:lnSpc>
                <a:spcPct val="108000"/>
              </a:lnSpc>
              <a:spcAft>
                <a:spcPts val="400"/>
              </a:spcAft>
              <a:buNone/>
            </a:pPr>
            <a:r>
              <a:rPr sz="1600" b="1" i="0">
                <a:solidFill>
                  <a:srgbClr val="14264F"/>
                </a:solidFill>
                <a:latin typeface="Calibri"/>
                <a:ea typeface="Calibri"/>
                <a:cs typeface="Calibri"/>
              </a:rPr>
              <a:t>NEARLY EVERY RELEASE TOUCHES THE TRANSPILER</a:t>
            </a:r>
          </a:p>
        </p:txBody>
      </p:sp>
      <p:sp>
        <p:nvSpPr>
          <p:cNvPr id="12" name="TextBox 11">
            <a:extLst>
              <a:ext uri="{FF2B5EF4-FFF2-40B4-BE49-F238E27FC236}">
                <a16:creationId xmlns:a16="http://schemas.microsoft.com/office/drawing/2014/main" id="{B4260594-3B00-4CE6-8608-4DEF695C1320}"/>
              </a:ext>
            </a:extLst>
          </p:cNvPr>
          <p:cNvSpPr>
            <a:spLocks noGrp="1"/>
          </p:cNvSpPr>
          <p:nvPr/>
        </p:nvSpPr>
        <p:spPr>
          <a:xfrm>
            <a:off x="6537960" y="3017520"/>
            <a:ext cx="4892040" cy="2098010"/>
          </a:xfrm>
          <a:prstGeom prst="rect">
            <a:avLst/>
          </a:prstGeom>
          <a:noFill/>
        </p:spPr>
        <p:txBody>
          <a:bodyPr wrap="square" lIns="45720" rIns="45720" anchor="t">
            <a:spAutoFit/>
          </a:bodyPr>
          <a:lstStyle/>
          <a:p>
            <a:pPr algn="l">
              <a:lnSpc>
                <a:spcPct val="112000"/>
              </a:lnSpc>
              <a:spcAft>
                <a:spcPts val="1100"/>
              </a:spcAft>
              <a:buNone/>
            </a:pPr>
            <a:r>
              <a:rPr sz="1600" b="1" i="0">
                <a:solidFill>
                  <a:srgbClr val="14B8A6"/>
                </a:solidFill>
                <a:latin typeface="Calibri"/>
                <a:ea typeface="Calibri"/>
                <a:cs typeface="Calibri"/>
              </a:rPr>
              <a:t>▪  </a:t>
            </a:r>
            <a:r>
              <a:rPr sz="1600" b="1" i="0">
                <a:solidFill>
                  <a:srgbClr val="14264F"/>
                </a:solidFill>
                <a:latin typeface="Calibri"/>
                <a:ea typeface="Calibri"/>
                <a:cs typeface="Calibri"/>
              </a:rPr>
              <a:t>v2.2:  </a:t>
            </a:r>
            <a:r>
              <a:rPr sz="1600" b="0" i="0">
                <a:solidFill>
                  <a:srgbClr val="1E2A44"/>
                </a:solidFill>
                <a:latin typeface="Calibri"/>
                <a:ea typeface="Calibri"/>
                <a:cs typeface="Calibri"/>
              </a:rPr>
              <a:t>transpilation 10–20% faster, standalone transpiler in C.</a:t>
            </a:r>
          </a:p>
          <a:p>
            <a:pPr algn="l">
              <a:lnSpc>
                <a:spcPct val="112000"/>
              </a:lnSpc>
              <a:spcAft>
                <a:spcPts val="1100"/>
              </a:spcAft>
              <a:buNone/>
            </a:pPr>
            <a:r>
              <a:rPr sz="1600" b="1" i="0">
                <a:solidFill>
                  <a:srgbClr val="14B8A6"/>
                </a:solidFill>
                <a:latin typeface="Calibri"/>
                <a:ea typeface="Calibri"/>
                <a:cs typeface="Calibri"/>
              </a:rPr>
              <a:t>▪  </a:t>
            </a:r>
            <a:r>
              <a:rPr sz="1600" b="1" i="0">
                <a:solidFill>
                  <a:srgbClr val="14264F"/>
                </a:solidFill>
                <a:latin typeface="Calibri"/>
                <a:ea typeface="Calibri"/>
                <a:cs typeface="Calibri"/>
              </a:rPr>
              <a:t>v2.3:  </a:t>
            </a:r>
            <a:r>
              <a:rPr sz="1600" b="0" i="0">
                <a:solidFill>
                  <a:srgbClr val="1E2A44"/>
                </a:solidFill>
                <a:latin typeface="Calibri"/>
                <a:ea typeface="Calibri"/>
                <a:cs typeface="Calibri"/>
              </a:rPr>
              <a:t>VF2Layout and VF2PostLayout reworked, custom transpiler passes in C.</a:t>
            </a:r>
          </a:p>
          <a:p>
            <a:pPr algn="l">
              <a:lnSpc>
                <a:spcPct val="112000"/>
              </a:lnSpc>
              <a:spcAft>
                <a:spcPts val="1100"/>
              </a:spcAft>
              <a:buNone/>
            </a:pPr>
            <a:r>
              <a:rPr sz="1600" b="1" i="0">
                <a:solidFill>
                  <a:srgbClr val="14B8A6"/>
                </a:solidFill>
                <a:latin typeface="Calibri"/>
                <a:ea typeface="Calibri"/>
                <a:cs typeface="Calibri"/>
              </a:rPr>
              <a:t>▪  </a:t>
            </a:r>
            <a:r>
              <a:rPr sz="1600" b="1" i="0">
                <a:solidFill>
                  <a:srgbClr val="14264F"/>
                </a:solidFill>
                <a:latin typeface="Calibri"/>
                <a:ea typeface="Calibri"/>
                <a:cs typeface="Calibri"/>
              </a:rPr>
              <a:t>v2.4:  </a:t>
            </a:r>
            <a:r>
              <a:rPr sz="1600" b="0" i="0">
                <a:solidFill>
                  <a:srgbClr val="1E2A44"/>
                </a:solidFill>
                <a:latin typeface="Calibri"/>
                <a:ea typeface="Calibri"/>
                <a:cs typeface="Calibri"/>
              </a:rPr>
              <a:t>faster fault-tolerant transpilation pipeline, DAG-level transpiler passes.</a:t>
            </a:r>
          </a:p>
        </p:txBody>
      </p:sp>
      <p:sp>
        <p:nvSpPr>
          <p:cNvPr id="13" name="Rounded Rectangle 12">
            <a:extLst>
              <a:ext uri="{FF2B5EF4-FFF2-40B4-BE49-F238E27FC236}">
                <a16:creationId xmlns:a16="http://schemas.microsoft.com/office/drawing/2014/main" id="{075DA46A-B791-4428-AF0E-2C0743D5EF69}"/>
              </a:ext>
            </a:extLst>
          </p:cNvPr>
          <p:cNvSpPr>
            <a:spLocks noGrp="1"/>
          </p:cNvSpPr>
          <p:nvPr/>
        </p:nvSpPr>
        <p:spPr>
          <a:xfrm>
            <a:off x="640080" y="5321808"/>
            <a:ext cx="10927080" cy="932688"/>
          </a:xfrm>
          <a:prstGeom prst="round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4" name="TextBox 13">
            <a:extLst>
              <a:ext uri="{FF2B5EF4-FFF2-40B4-BE49-F238E27FC236}">
                <a16:creationId xmlns:a16="http://schemas.microsoft.com/office/drawing/2014/main" id="{ED7B8393-D47A-426A-A5F6-F65B7F084D85}"/>
              </a:ext>
            </a:extLst>
          </p:cNvPr>
          <p:cNvSpPr>
            <a:spLocks noGrp="1"/>
          </p:cNvSpPr>
          <p:nvPr/>
        </p:nvSpPr>
        <p:spPr>
          <a:xfrm>
            <a:off x="868680" y="5350693"/>
            <a:ext cx="10515600" cy="874920"/>
          </a:xfrm>
          <a:prstGeom prst="rect">
            <a:avLst/>
          </a:prstGeom>
          <a:noFill/>
        </p:spPr>
        <p:txBody>
          <a:bodyPr wrap="square" lIns="45720" rIns="45720" anchor="ctr">
            <a:spAutoFit/>
          </a:bodyPr>
          <a:lstStyle/>
          <a:p>
            <a:pPr algn="l">
              <a:lnSpc>
                <a:spcPct val="108000"/>
              </a:lnSpc>
              <a:spcAft>
                <a:spcPts val="400"/>
              </a:spcAft>
              <a:buNone/>
            </a:pPr>
            <a:r>
              <a:rPr sz="1600" b="1" i="0">
                <a:solidFill>
                  <a:srgbClr val="9FE7DE"/>
                </a:solidFill>
                <a:latin typeface="Calibri"/>
                <a:ea typeface="Calibri"/>
                <a:cs typeface="Calibri"/>
              </a:rPr>
              <a:t>The passes we study are live targets: </a:t>
            </a:r>
            <a:r>
              <a:rPr sz="1600" b="0" i="0">
                <a:solidFill>
                  <a:srgbClr val="FFFFFF"/>
                </a:solidFill>
                <a:latin typeface="Calibri"/>
                <a:ea typeface="Calibri"/>
                <a:cs typeface="Calibri"/>
              </a:rPr>
              <a:t>VF2PostLayout — the site of our H4 regression — was itself reworked in v2.3.</a:t>
            </a:r>
          </a:p>
          <a:p>
            <a:pPr algn="l">
              <a:lnSpc>
                <a:spcPct val="108000"/>
              </a:lnSpc>
              <a:spcAft>
                <a:spcPts val="400"/>
              </a:spcAft>
              <a:buNone/>
            </a:pPr>
            <a:r>
              <a:rPr sz="1400" b="0" i="0">
                <a:solidFill>
                  <a:srgbClr val="D5E3F7"/>
                </a:solidFill>
                <a:latin typeface="Calibri"/>
                <a:ea typeface="Calibri"/>
                <a:cs typeface="Calibri"/>
              </a:rPr>
              <a:t>A high-churn transpiler makes every release a fresh regression opportunity, which is exactly why Qiskit — the most actively developed quantum compiler, with the richest public record of real fixes to mine — is the right subject.</a:t>
            </a:r>
          </a:p>
        </p:txBody>
      </p:sp>
      <p:sp>
        <p:nvSpPr>
          <p:cNvPr id="15" name="TextBox 14">
            <a:extLst>
              <a:ext uri="{FF2B5EF4-FFF2-40B4-BE49-F238E27FC236}">
                <a16:creationId xmlns:a16="http://schemas.microsoft.com/office/drawing/2014/main" id="{8E6260DA-18D4-4368-A6DE-959BDB089962}"/>
              </a:ext>
            </a:extLst>
          </p:cNvPr>
          <p:cNvSpPr>
            <a:spLocks noGrp="1"/>
          </p:cNvSpPr>
          <p:nvPr/>
        </p:nvSpPr>
        <p:spPr>
          <a:xfrm>
            <a:off x="640080" y="6473952"/>
            <a:ext cx="9692640" cy="266868"/>
          </a:xfrm>
          <a:prstGeom prst="rect">
            <a:avLst/>
          </a:prstGeom>
          <a:noFill/>
        </p:spPr>
        <p:txBody>
          <a:bodyPr wrap="square" lIns="45720" rIns="45720" anchor="t">
            <a:spAutoFit/>
          </a:bodyPr>
          <a:lstStyle/>
          <a:p>
            <a:pPr algn="l">
              <a:lnSpc>
                <a:spcPct val="108000"/>
              </a:lnSpc>
              <a:spcAft>
                <a:spcPts val="400"/>
              </a:spcAft>
              <a:buNone/>
            </a:pPr>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6" name="TextBox 15">
            <a:extLst>
              <a:ext uri="{FF2B5EF4-FFF2-40B4-BE49-F238E27FC236}">
                <a16:creationId xmlns:a16="http://schemas.microsoft.com/office/drawing/2014/main" id="{BBE40352-74B7-4119-AA1F-C8F72F111152}"/>
              </a:ext>
            </a:extLst>
          </p:cNvPr>
          <p:cNvSpPr>
            <a:spLocks noGrp="1"/>
          </p:cNvSpPr>
          <p:nvPr/>
        </p:nvSpPr>
        <p:spPr>
          <a:xfrm>
            <a:off x="11155680" y="6473952"/>
            <a:ext cx="822960" cy="266868"/>
          </a:xfrm>
          <a:prstGeom prst="rect">
            <a:avLst/>
          </a:prstGeom>
          <a:noFill/>
        </p:spPr>
        <p:txBody>
          <a:bodyPr wrap="square" lIns="45720" rIns="45720" anchor="t">
            <a:spAutoFit/>
          </a:bodyPr>
          <a:lstStyle/>
          <a:p>
            <a:pPr algn="r">
              <a:lnSpc>
                <a:spcPct val="108000"/>
              </a:lnSpc>
              <a:spcAft>
                <a:spcPts val="400"/>
              </a:spcAft>
              <a:buNone/>
            </a:pPr>
            <a:r>
              <a:rPr sz="1000" b="1" i="0">
                <a:solidFill>
                  <a:srgbClr val="64748C"/>
                </a:solidFill>
                <a:latin typeface="Calibri"/>
                <a:ea typeface="Calibri"/>
                <a:cs typeface="Calibri"/>
              </a:rPr>
              <a:t>31</a:t>
            </a:r>
          </a:p>
        </p:txBody>
      </p:sp>
      <p:pic>
        <p:nvPicPr>
          <p:cNvPr id="17"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093633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8339</Words>
  <Application>Microsoft Office PowerPoint</Application>
  <DocSecurity>0</DocSecurity>
  <PresentationFormat>Widescreen</PresentationFormat>
  <Paragraphs>657</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Furqan Nasir</cp:lastModifiedBy>
  <cp:revision>5</cp:revision>
  <dcterms:created xsi:type="dcterms:W3CDTF">2026-08-25T13:49:55Z</dcterms:created>
  <dcterms:modified xsi:type="dcterms:W3CDTF">2026-08-26T09:32:01Z</dcterms:modified>
</cp:coreProperties>
</file>